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6aac2b1adf43ad" /><Relationship Type="http://schemas.openxmlformats.org/officeDocument/2006/relationships/extended-properties" Target="/docProps/app.xml" Id="Rc1cf25726d7c4f22" /><Relationship Type="http://schemas.openxmlformats.org/officeDocument/2006/relationships/officeDocument" Target="/ppt/presentation.xml" Id="R7481979a0d0f48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51f6eb689f434f"/>
  </p:sldMasterIdLst>
  <p:notesMasterIdLst>
    <p:notesMasterId xmlns:r="http://schemas.openxmlformats.org/officeDocument/2006/relationships" r:id="Re0e114840dbe46de"/>
  </p:notesMasterIdLst>
  <p:sldIdLst>
    <p:sldId xmlns:r="http://schemas.openxmlformats.org/officeDocument/2006/relationships" id="256" r:id="Rcc4bfdb62ba141df"/>
    <p:sldId xmlns:r="http://schemas.openxmlformats.org/officeDocument/2006/relationships" id="257" r:id="R5bc33fe9acb34355"/>
    <p:sldId xmlns:r="http://schemas.openxmlformats.org/officeDocument/2006/relationships" id="258" r:id="R206411ed1c004f8f"/>
    <p:sldId xmlns:r="http://schemas.openxmlformats.org/officeDocument/2006/relationships" id="259" r:id="R6601a39321424c9c"/>
    <p:sldId xmlns:r="http://schemas.openxmlformats.org/officeDocument/2006/relationships" id="260" r:id="Rc666e8db56324555"/>
    <p:sldId xmlns:r="http://schemas.openxmlformats.org/officeDocument/2006/relationships" id="261" r:id="R5f780612cfd7415d"/>
    <p:sldId xmlns:r="http://schemas.openxmlformats.org/officeDocument/2006/relationships" id="262" r:id="Rebe6628007a94f23"/>
    <p:sldId xmlns:r="http://schemas.openxmlformats.org/officeDocument/2006/relationships" id="263" r:id="Rf672e3f943494600"/>
    <p:sldId xmlns:r="http://schemas.openxmlformats.org/officeDocument/2006/relationships" id="264" r:id="R4e95a6cc71b64521"/>
    <p:sldId xmlns:r="http://schemas.openxmlformats.org/officeDocument/2006/relationships" id="265" r:id="Rc633cc9f7ee64891"/>
    <p:sldId xmlns:r="http://schemas.openxmlformats.org/officeDocument/2006/relationships" id="266" r:id="R9d54dc222596425e"/>
    <p:sldId xmlns:r="http://schemas.openxmlformats.org/officeDocument/2006/relationships" id="267" r:id="R296c1b5ece5949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a510d6740d4828" /><Relationship Type="http://schemas.openxmlformats.org/officeDocument/2006/relationships/slideMaster" Target="/ppt/slideMasters/slideMaster1.xml" Id="R5b51f6eb689f434f" /><Relationship Type="http://schemas.openxmlformats.org/officeDocument/2006/relationships/notesMaster" Target="/ppt/notesMasters/notesMaster1.xml" Id="Re0e114840dbe46de" /><Relationship Type="http://schemas.openxmlformats.org/officeDocument/2006/relationships/presProps" Target="/ppt/presProps.xml" Id="Raa99ab324c8c43e3" /><Relationship Type="http://schemas.openxmlformats.org/officeDocument/2006/relationships/tableStyles" Target="/ppt/tableStyles.xml" Id="R6feb842e0376474a" /><Relationship Type="http://schemas.openxmlformats.org/officeDocument/2006/relationships/slide" Target="/ppt/slides/slide1.xml" Id="Rcc4bfdb62ba141df" /><Relationship Type="http://schemas.openxmlformats.org/officeDocument/2006/relationships/slide" Target="/ppt/slides/slide2.xml" Id="R5bc33fe9acb34355" /><Relationship Type="http://schemas.openxmlformats.org/officeDocument/2006/relationships/slide" Target="/ppt/slides/slide3.xml" Id="R206411ed1c004f8f" /><Relationship Type="http://schemas.openxmlformats.org/officeDocument/2006/relationships/slide" Target="/ppt/slides/slide4.xml" Id="R6601a39321424c9c" /><Relationship Type="http://schemas.openxmlformats.org/officeDocument/2006/relationships/slide" Target="/ppt/slides/slide5.xml" Id="Rc666e8db56324555" /><Relationship Type="http://schemas.openxmlformats.org/officeDocument/2006/relationships/slide" Target="/ppt/slides/slide6.xml" Id="R5f780612cfd7415d" /><Relationship Type="http://schemas.openxmlformats.org/officeDocument/2006/relationships/slide" Target="/ppt/slides/slide7.xml" Id="Rebe6628007a94f23" /><Relationship Type="http://schemas.openxmlformats.org/officeDocument/2006/relationships/slide" Target="/ppt/slides/slide8.xml" Id="Rf672e3f943494600" /><Relationship Type="http://schemas.openxmlformats.org/officeDocument/2006/relationships/slide" Target="/ppt/slides/slide9.xml" Id="R4e95a6cc71b64521" /><Relationship Type="http://schemas.openxmlformats.org/officeDocument/2006/relationships/slide" Target="/ppt/slides/slide10.xml" Id="Rc633cc9f7ee64891" /><Relationship Type="http://schemas.openxmlformats.org/officeDocument/2006/relationships/slide" Target="/ppt/slides/slide11.xml" Id="R9d54dc222596425e" /><Relationship Type="http://schemas.openxmlformats.org/officeDocument/2006/relationships/slide" Target="/ppt/slides/slide12.xml" Id="R296c1b5ece5949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32694de17e44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e9806bc4ce4570" /><Relationship Type="http://schemas.openxmlformats.org/officeDocument/2006/relationships/notesMaster" Target="/ppt/notesMasters/notesMaster1.xml" Id="R29c14d64189547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6d9288d2854a45" /><Relationship Type="http://schemas.openxmlformats.org/officeDocument/2006/relationships/notesMaster" Target="/ppt/notesMasters/notesMaster1.xml" Id="Rc52087abce1e43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13bd63596d48c5" /><Relationship Type="http://schemas.openxmlformats.org/officeDocument/2006/relationships/notesMaster" Target="/ppt/notesMasters/notesMaster1.xml" Id="R358553aa35f74c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2cf394dc3643e1" /><Relationship Type="http://schemas.openxmlformats.org/officeDocument/2006/relationships/notesMaster" Target="/ppt/notesMasters/notesMaster1.xml" Id="R3778b6b5667443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555d2b3a784422" /><Relationship Type="http://schemas.openxmlformats.org/officeDocument/2006/relationships/notesMaster" Target="/ppt/notesMasters/notesMaster1.xml" Id="R4b02dd9a9c2147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d1f4b022914b91" /><Relationship Type="http://schemas.openxmlformats.org/officeDocument/2006/relationships/notesMaster" Target="/ppt/notesMasters/notesMaster1.xml" Id="Rcdc1e14a858245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d9d74aa70b4bb1" /><Relationship Type="http://schemas.openxmlformats.org/officeDocument/2006/relationships/notesMaster" Target="/ppt/notesMasters/notesMaster1.xml" Id="Rad70f7471dff42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301cdfb38841de" /><Relationship Type="http://schemas.openxmlformats.org/officeDocument/2006/relationships/notesMaster" Target="/ppt/notesMasters/notesMaster1.xml" Id="Rde86c6bfc3fd49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4e6df30ff54082" /><Relationship Type="http://schemas.openxmlformats.org/officeDocument/2006/relationships/notesMaster" Target="/ppt/notesMasters/notesMaster1.xml" Id="R600f8e67a4c546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6ed2ef0ec7c4cb6" /><Relationship Type="http://schemas.openxmlformats.org/officeDocument/2006/relationships/notesMaster" Target="/ppt/notesMasters/notesMaster1.xml" Id="R41efd91ed5b24a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5c232a9a2f4789" /><Relationship Type="http://schemas.openxmlformats.org/officeDocument/2006/relationships/notesMaster" Target="/ppt/notesMasters/notesMaster1.xml" Id="Rf733896fa14a410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cb4722f4d804aa6" /><Relationship Type="http://schemas.openxmlformats.org/officeDocument/2006/relationships/notesMaster" Target="/ppt/notesMasters/notesMaster1.xml" Id="Re638e1b8569745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大家好，我是第11组的郭润航。我们要把分散的产业资料整理成有出处、方便修改的报告草稿。下面介绍系统怎么做，以及六个人怎样共同维护。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先把使用者定在学生和研究助理。比如写一份产业调研，往往先找很多资料，再重新搭提纲，最后还要逐个核对数字的出处。我们想减少这些重复整理工作，让人把时间花在分析上。这里说的是我们目前的需求假设，还没有做真实访谈。系统会允许更换产业主题和报告模板，所以不是只做光伏；光伏只是我们用来说明和验证功能的一个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看一个具体例子。左图是工信部公布的2024年数据：光伏组件产量比上一年增长13.5%，但组件价格下降29.7%。所以不能看到产量增长，就直接写成整个行业都在变好。右边的两个数字也不能混：588GW是组件产量，278GW是新增装机，分别是制造了多少、又新增用了多少。我们的系统要把时间、单位和出处一起保留下来，让写报告的人能回到原文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工信部《2024年全国光伏制造行业运行情况》，2025-02-27。https://www.miit.gov.cn/gyhxxhb/jgsj/dzxxs/dzjc/art/2025/art_da51f7f47c75477ea1fa6732155536db.html</a:t>
            </a:r>
          </a:p>
          <a:p xmlns:a="http://schemas.openxmlformats.org/drawingml/2006/main">
            <a:r>
              <a:t>国家能源局《2024年可再生能源并网运行情况》。https://obor.nea.gov.cn/detail2/21770.html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的操作分四步：录入资料、选模板、生成草稿，最后由人核对和导出。左边是我们现有原型实际生成的摘录。现在已经能保存资料、选来源、保存历史，也能下载Markdown这种文本格式。要说明的是，这张图用的是摘录模式，没有调用模型，所以不能把它当成AI写报告的效果。接下来才补模板、分章生成、人工修改和PDF或Word导出，最终让整条流程真正跑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ness这个词可以理解为围着AI的一套执行安排。老师讲项目管理时强调先拆任务、再检查进展；结合上节课学长的分享，我们也把生成报告分成几个小步骤。比如第一章已经写好，第二章突然失败，如果只做一次大请求，就很难知道从哪里接着做。我们计划每完成一章就保存内容和状态，修复后从第二章继续。如果资料或模板换了，要重新判断哪些内容还能复用。另外，超时不一定代表没扣费，结果不明确时先由人确认，达到预算也要停下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  <a:p xmlns:a="http://schemas.openxmlformats.org/drawingml/2006/main">
            <a:r>
              <a:t>Anthropic, Effective harnesses for long-running agents. https://www.anthropic.com/research/effective-harnesses-for-long-running-agents</a:t>
            </a:r>
          </a:p>
          <a:p xmlns:a="http://schemas.openxmlformats.org/drawingml/2006/main">
            <a:r>
              <a:t>Anthropic, Building effective agents. https://www.anthropic.com/research/building-effective-agents</a:t>
            </a:r>
          </a:p>
          <a:p xmlns:a="http://schemas.openxmlformats.org/drawingml/2006/main">
            <a:r>
              <a:t>LangGraph, Persistence. https://docs.langchain.com/oss/python/langgraph/persistence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怎样判断做完了？我们不只看能不能生成一段文字。第一，要能换模板和产业；第二，关键表述能查出处，修改前后的版本能保留；第三，要真的制造一次章节失败，看看能不能继续；第四，图表、中文和分页要能正常导出；最后，换一个环境也要能按说明运行。我们先用光伏和新能源汽车两类资料验证，避免只在一个准备好的例子里跑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  <a:p xmlns:a="http://schemas.openxmlformats.org/drawingml/2006/main">
            <a:r>
              <a:t>老师《P5 项目估算与进度管理》：第6、12、17—21、28页。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老师讲的WBS，就是把大项目一层一层拆成具体任务。我们分成七块，再细分成二十一个小任务，预计合计268人时，也就是六个人投入时间的总和，不是268个日历小时。以报告生成这块为例，还要拆成模板、章节和失败恢复。估算时，我们考虑顺利、正常、返工三种情况，分别是40、52、88小时，再用课堂的三点估算公式得到56人时。数字是当前计划，后面要用实际投入来修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  <a:p xmlns:a="http://schemas.openxmlformats.org/drawingml/2006/main">
            <a:r>
              <a:t>老师《P5 项目估算与进度管理》：第6、12、17—21、28页。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具体分工是：程文博统筹协调，控制范围和进度；田亦洁负责需求与设计，先把接口和验收条件说明白；崔大元整理资料和来源；许子萌做生成流程与恢复；李佳雨把这些能力接到页面上，完成修改和导出；我负责测试、部署和汇报。交接不是把文件发过去就结束，而是要让下一位成员知道怎么调用、哪里会出错，以及什么还没做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工之外，我们也要有共同维护的方式。这就是我们的GitHub仓库，左边是组长提供的协作者列表，五个协作者加上仓库所有者，六个人都有共同维护的入口。以后按分工在各自分支修改，完成后提交PR，也就是请其他成员检查这次改动。检查代码和材料是否一致、测试是否通过，再由组长确认合并，其他人同步最新版本。代码、报告和PPT源码都放在这里，谁改了什么、为什么改，也能回头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仓库：https://github.com/BrockPhlin/industry-report-harness</a:t>
            </a:r>
          </a:p>
          <a:p xmlns:a="http://schemas.openxmlformats.org/drawingml/2006/main">
            <a:r>
              <a:t>截图：组长于2026-10-26提供的GitHub Manage access页面，原图保存于assets/opening/github-collaborators.png。该图说明协作者权限，不直接证明个人贡献或分支保护已经设置。</a:t>
            </a:r>
          </a:p>
          <a:p xmlns:a="http://schemas.openxmlformats.org/drawingml/2006/main">
            <a:r>
              <a:t>协作流程为本组执行约定；现有合并成果可核对PR #5和#6。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看开发顺序就可以了。先确认需求和资料，再确定模板和接口，然后做分章与恢复，接着完成审阅导出，最后把各部分连起来测试。上面这条需要依次完成的路线，加起来是23个工作日，再留3天处理问题。下面的前端页面可以在需求确定后并行做，不需要一直等到后端全部写完，但要在审阅导出接入前准备好。这里算的是核心开发流程，整个学期还要另留终期前三周做系统测试；正式日期公布后，我们会重新排到日历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  <a:p xmlns:a="http://schemas.openxmlformats.org/drawingml/2006/main">
            <a:r>
              <a:t>老师《P5 项目估算与进度管理》：第6、12、17—21、28页。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金预算建议控制在200元以内，其中160元用于模型试验，40元应急。这是计划，不是已经花掉的钱。遇到问题，我们先处理三件事：调用中断就保存进度，费用状态不明时先核对；数字或出处对不上就回原文查，不能直接写进结论；核心任务延期，就由组长协调，先保证必须交付的功能，而不是继续加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老师《P5 项目估算与进度管理》：第6、12、17—21、28页。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，我们会把实际做出的东西作为进度依据。目前原型可以运行，十八项基线测试已经通过；涉及模型的测试用的是模拟响应，还需要真实联调。之后重点检查换产业能否复用、出错能否恢复、报告能否正常导出。每周大家一起看交出了什么、卡在哪里，再调整计划。AI可以帮助整理、起草和写重复代码，但资料是否支持结论、系统是否真正可用，必须由我们自己核对。我们的介绍到这里，谢谢老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老师《P5 项目估算与进度管理》：第6、12、17—21、28页。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a595d83b4e446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869b0543f5432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f49776ee1f484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b30a3d352f42b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cce4495f7542c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12877fd11142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BD1504F-7415-4688-8CCC-A2FBB09A29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C2ACE2E-51AA-49C4-BE68-AA4CB7F2C07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DB27B82-0E49-429C-8E1C-059B7A692D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F5900D-2164-4733-908F-D0B6463F9A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1C36972-B1F6-4BCE-B369-30F49EEFEE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513B977-9813-4F8B-86C3-BFD115D893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1B8B277-0941-49FA-A49D-D1776F58FE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091A1E0-976D-418A-9295-80808CA8AA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413C9E-F448-4DDB-B879-6AFC789187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125845C-4746-481D-9208-61C5F02317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1274e8ed99433e" /><Relationship Type="http://schemas.openxmlformats.org/officeDocument/2006/relationships/slideLayout" Target="/ppt/slideLayouts/slideLayout1.xml" Id="Rd4463d023e444de9" /><Relationship Type="http://schemas.openxmlformats.org/officeDocument/2006/relationships/slideLayout" Target="/ppt/slideLayouts/slideLayout2.xml" Id="R2c7a70b042cc4608" /><Relationship Type="http://schemas.openxmlformats.org/officeDocument/2006/relationships/slideLayout" Target="/ppt/slideLayouts/slideLayout3.xml" Id="Rbbf4ea36db1d49f3" /><Relationship Type="http://schemas.openxmlformats.org/officeDocument/2006/relationships/slideLayout" Target="/ppt/slideLayouts/slideLayout4.xml" Id="R93ff7c45d983484b" /><Relationship Type="http://schemas.openxmlformats.org/officeDocument/2006/relationships/slideLayout" Target="/ppt/slideLayouts/slideLayout5.xml" Id="R59f5cb6a947a4811" /><Relationship Type="http://schemas.openxmlformats.org/officeDocument/2006/relationships/slideLayout" Target="/ppt/slideLayouts/slideLayout6.xml" Id="R1339530638ec4a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463d023e444de9"/>
    <p:sldLayoutId xmlns:r="http://schemas.openxmlformats.org/officeDocument/2006/relationships" id="2147483650" r:id="R2c7a70b042cc4608"/>
    <p:sldLayoutId xmlns:r="http://schemas.openxmlformats.org/officeDocument/2006/relationships" id="2147483651" r:id="Rbbf4ea36db1d49f3"/>
    <p:sldLayoutId xmlns:r="http://schemas.openxmlformats.org/officeDocument/2006/relationships" id="2147483652" r:id="R93ff7c45d983484b"/>
    <p:sldLayoutId xmlns:r="http://schemas.openxmlformats.org/officeDocument/2006/relationships" id="2147483653" r:id="R59f5cb6a947a4811"/>
    <p:sldLayoutId xmlns:r="http://schemas.openxmlformats.org/officeDocument/2006/relationships" id="2147483654" r:id="R1339530638ec4a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9f72e57cfc40da" /><Relationship Type="http://schemas.openxmlformats.org/officeDocument/2006/relationships/image" Target="/ppt/media/image.png" Id="R7f2d89619d8c4de1" /><Relationship Type="http://schemas.openxmlformats.org/officeDocument/2006/relationships/notesSlide" Target="/ppt/notesSlides/notesSlide1.xml" Id="Rd146b1bd635b4e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b884d1f8cd45b4" /><Relationship Type="http://schemas.openxmlformats.org/officeDocument/2006/relationships/image" Target="/ppt/media/image2.png" Id="R7a78523b07b9430b" /><Relationship Type="http://schemas.openxmlformats.org/officeDocument/2006/relationships/notesSlide" Target="/ppt/notesSlides/notesSlide2.xml" Id="Refa52868aa9443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25619a77e44717" /><Relationship Type="http://schemas.openxmlformats.org/officeDocument/2006/relationships/image" Target="/ppt/media/image3.png" Id="Rcff7514f4ec049d2" /><Relationship Type="http://schemas.openxmlformats.org/officeDocument/2006/relationships/chart" Target="/ppt/slides/charts/chart1.xml" Id="R0a0dd2e193e54788" /><Relationship Type="http://schemas.openxmlformats.org/officeDocument/2006/relationships/notesSlide" Target="/ppt/notesSlides/notesSlide3.xml" Id="Rb5b63460387d4d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d32399a20144c0" /><Relationship Type="http://schemas.openxmlformats.org/officeDocument/2006/relationships/image" Target="/ppt/media/image4.png" Id="R64d73f7a551c46fc" /><Relationship Type="http://schemas.openxmlformats.org/officeDocument/2006/relationships/image" Target="/ppt/media/image5.png" Id="R2e467c268a024111" /><Relationship Type="http://schemas.openxmlformats.org/officeDocument/2006/relationships/notesSlide" Target="/ppt/notesSlides/notesSlide4.xml" Id="R7423ba81804044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b04db27571473b" /><Relationship Type="http://schemas.openxmlformats.org/officeDocument/2006/relationships/image" Target="/ppt/media/image6.png" Id="Rb558244ec83d44d2" /><Relationship Type="http://schemas.openxmlformats.org/officeDocument/2006/relationships/notesSlide" Target="/ppt/notesSlides/notesSlide5.xml" Id="R6ae4759d40054c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2716650fd34946" /><Relationship Type="http://schemas.openxmlformats.org/officeDocument/2006/relationships/image" Target="/ppt/media/image7.png" Id="R15db7fd8315845e5" /><Relationship Type="http://schemas.openxmlformats.org/officeDocument/2006/relationships/notesSlide" Target="/ppt/notesSlides/notesSlide6.xml" Id="R85f78b2636b24f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f7893270164e66" /><Relationship Type="http://schemas.openxmlformats.org/officeDocument/2006/relationships/image" Target="/ppt/media/image8.png" Id="Rd6f1cf3629924e07" /><Relationship Type="http://schemas.openxmlformats.org/officeDocument/2006/relationships/notesSlide" Target="/ppt/notesSlides/notesSlide7.xml" Id="Rda03b52cd3864c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f463c71aac4f7f" /><Relationship Type="http://schemas.openxmlformats.org/officeDocument/2006/relationships/image" Target="/ppt/media/image9.png" Id="Rd554f688747b4d80" /><Relationship Type="http://schemas.openxmlformats.org/officeDocument/2006/relationships/notesSlide" Target="/ppt/notesSlides/notesSlide8.xml" Id="R8aa0e8d4d47e4f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1dcdc7c47f41ae" /><Relationship Type="http://schemas.openxmlformats.org/officeDocument/2006/relationships/image" Target="/ppt/media/image10.png" Id="R5598916d753b4b5d" /><Relationship Type="http://schemas.openxmlformats.org/officeDocument/2006/relationships/image" Target="/ppt/media/image11.png" Id="R6aa825d537484e2b" /><Relationship Type="http://schemas.openxmlformats.org/officeDocument/2006/relationships/notesSlide" Target="/ppt/notesSlides/notesSlide9.xml" Id="R04435419ff284b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048a438d11483c" /><Relationship Type="http://schemas.openxmlformats.org/officeDocument/2006/relationships/image" Target="/ppt/media/image12.png" Id="R7a51c1d27d6b4b7b" /><Relationship Type="http://schemas.openxmlformats.org/officeDocument/2006/relationships/notesSlide" Target="/ppt/notesSlides/notesSlide10.xml" Id="R88c5c24d05ae46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06a578e00a4547" /><Relationship Type="http://schemas.openxmlformats.org/officeDocument/2006/relationships/image" Target="/ppt/media/image13.png" Id="R4f0667ada4fc4eff" /><Relationship Type="http://schemas.openxmlformats.org/officeDocument/2006/relationships/notesSlide" Target="/ppt/notesSlides/notesSlide11.xml" Id="Rb6e5f9bd12ff4f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2825c673694820" /><Relationship Type="http://schemas.openxmlformats.org/officeDocument/2006/relationships/image" Target="/ppt/media/image14.png" Id="Rcf5caccb83534f4c" /><Relationship Type="http://schemas.openxmlformats.org/officeDocument/2006/relationships/notesSlide" Target="/ppt/notesSlides/notesSlide12.xml" Id="R32f551f33b5e4b9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比上一年变化</c:v>
          </c:tx>
          <c:spPr>
            <a:solidFill xmlns:a="http://schemas.openxmlformats.org/drawingml/2006/main">
              <a:srgbClr val="003F88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03F8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AD5D23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组件产量</c:v>
                </c:pt>
                <c:pt idx="1">
                  <c:v>组件价格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0.135</c:v>
                </c:pt>
                <c:pt idx="1">
                  <c:v>-0.297</c:v>
                </c:pt>
              </c:numCache>
            </c:numRef>
          </c:val>
        </c:ser>
        <c:dLbls>
          <c:numFmt formatCode="0.0%;-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>
                  <a:solidFill>
                    <a:srgbClr val="233042"/>
                  </a:solidFill>
                  <a:latin typeface="LXGW WenKai"/>
                  <a:ea typeface="LXGW WenKai"/>
                  <a:cs typeface="LXGW WenKa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</a:p>
        </c:txPr>
        <c:crossAx val="48672768"/>
      </c:catAx>
      <c:valAx>
        <c:axId val="48672768"/>
        <c:scaling>
          <c:orientation val="minMax"/>
          <c:max val="0.2"/>
          <c:min val="-0.4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</a:p>
        </c:txPr>
        <c:crossAx val="48650112"/>
        <c:crossBetween val="between"/>
        <c:majorUnit val="0.1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FF4118-DA5F-4ACA-ABD8-0059BDDB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1095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E0F0C4-3895-43C9-A445-E1BA51A434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2d89619d8c4de1"/>
          <a:stretch xmlns:a="http://schemas.openxmlformats.org/drawingml/2006/main"/>
        </p:blipFill>
        <p:spPr>
          <a:xfrm xmlns:a="http://schemas.openxmlformats.org/drawingml/2006/main">
            <a:off x="711553" y="523875"/>
            <a:ext cx="2958394" cy="1028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FE7C2-5007-410F-9B12-8029E206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产业智能报告生成系统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F2BB2-437E-48EF-A30A-FED230E2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38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整理产业资料，生成有出处的报告草稿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7EF7B-2E68-4CE8-AFC8-7E99C74F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第11组　组长：程文博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8167D-3F09-4B1E-92A6-39AD1AD3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组员：田亦洁、李佳雨、许子萌、崔大元、郭润航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09FD7A-8381-4B6C-8361-E0CF040F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482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展示人：郭润航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424C1F-2C87-486A-A23B-1095AE08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软件工程管理 · 2026年10月26日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EF677C-1046-49F5-B956-7A89C340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20ED9-CCC5-4C11-B657-03D01344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19747508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B0E8FD-7687-4472-98DD-C6CB5DA7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谁会用？主要帮他们做什么？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9F188-5BDB-4254-80B6-3DDABE67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5E16B-A19A-4388-8C06-A56F802A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面向写课程调研、整理产业信息的学生和研究助理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61103-A6E8-48EE-A3B4-E3CA7A4057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78523b07b9430b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66F0C-A959-4D79-ABB4-63B2C6F6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写报告时，时间常花在哪里？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1D1693-3ED5-40B4-A1EA-D2545B1E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找资料：原文分散在不同网站和文件里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F0F7F-A195-40BB-B504-67FBB5CE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搭结构：每次都要重新列提纲、整理章节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236CB-E518-4720-8911-DA978DB8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查出处：看到一个数字，要能找到它来自哪里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CC5AB-73B9-47F5-86AD-84447CA4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我们的目标：先生成可核对的草稿，再由人修改和确认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312CEA-411F-490F-8B6E-1BDA13E5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需求假设将在开题后通过真实用户任务核实。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56F215-9590-4F0B-8371-189DE76B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BE4F64-6207-45A3-A626-844989EB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02 / 12</a:t>
            </a:r>
          </a:p>
        </p:txBody>
      </p:sp>
    </p:spTree>
    <p:extLst>
      <p:ext uri="{BB962C8B-B14F-4D97-AF65-F5344CB8AC3E}">
        <p14:creationId xmlns:p14="http://schemas.microsoft.com/office/powerpoint/2010/main" val="20661260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CFCDBE-31D4-4DFF-B91F-F5D87FD5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同样是光伏数据，两个数字不能混用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9A055-32DE-434A-8B0E-40051E2A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181A1-C0BE-4B4C-A15B-D347978C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2024年公开数据示例：写进报告前，要先看清指标和单位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73E47-7838-4673-8C74-EAF2210E43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f7514f4ec049d2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83174-F337-4453-A555-BC8DA866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组件产量增加，组件价格下降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3E9090E6-68D7-4461-B1C4-744252B81E79}"/>
              </a:ext>
            </a:extLst>
          </p:cNvPr>
          <p:cNvGraphicFramePr/>
          <p:nvPr/>
        </p:nvGraphicFramePr>
        <p:xfrm>
          <a:off xmlns:a="http://schemas.openxmlformats.org/drawingml/2006/main" x="666750" y="2209800"/>
          <a:ext xmlns:a="http://schemas.openxmlformats.org/drawingml/2006/main" cx="6762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a0dd2e193e5478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4326A1-4144-4D8C-8938-E644D81D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5737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588 GW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B886F8-2EC7-4785-A107-F2AE680E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381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组件产量</a:t>
            </a:r>
          </a:p>
          <a:p xmlns:a="http://schemas.openxmlformats.org/drawingml/2006/main">
            <a: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制造了多少光伏组件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F07CF-E11F-4866-ABF5-B94D6DAA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2427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278 GW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631DBB-56CB-4585-AEA2-5AE6C7DD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7675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新增装机</a:t>
            </a:r>
          </a:p>
          <a:p xmlns:a="http://schemas.openxmlformats.org/drawingml/2006/main">
            <a: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新增投入使用的发电容量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8E0CAB-D7E2-4109-812D-62EA6875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左图为比上一年的变化；来源：工信部2024光伏制造统计、国家能源局2024并网运行统计。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ED11FE-8357-4C3D-B34F-98270796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107DAC-3938-49C5-A853-682721A4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03 / 12</a:t>
            </a:r>
          </a:p>
        </p:txBody>
      </p:sp>
    </p:spTree>
    <p:extLst>
      <p:ext uri="{BB962C8B-B14F-4D97-AF65-F5344CB8AC3E}">
        <p14:creationId xmlns:p14="http://schemas.microsoft.com/office/powerpoint/2010/main" val="5538530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E64A17-1DA5-482A-9CAC-9AEC4F8B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系统怎样用？目前做到哪一步？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0C38AF-D435-4808-8066-7A0C0BBA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C2EE2-8037-46B6-8E72-CFD7736D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录入资料 → 选择模板 → 生成草稿 → 人工核对后导出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64E0F-466E-4C3F-98A4-3B9533E089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d73f7a551c46fc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5E2EC-549D-459B-AEC5-6F051019BB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467c268a024111"/>
          <a:stretch xmlns:a="http://schemas.openxmlformats.org/drawingml/2006/main"/>
        </p:blipFill>
        <p:spPr>
          <a:xfrm xmlns:a="http://schemas.openxmlformats.org/drawingml/2006/main">
            <a:off x="666750" y="2156034"/>
            <a:ext cx="5191125" cy="330793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4CACDC-83A6-465E-89E0-4C45E23A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95450"/>
            <a:ext cx="509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已经能做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A1B188-5D1A-49ED-ADEB-563E9E36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09825"/>
            <a:ext cx="5095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保存资料、选择来源</a:t>
            </a:r>
          </a:p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生成摘录、查看原文快照</a:t>
            </a:r>
          </a:p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保存历史、下载 Markdown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B362E6-94C6-4004-A0B1-4A5B7C96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52900"/>
            <a:ext cx="509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接下来要做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5B830-6731-40C0-BFAF-3AAD2EC2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67275"/>
            <a:ext cx="50958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按模板分章生成</a:t>
            </a:r>
          </a:p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核对引用、修改内容、正式导出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57592-2690-4620-91AB-9355B852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332086-C845-446E-B30B-3A09F4F9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04 / 12</a:t>
            </a:r>
          </a:p>
        </p:txBody>
      </p:sp>
    </p:spTree>
    <p:extLst>
      <p:ext uri="{BB962C8B-B14F-4D97-AF65-F5344CB8AC3E}">
        <p14:creationId xmlns:p14="http://schemas.microsoft.com/office/powerpoint/2010/main" val="18131405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647D39-5B35-4F7C-8CD3-FF2467F4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Harness：给AI任务安排步骤、保存进度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6A765-D8B2-4DCF-9151-9155562F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E17C96-A474-442E-8950-A5DC3DA7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结合上节课学长的分享，我们把长报告拆成可以接着做的小任务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C747CD-1D1D-4704-B3A6-7ABABE12E9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58244ec83d44d2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3E96B-763D-4C56-9087-B92CCE91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38375"/>
            <a:ext cx="714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EA61B-43EA-4214-A270-0EAE96BA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38375"/>
            <a:ext cx="714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2C312-4557-44EF-AD58-EF9FF692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1D1EE8-005F-4A6F-A55B-E91DD691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383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选资料和模板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F91BE6-90DA-44F2-AC8F-6E6BC84D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145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先确定这次用什么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4AB788-3F6C-4641-B41A-5C4059C8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145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5B3D3D-F6BA-46B4-8A57-B612D5B4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383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分章写报告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1FCA05-1D4D-4F35-9E4D-8B601292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145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每完成一章就保存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2E58D-86C8-480E-BD01-77B1DBC8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E8BC95-FE54-4DF0-9FD9-0016C0A9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383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核对后导出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713588-2B3F-4C43-8046-B87DCE13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145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查出处、人工修改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2B896F-7E8E-413A-90A0-ED72E3B7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67175"/>
            <a:ext cx="714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AABE00-E68D-4313-8E64-6E4D72BD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67175"/>
            <a:ext cx="714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3F8A51-FDB0-4935-9E38-C5B491C2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8869CC-A3EF-4FF7-AC54-EFB06F8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67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第1章：写好了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0D00DD-6E0B-4D81-8F8F-7CAE2A94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43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保留已经完成的内容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467C0F-3F07-40C3-A3EB-BE67A5A9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433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5CC790-0D89-48DF-B995-118FE01E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67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第2章：中断了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BF7F90-24F6-4933-8D91-AB7EA6A5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43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修好后从这里继续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8BA7E7-7030-4833-9D58-BC41F52E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433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296C37-3A56-4B03-8274-ED331312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67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第3章：还没写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6C0828-AD98-4B03-8245-BFC0A1D3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143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等前面完成后再写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B7A13F-203B-4341-A5DB-C41FD688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目标：中途出错，也能接着做；花到预算上限，就停下来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128C2C-7C93-446D-967A-26C97C0D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这是计划实现的能力；技术参考：Anthropic官方文章、LangGraph持久化文档。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6F77EA-7381-45F8-AF8E-46A6C6E0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BA91CA-B5AF-4045-80B4-D6508F71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05 / 12</a:t>
            </a:r>
          </a:p>
        </p:txBody>
      </p:sp>
    </p:spTree>
    <p:extLst>
      <p:ext uri="{BB962C8B-B14F-4D97-AF65-F5344CB8AC3E}">
        <p14:creationId xmlns:p14="http://schemas.microsoft.com/office/powerpoint/2010/main" val="5018011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776B40-C11A-4D7F-A8FC-C8F783FC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本学期做到什么程度，才算完成？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D120E-283B-433D-80E0-1F2593CB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66620-DB07-4B07-86FE-F7F73E9E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把目标写成能实际检查的条件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B9AC0B-36E4-4BBD-8246-9D6846B653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db7fd8315845e5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21DBC-0BF6-4AC9-A6BE-D79E7C62A40F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8965"/>
                <a:gridCol w="7709535"/>
              </a:tblGrid>
              <a:tr h="6191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要交付的能力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怎么检查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6191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更换产业和模板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两种模板；两个产业各用至少3份公开资料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草稿能查出处、能修改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每份抽查至少5条关键表述，保留修改前后版本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出错后能继续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人为让一章失败，确认成功内容保留并能接着写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报告能正式导出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至少1种带单位和出处的图表，中文与分页可读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换台环境也能运行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按说明启动，完成资料录入到报告导出的流程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CF9AA7-6A02-43EF-B2B3-B014042D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系统保持通用；先用光伏、新能源汽车资料验证。以上是学期目标。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BE0EB-A79C-435B-AB3D-40999D92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F82362-A45B-4577-BAAF-2273A8D7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06 / 12</a:t>
            </a:r>
          </a:p>
        </p:txBody>
      </p:sp>
    </p:spTree>
    <p:extLst>
      <p:ext uri="{BB962C8B-B14F-4D97-AF65-F5344CB8AC3E}">
        <p14:creationId xmlns:p14="http://schemas.microsoft.com/office/powerpoint/2010/main" val="18261939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901C81-AC4D-4C14-891E-76D6EC5F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工作怎么拆？预计投入多少时间？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114340-CB2D-4641-B28F-FB9F8204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266B9-4259-43F0-96FB-8F50512A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按老师讲的WBS：整个项目 → 工作包 → 具体任务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991D14-5171-4C4B-A6A7-C066E770F3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f1cf3629924e07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4C541-43AC-4046-9E51-B4E57C6F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09800"/>
            <a:ext cx="714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8C9D5B-3720-4AF8-9280-CDCB1736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09800"/>
            <a:ext cx="714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0F12F8-F394-4E2B-AA8C-D55FC1C0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8AA878-9373-4A51-956C-29ABEFFB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整个项目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6E360B-659E-4318-851F-12D651A9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860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预计268人时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2A1A8F-5966-4D7F-A295-779602B9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85925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4F91EC-D1BF-459F-9CD6-7E3092E0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报告生成模块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82D54F-603F-47A1-A91D-B369D46C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860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预计56人时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17C69-1E71-4E0F-82B6-70A63C43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85925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910921-EC49-44DA-83CC-81DB01DE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09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再拆成小任务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F2D4B6-3B44-4417-9A5B-567063D8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860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模板 / 章节 / 恢复</a:t>
            </a:r>
          </a:p>
        </p:txBody>
      </p:sp>
      <p:graphicFrame>
        <p:nvGraphicFrame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913836-B8B4-4AFD-BB5D-9AD2AD296DCA}"/>
              </a:ext>
            </a:extLst>
          </p:cNvPr>
          <p:cNvGraphicFramePr/>
          <p:nvPr/>
        </p:nvGraphicFramePr>
        <p:xfrm>
          <a:off xmlns:a="http://schemas.openxmlformats.org/drawingml/2006/main" x="666750" y="3333750"/>
          <a:ext xmlns:a="http://schemas.openxmlformats.org/drawingml/2006/main" cx="10858500" cy="114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51214"/>
                <a:gridCol w="1551214"/>
                <a:gridCol w="1551214"/>
                <a:gridCol w="1551214"/>
                <a:gridCol w="1551214"/>
                <a:gridCol w="1551214"/>
                <a:gridCol w="1551214"/>
              </a:tblGrid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统筹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调研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设计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资料处理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报告生成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页面导出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测试交付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16小时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28小时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32小时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40小时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56小时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44小时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52小时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DC57C9-FA74-4B57-8762-98E8A477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生成模块的三种估计：顺利40小时 / 正常52小时 / 返工88小时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01F0A4-ACE2-4314-83C0-0C041CF5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268人时是六人预计投入的时间总和；需求细化后继续调整。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AC6390-1C6C-4AE0-9927-CD324C03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393314-2B37-43BA-B251-4E81DD57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07 / 12</a:t>
            </a:r>
          </a:p>
        </p:txBody>
      </p:sp>
    </p:spTree>
    <p:extLst>
      <p:ext uri="{BB962C8B-B14F-4D97-AF65-F5344CB8AC3E}">
        <p14:creationId xmlns:p14="http://schemas.microsoft.com/office/powerpoint/2010/main" val="15641273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DE16F7-CFC5-4475-8240-B8BF8CAF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六个人分别负责什么？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BBEF1-E00C-4077-A3E3-64E39940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82B32-C275-4E64-81B2-F98C86A5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每块工作有人负责，交接时要说清输入、输出和没有完成的部分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7DC64-9B95-4D52-B201-9153B0493B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54f688747b4d80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CAF908-D2EB-40F2-971A-A1F772BD5CF8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63115"/>
                <a:gridCol w="4451985"/>
                <a:gridCol w="4343400"/>
              </a:tblGrid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成员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主要负责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主要交付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程文博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统筹协调、评审和验收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范围、进度、预算与版本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田亦洁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需求和系统设计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需求说明、接口和验收条件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李佳雨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页面、修改功能和导出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可操作的页面、图表和报告文件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郭润航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测试、部署和汇报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测试记录、运行说明和演示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崔大元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资料整理和数据处理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来源记录、资料导入和版本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许子萌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Harness和报告生成后端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模板、分章生成、保存与恢复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D7667-7E92-4A81-8D3E-87A24184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各模块交接后一起测试；组长组织范围变更和最终验收。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F255E3-C6BE-48AA-B9BF-0E6CB606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17137-55CA-4D3A-834D-A2B7DD9C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08 / 12</a:t>
            </a:r>
          </a:p>
        </p:txBody>
      </p:sp>
    </p:spTree>
    <p:extLst>
      <p:ext uri="{BB962C8B-B14F-4D97-AF65-F5344CB8AC3E}">
        <p14:creationId xmlns:p14="http://schemas.microsoft.com/office/powerpoint/2010/main" val="10997007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90BE72-3539-49EC-A22B-119CCCC8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六人共同维护一个GitHub仓库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252FA-EEF7-4EA1-A228-7E9E9D32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76FFD-864F-4931-BDA5-1F53C299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每人按分工修改，提交PR后互相检查，再合并到主分支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BA824-5B58-4F4C-9E4A-E05769FFC7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98916d753b4b5d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B18BA2-3E04-494C-9CE0-61562720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github.com/BrockPhlin/industry-report-harness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4627A-BF3A-44D4-9E1C-8C06390F45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825d537484e2b"/>
          <a:stretch xmlns:a="http://schemas.openxmlformats.org/drawingml/2006/main"/>
        </p:blipFill>
        <p:spPr>
          <a:xfrm xmlns:a="http://schemas.openxmlformats.org/drawingml/2006/main">
            <a:off x="619125" y="1973428"/>
            <a:ext cx="7429500" cy="361599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20DCC2-9C10-416E-9333-DFCECF7F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05025"/>
            <a:ext cx="3095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1 分支里改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E390CD-C437-4550-A3DE-308BAD1B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19375"/>
            <a:ext cx="309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按分工修改代码和材料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D1255D-001F-452B-9895-C962BD9E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62325"/>
            <a:ext cx="3095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2 PR互相检查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1A04F-108F-4C21-8382-D46179E6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76675"/>
            <a:ext cx="309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说明改动，核对测试与版本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D0D820-AC00-4954-9A31-E2D316EE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67250"/>
            <a:ext cx="3095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3 合并后同步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02E343-D39A-4A4B-B481-2EF8D4EE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181600"/>
            <a:ext cx="309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组长确认，其他人拉取更新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A271AD-F3DA-4521-8B24-5B20C244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2927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协作者列表：5个协作者账号，加上仓库所有者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D6F625-E710-4EFD-BA7E-90F819DA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统一保存代码、报告与PPT源码，减少反复传文件和版本混乱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1CFFBD-64E5-48AA-8A9F-2BD64537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B86DED-EC30-4A01-9CD0-8983AD97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09 / 12</a:t>
            </a:r>
          </a:p>
        </p:txBody>
      </p:sp>
    </p:spTree>
    <p:extLst>
      <p:ext uri="{BB962C8B-B14F-4D97-AF65-F5344CB8AC3E}">
        <p14:creationId xmlns:p14="http://schemas.microsoft.com/office/powerpoint/2010/main" val="3748989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6B4227-B2CA-402E-9224-B193C3E0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开发顺序：先定需求，再生成，最后一起测试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313897-FD36-4B41-AA7D-4EF4C7D1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1AD7D3-73FA-415A-9547-864C2D50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核心流程预计23个工作日，另留3天处理问题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6825F4-3F41-4F48-882C-A9BDFC85A8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51c1d27d6b4b7b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E5099D-12C4-448B-A6D2-6645C2D2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57475"/>
            <a:ext cx="333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17460-A2C0-491D-B1C8-8C5E7D8B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657475"/>
            <a:ext cx="333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D4CDC2-549D-423A-A7FF-49F028D0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57475"/>
            <a:ext cx="333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B2F21A-8F48-4594-B905-AA728D9A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57475"/>
            <a:ext cx="333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A9434-D45B-4665-AEC1-9A25CBE4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A177C7-E2B6-4922-A2FD-2CEFE5F9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574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需求和资料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2AF52B-AC5A-4E3E-B2CA-589C8670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336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5个工作日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3C0AE6-471D-497F-907F-0B8F7EE2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3360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CCC44E-A4C4-4095-B24F-F89C2CC9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574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模板与接口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290370-C15B-43E2-A63E-04C87CE0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336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3个工作日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76E4F0-9CE8-44E3-8DF4-53B2DE2E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3360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AB02BD-C910-4694-92B2-85FA39C7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574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分章与恢复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C17CC5-7AE8-48D2-B4B5-E9F78A77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336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6个工作日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077571-0FC1-46DD-A0E6-B3E51EAB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3360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548013-C95F-4DCB-B4B0-14B9D02E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574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审阅与导出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44EF40-1D1E-46C2-B6CA-AD514166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336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4个工作日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B6A0F9-3CD3-4C9D-A7D6-F0817563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3360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B9239E-6A65-4FEA-B8D7-29C7CD3A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2574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联调测试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7DBF17-4A52-4C6D-9CE9-2A9ACF83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7336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5个工作日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8ED5F0-EA45-4D64-916D-E4AEE742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81350"/>
            <a:ext cx="14288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042935-508C-40CD-BBBE-EB363946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95800"/>
            <a:ext cx="1285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627FE3-B08F-44B9-9464-2F9BEC1F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95800"/>
            <a:ext cx="1285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FEDD56-0E60-474B-8CA8-37E1E6AD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81350"/>
            <a:ext cx="14288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121231-B4F0-4765-BEF5-48C07159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71925"/>
            <a:ext cx="4143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3F18BD-B3D8-406B-A3A2-40071287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95750"/>
            <a:ext cx="3857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前端页面：3个工作日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B0985B-546E-43FB-9A0B-D0E407A4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72000"/>
            <a:ext cx="3857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需求确定后，与生成模块并行开发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DFE97A-F543-4146-9B57-CDCEB7DB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5 + 3 + 6 + 4 + 5 = 23天；再留3天缓冲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85501D-7744-4620-8985-9F8809E4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这是核心开发的初步安排；正式日期落定后重排，终期前另留3周做系统测试。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D7E2F2-90FF-4D47-B8A7-B6D92249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52DF25-418F-4AA4-8AFB-B827EA35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13993123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3EA59B-3278-40E6-8700-2F97DFD7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预算怎么控制？出问题怎么办？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F51EB-B07E-4943-A796-A6D60F25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4734A-2458-4C9C-B4F9-607D8A31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建议现金上限200元，主要用于模型试验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14925-8D6B-44C7-AD11-76E646BE78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667ada4fc4eff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D1823-E6CB-42C4-A7E7-F10AD705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模型试验160元  +  应急40元  =  200元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B13DF-789E-4D1D-8022-E225BB732E1E}"/>
              </a:ext>
            </a:extLst>
          </p:cNvPr>
          <p:cNvGraphicFramePr/>
          <p:nvPr/>
        </p:nvGraphicFramePr>
        <p:xfrm>
          <a:off xmlns:a="http://schemas.openxmlformats.org/drawingml/2006/main" x="666750" y="2714625"/>
          <a:ext xmlns:a="http://schemas.openxmlformats.org/drawingml/2006/main" cx="108585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34815"/>
                <a:gridCol w="6623685"/>
              </a:tblGrid>
              <a:tr h="7620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可能遇到的问题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我们的处理办法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7620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模型中断，或者不清楚是否已经扣费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保存进度，先核对调用结果再决定是否重试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资料的数字、单位或出处对不上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回到原文核对，核不清的内容不写进结论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核心任务延期，影响后面的人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组长协调补位，先完成必须交付的功能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90DC1-02E6-46A2-878B-CF64A37B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预算是计划上限，不是已支出；选定服务后按实际调用核算。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E5C7E-3B35-4D07-8F69-5DC7DE5A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D22833-0C5C-4216-B54C-10CF9FC1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2656772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BEB5C9-E820-4D7D-BDDA-6879BF23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让草稿有用，也让每一步经得起检查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5D5DD-5B51-4C72-9105-B6A35FEE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79B6B-103F-446D-B4C0-E590A14E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AI帮忙整理和起草；人负责需求、事实核对和最终确认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D2ED9D-55DE-4D92-9FB0-A485F2B91A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caccb83534f4c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73B4B-DD85-4B59-86C0-5BE65CAB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已有基础：原型可运行，18项基线测试通过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5F6601-C8B8-4883-921A-33D0C498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908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接下来检查：换产业能用吗？出错能恢复吗？导出能读吗？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07EF0-5ABC-4FC2-8721-8BCD00BF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3382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每周一起看：交出了什么、卡在哪里、需要怎么调整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4AA47A-9545-43B8-BAD4-1B5E8D99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开题后先确认资料、模板和接口，再按分工推进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6EFE86-F63D-4314-9736-21ECEB18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F3EDC3-11CE-4AFC-BDF6-EF6CB8A1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17400387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2026-10-25T16:15:37.6060000Z</dcterms:created>
  <dcterms:modified xsi:type="dcterms:W3CDTF">2026-10-25T16:15:37.6060000Z</dcterms:modified>
</coreProperties>
</file>