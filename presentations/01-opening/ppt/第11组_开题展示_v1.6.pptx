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a89ebbc2ac4329" /><Relationship Type="http://schemas.openxmlformats.org/officeDocument/2006/relationships/extended-properties" Target="/docProps/app.xml" Id="R1fd100815f994880" /><Relationship Type="http://schemas.openxmlformats.org/officeDocument/2006/relationships/officeDocument" Target="/ppt/presentation.xml" Id="R6e9e0bcb96e44f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b46bd8738b4a65"/>
  </p:sldMasterIdLst>
  <p:notesMasterIdLst>
    <p:notesMasterId xmlns:r="http://schemas.openxmlformats.org/officeDocument/2006/relationships" r:id="Ra8d9f89b32dc4dd7"/>
  </p:notesMasterIdLst>
  <p:sldIdLst>
    <p:sldId xmlns:r="http://schemas.openxmlformats.org/officeDocument/2006/relationships" id="256" r:id="Rb193e2852e0c4352"/>
    <p:sldId xmlns:r="http://schemas.openxmlformats.org/officeDocument/2006/relationships" id="257" r:id="Rd11c35e2d4514853"/>
    <p:sldId xmlns:r="http://schemas.openxmlformats.org/officeDocument/2006/relationships" id="258" r:id="R3b791ff5a1174de7"/>
    <p:sldId xmlns:r="http://schemas.openxmlformats.org/officeDocument/2006/relationships" id="259" r:id="Ra466abe2904446e8"/>
    <p:sldId xmlns:r="http://schemas.openxmlformats.org/officeDocument/2006/relationships" id="260" r:id="R0da2189e02514c2a"/>
    <p:sldId xmlns:r="http://schemas.openxmlformats.org/officeDocument/2006/relationships" id="261" r:id="R71f49148f82e40de"/>
    <p:sldId xmlns:r="http://schemas.openxmlformats.org/officeDocument/2006/relationships" id="262" r:id="Raf3c04e6025d4c5d"/>
    <p:sldId xmlns:r="http://schemas.openxmlformats.org/officeDocument/2006/relationships" id="263" r:id="Rfe9ab5917cd84a3b"/>
    <p:sldId xmlns:r="http://schemas.openxmlformats.org/officeDocument/2006/relationships" id="264" r:id="R08737054dc6f4c5f"/>
    <p:sldId xmlns:r="http://schemas.openxmlformats.org/officeDocument/2006/relationships" id="265" r:id="Rde6faad0d47f47f7"/>
    <p:sldId xmlns:r="http://schemas.openxmlformats.org/officeDocument/2006/relationships" id="266" r:id="Ra8c6c6a2efe34ed5"/>
    <p:sldId xmlns:r="http://schemas.openxmlformats.org/officeDocument/2006/relationships" id="267" r:id="R040e9b9128cb48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070d6e74ad4dbe" /><Relationship Type="http://schemas.openxmlformats.org/officeDocument/2006/relationships/slideMaster" Target="/ppt/slideMasters/slideMaster1.xml" Id="R0fb46bd8738b4a65" /><Relationship Type="http://schemas.openxmlformats.org/officeDocument/2006/relationships/notesMaster" Target="/ppt/notesMasters/notesMaster1.xml" Id="Ra8d9f89b32dc4dd7" /><Relationship Type="http://schemas.openxmlformats.org/officeDocument/2006/relationships/presProps" Target="/ppt/presProps.xml" Id="R8a41957dfd564e85" /><Relationship Type="http://schemas.openxmlformats.org/officeDocument/2006/relationships/tableStyles" Target="/ppt/tableStyles.xml" Id="R4ce92cab3a0a4d81" /><Relationship Type="http://schemas.openxmlformats.org/officeDocument/2006/relationships/slide" Target="/ppt/slides/slide1.xml" Id="Rb193e2852e0c4352" /><Relationship Type="http://schemas.openxmlformats.org/officeDocument/2006/relationships/slide" Target="/ppt/slides/slide2.xml" Id="Rd11c35e2d4514853" /><Relationship Type="http://schemas.openxmlformats.org/officeDocument/2006/relationships/slide" Target="/ppt/slides/slide3.xml" Id="R3b791ff5a1174de7" /><Relationship Type="http://schemas.openxmlformats.org/officeDocument/2006/relationships/slide" Target="/ppt/slides/slide4.xml" Id="Ra466abe2904446e8" /><Relationship Type="http://schemas.openxmlformats.org/officeDocument/2006/relationships/slide" Target="/ppt/slides/slide5.xml" Id="R0da2189e02514c2a" /><Relationship Type="http://schemas.openxmlformats.org/officeDocument/2006/relationships/slide" Target="/ppt/slides/slide6.xml" Id="R71f49148f82e40de" /><Relationship Type="http://schemas.openxmlformats.org/officeDocument/2006/relationships/slide" Target="/ppt/slides/slide7.xml" Id="Raf3c04e6025d4c5d" /><Relationship Type="http://schemas.openxmlformats.org/officeDocument/2006/relationships/slide" Target="/ppt/slides/slide8.xml" Id="Rfe9ab5917cd84a3b" /><Relationship Type="http://schemas.openxmlformats.org/officeDocument/2006/relationships/slide" Target="/ppt/slides/slide9.xml" Id="R08737054dc6f4c5f" /><Relationship Type="http://schemas.openxmlformats.org/officeDocument/2006/relationships/slide" Target="/ppt/slides/slide10.xml" Id="Rde6faad0d47f47f7" /><Relationship Type="http://schemas.openxmlformats.org/officeDocument/2006/relationships/slide" Target="/ppt/slides/slide11.xml" Id="Ra8c6c6a2efe34ed5" /><Relationship Type="http://schemas.openxmlformats.org/officeDocument/2006/relationships/slide" Target="/ppt/slides/slide12.xml" Id="R040e9b9128cb48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301fdfc40c49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be4010b98440a3" /><Relationship Type="http://schemas.openxmlformats.org/officeDocument/2006/relationships/notesMaster" Target="/ppt/notesMasters/notesMaster1.xml" Id="R6e054786b0d64b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590dca0b634794" /><Relationship Type="http://schemas.openxmlformats.org/officeDocument/2006/relationships/notesMaster" Target="/ppt/notesMasters/notesMaster1.xml" Id="R9fcd12f1d0eb4c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a26380fced498a" /><Relationship Type="http://schemas.openxmlformats.org/officeDocument/2006/relationships/notesMaster" Target="/ppt/notesMasters/notesMaster1.xml" Id="Rb55f8b1d8fd545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829d93298a4598" /><Relationship Type="http://schemas.openxmlformats.org/officeDocument/2006/relationships/notesMaster" Target="/ppt/notesMasters/notesMaster1.xml" Id="Rfc652949e1cf41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a0609b6d804e88" /><Relationship Type="http://schemas.openxmlformats.org/officeDocument/2006/relationships/notesMaster" Target="/ppt/notesMasters/notesMaster1.xml" Id="Re237876ec0724b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0c682d80b94ecb" /><Relationship Type="http://schemas.openxmlformats.org/officeDocument/2006/relationships/notesMaster" Target="/ppt/notesMasters/notesMaster1.xml" Id="R456cfa2d5d7b4d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0541f655bb4914" /><Relationship Type="http://schemas.openxmlformats.org/officeDocument/2006/relationships/notesMaster" Target="/ppt/notesMasters/notesMaster1.xml" Id="R8ad1280cb6bb4f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17968b1eb04c5a" /><Relationship Type="http://schemas.openxmlformats.org/officeDocument/2006/relationships/notesMaster" Target="/ppt/notesMasters/notesMaster1.xml" Id="Red6e6a5cc79f4b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80288b09d04369" /><Relationship Type="http://schemas.openxmlformats.org/officeDocument/2006/relationships/notesMaster" Target="/ppt/notesMasters/notesMaster1.xml" Id="Rd3ccb55bb0b84a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555a9789f9412c" /><Relationship Type="http://schemas.openxmlformats.org/officeDocument/2006/relationships/notesMaster" Target="/ppt/notesMasters/notesMaster1.xml" Id="R9c27d6a307dc49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611ad1ac4146c4" /><Relationship Type="http://schemas.openxmlformats.org/officeDocument/2006/relationships/notesMaster" Target="/ppt/notesMasters/notesMaster1.xml" Id="R6f5888d1b4f744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c6e876009048a9" /><Relationship Type="http://schemas.openxmlformats.org/officeDocument/2006/relationships/notesMaster" Target="/ppt/notesMasters/notesMaster1.xml" Id="Rc7334db3953f4a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第11组的郭润航。我们选择的是产业大模型报告生成引擎：面向政府智库、产业规划和行业研究，把资料和数据按模板组织成规范、有出处、能够修改的产业报告。下面介绍要做哪些功能，以及我们怎样分阶段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选题面向政府智库、产业规划和行业研究。比如研究人员要写一份产业报告，常常要重新找资料、搭结构，还要手动对齐数字和图表。我们希望解决的是写得慢、结构不统一、数据和内容脱节这三个问题。系统按模板先生成能够核对的草稿，再由人修改和确认，形成完善的产业报告。这些痛点来自选题要求，后面还需要通过真实用户任务核实，不能把它当成已经做过调研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和内容怎样联动？看这个光伏例子：工信部公布的2024年组件产量增长13.5%，但组件价格下降29.7%，所以不能只看产量就写行业全面向好。右侧588GW是组件产量，278GW是新增装机，含义也不同。我们计划让报告中的数字和图表关联同一份数据记录，保留时间、单位和出处；写出的观点还要回到原文核对。这张图是人工整理的设计例子，不是系统已经自动生成的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工信部《2024年全国光伏制造行业运行情况》，2025-02-27。https://www.miit.gov.cn/gyhxxhb/jgsj/dzxxs/dzjc/art/2025/art_da51f7f47c75477ea1fa6732155536db.html</a:t>
            </a:r>
          </a:p>
          <a:p xmlns:a="http://schemas.openxmlformats.org/drawingml/2006/main">
            <a:r>
              <a:t>国家能源局《2024年可再生能源并网运行情况》。https://obor.nea.gov.cn/detail2/21770.html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仍然围绕四项能力展开。第一，管理模板，但这里要分两种：内容模板规定一份产业分析或对标报告该写哪些章节；版式模板决定PDF的字体、页眉页脚和分页。第二，先组织提纲，再逐章生成，内容统一用Markdown这种轻量的文本格式保存。第三，数据进入正文和图表，关键观点关联原文，证据不足时提示。第四，经过公文风格润色和人工确认，同一份Markdown可以选择不同版式导出PDF，并保存内容和模板的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就是我们现在确定的做法。资料进入系统后，先按内容模板列提纲、分章撰写，形成一份Markdown报告。它可以理解为带标题、表格和图片引用的文本文件，便于修改，也方便在仓库里比较版本。内容经润色和人工确认后，再选择研究报告版或趋势简报版，导出不同PDF。换版式不应该重新生成或改变结论。来源、图表数据和模板版本也要保存，不能只留一份文字。Harness负责串起这些步骤、保存进度，在失败后从未完成的步骤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Anthropic, Effective harnesses for long-running agents. https://www.anthropic.com/research/effective-harnesses-for-long-running-agents</a:t>
            </a:r>
          </a:p>
          <a:p xmlns:a="http://schemas.openxmlformats.org/drawingml/2006/main">
            <a:r>
              <a:t>Anthropic, Building effective agents. https://www.anthropic.com/research/building-effective-agents</a:t>
            </a:r>
          </a:p>
          <a:p xmlns:a="http://schemas.openxmlformats.org/drawingml/2006/main">
            <a:r>
              <a:t>LangGraph, Persistence. https://docs.langchain.com/oss/python/langgraph/persistence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类报告的区别主要在内容模板：产业分析看规模、产业链和趋势；景气报告看供需和价格；对标报告让多个对象按相同指标比较；招商报告关注产业基础、目标企业和配套；出海研判关注目标市场、准入和风险。本学期先用产业分析和对标两类、两个产业验收完整流程，其他类型逐步扩展。版式则单独验证：同一份确认后的Markdown，要能导出研究版和简报版两种PDF，两份都保留相同事实、图表和来源，中文、目录和分页也要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整个学期的大概安排。每一行是一个阶段，从左到右是先推进主要工作，再完善，最后留出检查和展示的时间。开题前，我们先明确问题、范围和分工，检查计划书和PPT。接着用11月上旬确认需求、资料和接口，中旬把生成流程和页面接起来，月底集中联调，准备11月30日的中期展示。12月先完善恢复和导出，从12月7日起留三周做测试、修复和复测，再整理材料。课表把12月28日列为课程收尾，正式提交截止还以通知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课程介绍PDF文件顺序第47页（原页未印数字页码）《课时安排》：10月26日开题，11月30日中期，12月28日项目收尾、课程总结。该页未给正式终期提交截止。</a:t>
            </a:r>
          </a:p>
          <a:p xmlns:a="http://schemas.openxmlformats.org/drawingml/2006/main">
            <a:r>
              <a:t>文件：materials/course-slides/1.1 软件工程管理课程介绍(1).pdf</a:t>
            </a:r>
          </a:p>
          <a:p xmlns:a="http://schemas.openxmlformats.org/drawingml/2006/main">
            <a:r>
              <a:t>阶段内起止为本组暂排，见team/semester-timeline.json；不把计划当作已完成实绩。图条长度不表示实际天数。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人仍按原分工推进。程文博统筹范围、进度和验收；田亦洁负责需求、模板规则和系统设计；崔大元整理资料、数据口径和来源；许子萌完成模板、分章生成和流程后端；李佳雨负责页面、审阅、图表展示和导出；我负责测试、部署和汇报。交接要讲清输入输出、失败情况和未完成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同一个GitHub仓库维护代码、报告和PPT源码。每个人在自己的分支修改，完成后提交PR，请其他成员检查，再由组长确认合并。Markdown内容和PDF版式模板也在这里分开维护，改内容或改版式都有记录。每周一下午软工管课后，我们简单讨论一下：这周完成了什么，卡在哪里，下周各自做什么。有范围或模板变化就记下来，同步到任务和验收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仓库：https://github.com/BrockPhlin/industry-report-harness</a:t>
            </a:r>
          </a:p>
          <a:p xmlns:a="http://schemas.openxmlformats.org/drawingml/2006/main">
            <a:r>
              <a:t>截图：组长于2026-10-26提供的GitHub Manage access页面，原图保存于assets/opening/github-collaborators.png。该图说明协作者权限，不直接证明个人贡献或分支保护已经设置。</a:t>
            </a:r>
          </a:p>
          <a:p xmlns:a="http://schemas.openxmlformats.org/drawingml/2006/main">
            <a:r>
              <a:t>协作流程为本组执行约定；现有合并成果可核对PR #5和#6。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这两份是组长提供的外部报告，不是我们系统生成的。左边是麦肯锡技术趋势展望的一个页面，可以参考它怎样把章节、指标和趋势解读放在一起；右边是斯坦福AI Index的图表页，可以参考图表编号、图注和来源怎样标清楚。我们的目标是做出目录完整、图文配合、出处清楚、排版统一的PDF。不是照搬它们的结论或机构标识，也不承诺达到同样的研究深度。我们会用自己的资料和小规模报告，验证这种成品结构，以及同一份Markdown切换版式的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R4 用户提供McKinsey Technology Trends Outlook 2026，PDF第3、5、13页（印刷1、3、11页）。</a:t>
            </a:r>
          </a:p>
          <a:p xmlns:a="http://schemas.openxmlformats.org/drawingml/2006/main">
            <a:r>
              <a:t>R5 用户提供Stanford AI Index Report 2026，PDF第2、14、20页（印刷1、13、19页）。</a:t>
            </a:r>
          </a:p>
          <a:p xmlns:a="http://schemas.openxmlformats.org/drawingml/2006/main">
            <a:r>
              <a:t>只用于结构和版式观察；原PDF未加入团队仓库。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风险也围绕报告质量来控制。模型失败，要能定位步骤并保留已有结果；数字、单位或出处对不上，就回原文核对，证据不足不能硬写结论。润色时还要防止把原意改掉。关键任务卡住就及时协调，优先跑通选模板到导出的完整流程。不同成员的修改通过分支和PR检查后再合并，问题和处理结果留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报告§8的项目风险安排；具体执行结果按任务、PR与测试记录核对。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看当前基础。左边是现有原型的实际截图，现在可以保存资料、生成摘录、查看来源快照、保存历史并下载Markdown。这次截图没有调用模型，十八项基线测试也使用模拟响应，因此还不能代表完整报告引擎。接下来要把模板、长文本生成、数据图表、观点溯源和公文润色接起来，完成Markdown定稿，再用不同版式导出PDF，用实际成品检查效果。我们会在不断摸索和验证的过程中，逐步形成自己的创新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e75c914d443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cb1aba21d40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5c2ac4e4442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ca369e5bf4a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80e7200664a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c18a495c740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53BAC0-3C0B-49C8-A580-D0C22A6602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88436B-9345-4AFA-ABA6-BF49C43DA1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18B2EB-66B2-4251-B354-978D29161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30EC79-7632-44ED-BD41-9D3AB48986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3B2221-3B2F-49A2-B6F5-2C6229D487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6677E5-2FB4-4191-A0AF-9840FF603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51316A-3D5A-4DB6-98B6-BBE20D8121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6C081B-E6A5-47ED-B761-33E2F984AB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BE3CE5-3309-443E-AEAF-53C6D488C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D11663-D24E-4BF9-9C76-4C538E811F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677e1bebc14c5c" /><Relationship Type="http://schemas.openxmlformats.org/officeDocument/2006/relationships/slideLayout" Target="/ppt/slideLayouts/slideLayout1.xml" Id="R1f596c98d84b4a89" /><Relationship Type="http://schemas.openxmlformats.org/officeDocument/2006/relationships/slideLayout" Target="/ppt/slideLayouts/slideLayout2.xml" Id="R23643e2861f54843" /><Relationship Type="http://schemas.openxmlformats.org/officeDocument/2006/relationships/slideLayout" Target="/ppt/slideLayouts/slideLayout3.xml" Id="Rc2f73ed3e07e47dc" /><Relationship Type="http://schemas.openxmlformats.org/officeDocument/2006/relationships/slideLayout" Target="/ppt/slideLayouts/slideLayout4.xml" Id="R8dc573069d6e4471" /><Relationship Type="http://schemas.openxmlformats.org/officeDocument/2006/relationships/slideLayout" Target="/ppt/slideLayouts/slideLayout5.xml" Id="R6b0d46372e9640d6" /><Relationship Type="http://schemas.openxmlformats.org/officeDocument/2006/relationships/slideLayout" Target="/ppt/slideLayouts/slideLayout6.xml" Id="R9a890ed197e94a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596c98d84b4a89"/>
    <p:sldLayoutId xmlns:r="http://schemas.openxmlformats.org/officeDocument/2006/relationships" id="2147483650" r:id="R23643e2861f54843"/>
    <p:sldLayoutId xmlns:r="http://schemas.openxmlformats.org/officeDocument/2006/relationships" id="2147483651" r:id="Rc2f73ed3e07e47dc"/>
    <p:sldLayoutId xmlns:r="http://schemas.openxmlformats.org/officeDocument/2006/relationships" id="2147483652" r:id="R8dc573069d6e4471"/>
    <p:sldLayoutId xmlns:r="http://schemas.openxmlformats.org/officeDocument/2006/relationships" id="2147483653" r:id="R6b0d46372e9640d6"/>
    <p:sldLayoutId xmlns:r="http://schemas.openxmlformats.org/officeDocument/2006/relationships" id="2147483654" r:id="R9a890ed197e94a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06981ee7f40f7" /><Relationship Type="http://schemas.openxmlformats.org/officeDocument/2006/relationships/image" Target="/ppt/media/image.png" Id="R9ecf1e5d6bdc4a21" /><Relationship Type="http://schemas.openxmlformats.org/officeDocument/2006/relationships/notesSlide" Target="/ppt/notesSlides/notesSlide1.xml" Id="Re7d67cca69c04b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eba688ae4c4618" /><Relationship Type="http://schemas.openxmlformats.org/officeDocument/2006/relationships/image" Target="/ppt/media/image2.png" Id="R4d86c85f4c364742" /><Relationship Type="http://schemas.openxmlformats.org/officeDocument/2006/relationships/notesSlide" Target="/ppt/notesSlides/notesSlide2.xml" Id="Rfdc4cf90508b43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0dd78d89ae4dba" /><Relationship Type="http://schemas.openxmlformats.org/officeDocument/2006/relationships/image" Target="/ppt/media/image3.png" Id="Rbb4dc7305c394647" /><Relationship Type="http://schemas.openxmlformats.org/officeDocument/2006/relationships/chart" Target="/ppt/slides/charts/chart1.xml" Id="R66465ba97af242f8" /><Relationship Type="http://schemas.openxmlformats.org/officeDocument/2006/relationships/notesSlide" Target="/ppt/notesSlides/notesSlide3.xml" Id="R3b2ba9f46e4343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62290d4564d2c" /><Relationship Type="http://schemas.openxmlformats.org/officeDocument/2006/relationships/image" Target="/ppt/media/image4.png" Id="R55c743c64d034c5c" /><Relationship Type="http://schemas.openxmlformats.org/officeDocument/2006/relationships/notesSlide" Target="/ppt/notesSlides/notesSlide4.xml" Id="R1ce92f70c63846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51528ea31e4334" /><Relationship Type="http://schemas.openxmlformats.org/officeDocument/2006/relationships/image" Target="/ppt/media/image5.png" Id="R6381041562e64ef2" /><Relationship Type="http://schemas.openxmlformats.org/officeDocument/2006/relationships/notesSlide" Target="/ppt/notesSlides/notesSlide5.xml" Id="Rff3ce18472ce45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45e4e5ae44edb" /><Relationship Type="http://schemas.openxmlformats.org/officeDocument/2006/relationships/image" Target="/ppt/media/image6.png" Id="R2e5a1063db0b4919" /><Relationship Type="http://schemas.openxmlformats.org/officeDocument/2006/relationships/notesSlide" Target="/ppt/notesSlides/notesSlide6.xml" Id="Rde69a20ceda643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d64d3958246d9" /><Relationship Type="http://schemas.openxmlformats.org/officeDocument/2006/relationships/image" Target="/ppt/media/image7.png" Id="Rb13a0d504b3d4ca6" /><Relationship Type="http://schemas.openxmlformats.org/officeDocument/2006/relationships/notesSlide" Target="/ppt/notesSlides/notesSlide7.xml" Id="R77534bc173cb46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706e50ff7488a" /><Relationship Type="http://schemas.openxmlformats.org/officeDocument/2006/relationships/image" Target="/ppt/media/image8.png" Id="R11be86f08170425f" /><Relationship Type="http://schemas.openxmlformats.org/officeDocument/2006/relationships/notesSlide" Target="/ppt/notesSlides/notesSlide8.xml" Id="Rd6cfe5fbe0fc49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dedd2090d433c" /><Relationship Type="http://schemas.openxmlformats.org/officeDocument/2006/relationships/image" Target="/ppt/media/image9.png" Id="Rfed4f5d43bb44c25" /><Relationship Type="http://schemas.openxmlformats.org/officeDocument/2006/relationships/image" Target="/ppt/media/image10.png" Id="Rece9f98eb8ba408a" /><Relationship Type="http://schemas.openxmlformats.org/officeDocument/2006/relationships/notesSlide" Target="/ppt/notesSlides/notesSlide9.xml" Id="Rf7e3441bf18e4d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92c5b7cb04e38" /><Relationship Type="http://schemas.openxmlformats.org/officeDocument/2006/relationships/image" Target="/ppt/media/image11.png" Id="R2b372f473b5e4b04" /><Relationship Type="http://schemas.openxmlformats.org/officeDocument/2006/relationships/image" Target="/ppt/media/image12.png" Id="Rf55f2cad7b75421f" /><Relationship Type="http://schemas.openxmlformats.org/officeDocument/2006/relationships/image" Target="/ppt/media/image13.png" Id="R64fecdeaffa241d6" /><Relationship Type="http://schemas.openxmlformats.org/officeDocument/2006/relationships/notesSlide" Target="/ppt/notesSlides/notesSlide10.xml" Id="Rf3ffb1bd92804c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08bd9b18b04d9f" /><Relationship Type="http://schemas.openxmlformats.org/officeDocument/2006/relationships/image" Target="/ppt/media/image14.png" Id="R1d7b9f2e8a6145f9" /><Relationship Type="http://schemas.openxmlformats.org/officeDocument/2006/relationships/notesSlide" Target="/ppt/notesSlides/notesSlide11.xml" Id="R016a574bdc6a4b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a1d071e4dc4b0a" /><Relationship Type="http://schemas.openxmlformats.org/officeDocument/2006/relationships/image" Target="/ppt/media/image15.png" Id="R9372a730363340a5" /><Relationship Type="http://schemas.openxmlformats.org/officeDocument/2006/relationships/image" Target="/ppt/media/image16.png" Id="R3f4aeaaca6a34857" /><Relationship Type="http://schemas.openxmlformats.org/officeDocument/2006/relationships/notesSlide" Target="/ppt/notesSlides/notesSlide12.xml" Id="Rc9eb3775599c441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比上一年变化</c:v>
          </c:tx>
          <c:spPr>
            <a:solidFill xmlns:a="http://schemas.openxmlformats.org/drawingml/2006/main">
              <a:srgbClr val="003F8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3F8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D5D2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组件产量</c:v>
                </c:pt>
                <c:pt idx="1">
                  <c:v>组件价格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0.135</c:v>
                </c:pt>
                <c:pt idx="1">
                  <c:v>-0.297</c:v>
                </c:pt>
              </c:numCache>
            </c:numRef>
          </c:val>
        </c:ser>
        <c:dLbls>
          <c:numFmt formatCode="0.0%;-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233042"/>
                  </a:solidFill>
                  <a:latin typeface="LXGW WenKai"/>
                  <a:ea typeface="LXGW WenKai"/>
                  <a:cs typeface="LXGW WenKa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0.4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AA968-A56F-41AE-B06A-1630F889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95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BAB10-9B73-48C6-BE13-E07C899192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f1e5d6bdc4a21"/>
          <a:stretch xmlns:a="http://schemas.openxmlformats.org/drawingml/2006/main"/>
        </p:blipFill>
        <p:spPr>
          <a:xfrm xmlns:a="http://schemas.openxmlformats.org/drawingml/2006/main">
            <a:off x="711553" y="523875"/>
            <a:ext cx="295839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4B929-B6B4-4B30-AB02-2B3208A0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产业智能报告生成系统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2B485-98AA-427C-B035-18490095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《软件工程管理》第十一组小组开题展示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1AEBA-98F0-4838-B2A9-C244BFC4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第11组　组长：程文博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279AD-4F70-4C0E-9553-107414BC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组员：田亦洁、李佳雨、许子萌、崔大元、郭润航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44D8E-1FF0-4B94-B88A-EB4E91C2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48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展示人：郭润航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2A4D6-D0A2-4C6E-A280-47B9578F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软件工程管理 · 2026年10月26日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9FF5D-5D0C-490E-964A-7D566D4F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2F6DC-A49D-45FF-89DE-D848F8C9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5322519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AA4C0-EC0C-4A0C-B360-33FE6A16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面向真实产业研究，解决写报告的三个难点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417FF-FD7D-42E2-9EE7-71C404D0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FBA48-0E63-4EF2-8CE7-874E1AB1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目标场景：政府智库、产业规划与行业研究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23D8C-2616-499A-AAC6-2076936F9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6c85f4c364742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A58D8-848C-4E8E-866D-A794E4E0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写得慢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46174-8E3E-472C-B3DD-DB8D6F55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资料反复搜集，章节逐段编写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1A809-53D9-477A-BF67-F6D6F2C3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结构不统一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97C32-728B-4BE6-BB63-FD816F81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同类报告提纲不同，内容难以复用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58B0C-C6F2-409B-8F2A-856AFCC3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数据联动弱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98A44-EA57-4CB6-97EC-E47670BA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数字、图表与观点脱节，出处难回查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80C46-5369-4A41-8E12-74E07353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我们的目标：按模板生成可核对的草稿，经人修改和确认，</a:t>
            </a:r>
          </a:p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形成完善的产业报告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41479-DA1A-4C49-B0E3-4765550F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1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痛点来自选题定义；专业用户需求和实际收益仍需调研验证。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7CCD9-75D2-43F9-A7AA-A1DA2CC2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DBBD3-54EB-4F8E-BC1E-8F414299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536317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B4695-E165-4AEC-9E28-6474A2FA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同样是光伏数据，两个数字不能混用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95D81-AE38-492D-9257-28417108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B80D4-1792-4486-AF5E-609B8831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2024年公开数据示例：写进报告前，要先看清指标和单位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619E9-E78E-4D9A-9F36-FF7DA5448A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dc7305c394647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8212C-B906-4BC0-AED4-BFAB4FA8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组件产量增加，组件价格下降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94A2B60-155C-4459-B887-91712DAE018B}"/>
              </a:ext>
            </a:extLst>
          </p:cNvPr>
          <p:cNvGraphicFramePr/>
          <p:nvPr/>
        </p:nvGraphicFramePr>
        <p:xfrm>
          <a:off xmlns:a="http://schemas.openxmlformats.org/drawingml/2006/main" x="666750" y="2209800"/>
          <a:ext xmlns:a="http://schemas.openxmlformats.org/drawingml/2006/main" cx="6762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465ba97af242f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66486-5254-4294-87EF-B3D7B846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7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588 GW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A5138-092E-4C21-92EF-8B4F2646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组件产量</a:t>
            </a:r>
          </a:p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制造了多少光伏组件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ACE08-D003-4A5A-B923-363FE360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242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278 GW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AB638-DDAA-4079-8C8E-AD840A21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新增装机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新增投入使用的发电容量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6812D-6208-4F85-96FC-1B3C66EF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左图为比上一年的变化；来源：工信部2024光伏制造统计、国家能源局2024并网运行统计。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CD554-E951-4BC7-B1C2-99258A65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51529-FCA2-41E1-8F7F-C09CA7CC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196441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5FA99-A048-4B1C-A7F2-6FF4BED1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报告引擎要做好哪四件事？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3F8BE-F8D5-40ED-B7D0-9CFD6884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82442-5C3C-41FB-A4DA-9470AD39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模板化、结构化、可溯源、可定制，落实到具体功能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8F9BA-2F15-48A2-945D-CEF8502917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743c64d034c5c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82865-9B22-48FE-BD0A-E749698CC4E0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57550"/>
                <a:gridCol w="7600950"/>
              </a:tblGrid>
              <a:tr h="7429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核心能力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系统具体要做什么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429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报告模板管理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区分报告提纲模板与PDF版式模板，分别管理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长文本结构化生成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先组织提纲，再分章填充，检查章节衔接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数据、图表与观点溯源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嵌入数据、生成图表；关联原文，提示证据不足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润色、导出与版本管理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公文风格润色；Markdown定稿后换版式导出PDF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479C9-56BC-4CD1-9915-4F8BDAA8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可定制：产业主题、章节提纲、写作风格与PDF版式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52B67-24E6-4C33-B5AE-4D93A42A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69100-7492-4595-A4DE-7798AFCF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416661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3E7F0A-E1C2-417A-9556-5A1FE5B3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Markdown写内容，模板决定PDF长什么样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D3764-81C1-4CCC-8264-ADB6F69F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75826-40C6-4475-A888-9B2368DF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内容与版式分开：同一份确认稿，可导出不同风格的PDF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599C0-5D77-47F7-9747-94054C2088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1041562e64ef2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F9E08-E883-4CC7-BF62-AAC7478A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7ECCC-DC20-47B1-9B99-84593B16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388D9-7993-4E51-B52E-7171D59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7BD86-BCE7-45E3-AC75-F5D51CB9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资料与数据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461F0-EFB9-4AB0-83A8-BC0B6054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保留来源、年份和单位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1AA5E-F5D7-47A7-85BE-34EE9F41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75FB4-F899-4303-B95C-88C324E2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内容模板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B3DC5-132C-4FD4-B987-35454502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规定章节与写作要求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425CF-6B82-4F59-AF66-F0731A0A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08818-153B-48BC-BEC4-EC08165E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Markdown报告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ABFE9-D464-48B9-A2F5-58A724E7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保存正文、图表引用与出处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1E8F8-FC53-4835-87EA-630AA446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62250"/>
            <a:ext cx="14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C5C15-F703-48C3-9699-9510DC89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43250"/>
            <a:ext cx="7715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4F8FC-BB9C-488A-A837-7E7EA9B5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43250"/>
            <a:ext cx="1428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AD4B5-4AAD-4A83-9DCE-057495C2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A1D23-39B8-41F0-AC83-1140B2C6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7CB2D-6903-4EDA-B9CF-3A8E0441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E55E1-743E-4849-B1E9-F9B2578B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润色与人工审阅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DD5621-5DCA-4202-B5C8-8B231BCD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核对事实，确认内容版本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C7386-B223-474C-B103-1FFBF528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26160-E9D4-497E-B072-7ACA65C4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选择版式模板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040DA-4932-4371-B1B3-4F705859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研究版 / 简报版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BA927C-A1DB-46AA-8B66-0D0B5908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CE69B-DF88-423A-B9C7-20B70C93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导出PDF与版本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F7AAE0-446B-4FDD-BC36-A165F8D4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保存内容版、模板版和成品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68EE72-53E7-48D7-A368-B349FE7E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同一份Markdown不必重复撰写，换版式模板即可重新导出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CD6934-DEB4-4981-88FE-F8786434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Harness按步骤保存进度；来源与图表数据另存记录。这是目标流程，尚未全部实现。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4EAA8F-71A8-497F-96F6-45FA3B4D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BA55FD-459F-4CF4-846F-B7824D4F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765423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DA8AC-9CEF-42BE-8760-8E65BAA8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五类报告如何做？本学期先验收什么？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6FA6E-32A8-4BFC-8F3F-A079128A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40BEC-0473-4CF3-ADD5-A1222054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模板体系面向五类报告；优先把两类报告的完整流程做扎实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6D78F-0437-4438-928B-7CFD89EB6D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a1063db0b4919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F2939-D1EA-420D-9FFA-4E318D35F818}"/>
              </a:ext>
            </a:extLst>
          </p:cNvPr>
          <p:cNvGraphicFramePr/>
          <p:nvPr/>
        </p:nvGraphicFramePr>
        <p:xfrm>
          <a:off xmlns:a="http://schemas.openxmlformats.org/drawingml/2006/main" x="666750" y="1590675"/>
          <a:ext xmlns:a="http://schemas.openxmlformats.org/drawingml/2006/main" cx="108585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8870"/>
                <a:gridCol w="6189345"/>
                <a:gridCol w="2280285"/>
              </a:tblGrid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报告类型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模板重点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推进安排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产业分析报告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规模、产业链、竞争格局与趋势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首轮跑通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景气报告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供需、价格与景气变化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分步扩展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对标报告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多个对象采用同一指标口径比较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首轮跑通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招商报告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产业基础、目标企业与配套条件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分步扩展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出海研判报告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目标市场、准入条件与风险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分步扩展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97879-D474-4FA6-B774-18E2E70B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先验收：两类报告 × 两个产业；数据入文、图表生成、观点查源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B9B14-9EA8-4A7E-A72E-20A866E9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还要检查：同一份Markdown能导出研究版、简报版两种PDF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1F20E-0F78-49BE-83C8-7EC6AEE1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其余三类模板为后续扩展，不能据此声称五类完整报告都已实现。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BA7EC-04C4-479E-A585-71973AF5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4DFFB-453E-42AD-A103-F7534556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35618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389DFD-E74B-48C6-B6A2-401328C2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学期时间安排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21008-7C8D-4EA7-B659-C011DAF3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E283D-CF71-4CB2-A2B7-BAD41017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开题前定方向，11月跑通流程，12月完善、测试和交付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454C6-B265-44CA-85BC-2648DD842D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a0d504b3d4ca6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15C30-4767-4DA2-B1A7-F8744F34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76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首轮推进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9D65E-B142-426C-BCA3-9B4D6FAD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二轮完善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CE03A-A2D8-4E30-8E94-0CAC2F29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检查与展示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9B47F-A92B-45C5-B26E-510541D1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开题准备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5C4A9-D465-436F-8C00-7413EE78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DCF1E-3591-43BF-8036-3FC71521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05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10月中下旬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6D43D-A334-42E5-A1A1-3934554B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05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问题、范围与分工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49334-5E05-43D8-B3F7-645CCC26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05706-BB39-4435-90D7-207C0186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05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10.24—10.25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68F14-4625-4FA3-9554-E275D438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05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计划书、PPT检查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2F95E-A9BB-4FD2-912D-BB34ABD7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D6E8C-FB4C-4A2E-81A0-A51B45AC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10.26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AAD56-DD1D-44CA-A933-E3A54C8D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051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开题展示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126A4-0104-49A0-9985-D985AA82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中期版本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9F387-F6C7-4221-8F79-2D132E6A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76625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7F78DD-290F-4E98-BFBA-F0018BBB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909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10.27—11.08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73C6C-582F-4AA6-978B-65A544C3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90975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需求、资料与接口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587B15-5F72-4578-8262-00790F9B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46C6D-8B85-4E85-BA43-1CC3999E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909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11.09—11.22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98B55-1653-40C8-AAE2-FC8EB1E0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90975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生成流程、页面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E4F8EE-EC91-438C-9D1D-64F47CD9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CDE19-BD38-430A-82FB-6B4FF7E2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11.23—11.30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FCBBE6-346F-4849-8B82-07ABC190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9097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联调修复</a:t>
            </a:r>
          </a:p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11.30中期展示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838841-7762-425E-8841-9169FB5B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后期完善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F1D378-F91E-4BFF-A565-DE1B0A8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5B2509-51DD-4F02-88AB-24F61C39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768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12.01—12.06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645CA2-B11E-4130-B1CD-D5A094D1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768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完善恢复与导出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E735BE-E693-439F-BCF0-ED10BDC9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64E55C-2BC9-4AA7-8085-4CB314E3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768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12.07—12.20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E9773F-F3A2-4330-A75E-4252ED12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768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系统测试、修复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382632-2CD7-46DA-8188-3F517CBB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E263D1-D555-4E2D-9627-1AE5BF3E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768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12.21—12.28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568D87-BA4C-4A9D-A569-13735E83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768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复测、材料</a:t>
            </a:r>
          </a:p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12.28课程收尾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B3ED0E-247C-4A69-BACC-21185E2B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组内阶段计划示意，条形长度不表示天数；正式提交日期以课程通知为准。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0302E1-E6A4-4B70-99E0-0B06F8E8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122E5F-E327-425D-9728-D992DA1F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955864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B87B6-A10B-4545-B74C-084EDB0B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六个人分别负责什么？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96786-67BA-4DA1-B2E6-E325450A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E3803-F8CD-4A90-8539-EE532D65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每块工作有人负责，交接时要说清输入、输出和没有完成的部分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453BD-1678-4453-87D9-BB457427DE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e86f08170425f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45907-9EAA-4BC7-A9B0-D7E2B5EF6DE9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3115"/>
                <a:gridCol w="4451985"/>
                <a:gridCol w="4343400"/>
              </a:tblGrid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主要负责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主要交付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程文博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统筹协调、评审和验收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范围、进度、资源与版本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田亦洁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需求和系统设计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需求说明、接口和验收条件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李佳雨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页面、修改功能和导出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可操作的页面、图表和报告文件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郭润航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测试、部署和汇报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测试记录、运行说明和演示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崔大元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资料整理和数据处理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来源记录、资料导入和版本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许子萌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Harness和报告生成后端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模板、分章生成、保存与恢复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BAE1C-69AE-4708-8717-65AAAE17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各模块交接后一起测试；组长组织范围变更和最终验收。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1610B-E330-4039-991E-3AB31950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8007A-D00F-41C5-A7B5-E897C273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0090030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1F189-8C87-4C4D-9053-96C1A292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六人共同维护一个GitHub仓库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A6A2D-2F42-4A27-9520-13D6FC24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8B50D-D95C-4E1F-8BE4-D7079028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每人按分工修改，提交PR后互相检查，再合并到主分支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D37CE-21E2-47C9-A1F7-BB13B81E56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4f5d43bb44c25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E9AAD-E0EF-4459-A3F2-9C76D98C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github.com/BrockPhlin/industry-report-harness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D2FE0-8C30-415A-8F04-74CCD0389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9f98eb8ba408a"/>
          <a:stretch xmlns:a="http://schemas.openxmlformats.org/drawingml/2006/main"/>
        </p:blipFill>
        <p:spPr>
          <a:xfrm xmlns:a="http://schemas.openxmlformats.org/drawingml/2006/main">
            <a:off x="619125" y="1973428"/>
            <a:ext cx="7429500" cy="36159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1312C-2AD7-416B-B47E-6EED37B4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050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1 分支里改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7FD49-E040-45E9-B7DC-113A5B9E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按分工修改代码和材料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65331-5BBB-4520-ADDC-9E31EDF4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623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 PR互相检查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922A7-236D-41D3-958E-52B0E76D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76675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说明改动，核对测试与版本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D41F3-A475-4FBB-A3F4-13082DC5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67250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3 合并后同步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794C6-7EC4-4D82-A919-C404F4D5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816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组长确认，其他人拉取更新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FF665-4911-4E41-87B6-21DC3CC3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协作者列表：5个协作者账号，加上仓库所有者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C6B2A-6EB6-453C-8E6C-A65B4ACE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每周一下午课后简单讨论：本周进展、遇到的问题、下周任务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3D2EC-DBD0-4D8E-9495-45EC3112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2104A-4FAD-472E-A8DB-EF801782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2101721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D3DA1-1D27-4D51-8A99-A7C8D658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我们希望导出的PDF达到什么样子？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81330-3514-45FF-B373-6BCCC43B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5F8DF-B13A-45BC-A5FD-3AF3D356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参考已有报告的结构与呈现，设计我们自己的输出模板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C7DDF-27F9-4D90-84A4-F0CB32767A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72f473b5e4b04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2F192-AC40-495A-92D9-7D4BCE444A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f2cad7b75421f"/>
          <a:stretch xmlns:a="http://schemas.openxmlformats.org/drawingml/2006/main"/>
        </p:blipFill>
        <p:spPr>
          <a:xfrm xmlns:a="http://schemas.openxmlformats.org/drawingml/2006/main">
            <a:off x="693660" y="1676400"/>
            <a:ext cx="2613179" cy="33813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E0C3E-CCC6-4E9F-B7AE-662F469CF2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ecdeaffa241d6"/>
          <a:stretch xmlns:a="http://schemas.openxmlformats.org/drawingml/2006/main"/>
        </p:blipFill>
        <p:spPr>
          <a:xfrm xmlns:a="http://schemas.openxmlformats.org/drawingml/2006/main">
            <a:off x="3884535" y="1676400"/>
            <a:ext cx="2613179" cy="3381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86D66-C984-4227-8505-4EEE88C0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McKinsey 技术趋势展望</a:t>
            </a:r>
          </a:p>
          <a:p xmlns:a="http://schemas.openxmlformats.org/drawingml/2006/main">
            <a: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参考：章节、指标与趋势解读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02B61-DFA0-45C5-A39A-EDB331C0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530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Stanford AI Index</a:t>
            </a:r>
          </a:p>
          <a:p xmlns:a="http://schemas.openxmlformats.org/drawingml/2006/main">
            <a: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参考：图表、编号与来源标注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1CEC7-D67F-44AD-80B3-6EDFFFCF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71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我们的成品目标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3FB55-5623-40BA-A714-50EAE300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9555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目录清楚，章节有统一结构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3DDAB-DE1C-4224-90B7-EFBE7C81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432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正文配图表，图注能查来源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86FFB-1BC4-48F3-9C20-6561BF7E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字体、页码与分页保持一致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FBAF2-1E42-4C11-BF60-8833C5C1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03872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同一份内容，切换PDF版式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E0FE5-C0ED-4F65-BAB6-D28617AA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340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参考为用户提供的两份2026年报告：McKinsey PDF第13页（印刷11页）；AI Index PDF第20页（印刷19页）。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A13CB-AD20-480F-A847-6969F77B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仅作结构与版式目标，不代表系统已生成这些报告或具备同等研究能力。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889F9-EEF4-4E72-8009-6B76890F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B30B4-4F31-4068-852A-28A8E4BF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141249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E4D78-2627-4779-A534-802183D2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遇到问题怎么处理？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C39CB-4E57-4125-9B2F-EF322DB0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706DD-92E3-47F3-9829-501B8EF3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先把主要流程做稳，再逐步完善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287C8-6D2E-462D-9D35-C16B51C8E6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b9f2e8a6145f9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026DD-3623-42CB-ACD4-92B79E8F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问题及时说清，处理结果留下记录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D1FCC-267B-4982-BCDB-46FF604313AA}"/>
              </a:ext>
            </a:extLst>
          </p:cNvPr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108585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26230"/>
                <a:gridCol w="6732270"/>
              </a:tblGrid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可能遇到的问题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我们的处理办法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模型调用失败或中断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明确报错，查看记录，确认原因后再重试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数字、单位或出处对不上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回到原文核对，核不清的内容不写进结论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润色改变原意、关键任务卡住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核对修改前后事实；及时协调，先打通完整流程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不同成员的修改互相覆盖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各自使用分支，提交PR检查后再合并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2D0E4-A089-4812-B220-23D57111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按实际处理和测试结果确认功能，不把计划当作已经完成。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7896F-B77B-4288-A9E3-4DB8F060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B52A3-F8BF-401E-8425-71A930CA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50947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C7F32-69EB-47D4-8BF3-2BFD4844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从可运行初稿，走向完整报告引擎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56EDD-63B4-4852-8D81-F9070B03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6564B-A17D-41CF-AC18-FD10B9B3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已有基础与后续目标分开说明，按实际结果验收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99AF0-7000-4C20-8E16-6AA66A53A3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2a730363340a5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8B840-FBC4-4DC5-86AF-301474C199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aeaaca6a34857"/>
          <a:stretch xmlns:a="http://schemas.openxmlformats.org/drawingml/2006/main"/>
        </p:blipFill>
        <p:spPr>
          <a:xfrm xmlns:a="http://schemas.openxmlformats.org/drawingml/2006/main">
            <a:off x="728185" y="1676400"/>
            <a:ext cx="5306380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7D18C-E115-4F56-895A-DC2FF49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049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已有基础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80A60-A8F7-4E84-826B-FD717674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资料保存、摘录与来源快照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历史记录、Markdown下载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93AAB-FA28-4874-BD41-13AF41AD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337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接下来验证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524A0-2F3D-406A-B761-CC99CE22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模板与分章生成、数据图表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Markdown定稿、双版式PDF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9F342-EF78-4417-8D04-01127297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858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我们会在不断摸索和验证的过程中，逐步形成自己的创新。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456C0-5A1C-4E08-AC41-DAAF52D9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左图为摘录模式的实际原型，不是完整AI报告；18项模拟响应基线测试通过，真实模型仍待联调。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77ED9-8998-4776-AA28-50A49C2D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AFE2D-E989-4903-BEBB-5EA04759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241206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2026-10-26T02:26:12.5390000Z</dcterms:created>
  <dcterms:modified xsi:type="dcterms:W3CDTF">2026-10-26T02:26:12.5390000Z</dcterms:modified>
</coreProperties>
</file>