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2e01f209ec4b05" /><Relationship Type="http://schemas.openxmlformats.org/officeDocument/2006/relationships/extended-properties" Target="/docProps/app.xml" Id="R8958076548564c09" /><Relationship Type="http://schemas.openxmlformats.org/officeDocument/2006/relationships/officeDocument" Target="/ppt/presentation.xml" Id="Raad3f0413d2f42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3bb44746724ed9"/>
  </p:sldMasterIdLst>
  <p:notesMasterIdLst>
    <p:notesMasterId xmlns:r="http://schemas.openxmlformats.org/officeDocument/2006/relationships" r:id="R06691f5ea8834c75"/>
  </p:notesMasterIdLst>
  <p:sldIdLst>
    <p:sldId xmlns:r="http://schemas.openxmlformats.org/officeDocument/2006/relationships" id="256" r:id="R3493af60b08b4c1d"/>
    <p:sldId xmlns:r="http://schemas.openxmlformats.org/officeDocument/2006/relationships" id="257" r:id="R1c6e778c44c3469a"/>
    <p:sldId xmlns:r="http://schemas.openxmlformats.org/officeDocument/2006/relationships" id="258" r:id="Ra8e4a39fd76f495d"/>
    <p:sldId xmlns:r="http://schemas.openxmlformats.org/officeDocument/2006/relationships" id="259" r:id="R50f3fc5375c14130"/>
    <p:sldId xmlns:r="http://schemas.openxmlformats.org/officeDocument/2006/relationships" id="260" r:id="R48ca50ad25a7454b"/>
    <p:sldId xmlns:r="http://schemas.openxmlformats.org/officeDocument/2006/relationships" id="261" r:id="Re3ca500d7b9f44f9"/>
    <p:sldId xmlns:r="http://schemas.openxmlformats.org/officeDocument/2006/relationships" id="262" r:id="Ree0b24e7d3e34dfa"/>
    <p:sldId xmlns:r="http://schemas.openxmlformats.org/officeDocument/2006/relationships" id="263" r:id="Rde61a5a598af434b"/>
    <p:sldId xmlns:r="http://schemas.openxmlformats.org/officeDocument/2006/relationships" id="264" r:id="Rabf22cb46f384f36"/>
    <p:sldId xmlns:r="http://schemas.openxmlformats.org/officeDocument/2006/relationships" id="265" r:id="Rdaf85a901cf14611"/>
    <p:sldId xmlns:r="http://schemas.openxmlformats.org/officeDocument/2006/relationships" id="266" r:id="R9c0897eb04d0475b"/>
    <p:sldId xmlns:r="http://schemas.openxmlformats.org/officeDocument/2006/relationships" id="267" r:id="Rbb78475d0e2049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24862833474ece" /><Relationship Type="http://schemas.openxmlformats.org/officeDocument/2006/relationships/slideMaster" Target="/ppt/slideMasters/slideMaster1.xml" Id="R783bb44746724ed9" /><Relationship Type="http://schemas.openxmlformats.org/officeDocument/2006/relationships/notesMaster" Target="/ppt/notesMasters/notesMaster1.xml" Id="R06691f5ea8834c75" /><Relationship Type="http://schemas.openxmlformats.org/officeDocument/2006/relationships/presProps" Target="/ppt/presProps.xml" Id="R3ded215dfd514cc0" /><Relationship Type="http://schemas.openxmlformats.org/officeDocument/2006/relationships/tableStyles" Target="/ppt/tableStyles.xml" Id="R754d6439b8724d51" /><Relationship Type="http://schemas.openxmlformats.org/officeDocument/2006/relationships/slide" Target="/ppt/slides/slide1.xml" Id="R3493af60b08b4c1d" /><Relationship Type="http://schemas.openxmlformats.org/officeDocument/2006/relationships/slide" Target="/ppt/slides/slide2.xml" Id="R1c6e778c44c3469a" /><Relationship Type="http://schemas.openxmlformats.org/officeDocument/2006/relationships/slide" Target="/ppt/slides/slide3.xml" Id="Ra8e4a39fd76f495d" /><Relationship Type="http://schemas.openxmlformats.org/officeDocument/2006/relationships/slide" Target="/ppt/slides/slide4.xml" Id="R50f3fc5375c14130" /><Relationship Type="http://schemas.openxmlformats.org/officeDocument/2006/relationships/slide" Target="/ppt/slides/slide5.xml" Id="R48ca50ad25a7454b" /><Relationship Type="http://schemas.openxmlformats.org/officeDocument/2006/relationships/slide" Target="/ppt/slides/slide6.xml" Id="Re3ca500d7b9f44f9" /><Relationship Type="http://schemas.openxmlformats.org/officeDocument/2006/relationships/slide" Target="/ppt/slides/slide7.xml" Id="Ree0b24e7d3e34dfa" /><Relationship Type="http://schemas.openxmlformats.org/officeDocument/2006/relationships/slide" Target="/ppt/slides/slide8.xml" Id="Rde61a5a598af434b" /><Relationship Type="http://schemas.openxmlformats.org/officeDocument/2006/relationships/slide" Target="/ppt/slides/slide9.xml" Id="Rabf22cb46f384f36" /><Relationship Type="http://schemas.openxmlformats.org/officeDocument/2006/relationships/slide" Target="/ppt/slides/slide10.xml" Id="Rdaf85a901cf14611" /><Relationship Type="http://schemas.openxmlformats.org/officeDocument/2006/relationships/slide" Target="/ppt/slides/slide11.xml" Id="R9c0897eb04d0475b" /><Relationship Type="http://schemas.openxmlformats.org/officeDocument/2006/relationships/slide" Target="/ppt/slides/slide12.xml" Id="Rbb78475d0e2049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583cfc593d4f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0266ced0b148d4" /><Relationship Type="http://schemas.openxmlformats.org/officeDocument/2006/relationships/notesMaster" Target="/ppt/notesMasters/notesMaster1.xml" Id="R1b6133f4a6bc4c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8879d1246c45f4" /><Relationship Type="http://schemas.openxmlformats.org/officeDocument/2006/relationships/notesMaster" Target="/ppt/notesMasters/notesMaster1.xml" Id="R4d31d4ae41b84f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6bc4a042914894" /><Relationship Type="http://schemas.openxmlformats.org/officeDocument/2006/relationships/notesMaster" Target="/ppt/notesMasters/notesMaster1.xml" Id="R92aa07b4cc6e4f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edd8369d324949" /><Relationship Type="http://schemas.openxmlformats.org/officeDocument/2006/relationships/notesMaster" Target="/ppt/notesMasters/notesMaster1.xml" Id="R47f398855d6147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0947005783460d" /><Relationship Type="http://schemas.openxmlformats.org/officeDocument/2006/relationships/notesMaster" Target="/ppt/notesMasters/notesMaster1.xml" Id="Rc83345abfa014e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c4e4f5fff4494b" /><Relationship Type="http://schemas.openxmlformats.org/officeDocument/2006/relationships/notesMaster" Target="/ppt/notesMasters/notesMaster1.xml" Id="R090642e8812340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52f305446e4e31" /><Relationship Type="http://schemas.openxmlformats.org/officeDocument/2006/relationships/notesMaster" Target="/ppt/notesMasters/notesMaster1.xml" Id="Ra6a747fc14e24c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1bc04710d0443a" /><Relationship Type="http://schemas.openxmlformats.org/officeDocument/2006/relationships/notesMaster" Target="/ppt/notesMasters/notesMaster1.xml" Id="R53464f553f034b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fceadfec434f69" /><Relationship Type="http://schemas.openxmlformats.org/officeDocument/2006/relationships/notesMaster" Target="/ppt/notesMasters/notesMaster1.xml" Id="Rd4709847d9a142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9c4e59f2244f68" /><Relationship Type="http://schemas.openxmlformats.org/officeDocument/2006/relationships/notesMaster" Target="/ppt/notesMasters/notesMaster1.xml" Id="Rea6f3595a0c142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b732a70a944ffd" /><Relationship Type="http://schemas.openxmlformats.org/officeDocument/2006/relationships/notesMaster" Target="/ppt/notesMasters/notesMaster1.xml" Id="Rf62b053d78ee48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6293f235694bb4" /><Relationship Type="http://schemas.openxmlformats.org/officeDocument/2006/relationships/notesMaster" Target="/ppt/notesMasters/notesMaster1.xml" Id="Ra507e388b2d94b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我们选择的是产业大模型报告生成引擎：面向政府智库、产业规划和行业研究，把资料和数据按模板组织成规范、有出处、能够修改的产业报告。下面介绍要做哪些功能，以及我们怎样分阶段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选题面向政府智库、产业规划和行业研究。比如研究人员要写一份产业报告，常常要重新找资料、搭结构，还要手动对齐数字和图表。我们希望解决的是写得慢、结构不统一、数据和内容脱节这三个问题。系统按模板先生成能够核对的草稿，再由人修改和确认，形成完善的产业报告。这些痛点来自选题要求，后面还需要通过真实用户任务核实，不能把它当成已经做过调研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和内容怎样联动？看这个光伏例子：工信部公布的2024年组件产量增长13.5%，但组件价格下降29.7%，所以不能只看产量就写行业全面向好。右侧588GW是组件产量，278GW是新增装机，含义也不同。我们计划让报告中的数字和图表关联同一份数据记录，保留时间、单位和出处；写出的观点还要回到原文核对。这张图是人工整理的设计例子，不是系统已经自动生成的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工信部《2024年全国光伏制造行业运行情况》，2025-02-27。https://www.miit.gov.cn/gyhxxhb/jgsj/dzxxs/dzjc/art/2025/art_da51f7f47c75477ea1fa6732155536db.html</a:t>
            </a:r>
          </a:p>
          <a:p xmlns:a="http://schemas.openxmlformats.org/drawingml/2006/main">
            <a:r>
              <a:t>国家能源局《2024年可再生能源并网运行情况》。https://obor.nea.gov.cn/detail2/21770.html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选题要求，我们把系统分成四块。第一是模板管理，提前规定一类报告应该有哪些章节、需要哪些内容。第二是长文本生成，先列提纲，再逐章填充，还要检查前后有没有重复或矛盾。第三是数据和证据，让数字能进入正文和图表，关键观点能找到原文，证据不够时提示补充。第四是成稿处理，支持公文风格润色、文件导出和历史版本。用户还可以调整产业主题、报告类型、章节和风格，这就是可定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说明一份报告怎样做出来。先准备资料和数据，保留出处；再选报告模板、调整提纲；然后逐章生成，把对应数据和证据写进去。接着检查图表、数字和观点，统一语言风格，由人修改确认，最后导出并保存版本。结合老师讲的任务分解和上节课学长的Harness分享，我们用Harness来管理这些步骤：每一步完成就保存，某一章失败后能从那里继续。它服务于报告生成，报告的模板、内容和质量才是项目的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Anthropic, Effective harnesses for long-running agents. https://www.anthropic.com/research/effective-harnesses-for-long-running-agents</a:t>
            </a:r>
          </a:p>
          <a:p xmlns:a="http://schemas.openxmlformats.org/drawingml/2006/main">
            <a:r>
              <a:t>Anthropic, Building effective agents. https://www.anthropic.com/research/building-effective-agents</a:t>
            </a:r>
          </a:p>
          <a:p xmlns:a="http://schemas.openxmlformats.org/drawingml/2006/main">
            <a:r>
              <a:t>LangGraph, Persistence.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类报告的区别主要体现在模板。产业分析看规模、产业链和趋势；景气报告看供需和价格变化；对标报告要求多个对象按相同指标比较；招商报告关注产业基础、目标企业和配套；出海研判关注目标市场、准入和风险。我们会按这五类设计模板体系，但本学期先用产业分析和对标两类跑通完整流程，再逐步扩展其他类型。验收时用两个产业检查复用，抽查关键表述的出处，检查数据入文、自动图表、润色修订和文件导出。不能只展示一个能写文字的聊天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整个学期的大概安排。每一行是一个阶段，从左到右是先推进主要工作，再完善，最后留出检查和展示的时间。开题前，我们先明确问题、范围和分工，检查计划书和PPT。接着用11月上旬确认需求、资料和接口，中旬把生成流程和页面接起来，月底集中联调，准备11月30日的中期展示。12月先完善恢复和导出，从12月7日起留三周做测试、修复和复测，再整理材料。课表把12月28日列为课程收尾，正式提交截止还以通知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课程介绍PDF文件顺序第47页（原页未印数字页码）《课时安排》：10月26日开题，11月30日中期，12月28日项目收尾、课程总结。该页未给正式终期提交截止。</a:t>
            </a:r>
          </a:p>
          <a:p xmlns:a="http://schemas.openxmlformats.org/drawingml/2006/main">
            <a:r>
              <a:t>文件：materials/course-slides/1.1 软件工程管理课程介绍(1).pdf</a:t>
            </a:r>
          </a:p>
          <a:p xmlns:a="http://schemas.openxmlformats.org/drawingml/2006/main">
            <a:r>
              <a:t>阶段内起止为本组暂排，见team/semester-timeline.json；不把计划当作已完成实绩。图条长度不表示实际天数。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人仍按原分工推进。程文博统筹范围、进度和验收；田亦洁负责需求、模板规则和系统设计；崔大元整理资料、数据口径和来源；许子萌完成模板、分章生成和流程后端；李佳雨负责页面、审阅、图表展示和导出；我负责测试、部署和汇报。交接要讲清输入输出、失败情况和未完成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同一个GitHub仓库共同维护代码、报告和PPT源码。左边是组长提供的协作者列表。每个人在自己的分支修改，完成后提交PR，请其他成员检查，再由组长确认合并。比如模板规则变化，需求、生成代码和验收用例就要同步修改。这样可以查清每次变化，也能减少反复传文件造成的版本混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仓库：https://github.com/BrockPhlin/industry-report-harness</a:t>
            </a:r>
          </a:p>
          <a:p xmlns:a="http://schemas.openxmlformats.org/drawingml/2006/main">
            <a:r>
              <a:t>截图：组长于2026-10-26提供的GitHub Manage access页面，原图保存于assets/opening/github-collaborators.png。该图说明协作者权限，不直接证明个人贡献或分支保护已经设置。</a:t>
            </a:r>
          </a:p>
          <a:p xmlns:a="http://schemas.openxmlformats.org/drawingml/2006/main">
            <a:r>
              <a:t>协作流程为本组执行约定；现有合并成果可核对PR #5和#6。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发仍按这个顺序推进：先确认报告任务和资料，再确定模板与接口，然后实现分章生成和保存恢复，接上人工审阅与导出，最后联调。前端在需求明确后可以并行准备。上面的核心依赖链初估23个工作日，另留3天缓冲，这是安排开发先后的依据；第七页的学期计划还单独留了测试时间。具体日期和投入会随着需求验证继续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风险也围绕报告质量来控制。模型失败，要能定位步骤并保留已有结果；数字、单位或出处对不上，就回原文核对，证据不足不能硬写结论。润色时还要防止把原意改掉。关键任务卡住就及时协调，优先跑通选模板到导出的完整流程。不同成员的修改通过分支和PR检查后再合并，问题和处理结果留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报告§8的项目风险安排；具体执行结果按任务、PR与测试记录核对。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看当前基础。左边是现有原型的实际截图，现在可以保存资料、生成摘录、查看来源快照、保存历史并下载Markdown。这次截图没有调用模型，十八项通过的基线测试也用了模拟响应，所以它还不能代表完整的报告引擎。后面我们要把模板、长文本生成、数据图表、观点溯源、润色导出和版本管理接成完整流程，用实际报告检查效果。我们也会在不断摸索和验证的过程中，逐步形成自己的创新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0f6394ab4241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20a35e7bb40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a24bd5e4e41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c1f80a4704c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f909f134343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5a48702e44f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DB03E5-9D11-4267-8CED-3B2199A613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3ABAD6-F148-4A9A-AD8F-831C30C99B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5406C1-0C29-4646-8AA1-FB6B3C7D6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FAEC67-293D-4FCE-9A4D-F56CB0EA2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ED914E-1079-4FA7-8835-A07372D93B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70E31D-E22F-4E60-9586-1C578F0A0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9E4051-908D-4517-8102-BA1428B3CF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F67B14-6BE1-4EFA-A49A-97787113BA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A871FF-8263-4909-8A22-FE71EB805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DC7B3C-7078-4C92-88BC-E2E29FA38D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ebaddbd7644cf8" /><Relationship Type="http://schemas.openxmlformats.org/officeDocument/2006/relationships/slideLayout" Target="/ppt/slideLayouts/slideLayout1.xml" Id="R4277f014dd384601" /><Relationship Type="http://schemas.openxmlformats.org/officeDocument/2006/relationships/slideLayout" Target="/ppt/slideLayouts/slideLayout2.xml" Id="R2c4493bacfff44a9" /><Relationship Type="http://schemas.openxmlformats.org/officeDocument/2006/relationships/slideLayout" Target="/ppt/slideLayouts/slideLayout3.xml" Id="R17dfd57c20a44b02" /><Relationship Type="http://schemas.openxmlformats.org/officeDocument/2006/relationships/slideLayout" Target="/ppt/slideLayouts/slideLayout4.xml" Id="R2098ba5c53e54daa" /><Relationship Type="http://schemas.openxmlformats.org/officeDocument/2006/relationships/slideLayout" Target="/ppt/slideLayouts/slideLayout5.xml" Id="Ra0f68ba5b183408b" /><Relationship Type="http://schemas.openxmlformats.org/officeDocument/2006/relationships/slideLayout" Target="/ppt/slideLayouts/slideLayout6.xml" Id="R04c31449fa9b45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7f014dd384601"/>
    <p:sldLayoutId xmlns:r="http://schemas.openxmlformats.org/officeDocument/2006/relationships" id="2147483650" r:id="R2c4493bacfff44a9"/>
    <p:sldLayoutId xmlns:r="http://schemas.openxmlformats.org/officeDocument/2006/relationships" id="2147483651" r:id="R17dfd57c20a44b02"/>
    <p:sldLayoutId xmlns:r="http://schemas.openxmlformats.org/officeDocument/2006/relationships" id="2147483652" r:id="R2098ba5c53e54daa"/>
    <p:sldLayoutId xmlns:r="http://schemas.openxmlformats.org/officeDocument/2006/relationships" id="2147483653" r:id="Ra0f68ba5b183408b"/>
    <p:sldLayoutId xmlns:r="http://schemas.openxmlformats.org/officeDocument/2006/relationships" id="2147483654" r:id="R04c31449fa9b45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69853081f4195" /><Relationship Type="http://schemas.openxmlformats.org/officeDocument/2006/relationships/image" Target="/ppt/media/image.png" Id="Rea76294f49ea4fcc" /><Relationship Type="http://schemas.openxmlformats.org/officeDocument/2006/relationships/notesSlide" Target="/ppt/notesSlides/notesSlide1.xml" Id="R3129e4624ab845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e84f70dec4577" /><Relationship Type="http://schemas.openxmlformats.org/officeDocument/2006/relationships/image" Target="/ppt/media/image2.png" Id="Rcc429fa47159479b" /><Relationship Type="http://schemas.openxmlformats.org/officeDocument/2006/relationships/notesSlide" Target="/ppt/notesSlides/notesSlide2.xml" Id="Ra2f6daaed54847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8cc671452e4b8b" /><Relationship Type="http://schemas.openxmlformats.org/officeDocument/2006/relationships/image" Target="/ppt/media/image3.png" Id="R6910b28687d94124" /><Relationship Type="http://schemas.openxmlformats.org/officeDocument/2006/relationships/chart" Target="/ppt/slides/charts/chart1.xml" Id="Rb30d16f98dc745ac" /><Relationship Type="http://schemas.openxmlformats.org/officeDocument/2006/relationships/notesSlide" Target="/ppt/notesSlides/notesSlide3.xml" Id="R5221deb83e024f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d3c24a926d446c" /><Relationship Type="http://schemas.openxmlformats.org/officeDocument/2006/relationships/image" Target="/ppt/media/image4.png" Id="Rcdd15e46a101474a" /><Relationship Type="http://schemas.openxmlformats.org/officeDocument/2006/relationships/notesSlide" Target="/ppt/notesSlides/notesSlide4.xml" Id="R07e7fca804fb4f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4add5a2cf4902" /><Relationship Type="http://schemas.openxmlformats.org/officeDocument/2006/relationships/image" Target="/ppt/media/image5.png" Id="R63175c8de343408e" /><Relationship Type="http://schemas.openxmlformats.org/officeDocument/2006/relationships/notesSlide" Target="/ppt/notesSlides/notesSlide5.xml" Id="Rd01e49ffcb1a42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fb6d02e02448f" /><Relationship Type="http://schemas.openxmlformats.org/officeDocument/2006/relationships/image" Target="/ppt/media/image6.png" Id="R43006537419b4566" /><Relationship Type="http://schemas.openxmlformats.org/officeDocument/2006/relationships/notesSlide" Target="/ppt/notesSlides/notesSlide6.xml" Id="R2419e1faaab846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64be45ce448b2" /><Relationship Type="http://schemas.openxmlformats.org/officeDocument/2006/relationships/image" Target="/ppt/media/image7.png" Id="R31d2583f0a5a47e2" /><Relationship Type="http://schemas.openxmlformats.org/officeDocument/2006/relationships/notesSlide" Target="/ppt/notesSlides/notesSlide7.xml" Id="Ra19a615371e141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c90630d95242c4" /><Relationship Type="http://schemas.openxmlformats.org/officeDocument/2006/relationships/image" Target="/ppt/media/image8.png" Id="R4bbfaf4b549b4202" /><Relationship Type="http://schemas.openxmlformats.org/officeDocument/2006/relationships/notesSlide" Target="/ppt/notesSlides/notesSlide8.xml" Id="R7acd0a354d9649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703af3589a4726" /><Relationship Type="http://schemas.openxmlformats.org/officeDocument/2006/relationships/image" Target="/ppt/media/image9.png" Id="R49529ca7e3914b41" /><Relationship Type="http://schemas.openxmlformats.org/officeDocument/2006/relationships/image" Target="/ppt/media/image10.png" Id="R4d99989356b94db6" /><Relationship Type="http://schemas.openxmlformats.org/officeDocument/2006/relationships/notesSlide" Target="/ppt/notesSlides/notesSlide9.xml" Id="Rdeff18a9194b42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15dc8b7b24597" /><Relationship Type="http://schemas.openxmlformats.org/officeDocument/2006/relationships/image" Target="/ppt/media/image11.png" Id="Rc82ce6041d4a42c6" /><Relationship Type="http://schemas.openxmlformats.org/officeDocument/2006/relationships/notesSlide" Target="/ppt/notesSlides/notesSlide10.xml" Id="R958bdc0381c645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d2f72e737a4850" /><Relationship Type="http://schemas.openxmlformats.org/officeDocument/2006/relationships/image" Target="/ppt/media/image12.png" Id="R2e6d5b8736274a18" /><Relationship Type="http://schemas.openxmlformats.org/officeDocument/2006/relationships/notesSlide" Target="/ppt/notesSlides/notesSlide11.xml" Id="Rbbcfe6c0786042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1ef6d617342c7" /><Relationship Type="http://schemas.openxmlformats.org/officeDocument/2006/relationships/image" Target="/ppt/media/image13.png" Id="Ra7804245dbac496d" /><Relationship Type="http://schemas.openxmlformats.org/officeDocument/2006/relationships/image" Target="/ppt/media/image14.png" Id="R100d1c249b424f99" /><Relationship Type="http://schemas.openxmlformats.org/officeDocument/2006/relationships/notesSlide" Target="/ppt/notesSlides/notesSlide12.xml" Id="Ra8dba30d6741409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比上一年变化</c:v>
          </c:tx>
          <c:spPr>
            <a:solidFill xmlns:a="http://schemas.openxmlformats.org/drawingml/2006/main">
              <a:srgbClr val="003F8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3F8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5D2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组件产量</c:v>
                </c:pt>
                <c:pt idx="1">
                  <c:v>组件价格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0.135</c:v>
                </c:pt>
                <c:pt idx="1">
                  <c:v>-0.297</c:v>
                </c:pt>
              </c:numCache>
            </c:numRef>
          </c:val>
        </c:ser>
        <c:dLbls>
          <c:numFmt formatCode="0.0%;-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233042"/>
                  </a:solidFill>
                  <a:latin typeface="LXGW WenKai"/>
                  <a:ea typeface="LXGW WenKai"/>
                  <a:cs typeface="LXGW WenKa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4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7C048-C03C-4E01-8FB1-C8F5E40D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95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9D4B0-B661-454F-A743-634DC892C9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6294f49ea4fcc"/>
          <a:stretch xmlns:a="http://schemas.openxmlformats.org/drawingml/2006/main"/>
        </p:blipFill>
        <p:spPr>
          <a:xfrm xmlns:a="http://schemas.openxmlformats.org/drawingml/2006/main">
            <a:off x="711553" y="523875"/>
            <a:ext cx="295839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C6B65-0748-4490-A824-12DC376F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产业智能报告生成系统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71D6F-F1CE-47ED-BC78-7EFFE77F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《软件工程管理》第十一组小组开题展示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68D6B-693F-4154-86DC-400D26D4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第11组　组长：程文博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7C3FD-0DD7-4191-BDC9-A3F21C54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组员：田亦洁、李佳雨、许子萌、崔大元、郭润航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3B53E-00F8-48EE-A526-DB592B1A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展示人：郭润航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2B385-E0B3-4347-BBE9-38632358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软件工程管理 · 2026年10月26日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BBCF1-A1C7-4A5B-B87D-E858E4E6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63F0F-C9F5-499B-B818-0FEF560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204262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4876B-82BC-42C8-B8FF-9A29F754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面向真实产业研究，解决写报告的三个难点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6B9C8-7D62-4DE2-AAD7-9D204596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8B9A1-DBB5-40DC-B83D-F8A25E1D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目标场景：政府智库、产业规划与行业研究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4C11B-90FE-4FEC-AFE6-F0ECE21E33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29fa47159479b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B4DC3-A81A-4E56-8967-8813C33A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写得慢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8964D-C14E-4FAB-9FD3-07B70473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资料反复搜集，章节逐段编写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CC4F5-F839-4966-9D3C-8198A619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结构不统一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7A208-8B0C-40C8-B722-4E55C14D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同类报告提纲不同，内容难以复用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3EBAA-7F70-47CA-824C-F6E4FC11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数据联动弱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6F4BE-595F-4E98-A5A5-DB46C23B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数字、图表与观点脱节，出处难回查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00FB1-5A47-43FC-B94A-E000E0B1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我们的目标：按模板生成可核对的草稿，经人修改和确认，</a:t>
            </a:r>
          </a:p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形成完善的产业报告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80E36-27F7-4A87-8B35-A88675C7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痛点来自选题定义；专业用户需求和实际收益仍需调研验证。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E5D62-1E0C-4BFC-B1E7-CDDBD353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57B8C-AE08-4D7B-A12E-E9AE9547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129975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B916F-E8B8-478D-AB49-E65F9D2C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同样是光伏数据，两个数字不能混用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CEA04-0317-4822-B43C-A24C6AD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C1F9E-092F-49BD-8D2A-DC1EDE18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2024年公开数据示例：写进报告前，要先看清指标和单位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0330E-E32B-4A0A-AEFC-9B33011A9C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0b28687d94124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77105-2339-4CDD-A49F-E31945F1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组件产量增加，组件价格下降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432FC55-1BCD-4CC4-95C6-49776DE052D0}"/>
              </a:ext>
            </a:extLst>
          </p:cNvPr>
          <p:cNvGraphicFramePr/>
          <p:nvPr/>
        </p:nvGraphicFramePr>
        <p:xfrm>
          <a:off xmlns:a="http://schemas.openxmlformats.org/drawingml/2006/main" x="666750" y="2209800"/>
          <a:ext xmlns:a="http://schemas.openxmlformats.org/drawingml/2006/main" cx="6762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0d16f98dc745a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9C9E1-5DAD-42F1-B7D3-81B31714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7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588 GW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13312-C4C7-487A-92DE-91BFCC46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组件产量</a:t>
            </a:r>
          </a:p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制造了多少光伏组件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1959C-D8D9-47BA-A6C2-D83ABA30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242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278 GW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C3D86-64AD-4220-94D7-2FBB255F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新增装机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新增投入使用的发电容量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5351D-4EE8-491C-9A8E-9D033CCE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左图为比上一年的变化；来源：工信部2024光伏制造统计、国家能源局2024并网运行统计。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F4EC5-4A9E-48B8-BA6D-60D56F0F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7CEFD-FDF9-44D1-B70B-C458DA74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953414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464F6-6C2E-4F91-ACB5-9E5AEF08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报告引擎要做好哪四件事？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4C59F-1F81-411B-A8B2-1BA7724E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7C3A0-2921-4F46-BB81-20D9F507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模板化、结构化、可溯源、可定制，落实到具体功能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172EB-E077-46E9-8505-31CEC3F35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15e46a101474a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623E4-D0E1-454F-A4F3-FB49BB85D883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57550"/>
                <a:gridCol w="7600950"/>
              </a:tblGrid>
              <a:tr h="7048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核心能力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系统具体要做什么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048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报告模板管理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保存不同报告的提纲、必填内容和格式要求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长文本结构化生成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先组织提纲，再分章填充，检查章节衔接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数据、图表与观点溯源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嵌入数据、生成图表；关联原文，提示证据不足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润色、导出与版本管理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公文风格润色；导出文件，保留修改前后版本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94424-0BF7-45CD-85B0-8C18EA49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可定制：产业主题、报告类型、章节结构与写作风格可调整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5CAC1-2021-4690-B489-790F8076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086B9-1DC2-4941-8EA0-506D523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372589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0F8776-DE76-4B5D-83FA-09671AE3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从资料到成稿，系统怎样串起来？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7AF8F-5DAB-4C72-979B-7D5BA235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1AB76-BAF1-4EB5-808C-05A64B9D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生成报告是主流程；Harness负责安排执行、保存进度和处理中断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DC283-802F-4AFD-8F4D-D43D4BBCFE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75c8de343408e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4D258-F3E9-477D-8B89-91A5D1E2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FEB19-18C9-4A7C-9C05-769F9C69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FFAE7-2684-4924-8A83-9C6098B0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5DFB2-2B81-4268-8C88-DCE63312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资料与数据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87912-9609-4C14-B329-63A3F389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保留来源、年份和单位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89C18-2B93-4274-8D6B-77FBC34C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3AA26-9DCC-4D99-93D0-D7E5BED9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模板与提纲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7C1FE-CEE5-4BE7-BB71-2FC22ED6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选报告类型，调整章节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BA347-6BE4-4D4E-A433-5510605B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3AC0A-A03B-440A-91DA-B9E97594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分章生成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2148A-FB01-42CA-874F-E07D4DA9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把数据与证据写入章节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605CE-95C4-4BAE-9061-A8FA5B86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62250"/>
            <a:ext cx="14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61E2B-AC9E-436D-949D-B6D59D1E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43250"/>
            <a:ext cx="7715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0AEEA-459F-4814-8E67-0809961B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43250"/>
            <a:ext cx="142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71C7D-B0E6-4731-B97F-76F86C9E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94B9F-A408-41BE-BC58-D9ACB0B0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FE072-CFBA-4D21-B402-C74418A5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1CAEAA-166A-4EDB-B303-2B713585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图表与核对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FD39C4-4DA9-442C-BAFA-E7D19BBE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图文同口径，观点查原文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A2C51-D6F5-4872-9A5D-9517C9AA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88AC0-BBFC-4D0C-9406-0AA54EA0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润色与人工审阅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58521F-2F55-4BF7-9E7D-C06B48B4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统一风格，修改并确认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B9F02-6B3B-4803-A61F-4E057890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E61C6-19FB-402E-B496-688570DA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导出与版本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6134CD-F872-4300-A75F-B51B1389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保存成稿和修订记录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1DF9FA-4526-4663-90F1-3B112D59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Harness的作用：按步骤执行、保存中间结果，出错后从未完成处继续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3A61AF-92F1-4B5F-BD43-D762DC27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结合老师的任务分解方法与上节课学长的Harness分享；图示为目标流程，尚未全部实现。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6D433A-251F-479F-9A1F-A118DCB7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375E62-AA56-4C3B-AAD5-55DFC131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780913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D4463-54E9-48D5-9987-4682CA2A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五类报告如何做？本学期先验收什么？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AD936-D718-4ADE-81ED-C29DA56A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57E35-191B-411A-9DBC-0BEDF5FA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模板体系面向五类报告；优先把两类报告的完整流程做扎实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1245E-C3D7-4302-9D37-94BDFB8EB1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06537419b4566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C23B7-A5C7-4D28-BBB8-CE7F4254F4FC}"/>
              </a:ext>
            </a:extLst>
          </p:cNvPr>
          <p:cNvGraphicFramePr/>
          <p:nvPr/>
        </p:nvGraphicFramePr>
        <p:xfrm>
          <a:off xmlns:a="http://schemas.openxmlformats.org/drawingml/2006/main" x="666750" y="1590675"/>
          <a:ext xmlns:a="http://schemas.openxmlformats.org/drawingml/2006/main" cx="108585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8870"/>
                <a:gridCol w="6189345"/>
                <a:gridCol w="2280285"/>
              </a:tblGrid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报告类型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模板重点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推进安排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产业分析报告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规模、产业链、竞争格局与趋势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首轮跑通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景气报告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供需、价格与景气变化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分步扩展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对标报告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多个对象采用同一指标口径比较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首轮跑通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招商报告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产业基础、目标企业与配套条件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分步扩展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出海研判报告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目标市场、准入条件与风险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分步扩展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88520-C95C-4825-8595-25F2FF6C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先验收：两类报告 × 两个产业；数据入文、图表生成、观点查源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92ED7-EF61-4E1D-861F-A0FE3513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还要检查：润色与修订留痕、Markdown及PDF或Word导出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889C1-F712-4094-86FF-51E56C8B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其余三类模板为后续扩展，不能据此声称五类完整报告都已实现。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56523-410A-4C82-BCF4-13F4541E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EC283-61F4-4A8C-8A59-8AFC4CBE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782287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E1592C-70E9-488F-8260-7F75ADBE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学期时间安排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521D6-1455-4957-B231-ACB7D696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5AB2D-219C-4E62-90BE-61B44C16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开题前定方向，11月跑通流程，12月完善、测试和交付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340A9-34D6-4509-A081-9F2C277B01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2583f0a5a47e2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9B7C0-C4C8-433A-819E-A66D0EF6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7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首轮推进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8EA20-021F-4274-A0EA-E2141944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二轮完善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4F127-4FE4-4896-8B63-D81070FB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检查与展示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6D3E8-2B20-4400-A7BD-98999EF4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C9E89-316E-4350-9714-8B8BA8FA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A951E-A3B9-4B08-B69E-AC3375C0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10月中下旬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9AA83-7C35-459B-9CEE-FECAA58E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05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问题、范围与分工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294F6-7B2B-491D-9F0E-B9EED1DE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33EA7-C12E-430E-9D37-27439407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10.24—10.25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1B06D-CD6C-41DD-8C42-3949BDBA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05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计划书、PPT检查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F93A5-A8B0-413D-B064-75D8BE36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6020A-DA28-4699-9FE3-B7A4725D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10.26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BDC49-C767-4273-8601-C27E698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051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76891-B227-4FC8-B79F-1F01C03D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中期版本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603A3-9A75-4B0E-AF82-8480C479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76625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141E47-5074-48BC-B473-786832F0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909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10.27—11.08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65A41-AD5E-402F-A9AF-6D40D561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9097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需求、资料与接口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697A55-9EBF-4F36-AFF4-DFBFFFBF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8F887-3A25-4789-A1A9-9E66204B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909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11.09—11.22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ABF86-D551-4D6B-BA95-1F8B313B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9097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生成流程、页面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1E1D13-7580-45D1-B397-7DEFAC3C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E7B065-182C-4039-BAFF-A6172CA3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11.23—11.30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C7551A-4A64-4956-9201-094F47B0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9097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联调修复</a:t>
            </a:r>
          </a:p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11.30中期展示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48F666-690F-4A3C-9DF6-00CD0BB3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后期完善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4F070-0D28-413A-976C-C412EB81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C5A271-DA1B-4CC3-B913-82247D56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768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12.01—12.06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6F2448-C823-4873-ABF2-56538AFC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768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完善恢复与导出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1BDC71-A31B-4004-87A3-8BEEF0D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E57D28-AA04-4243-9844-E3E52084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768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12.07—12.20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0E6D44-EACE-4939-99BB-27D4E847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768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系统测试、修复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23B01D-E672-4CE9-BFBA-B9915CB3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F1D5DE-C970-4FC0-8ECA-78C516A2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768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12.21—12.28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309C66-50A4-402B-A0BD-FAC9AF7B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768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复测、材料</a:t>
            </a:r>
          </a:p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12.28课程收尾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A0D15A-0628-4732-B188-0E35554D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组内阶段计划示意，条形长度不表示天数；正式提交日期以课程通知为准。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F7668A-1A1B-44FC-8F27-99427112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BDB0F7-F4C5-4CA7-A43A-3B89EB5C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1693020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830D8-A8E1-417D-A8FD-8CCFC9B9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六个人分别负责什么？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C3C9F-C1EB-418B-9934-BF82659C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3A39D-03A5-48E9-B58C-49782646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每块工作有人负责，交接时要说清输入、输出和没有完成的部分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25331-9E90-4EB7-A8D3-279A76EA66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faf4b549b4202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4EF9C-9D37-48D4-94E4-F32D717DA74C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3115"/>
                <a:gridCol w="4451985"/>
                <a:gridCol w="4343400"/>
              </a:tblGrid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主要负责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主要交付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程文博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统筹协调、评审和验收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范围、进度、资源与版本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田亦洁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需求和系统设计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需求说明、接口和验收条件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李佳雨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页面、修改功能和导出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可操作的页面、图表和报告文件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郭润航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测试、部署和汇报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测试记录、运行说明和演示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崔大元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资料整理和数据处理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来源记录、资料导入和版本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许子萌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Harness和报告生成后端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模板、分章生成、保存与恢复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AA6A0-9BF3-4C40-996D-39F489A7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各模块交接后一起测试；组长组织范围变更和最终验收。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61B65-BA9C-4AF9-AA75-19F79E3D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BBA57-E28A-443D-B366-0765A3AE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946832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25AF6-6264-406B-93E9-250358B6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六人共同维护一个GitHub仓库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0D39F-8DBF-4FAC-A7E6-43D4AC45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F39BF-1055-48BF-ABF0-7B504B91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每人按分工修改，提交PR后互相检查，再合并到主分支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C445B-F949-4198-B759-5A0E42021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29ca7e3914b41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7D5B7-1B20-44A7-B28A-30910A07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github.com/BrockPhlin/industry-report-harness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FDEE7-48B6-48DC-9E9B-499983C2C6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9989356b94db6"/>
          <a:stretch xmlns:a="http://schemas.openxmlformats.org/drawingml/2006/main"/>
        </p:blipFill>
        <p:spPr>
          <a:xfrm xmlns:a="http://schemas.openxmlformats.org/drawingml/2006/main">
            <a:off x="619125" y="1973428"/>
            <a:ext cx="7429500" cy="36159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C6B80-ADB1-4653-8D80-0DFBA119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050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1 分支里改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0C56F-7D7C-47AB-AAC2-992EEF23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按分工修改代码和材料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CF60D-32C6-4D5E-89AF-82C1AC86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623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 PR互相检查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4A990-716E-4275-9B31-CBFF4302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说明改动，核对测试与版本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7D60E-DF01-487A-BA82-47A759DA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67250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3 合并后同步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3156E-5D6D-4208-BE3E-90AFEA7C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816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组长确认，其他人拉取更新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BDE23-D700-4065-9BB6-ABCA1810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协作者列表：5个协作者账号，加上仓库所有者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D5171-1126-4F33-819A-DD2C37DE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统一保存代码、报告与PPT源码，减少反复传文件和版本混乱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779D1-D219-4A5B-A3B7-6A1EE088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8BA37-0EF2-40AF-9CDA-47B140BC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778264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FBEF69-DEAC-403F-9661-FE04A3BE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开发顺序：先定需求，再生成，最后一起测试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EC051-B807-4547-99FB-7F7EFD26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2C72C-5ED1-4822-BD52-D3EA3A0E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核心流程预计23个工作日，另留3天处理问题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26559-FA6C-447B-8676-1B2F54B033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ce6041d4a42c6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3E77C-118C-42BB-B4CB-79462925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E8587-019F-44D4-BC1B-9F8ABB82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99BB7-BF15-473C-A7B3-FD0D6CBE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079B1-57E5-4D89-B916-83671E23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3056D-ACF3-4B37-A3FA-5D85C6F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88A9D-ABB0-459D-9184-7053539E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需求和资料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5713A-5116-4849-95B9-AE6052A7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5个工作日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44A8F-94B6-40DF-93EC-0422A266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36B39-CB4F-49F8-98A4-01AC7CAE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模板与接口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DF61A-C0FB-4FC1-9CCC-21493AB5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3个工作日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B27A4-20A2-46D8-B8CA-16CA631E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D109E-0A34-4877-848D-CE6C1617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分章与恢复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6641A-D0E0-43DE-B177-F2A1BBC1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6个工作日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F48EF-BCF5-4B2A-BB0A-90731CC4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65104-6F01-4E9C-9AAA-04FEFDBF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审阅与导出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DEC2E-0C8A-48FE-BD41-A0C3646E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4个工作日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F24E7-1E66-43E5-8D7E-79FD021A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3FC11-F3C6-40FE-951B-BA3CF84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联调测试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578A9-2EF0-48D7-8F1E-5C25AA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5个工作日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DD0CD-024E-49DE-8442-155F9DCC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81350"/>
            <a:ext cx="14288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562DD-979B-45DF-8130-194AE2ED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128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971064-E781-41EE-A48D-689E8076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128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A349CF-A7AB-4825-9AEB-83C7320C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81350"/>
            <a:ext cx="14288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2EBCEC-BE6C-42A9-B3D7-6DE635D9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71925"/>
            <a:ext cx="4143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1C3D3F-2DB9-4C60-B0F4-1420387A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前端页面：3个工作日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A1DBA2-0450-4EFE-B13F-69342034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3857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需求确定后，与生成模块并行开发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435A97-1629-4756-B1E5-0B8219A4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 + 3 + 6 + 4 + 5 = 23天；再留3天缓冲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947F18-91C8-417C-A4C0-B01623E0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这是核心开发的初步安排；正式日期落定后重排，终期前另留3周做系统测试。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A81F8E-898D-4693-9156-FD64D6A1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A7F91F-E30B-4C6E-B6C3-4F050930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5074791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87C97-1FA7-4170-8A0D-74B4C844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遇到问题怎么处理？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7A507-D520-4052-BC7E-0493E77A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AB467-AA42-49E1-94DE-238CE72E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先把主要流程做稳，再逐步完善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7066C-AB7A-4E82-AB01-36D2EB3413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d5b8736274a18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5A5A4-88E8-4DE2-B06B-B20AC2D9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问题及时说清，处理结果留下记录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B26A3-A6F7-4A91-9663-8A2C27B3A8B5}"/>
              </a:ext>
            </a:extLst>
          </p:cNvPr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108585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26230"/>
                <a:gridCol w="6732270"/>
              </a:tblGrid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可能遇到的问题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我们的处理办法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模型调用失败或中断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明确报错，查看记录，确认原因后再重试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数字、单位或出处对不上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回到原文核对，核不清的内容不写进结论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润色改变原意、关键任务卡住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核对修改前后事实；及时协调，先打通完整流程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不同成员的修改互相覆盖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各自使用分支，提交PR检查后再合并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EF382-00CF-4F58-90D0-54C2519B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按实际处理和测试结果确认功能，不把计划当作已经完成。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C1904-B1F1-48AB-B98E-8FB8B432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6C56B-7BE3-4892-AC60-EE451167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4236264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B4F1F-60A1-4C7D-AB3B-B1CF2CE7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从可运行初稿，走向完整报告引擎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605A8-4184-489B-B245-DC19869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82E8A-AFBA-44E9-BE17-4B9C4353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已有基础与后续目标分开说明，按实际结果验收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132BC-CE9F-4B2B-BC1A-82508D0553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04245dbac496d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52474-30CD-449B-BEE2-5A9F2EA870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d1c249b424f99"/>
          <a:stretch xmlns:a="http://schemas.openxmlformats.org/drawingml/2006/main"/>
        </p:blipFill>
        <p:spPr>
          <a:xfrm xmlns:a="http://schemas.openxmlformats.org/drawingml/2006/main">
            <a:off x="728185" y="1676400"/>
            <a:ext cx="5306380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C2230-BCDB-42D2-BC23-AFBB577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049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已有基础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7934C-5D16-4552-88E5-6594BB23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资料保存、摘录与来源快照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历史记录、Markdown下载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37B86-E261-43A1-A875-97FBD9CA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337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接下来验证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70F59-831A-4C59-97F2-314CD8EA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模板与分章生成、数据图表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观点溯源、润色导出与版本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05324-8E0A-478F-8BC6-20FC338D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858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我们会在不断摸索和验证的过程中，逐步形成自己的创新。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29BD3-8A6F-4F2D-8E0A-CF176BC1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左图为摘录模式的实际原型，不是完整AI报告；18项模拟响应基线测试通过，真实模型仍待联调。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819B6-BB14-4E5A-AB86-C048EF04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745DB-3FF2-4C74-95EF-BBC55E4F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354307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2026-10-26T02:09:03.3120000Z</dcterms:created>
  <dcterms:modified xsi:type="dcterms:W3CDTF">2026-10-26T02:09:03.3120000Z</dcterms:modified>
</coreProperties>
</file>