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af2784b31d468a" /><Relationship Type="http://schemas.openxmlformats.org/officeDocument/2006/relationships/extended-properties" Target="/docProps/app.xml" Id="Rf5216c9cdb514b52" /><Relationship Type="http://schemas.openxmlformats.org/officeDocument/2006/relationships/officeDocument" Target="/ppt/presentation.xml" Id="Rf2946cc6ca8946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fd51c056044785"/>
  </p:sldMasterIdLst>
  <p:notesMasterIdLst>
    <p:notesMasterId xmlns:r="http://schemas.openxmlformats.org/officeDocument/2006/relationships" r:id="Rfa4a58a547f14e2d"/>
  </p:notesMasterIdLst>
  <p:sldIdLst>
    <p:sldId xmlns:r="http://schemas.openxmlformats.org/officeDocument/2006/relationships" id="256" r:id="R1a7e9af337904db3"/>
    <p:sldId xmlns:r="http://schemas.openxmlformats.org/officeDocument/2006/relationships" id="257" r:id="R7a6adfc796024a9e"/>
    <p:sldId xmlns:r="http://schemas.openxmlformats.org/officeDocument/2006/relationships" id="258" r:id="R68a6aca65b934c9d"/>
    <p:sldId xmlns:r="http://schemas.openxmlformats.org/officeDocument/2006/relationships" id="259" r:id="Rf357b368048f45c7"/>
    <p:sldId xmlns:r="http://schemas.openxmlformats.org/officeDocument/2006/relationships" id="260" r:id="R40237ff41dd54f95"/>
    <p:sldId xmlns:r="http://schemas.openxmlformats.org/officeDocument/2006/relationships" id="261" r:id="R58a158b27a2d4a71"/>
    <p:sldId xmlns:r="http://schemas.openxmlformats.org/officeDocument/2006/relationships" id="262" r:id="R94ad7d1860a248cb"/>
    <p:sldId xmlns:r="http://schemas.openxmlformats.org/officeDocument/2006/relationships" id="263" r:id="R5cd180cb75734a22"/>
    <p:sldId xmlns:r="http://schemas.openxmlformats.org/officeDocument/2006/relationships" id="264" r:id="R3cace296505046db"/>
    <p:sldId xmlns:r="http://schemas.openxmlformats.org/officeDocument/2006/relationships" id="265" r:id="R9e3dc1ed46af4a6c"/>
    <p:sldId xmlns:r="http://schemas.openxmlformats.org/officeDocument/2006/relationships" id="266" r:id="R248f136ebc594742"/>
    <p:sldId xmlns:r="http://schemas.openxmlformats.org/officeDocument/2006/relationships" id="267" r:id="R00f6d2ed62b94f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50ca64bd1f4c11" /><Relationship Type="http://schemas.openxmlformats.org/officeDocument/2006/relationships/slideMaster" Target="/ppt/slideMasters/slideMaster1.xml" Id="R95fd51c056044785" /><Relationship Type="http://schemas.openxmlformats.org/officeDocument/2006/relationships/notesMaster" Target="/ppt/notesMasters/notesMaster1.xml" Id="Rfa4a58a547f14e2d" /><Relationship Type="http://schemas.openxmlformats.org/officeDocument/2006/relationships/presProps" Target="/ppt/presProps.xml" Id="Raa6a23c33c124468" /><Relationship Type="http://schemas.openxmlformats.org/officeDocument/2006/relationships/tableStyles" Target="/ppt/tableStyles.xml" Id="R5376603e96924195" /><Relationship Type="http://schemas.openxmlformats.org/officeDocument/2006/relationships/slide" Target="/ppt/slides/slide1.xml" Id="R1a7e9af337904db3" /><Relationship Type="http://schemas.openxmlformats.org/officeDocument/2006/relationships/slide" Target="/ppt/slides/slide2.xml" Id="R7a6adfc796024a9e" /><Relationship Type="http://schemas.openxmlformats.org/officeDocument/2006/relationships/slide" Target="/ppt/slides/slide3.xml" Id="R68a6aca65b934c9d" /><Relationship Type="http://schemas.openxmlformats.org/officeDocument/2006/relationships/slide" Target="/ppt/slides/slide4.xml" Id="Rf357b368048f45c7" /><Relationship Type="http://schemas.openxmlformats.org/officeDocument/2006/relationships/slide" Target="/ppt/slides/slide5.xml" Id="R40237ff41dd54f95" /><Relationship Type="http://schemas.openxmlformats.org/officeDocument/2006/relationships/slide" Target="/ppt/slides/slide6.xml" Id="R58a158b27a2d4a71" /><Relationship Type="http://schemas.openxmlformats.org/officeDocument/2006/relationships/slide" Target="/ppt/slides/slide7.xml" Id="R94ad7d1860a248cb" /><Relationship Type="http://schemas.openxmlformats.org/officeDocument/2006/relationships/slide" Target="/ppt/slides/slide8.xml" Id="R5cd180cb75734a22" /><Relationship Type="http://schemas.openxmlformats.org/officeDocument/2006/relationships/slide" Target="/ppt/slides/slide9.xml" Id="R3cace296505046db" /><Relationship Type="http://schemas.openxmlformats.org/officeDocument/2006/relationships/slide" Target="/ppt/slides/slide10.xml" Id="R9e3dc1ed46af4a6c" /><Relationship Type="http://schemas.openxmlformats.org/officeDocument/2006/relationships/slide" Target="/ppt/slides/slide11.xml" Id="R248f136ebc594742" /><Relationship Type="http://schemas.openxmlformats.org/officeDocument/2006/relationships/slide" Target="/ppt/slides/slide12.xml" Id="R00f6d2ed62b94f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a2d53026c947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924c5aae8d4dab" /><Relationship Type="http://schemas.openxmlformats.org/officeDocument/2006/relationships/notesMaster" Target="/ppt/notesMasters/notesMaster1.xml" Id="R13c8a57b96db42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646980a4e249c6" /><Relationship Type="http://schemas.openxmlformats.org/officeDocument/2006/relationships/notesMaster" Target="/ppt/notesMasters/notesMaster1.xml" Id="R3da73c982c124e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5b4434f33d4cff" /><Relationship Type="http://schemas.openxmlformats.org/officeDocument/2006/relationships/notesMaster" Target="/ppt/notesMasters/notesMaster1.xml" Id="R7a320e08549340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2e53a00fe54415" /><Relationship Type="http://schemas.openxmlformats.org/officeDocument/2006/relationships/notesMaster" Target="/ppt/notesMasters/notesMaster1.xml" Id="R967b20b6b9ae4b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90684ab9744103" /><Relationship Type="http://schemas.openxmlformats.org/officeDocument/2006/relationships/notesMaster" Target="/ppt/notesMasters/notesMaster1.xml" Id="R10cb0377fc2641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cfb1f6339f4336" /><Relationship Type="http://schemas.openxmlformats.org/officeDocument/2006/relationships/notesMaster" Target="/ppt/notesMasters/notesMaster1.xml" Id="Rab59277869674a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1df166156b43e7" /><Relationship Type="http://schemas.openxmlformats.org/officeDocument/2006/relationships/notesMaster" Target="/ppt/notesMasters/notesMaster1.xml" Id="Rbd94c5decb0847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e53bcb708b42b2" /><Relationship Type="http://schemas.openxmlformats.org/officeDocument/2006/relationships/notesMaster" Target="/ppt/notesMasters/notesMaster1.xml" Id="Rcffb5dccbcc74f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9e6443aadf441c" /><Relationship Type="http://schemas.openxmlformats.org/officeDocument/2006/relationships/notesMaster" Target="/ppt/notesMasters/notesMaster1.xml" Id="R382bfb8aa17840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aff6e43dc848ba" /><Relationship Type="http://schemas.openxmlformats.org/officeDocument/2006/relationships/notesMaster" Target="/ppt/notesMasters/notesMaster1.xml" Id="R7b03e352d0394b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b5209740f24d91" /><Relationship Type="http://schemas.openxmlformats.org/officeDocument/2006/relationships/notesMaster" Target="/ppt/notesMasters/notesMaster1.xml" Id="Radbea2693c6c48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9a207ba9ab4ce4" /><Relationship Type="http://schemas.openxmlformats.org/officeDocument/2006/relationships/notesMaster" Target="/ppt/notesMasters/notesMaster1.xml" Id="Rd02f63f22a4443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（待认领）讲述，建议20秒。内容作者解释本页依据和边界，正式汇报前补齐课程文件、真实资料与结果。程文博负责统筹，其他五项均未指定姓名。来源：本目录的任务认领表、报告模板和课程评分细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（待认领）讲述，建议45秒。内容作者解释本页依据和边界，正式汇报前补齐课程文件、真实资料与结果。程文博负责统筹，其他五项均未指定姓名。来源：本目录的任务认领表、报告模板和课程评分细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（待认领）讲述，建议40秒。内容作者解释本页依据和边界，正式汇报前补齐课程文件、真实资料与结果。程文博负责统筹，其他五项均未指定姓名。来源：本目录的任务认领表、报告模板和课程评分细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（待认领）讲述，建议45秒。内容作者解释本页依据和边界，正式汇报前补齐课程文件、真实资料与结果。程文博负责统筹，其他五项均未指定姓名。来源：本目录的任务认领表、报告模板和课程评分细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（待认领）讲述，建议40秒。内容作者解释本页依据和边界，正式汇报前补齐课程文件、真实资料与结果。程文博负责统筹，其他五项均未指定姓名。来源：本目录的任务认领表、报告模板和课程评分细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（待认领）讲述，建议45秒。内容作者解释本页依据和边界，正式汇报前补齐课程文件、真实资料与结果。程文博负责统筹，其他五项均未指定姓名。来源：本目录的任务认领表、报告模板和课程评分细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（待认领）讲述，建议40秒。内容作者解释本页依据和边界，正式汇报前补齐课程文件、真实资料与结果。程文博负责统筹，其他五项均未指定姓名。来源：本目录的任务认领表、报告模板和课程评分细则。说明六项任务是本次分工。T1写报告、T2做PPT、T3独立讲、T4整理老师课件和资料、T5接手代码，五位成员自行认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（待认领）讲述，建议45秒。内容作者解释本页依据和边界，正式汇报前补齐课程文件、真实资料与结果。程文博负责统筹，其他五项均未指定姓名。来源：本目录的任务认领表、报告模板和课程评分细则。课程映射必须对应实际课件文件和页码。评分细则不是老师授课原话，未收到课件时保留待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（待认领）讲述，建议45秒。内容作者解释本页依据和边界，正式汇报前补齐课程文件、真实资料与结果。程文博负责统筹，其他五项均未指定姓名。来源：本目录的任务认领表、报告模板和课程评分细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（待认领）讲述，建议35秒。内容作者解释本页依据和边界，正式汇报前补齐课程文件、真实资料与结果。程文博负责统筹，其他五项均未指定姓名。来源：本目录的任务认领表、报告模板和课程评分细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（待认领）讲述，建议0秒。内容作者解释本页依据和边界，正式汇报前补齐课程文件、真实资料与结果。程文博负责统筹，其他五项均未指定姓名。来源：本目录的任务认领表、报告模板和课程评分细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（待认领）讲述，建议0秒。内容作者解释本页依据和边界，正式汇报前补齐课程文件、真实资料与结果。程文博负责统筹，其他五项均未指定姓名。来源：本目录的任务认领表、报告模板和课程评分细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68843bdf04d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a09558d9f41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efbada7e3b48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a8327d81d47b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8d1f48a7dc4ed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7dbc443a1549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480B8D-B445-4AA9-A9B3-442C2F7E1F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43FEBD-3FEF-4CE6-865D-242BE29C885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E6CC80-3A9A-4464-A22D-8D1B07635C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4E1349-B749-4023-B064-5832DAAE4B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7BD2919-5A4D-47FE-B1E2-0CB1A24BF6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6247C71-2225-48FC-9DF2-DB2438A10E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C79A8A-782E-424C-BA82-FE04D100AE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D77543C-9CD6-490E-9CB9-EDA0B53374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73EBD9-A551-43E6-9E23-6FF6D9D3DB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D08B8B-BD9E-43EE-8729-3105B4511A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abf7efa6d24fc3" /><Relationship Type="http://schemas.openxmlformats.org/officeDocument/2006/relationships/slideLayout" Target="/ppt/slideLayouts/slideLayout1.xml" Id="Rb08a93d47bba4f77" /><Relationship Type="http://schemas.openxmlformats.org/officeDocument/2006/relationships/slideLayout" Target="/ppt/slideLayouts/slideLayout2.xml" Id="R3453ba2ab7ca4ce6" /><Relationship Type="http://schemas.openxmlformats.org/officeDocument/2006/relationships/slideLayout" Target="/ppt/slideLayouts/slideLayout3.xml" Id="R99e4c7f1911a4ff2" /><Relationship Type="http://schemas.openxmlformats.org/officeDocument/2006/relationships/slideLayout" Target="/ppt/slideLayouts/slideLayout4.xml" Id="Rbcb0c79000f842f3" /><Relationship Type="http://schemas.openxmlformats.org/officeDocument/2006/relationships/slideLayout" Target="/ppt/slideLayouts/slideLayout5.xml" Id="R3c8600dcd56d432e" /><Relationship Type="http://schemas.openxmlformats.org/officeDocument/2006/relationships/slideLayout" Target="/ppt/slideLayouts/slideLayout6.xml" Id="Rcc97062a19bc4d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8a93d47bba4f77"/>
    <p:sldLayoutId xmlns:r="http://schemas.openxmlformats.org/officeDocument/2006/relationships" id="2147483650" r:id="R3453ba2ab7ca4ce6"/>
    <p:sldLayoutId xmlns:r="http://schemas.openxmlformats.org/officeDocument/2006/relationships" id="2147483651" r:id="R99e4c7f1911a4ff2"/>
    <p:sldLayoutId xmlns:r="http://schemas.openxmlformats.org/officeDocument/2006/relationships" id="2147483652" r:id="Rbcb0c79000f842f3"/>
    <p:sldLayoutId xmlns:r="http://schemas.openxmlformats.org/officeDocument/2006/relationships" id="2147483653" r:id="R3c8600dcd56d432e"/>
    <p:sldLayoutId xmlns:r="http://schemas.openxmlformats.org/officeDocument/2006/relationships" id="2147483654" r:id="Rcc97062a19bc4d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c9228d9caa47d2" /><Relationship Type="http://schemas.openxmlformats.org/officeDocument/2006/relationships/image" Target="/ppt/media/image.png" Id="R439432c364334c16" /><Relationship Type="http://schemas.openxmlformats.org/officeDocument/2006/relationships/image" Target="/ppt/media/image2.png" Id="R1a0d1961d8cf4b76" /><Relationship Type="http://schemas.openxmlformats.org/officeDocument/2006/relationships/notesSlide" Target="/ppt/notesSlides/notesSlide1.xml" Id="Re1bc1d4a2be84a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8f81d5f807445e" /><Relationship Type="http://schemas.openxmlformats.org/officeDocument/2006/relationships/image" Target="/ppt/media/image3.png" Id="R264fd58b837f4d94" /><Relationship Type="http://schemas.openxmlformats.org/officeDocument/2006/relationships/notesSlide" Target="/ppt/notesSlides/notesSlide2.xml" Id="R75a76f0647ff43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bfa19ce14f413d" /><Relationship Type="http://schemas.openxmlformats.org/officeDocument/2006/relationships/image" Target="/ppt/media/image4.png" Id="Rf308f7ec67154e63" /><Relationship Type="http://schemas.openxmlformats.org/officeDocument/2006/relationships/notesSlide" Target="/ppt/notesSlides/notesSlide3.xml" Id="Rb98bea15139e43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adef68eaf44e5d" /><Relationship Type="http://schemas.openxmlformats.org/officeDocument/2006/relationships/image" Target="/ppt/media/image5.png" Id="Re02a1b4740934c37" /><Relationship Type="http://schemas.openxmlformats.org/officeDocument/2006/relationships/notesSlide" Target="/ppt/notesSlides/notesSlide4.xml" Id="Rc6ad77bac88542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85adf6f469419b" /><Relationship Type="http://schemas.openxmlformats.org/officeDocument/2006/relationships/image" Target="/ppt/media/image6.png" Id="Rbecf12a7e22e4f67" /><Relationship Type="http://schemas.openxmlformats.org/officeDocument/2006/relationships/notesSlide" Target="/ppt/notesSlides/notesSlide5.xml" Id="Rba5ea94e6bee4a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566fe9fb7943c8" /><Relationship Type="http://schemas.openxmlformats.org/officeDocument/2006/relationships/image" Target="/ppt/media/image7.png" Id="R3ebd6c3c74da4376" /><Relationship Type="http://schemas.openxmlformats.org/officeDocument/2006/relationships/notesSlide" Target="/ppt/notesSlides/notesSlide6.xml" Id="R958d472e1b1b4f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a971cbafa44a43" /><Relationship Type="http://schemas.openxmlformats.org/officeDocument/2006/relationships/image" Target="/ppt/media/image8.png" Id="Ra1963e0707d5433b" /><Relationship Type="http://schemas.openxmlformats.org/officeDocument/2006/relationships/notesSlide" Target="/ppt/notesSlides/notesSlide7.xml" Id="R8cc326d54e794b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9d9dcc54b347c5" /><Relationship Type="http://schemas.openxmlformats.org/officeDocument/2006/relationships/image" Target="/ppt/media/image9.png" Id="Re73f0dee01cb4c8c" /><Relationship Type="http://schemas.openxmlformats.org/officeDocument/2006/relationships/notesSlide" Target="/ppt/notesSlides/notesSlide8.xml" Id="R81e8853b113b4e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ea7fdc88f04ad6" /><Relationship Type="http://schemas.openxmlformats.org/officeDocument/2006/relationships/image" Target="/ppt/media/image10.png" Id="Rd517e361b6804e51" /><Relationship Type="http://schemas.openxmlformats.org/officeDocument/2006/relationships/notesSlide" Target="/ppt/notesSlides/notesSlide9.xml" Id="Rebbb5ea35a9e4a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abedb39be14c51" /><Relationship Type="http://schemas.openxmlformats.org/officeDocument/2006/relationships/image" Target="/ppt/media/image11.png" Id="Rc9f9fede4d2d4ac8" /><Relationship Type="http://schemas.openxmlformats.org/officeDocument/2006/relationships/notesSlide" Target="/ppt/notesSlides/notesSlide10.xml" Id="Rac6b78735ee546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7c339a3475414d" /><Relationship Type="http://schemas.openxmlformats.org/officeDocument/2006/relationships/image" Target="/ppt/media/image12.png" Id="Rc9944c03d43440c9" /><Relationship Type="http://schemas.openxmlformats.org/officeDocument/2006/relationships/notesSlide" Target="/ppt/notesSlides/notesSlide11.xml" Id="Re946fd425c3a4d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b0742b88f94fec" /><Relationship Type="http://schemas.openxmlformats.org/officeDocument/2006/relationships/image" Target="/ppt/media/image13.png" Id="R7342e06fc4974c23" /><Relationship Type="http://schemas.openxmlformats.org/officeDocument/2006/relationships/notesSlide" Target="/ppt/notesSlides/notesSlide12.xml" Id="R51845ce9cdbc44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E6188-E260-454D-8C59-B20046B6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1095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93F84-9511-407A-884D-603F944823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432c364334c16"/>
          <a:stretch xmlns:a="http://schemas.openxmlformats.org/drawingml/2006/main"/>
        </p:blipFill>
        <p:spPr>
          <a:xfrm xmlns:a="http://schemas.openxmlformats.org/drawingml/2006/main">
            <a:off x="781050" y="571500"/>
            <a:ext cx="1095375" cy="10953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492C9-20ED-4FF9-9A57-C4B5EF2595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0d1961d8cf4b76"/>
          <a:stretch xmlns:a="http://schemas.openxmlformats.org/drawingml/2006/main"/>
        </p:blipFill>
        <p:spPr>
          <a:xfrm xmlns:a="http://schemas.openxmlformats.org/drawingml/2006/main">
            <a:off x="793926" y="1828800"/>
            <a:ext cx="1479197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F09A9-3C5F-4F42-9DA0-5769EE72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4200" b="1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4200" b="1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4200" b="1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4200" b="1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4200" b="1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4200" b="1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4200" b="1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4200" b="1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4200" b="1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4200" b="1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产业智能报告生成系统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A3D7D-295E-4666-84A3-4CB8C735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基于 Agent Harness 的可溯源研究报告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C034B-8B42-40E6-9B5A-4ED86F75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组长：程文博　其余五项由成员认领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113BC-1D2E-4DCF-A532-72A0E03D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第11组　2026年10月26日　开题工作模板 v0.4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6B567-2A75-43F2-8AAD-A141E128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开题草案 v0.4 / 计划与实际分开记录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AD2BA-5A1C-4A6B-A504-C82E438E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01 / 12</a:t>
            </a:r>
          </a:p>
        </p:txBody>
      </p:sp>
    </p:spTree>
    <p:extLst>
      <p:ext uri="{BB962C8B-B14F-4D97-AF65-F5344CB8AC3E}">
        <p14:creationId xmlns:p14="http://schemas.microsoft.com/office/powerpoint/2010/main" val="9729440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FEC0B-5ECF-47AF-A106-3D22208C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目标用户与问题假设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EF335-182F-401D-BACA-41223CC3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93A0E-1980-4DAC-A47E-1AD8A70B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用户调研与资料依据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48709-9637-4BD0-BA0F-05C1FEAE72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fd58b837f4d94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1CFD52-DB97-4467-8055-5F9BAC17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目标用户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15E0A-CC4E-4A02-A097-62F84BB7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5048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学生或研究助理</a:t>
            </a:r>
          </a:p>
          <a:p xmlns:a="http://schemas.openxmlformats.org/drawingml/2006/main">
            <a: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需要整理公开资料并撰写产业研究简报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36CB3-3508-40B4-A387-85E39375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052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40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需求核对安排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77FE2-BF6D-4CA3-ACCB-71DB97FB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T1与T4联系目标用户</a:t>
            </a:r>
          </a:p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记录现有流程、资料来源与验收期待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5C898-BF25-4CFF-A0CD-BF2D728F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192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5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待验证的问题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94E9B-6AE1-4C5D-8A0C-7D58000F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33625"/>
            <a:ext cx="4857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材料分散，来源定位耗时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章节中的数字与观点需要核对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长任务失败后，已有产物可能重复生成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2A1F51-0DBA-4B73-AC7A-AE7D9669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6250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真实需求与课堂依据均待补</a:t>
            </a:r>
          </a:p>
          <a:p xmlns:a="http://schemas.openxmlformats.org/drawingml/2006/main">
            <a: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T4整理来源，T1与T2落实到材料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2587B-8362-49CC-B563-3D0D735B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开题草案 v0.4 / 计划与实际分开记录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9960F-B37E-4B9B-B2E0-D052ED5F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1720596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B5352-3CB9-4546-B69C-866DCD2B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本学期范围与交付物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880CA-9841-40A2-8C8B-8AFC7595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F8E70-DF3B-4662-8F09-E60E2121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单一细分产业和一种主模板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00988-7FCD-45D5-A405-92223FB25D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08f7ec67154e63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01F84-B09D-4644-8AEA-AC8EDD4344BB}"/>
              </a:ext>
            </a:extLst>
          </p:cNvPr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88820"/>
                <a:gridCol w="9060180"/>
              </a:tblGrid>
              <a:tr h="6667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范围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拟交付内容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6667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核心功能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资料导入、带引用章节、基础图表、人工审阅、版本与导出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执行控制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任务状态、约定步骤恢复、有限重试、调用约束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条件扩展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多模板、自动搜索、章节局部重做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暂不开展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全产业覆盖、模型预训练、复杂多Agent协作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547F6-E0D2-47AB-83AC-C1A8905A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产业与模板由真实资料、用户需求共同确定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5EC6E-E10E-41A5-92B5-402CE29D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开题草案 v0.4 / 计划与实际分开记录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AB6A8-E38F-4384-B008-00BA7A9D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716467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0DE28E-65D4-46A9-9C62-EE02267F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系统架构与数据流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B600D-BB66-40CB-82C3-9A6B31CF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8E4DC-D08B-41BD-B7A0-6394FA13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设计提案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94A882-709B-4C36-85A1-6906FC1CA1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a1b4740934c37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2B4BD-9773-458C-A12F-A2FF186D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28875"/>
            <a:ext cx="1190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209F2-B4D9-4D4B-ADA9-F14839FF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28875"/>
            <a:ext cx="1190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72F41-3E7F-4FB3-870C-42EE73AB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52750"/>
            <a:ext cx="14288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C3546-5EC8-4766-B359-8A54D277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33750"/>
            <a:ext cx="31908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3F968-46BA-44DB-A221-1A2C4463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33750"/>
            <a:ext cx="14288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F818E-D593-49EA-ABEE-25606562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19625"/>
            <a:ext cx="1190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FFEB0-FFB9-4F6F-8487-DCB778A5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9625"/>
            <a:ext cx="1190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8AF9F-A6AE-4D9D-8DDF-CF4AC55D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952750"/>
            <a:ext cx="14288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364B0-8C9A-4DA6-94CD-277596A0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0"/>
            <a:ext cx="14288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515E9-0CF7-48DA-9195-373EBF5B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3095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36A69-8DD0-4255-944E-BD26D168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14288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77A2B-A48F-4832-877D-BF44CA29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B7A9FB-67CB-4555-AE04-D8D5B6E0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前端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3A8ED-DC25-458A-980B-DAD8C640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任务、进度、审阅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71C5B-F023-420E-96BA-B4D79791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050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2A1D9-0E92-402B-A5EB-2960F545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288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业务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EB46DE-9AA8-4946-A7FC-79BA5B96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050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任务、报告版本、导出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F07B9-EFF8-4DB7-8B21-60F7F253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050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D85109-D839-41B6-852B-DE05FE6C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288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Harness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B34EE2-F8E5-4A77-8FD8-D37D3670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050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状态、检查点、约束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C4D761-1045-4486-B8A4-CD99AD10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7FE3AE-53D9-49CD-A76D-8EA9F4C2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资料模块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4190B0-F15E-4E08-8297-99AC293F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来源 ID、原文片段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99230E-8901-413E-9624-614D2EF1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C0D98F-B2AC-4F87-B7A3-4E22DF29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2195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检索与生成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8EA364-4E12-48CD-AE61-BCE04B0A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958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提纲、章节、引用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4D83B6-DD72-4379-8A17-955AA22F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9575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3FA"/>
          </a:solidFill>
          <a:ln xmlns:a="http://schemas.openxmlformats.org/drawingml/2006/main" w="9525">
            <a:solidFill>
              <a:srgbClr val="003F8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85F21F-3DF6-4DBB-AA47-5876D693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95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持久化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D878EE-4E2B-4944-B72C-DB010883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958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状态、产物、用量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FAF3C2-FCAE-4CB0-B20E-C3538CD7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开发期先验证本地单进程执行，再判断队列和其他底座需求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B03B1E-A4F1-40FE-AB46-637A7377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开题草案 v0.4 / 计划与实际分开记录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7C0929-B79D-483E-9717-7404A285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713236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47E81-8B1C-47AA-A088-C6ABCD49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Harness职责与验证边界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32F15-8E22-42E8-A02C-EB075F06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03907-1134-4F0D-AFBE-8E8062B8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执行可靠性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5F8BC-CE77-42E1-AEE5-DE5BBC7354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f12a7e22e4f67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70CD4-B7E5-424E-9985-87286B509FA8}"/>
              </a:ext>
            </a:extLst>
          </p:cNvPr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46170"/>
                <a:gridCol w="3756660"/>
                <a:gridCol w="3646170"/>
              </a:tblGrid>
              <a:tr h="738188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程序负责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模型负责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人工核验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738188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保存步骤和产物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组织提纲与章节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需求和产业资料依据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恢复与有限重试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从相关片段生成草稿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数字及引用是否支持表述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限制调用并记录用量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返回引用与结构化数据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发布、验收和质量判断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01929-B0B0-46EE-862D-B303C3D6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2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先跑基线，再增加Harness流程与验证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1B584-983D-4099-BF29-DED68542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基线已有摘录与模型适配；真实模型、恢复流程与业务评测待完成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099B3-D7E3-41F1-A569-A859A7D0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开题草案 v0.4 / 计划与实际分开记录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0E1B5-E39C-4071-A42A-14491A4E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7556706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55276-8F03-4496-8D39-36CE81A4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核心验收与质量检查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34144-DA7F-4ED4-9FD2-BE6C1350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183E9-AB1C-4876-A31C-A434B908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需求编号贯穿设计实现和测试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B5911-313D-46D2-B67B-E5A4BEEA03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d6c3c74da4376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0A51B-0E54-4190-A55C-AD676AD2D5C1}"/>
              </a:ext>
            </a:extLst>
          </p:cNvPr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10490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30780"/>
                <a:gridCol w="8618220"/>
              </a:tblGrid>
              <a:tr h="6477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需求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检查与当前状态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6477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REQ-01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资料录入、非法输入与重启读取（基线）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REQ-02/03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摘录或模型适配、查看原文快照（基线）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REQ-04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历史报告与Markdown下载（基线）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REQ-05/06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Harness恢复、审阅图表与版本（后续）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8AA1D-B03B-4397-B120-D70D3FC1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执行记录包含版本、输入、实际结果、执行人及证据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9044D4-2000-4DC4-B008-28330489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基线有基本功能检查，产业效果与完整系统验证另行开展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94E66-BFDD-4E86-85CD-1054A937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开题草案 v0.4 / 计划与实际分开记录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B9322-C915-4E76-99A0-C2D11C01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1916416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E2EC0-67A3-4511-9969-0F7BF0C9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本次六项任务与认领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B053D-D8C7-4416-BD31-DCEAD7F6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35F77D-DA91-4B21-89A5-2AB9248D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仅组长明确，其余成员各自认领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379B0-DB9E-4215-AE92-179186CE4D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63e0707d5433b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3A9E6-9288-47C4-BD74-C97092ABEBD4}"/>
              </a:ext>
            </a:extLst>
          </p:cNvPr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88820"/>
                <a:gridCol w="1546860"/>
                <a:gridCol w="4419600"/>
                <a:gridCol w="3093720"/>
              </a:tblGrid>
              <a:tr h="557893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负责人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必须交付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交接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557893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T0 统筹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程文博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认领、排期、评审与提交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组织一致性核对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T1 报告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待认领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报告源码、PDF与必需表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消费T4/T5素材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T2 PPT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待认领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源码、PPTX与PDF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交给T3理解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T3 汇报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待认领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讲稿、问答与两次彩排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作者解释疑问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T4 资料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待认领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老师课件与课程映射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交给T1/T2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T5 代码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待认领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可运行初稿与实际检查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交付功能边界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D36E5-B25D-4D7E-B2AF-9782B46A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写报告、做PPT、独立讲述、整理课程资料、接手代码分别认领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3F2C7-06F9-4A65-82A6-D28F4EBC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开题草案 v0.4 / 计划与实际分开记录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D3DA69-5DA9-4D24-8114-0DAF2A65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13200818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ACC76-C4A6-4281-8B32-7C974174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课程内容对齐与本周交接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5C8D7-51DF-4AD2-BC64-4442AEA9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86737-3CE9-4EBF-9D4C-7C59E216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课件尚未提供，实际文件与页码待补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65DE6-C833-4E29-A1DC-52F5D9B920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f0dee01cb4c8c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0B06E-FDBF-4A5E-979F-F85258F615A7}"/>
              </a:ext>
            </a:extLst>
          </p:cNvPr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11049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88820"/>
                <a:gridCol w="6850380"/>
                <a:gridCol w="2209800"/>
              </a:tblGrid>
              <a:tr h="544286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时间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交付与依赖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责任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544286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10/21晚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填写认领表，确认无遗漏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T0与全员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10/22晚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课程内容映射，代码边界与样例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T4 / T5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10/23晚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报告、PPT初稿，交汇报人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T1 / T2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10/24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理解与两次彩排，作者解释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T3与作者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10/25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冻结材料，核对正式提交时间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T0组织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10/26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独立主讲，技术问答补充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T3与作者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E2BAC-38B1-4F45-9B95-1110840E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1975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1950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每条课程引用：实际文件、页码、项目应用、报告/PPT位置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555B4-3892-444E-AF54-02A19249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开题草案 v0.4 / 计划与实际分开记录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CD141-293D-4FA5-9E4B-5F9CB6C9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17251610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0690F-1C38-470F-A09A-A1E160F1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后续模块与里程碑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043A6-6497-42DD-A856-542A41B6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5AB91-4ABB-430E-8C07-332D95E7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长期岗位另行认领，本次角色不自动继承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29FAF-8E3A-4288-91B1-323BCD8854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7e361b6804e51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0D795-E395-446D-B6BE-736D404EF6EE}"/>
              </a:ext>
            </a:extLst>
          </p:cNvPr>
          <p:cNvGraphicFramePr/>
          <p:nvPr/>
        </p:nvGraphicFramePr>
        <p:xfrm>
          <a:off xmlns:a="http://schemas.openxmlformats.org/drawingml/2006/main" x="571500" y="1619250"/>
          <a:ext xmlns:a="http://schemas.openxmlformats.org/drawingml/2006/main" cx="11049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30780"/>
                <a:gridCol w="6739890"/>
                <a:gridCol w="1878330"/>
              </a:tblGrid>
              <a:tr h="587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功能与检查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负责人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587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M0 开题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范围、认领、计划与素材一致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程文博统筹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M1 基线完善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真实资料到草稿下载连通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待认领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M2 中期集成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需求、设计、接口与当前结果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待认领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M3 流程增强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Harness、恢复预算与审阅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待认领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M4 质量交付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系统测试、复测、部署与文档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待认领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32496-CE4F-4F46-9079-63868762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02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中期终期日期、人时、现金预算由认领后依据实际情况填写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88662-286B-43E2-B8D4-D6125245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基线只覆盖初稿；后续流程与验证需要团队协作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FA2D1-924D-4994-A217-D8545B58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开题草案 v0.4 / 计划与实际分开记录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2135C-A8D4-4822-9996-EDC5F697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17810282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70B1D-2AA9-4357-A340-1CCFF294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风险管理与开题交付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9D5F5-FF91-4A12-A9CE-3F38EF3C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7E064-97D5-41B7-A8FB-70B82B85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核对事实并保留证据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90A8C-FC4F-4929-A113-57D0F8E540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9fede4d2d4ac8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1A2E9-4492-424B-ACBA-384896D46911}"/>
              </a:ext>
            </a:extLst>
          </p:cNvPr>
          <p:cNvGraphicFramePr/>
          <p:nvPr/>
        </p:nvGraphicFramePr>
        <p:xfrm>
          <a:off xmlns:a="http://schemas.openxmlformats.org/drawingml/2006/main" x="571500" y="1666875"/>
          <a:ext xmlns:a="http://schemas.openxmlformats.org/drawingml/2006/main" cx="110490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77640"/>
                <a:gridCol w="7071360"/>
              </a:tblGrid>
              <a:tr h="607219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风险与触发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措施与任务责任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607219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无认领或交接晚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T0协调，先交可用素材并记录剩余项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课堂依据或引用不足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T4核对来源，T1/T2标注待补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代码或汇报理解不足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T5记录实际运行，T3回问作者并彩排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297E9-C509-46ED-886B-43DD925C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AI辅助起草和编码，成员核验来源、设计、实际运行与结论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B1F66-2D39-4852-B546-3BFE90F2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本次交付：报告、PPT及PDF工作模板</a:t>
            </a:r>
          </a:p>
          <a:p xmlns:a="http://schemas.openxmlformats.org/drawingml/2006/main">
            <a:pPr>
              <a:def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待补：任务认领、课堂资料、真实需求与实际验证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2523B-A0ED-43A1-9D34-7C43B687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开题草案 v0.4 / 计划与实际分开记录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28519-0E32-433C-8763-99190597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4460680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14FB0-5E96-48ED-800F-3F363948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备用 资源估计与基线边界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219E5-5D0E-45E9-9C7D-3B45E42C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37CEE-6FB4-46D7-A6F1-6DF4E429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问答使用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3AFB0-D642-4014-AED2-34FC5F53DE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44c03d43440c9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DDBF8-D9A8-4915-8136-984335E3E90D}"/>
              </a:ext>
            </a:extLst>
          </p:cNvPr>
          <p:cNvGraphicFramePr/>
          <p:nvPr/>
        </p:nvGraphicFramePr>
        <p:xfrm>
          <a:off xmlns:a="http://schemas.openxmlformats.org/drawingml/2006/main" x="571500" y="171450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7840"/>
                <a:gridCol w="5414010"/>
                <a:gridCol w="3867150"/>
              </a:tblGrid>
              <a:tr h="6667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项目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当前情况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003F88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下一步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T w="5715">
                      <a:solidFill>
                        <a:srgbClr val="D9E1EB"/>
                      </a:solidFill>
                      <a:prstDash val="solid"/>
                    </a:lnT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ECF3FA"/>
                    </a:solidFill>
                  </a:tcPr>
                </a:tc>
              </a:tr>
              <a:tr h="6667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人员投入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T0明确，T1至T5待认领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确认可用时间和人时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模型服务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可配置单次接口，未真实联调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选服务、测用量、核费用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运行基线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Python标准库、本地SQLite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接手理解、用真实资料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后续能力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9E1EB"/>
                      </a:solidFill>
                      <a:prstDash val="solid"/>
                    </a:lnL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Harness、审批图表、系统评测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57150" rIns="95250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33042"/>
                          </a:solidFill>
                          <a:latin typeface="LXGW WenKai"/>
                          <a:ea typeface="LXGW WenKai"/>
                          <a:cs typeface="LXGW WenKai"/>
                        </a:rPr>
                        <a:t>按长期模块认领迭代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9E1EB"/>
                      </a:solidFill>
                      <a:prstDash val="solid"/>
                    </a:lnR>
                    <a:lnB w="5715">
                      <a:solidFill>
                        <a:srgbClr val="D9E1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81946-B441-425E-A959-B9F42DE3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defRPr>
            </a:pPr>
            <a:r>
              <a:rPr sz="2175" b="1">
                <a:solidFill>
                  <a:srgbClr val="003F88"/>
                </a:solidFill>
                <a:latin typeface="LXGW WenKai"/>
                <a:ea typeface="LXGW WenKai"/>
                <a:cs typeface="LXGW WenKai"/>
              </a:rPr>
              <a:t>摘录演示不代表AI效果，测试夹具不代表真实产业数据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8BDD4-B088-49E3-B5E6-4AA21E02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开题草案 v0.4 / 计划与实际分开记录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37F9A-7658-4BF7-984E-59B6C833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0581167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0293CB-B78E-4E41-A3FA-9D0C7018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defPPr>
            <a:lvl1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1pPr>
            <a:lvl2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2pPr>
            <a:lvl3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3pPr>
            <a:lvl4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4pPr>
            <a:lvl5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5pPr>
            <a:lvl6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6pPr>
            <a:lvl7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7pPr>
            <a:lvl8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8pPr>
            <a:lvl9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defRPr>
            </a:pPr>
            <a:r>
              <a:rPr sz="3000" b="0">
                <a:solidFill>
                  <a:srgbClr val="003F88"/>
                </a:solidFill>
                <a:latin typeface="Smiley Sans Oblique"/>
                <a:ea typeface="Smiley Sans Oblique"/>
                <a:cs typeface="Smiley Sans Oblique"/>
              </a:rPr>
              <a:t>备用 提交与版本核查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AA7A3-E327-440A-B1E7-C2C7ECF2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7725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298AB-A817-40A0-A894-9E4764D5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525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问答使用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D7FCB-A7E1-441A-B811-C6DDDFB47A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2e06fc4974c23"/>
          <a:stretch xmlns:a="http://schemas.openxmlformats.org/drawingml/2006/main"/>
        </p:blipFill>
        <p:spPr>
          <a:xfrm xmlns:a="http://schemas.openxmlformats.org/drawingml/2006/main">
            <a:off x="10491033" y="285750"/>
            <a:ext cx="1068309" cy="371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34006-191D-4956-8B0F-C0FDE07B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项目计划书：正文不超过10页且不超过6000字</a:t>
            </a:r>
          </a:p>
          <a:p xmlns:a="http://schemas.openxmlformats.org/drawingml/2006/main">
            <a: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PPT与PDF：建议正式页不超过12页</a:t>
            </a:r>
          </a:p>
          <a:p xmlns:a="http://schemas.openxmlformats.org/drawingml/2006/main">
            <a:pPr>
              <a:def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250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展示7分钟、问答3分钟，每组安排一名现场评分员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AAD2A-770A-41C3-B28E-DF1B0F31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需求编号对应设计、实现与测试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关键主张有原文件或日志，模拟与真实服务分开</a:t>
            </a:r>
          </a:p>
          <a:p xmlns:a="http://schemas.openxmlformats.org/drawingml/2006/main">
            <a:pPr>
              <a:def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233042"/>
                </a:solidFill>
                <a:latin typeface="LXGW WenKai"/>
                <a:ea typeface="LXGW WenKai"/>
                <a:cs typeface="LXGW WenKai"/>
              </a:rPr>
              <a:t>每份报告写明AI使用和人工核验责任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A0709B-1DBA-4DB6-B02D-99678169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950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材料命名、正式提交入口和期限由A按课程通知核对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726D8-176E-4A58-9807-5979C552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960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开题草案 v0.4 / 计划与实际分开记录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56ED5-A858-4F83-8CA8-5155FD57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960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defPPr>
            <a:lvl1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1pPr>
            <a:lvl2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2pPr>
            <a:lvl3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3pPr>
            <a:lvl4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4pPr>
            <a:lvl5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5pPr>
            <a:lvl6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6pPr>
            <a:lvl7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7pPr>
            <a:lvl8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8pPr>
            <a:lvl9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defRPr>
            </a:pPr>
            <a:r>
              <a:rPr sz="1275" b="0">
                <a:solidFill>
                  <a:srgbClr val="60728C"/>
                </a:solidFill>
                <a:latin typeface="LXGW WenKai"/>
                <a:ea typeface="LXGW WenKai"/>
                <a:cs typeface="LXGW WenKai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14641343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2026-10-21T14:45:22.9710000Z</dcterms:created>
  <dcterms:modified xsi:type="dcterms:W3CDTF">2026-10-21T14:45:22.9710000Z</dcterms:modified>
</coreProperties>
</file>