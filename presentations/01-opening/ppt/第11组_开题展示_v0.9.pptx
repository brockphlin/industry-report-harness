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eb0d3affff4fcf" /><Relationship Type="http://schemas.openxmlformats.org/officeDocument/2006/relationships/extended-properties" Target="/docProps/app.xml" Id="Re0a09ceba99941c7" /><Relationship Type="http://schemas.openxmlformats.org/officeDocument/2006/relationships/officeDocument" Target="/ppt/presentation.xml" Id="R40deaf2a650b49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36a161feb64cba"/>
  </p:sldMasterIdLst>
  <p:notesMasterIdLst>
    <p:notesMasterId xmlns:r="http://schemas.openxmlformats.org/officeDocument/2006/relationships" r:id="R71e4babf8eaf4ec0"/>
  </p:notesMasterIdLst>
  <p:sldIdLst>
    <p:sldId xmlns:r="http://schemas.openxmlformats.org/officeDocument/2006/relationships" id="256" r:id="R266d1b0e4a194f14"/>
    <p:sldId xmlns:r="http://schemas.openxmlformats.org/officeDocument/2006/relationships" id="257" r:id="Rb603bbef2b0c4514"/>
    <p:sldId xmlns:r="http://schemas.openxmlformats.org/officeDocument/2006/relationships" id="258" r:id="Redad8c8b79c64c9d"/>
    <p:sldId xmlns:r="http://schemas.openxmlformats.org/officeDocument/2006/relationships" id="259" r:id="Rb5bc6c5053134eca"/>
    <p:sldId xmlns:r="http://schemas.openxmlformats.org/officeDocument/2006/relationships" id="260" r:id="R381f793dd8954726"/>
    <p:sldId xmlns:r="http://schemas.openxmlformats.org/officeDocument/2006/relationships" id="261" r:id="R205fbe4c02da480d"/>
    <p:sldId xmlns:r="http://schemas.openxmlformats.org/officeDocument/2006/relationships" id="262" r:id="Rcd430511baa6421a"/>
    <p:sldId xmlns:r="http://schemas.openxmlformats.org/officeDocument/2006/relationships" id="263" r:id="R4a6ae4f3d03e48aa"/>
    <p:sldId xmlns:r="http://schemas.openxmlformats.org/officeDocument/2006/relationships" id="264" r:id="R03c33b8ae7cf4150"/>
    <p:sldId xmlns:r="http://schemas.openxmlformats.org/officeDocument/2006/relationships" id="265" r:id="Ra64322d37d674c3b"/>
    <p:sldId xmlns:r="http://schemas.openxmlformats.org/officeDocument/2006/relationships" id="266" r:id="Ra57cf2b21bf042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f4932b04bd4200" /><Relationship Type="http://schemas.openxmlformats.org/officeDocument/2006/relationships/slideMaster" Target="/ppt/slideMasters/slideMaster1.xml" Id="R8836a161feb64cba" /><Relationship Type="http://schemas.openxmlformats.org/officeDocument/2006/relationships/notesMaster" Target="/ppt/notesMasters/notesMaster1.xml" Id="R71e4babf8eaf4ec0" /><Relationship Type="http://schemas.openxmlformats.org/officeDocument/2006/relationships/presProps" Target="/ppt/presProps.xml" Id="R70926b0d0d6c414a" /><Relationship Type="http://schemas.openxmlformats.org/officeDocument/2006/relationships/tableStyles" Target="/ppt/tableStyles.xml" Id="Re3daadc805044a4c" /><Relationship Type="http://schemas.openxmlformats.org/officeDocument/2006/relationships/slide" Target="/ppt/slides/slide1.xml" Id="R266d1b0e4a194f14" /><Relationship Type="http://schemas.openxmlformats.org/officeDocument/2006/relationships/slide" Target="/ppt/slides/slide2.xml" Id="Rb603bbef2b0c4514" /><Relationship Type="http://schemas.openxmlformats.org/officeDocument/2006/relationships/slide" Target="/ppt/slides/slide3.xml" Id="Redad8c8b79c64c9d" /><Relationship Type="http://schemas.openxmlformats.org/officeDocument/2006/relationships/slide" Target="/ppt/slides/slide4.xml" Id="Rb5bc6c5053134eca" /><Relationship Type="http://schemas.openxmlformats.org/officeDocument/2006/relationships/slide" Target="/ppt/slides/slide5.xml" Id="R381f793dd8954726" /><Relationship Type="http://schemas.openxmlformats.org/officeDocument/2006/relationships/slide" Target="/ppt/slides/slide6.xml" Id="R205fbe4c02da480d" /><Relationship Type="http://schemas.openxmlformats.org/officeDocument/2006/relationships/slide" Target="/ppt/slides/slide7.xml" Id="Rcd430511baa6421a" /><Relationship Type="http://schemas.openxmlformats.org/officeDocument/2006/relationships/slide" Target="/ppt/slides/slide8.xml" Id="R4a6ae4f3d03e48aa" /><Relationship Type="http://schemas.openxmlformats.org/officeDocument/2006/relationships/slide" Target="/ppt/slides/slide9.xml" Id="R03c33b8ae7cf4150" /><Relationship Type="http://schemas.openxmlformats.org/officeDocument/2006/relationships/slide" Target="/ppt/slides/slide10.xml" Id="Ra64322d37d674c3b" /><Relationship Type="http://schemas.openxmlformats.org/officeDocument/2006/relationships/slide" Target="/ppt/slides/slide11.xml" Id="Ra57cf2b21bf042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f81167bbd74c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122f3a4e834d78" /><Relationship Type="http://schemas.openxmlformats.org/officeDocument/2006/relationships/notesMaster" Target="/ppt/notesMasters/notesMaster1.xml" Id="Rac219671701347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772dd2e3354f58" /><Relationship Type="http://schemas.openxmlformats.org/officeDocument/2006/relationships/notesMaster" Target="/ppt/notesMasters/notesMaster1.xml" Id="R4ffd5907fa4d40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f0705851e54ba7" /><Relationship Type="http://schemas.openxmlformats.org/officeDocument/2006/relationships/notesMaster" Target="/ppt/notesMasters/notesMaster1.xml" Id="R2eade93e37f04e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21cdb436c842de" /><Relationship Type="http://schemas.openxmlformats.org/officeDocument/2006/relationships/notesMaster" Target="/ppt/notesMasters/notesMaster1.xml" Id="R1545b85d85dc4f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7b1535174646f0" /><Relationship Type="http://schemas.openxmlformats.org/officeDocument/2006/relationships/notesMaster" Target="/ppt/notesMasters/notesMaster1.xml" Id="R4a48fcb44d6a41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f47a21e9d14314" /><Relationship Type="http://schemas.openxmlformats.org/officeDocument/2006/relationships/notesMaster" Target="/ppt/notesMasters/notesMaster1.xml" Id="R04ec5bd37dfc49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654b2964e04f4e" /><Relationship Type="http://schemas.openxmlformats.org/officeDocument/2006/relationships/notesMaster" Target="/ppt/notesMasters/notesMaster1.xml" Id="R1e11fd8739b24d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62321803a24e90" /><Relationship Type="http://schemas.openxmlformats.org/officeDocument/2006/relationships/notesMaster" Target="/ppt/notesMasters/notesMaster1.xml" Id="R9cb8ffbc1c9448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ed6e5076df4055" /><Relationship Type="http://schemas.openxmlformats.org/officeDocument/2006/relationships/notesMaster" Target="/ppt/notesMasters/notesMaster1.xml" Id="R6179040b3d144a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522fb90c9b4ea4" /><Relationship Type="http://schemas.openxmlformats.org/officeDocument/2006/relationships/notesMaster" Target="/ppt/notesMasters/notesMaster1.xml" Id="R18c149442d8b42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d351cd02bd4b2d" /><Relationship Type="http://schemas.openxmlformats.org/officeDocument/2006/relationships/notesMaster" Target="/ppt/notesMasters/notesMaster1.xml" Id="R45eb34fabda240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大家好，我是第11组的郭润航。我们做的是产业智能报告生成系统：把分散的资料整理起来，生成有出处、方便修改的报告草稿。接下来介绍系统怎么做，以及六个人的分工。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先把使用者定在学生和研究助理。比如写一份产业调研，往往先找很多资料，再重新搭提纲，最后还要逐个核对数字的出处。我们想减少这些重复整理工作，让人把时间花在分析上。这里说的是我们目前的需求假设，还没有做真实访谈。系统会允许更换产业主题和报告模板，所以不是只做光伏；光伏只是我们用来说明和验证功能的一个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看一个具体例子。左图是工信部公布的2024年数据：光伏组件产量比上一年增长13.5%，但组件价格下降29.7%。所以不能看到产量增长，就直接写成整个行业都在变好。右边的两个数字也不能混：588GW是组件产量，278GW是新增装机，分别是制造了多少、又新增用了多少。我们的系统要把时间、单位和出处一起保留下来，让写报告的人能回到原文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工信部《2024年全国光伏制造行业运行情况》，2025-02-27。https://www.miit.gov.cn/gyhxxhb/jgsj/dzxxs/dzjc/art/2025/art_da51f7f47c75477ea1fa6732155536db.html</a:t>
            </a:r>
          </a:p>
          <a:p xmlns:a="http://schemas.openxmlformats.org/drawingml/2006/main">
            <a:r>
              <a:t>国家能源局《2024年可再生能源并网运行情况》。https://obor.nea.gov.cn/detail2/21770.html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的操作分四步：录入资料、选模板、生成草稿，最后由人核对和导出。左边是我们现有原型实际生成的摘录。现在已经能保存资料、选来源、保存历史，也能下载Markdown这种文本格式。要说明的是，这张图用的是摘录模式，没有调用模型，所以不能把它当成AI写报告的效果。接下来才补模板、分章生成、人工修改和PDF或Word导出，最终让整条流程真正跑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这个词可以理解为围着AI的一套执行安排。老师讲项目管理时强调先拆任务、再检查进展；结合上节课学长的分享，我们也把生成报告分成几个小步骤。比如第一章已经写好，第二章突然失败，如果只做一次大请求，就很难知道从哪里接着做。我们计划每完成一章就保存内容和状态，修复后从第二章继续。如果资料或模板换了，要重新判断哪些内容还能复用。另外，超时不一定代表没扣费，结果不明确时先由人确认，达到预算也要停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Anthropic, Effective harnesses for long-running agents. https://www.anthropic.com/research/effective-harnesses-for-long-running-agents</a:t>
            </a:r>
          </a:p>
          <a:p xmlns:a="http://schemas.openxmlformats.org/drawingml/2006/main">
            <a:r>
              <a:t>Anthropic, Building effective agents. https://www.anthropic.com/research/building-effective-agents</a:t>
            </a:r>
          </a:p>
          <a:p xmlns:a="http://schemas.openxmlformats.org/drawingml/2006/main">
            <a:r>
              <a:t>LangGraph, Persistence. https://docs.langchain.com/oss/python/langgraph/persistence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怎样判断做完了？我们不只看能不能生成一段文字。第一，要能换模板和产业；第二，关键表述能查出处，修改前后的版本能保留；第三，要真的制造一次章节失败，看看能不能继续；第四，图表、中文和分页要能正常导出；最后，换一个环境也要能按说明运行。我们先用光伏和新能源汽车两类资料验证，避免只在一个准备好的例子里跑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讲的WBS，就是把大项目一层一层拆成具体任务。我们分成七块，再细分成二十一个小任务，预计合计268人时，也就是六个人投入时间的总和，不是268个日历小时。以报告生成这块为例，还要拆成模板、章节和失败恢复。估算时，我们考虑顺利、正常、返工三种情况，分别是40、52、88小时，再用课堂的三点估算公式得到56人时。数字是当前计划，后面要用实际投入来修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具体分工是：程文博统筹协调，控制范围和进度；田亦洁负责需求与设计，先把接口和验收条件说明白；崔大元整理资料和来源；许子萌做生成流程与恢复；李佳雨把这些能力接到页面上，完成修改和导出；我负责测试、部署和汇报。交接不是把文件发过去就结束，而是要让下一位成员知道怎么调用、哪里会出错，以及什么还没做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看开发顺序就可以了。先确认需求和资料，再确定模板和接口，然后做分章与恢复，接着完成审阅导出，最后把各部分连起来测试。上面这条需要依次完成的路线，加起来是23个工作日，再留3天处理问题。下面的前端页面可以在需求确定后并行做，不需要一直等到后端全部写完，但要在审阅导出接入前准备好。这里算的是核心开发流程，整个学期还要另留终期前三周做系统测试；正式日期公布后，我们会重新排到日历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金预算建议控制在200元以内，其中160元用于模型试验，40元应急。这是计划，不是已经花掉的钱。遇到问题，我们先处理三件事：调用中断就保存进度，费用状态不明时先核对；数字或出处对不上就回原文查，不能直接写进结论；核心任务延期，就由组长协调，先保证必须交付的功能，而不是继续加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，我们会把实际做出的东西作为进度依据。目前原型可以运行，十六项基线测试已经通过；涉及模型的测试用的是模拟响应，还需要真实联调。之后重点检查换产业能否复用、出错能否恢复、报告能否正常导出。每周大家一起看交出了什么、卡在哪里，再调整计划。AI可以帮助整理、起草和写重复代码，但资料是否支持结论、系统是否真正可用，必须由我们自己核对。我们的介绍到这里，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18beec2d6f49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31e03dd914d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55edebbcb4f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edc7be9c0402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453004b5454f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ba1131d5f4f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B519CF-D3C2-419D-B902-F87829CA6B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7B445D-8031-4056-9C3C-A1ED52DCD6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C59DF64-2BAF-4C72-831A-67EA24B2C1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12F7FD-6884-4100-867F-8BF2024353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817283-4042-4837-BA4A-8197F36D4C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63F2E4-1F39-494A-857E-F6A7DCCE8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33E960-98E0-40BE-81FD-167C62C76E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1DE31E-BBE0-4109-97A9-5D1370F5AB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4B7182-132E-4DDF-9B02-6A859512A5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9C5C20-571B-432E-A965-63AC7C141B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dd067222dc4e16" /><Relationship Type="http://schemas.openxmlformats.org/officeDocument/2006/relationships/slideLayout" Target="/ppt/slideLayouts/slideLayout1.xml" Id="R2a3ae658700c415c" /><Relationship Type="http://schemas.openxmlformats.org/officeDocument/2006/relationships/slideLayout" Target="/ppt/slideLayouts/slideLayout2.xml" Id="R3a11b6b1a7244d44" /><Relationship Type="http://schemas.openxmlformats.org/officeDocument/2006/relationships/slideLayout" Target="/ppt/slideLayouts/slideLayout3.xml" Id="R9a2f00ff53bd4a84" /><Relationship Type="http://schemas.openxmlformats.org/officeDocument/2006/relationships/slideLayout" Target="/ppt/slideLayouts/slideLayout4.xml" Id="R4908f767d7b149de" /><Relationship Type="http://schemas.openxmlformats.org/officeDocument/2006/relationships/slideLayout" Target="/ppt/slideLayouts/slideLayout5.xml" Id="R2237160b69cf4265" /><Relationship Type="http://schemas.openxmlformats.org/officeDocument/2006/relationships/slideLayout" Target="/ppt/slideLayouts/slideLayout6.xml" Id="R19e377bb2ef640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3ae658700c415c"/>
    <p:sldLayoutId xmlns:r="http://schemas.openxmlformats.org/officeDocument/2006/relationships" id="2147483650" r:id="R3a11b6b1a7244d44"/>
    <p:sldLayoutId xmlns:r="http://schemas.openxmlformats.org/officeDocument/2006/relationships" id="2147483651" r:id="R9a2f00ff53bd4a84"/>
    <p:sldLayoutId xmlns:r="http://schemas.openxmlformats.org/officeDocument/2006/relationships" id="2147483652" r:id="R4908f767d7b149de"/>
    <p:sldLayoutId xmlns:r="http://schemas.openxmlformats.org/officeDocument/2006/relationships" id="2147483653" r:id="R2237160b69cf4265"/>
    <p:sldLayoutId xmlns:r="http://schemas.openxmlformats.org/officeDocument/2006/relationships" id="2147483654" r:id="R19e377bb2ef640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3b9b8d5e9943a0" /><Relationship Type="http://schemas.openxmlformats.org/officeDocument/2006/relationships/image" Target="/ppt/media/image.png" Id="Rdf594ba533f74143" /><Relationship Type="http://schemas.openxmlformats.org/officeDocument/2006/relationships/notesSlide" Target="/ppt/notesSlides/notesSlide1.xml" Id="R9c92edc10c7746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0cf24ae14c45c5" /><Relationship Type="http://schemas.openxmlformats.org/officeDocument/2006/relationships/image" Target="/ppt/media/image2.png" Id="R414581a2e3044091" /><Relationship Type="http://schemas.openxmlformats.org/officeDocument/2006/relationships/notesSlide" Target="/ppt/notesSlides/notesSlide2.xml" Id="R166b2ff499734b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06ebe97334566" /><Relationship Type="http://schemas.openxmlformats.org/officeDocument/2006/relationships/image" Target="/ppt/media/image3.png" Id="R6810e2b4048342e0" /><Relationship Type="http://schemas.openxmlformats.org/officeDocument/2006/relationships/chart" Target="/ppt/slides/charts/chart1.xml" Id="R3c9958953dbc4a35" /><Relationship Type="http://schemas.openxmlformats.org/officeDocument/2006/relationships/notesSlide" Target="/ppt/notesSlides/notesSlide3.xml" Id="Rfcf733cb7e6246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9d85ad182d42cd" /><Relationship Type="http://schemas.openxmlformats.org/officeDocument/2006/relationships/image" Target="/ppt/media/image4.png" Id="R997f91adfe4e4b00" /><Relationship Type="http://schemas.openxmlformats.org/officeDocument/2006/relationships/image" Target="/ppt/media/image5.png" Id="R4f3e298904ae43bc" /><Relationship Type="http://schemas.openxmlformats.org/officeDocument/2006/relationships/notesSlide" Target="/ppt/notesSlides/notesSlide4.xml" Id="R71a4cbd29e0b47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79e781a7204664" /><Relationship Type="http://schemas.openxmlformats.org/officeDocument/2006/relationships/image" Target="/ppt/media/image6.png" Id="Rad02f66b882f40fd" /><Relationship Type="http://schemas.openxmlformats.org/officeDocument/2006/relationships/notesSlide" Target="/ppt/notesSlides/notesSlide5.xml" Id="R2c0bcc1d734b46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ac7f5a7506487a" /><Relationship Type="http://schemas.openxmlformats.org/officeDocument/2006/relationships/image" Target="/ppt/media/image7.png" Id="Rf23a95fb2eed4405" /><Relationship Type="http://schemas.openxmlformats.org/officeDocument/2006/relationships/notesSlide" Target="/ppt/notesSlides/notesSlide6.xml" Id="R2b894e76bc7341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7df1e6f0d44a1b" /><Relationship Type="http://schemas.openxmlformats.org/officeDocument/2006/relationships/image" Target="/ppt/media/image8.png" Id="Rfce1e9d451094826" /><Relationship Type="http://schemas.openxmlformats.org/officeDocument/2006/relationships/notesSlide" Target="/ppt/notesSlides/notesSlide7.xml" Id="Rc313c632de1349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9fcd0c4a6441d9" /><Relationship Type="http://schemas.openxmlformats.org/officeDocument/2006/relationships/image" Target="/ppt/media/image9.png" Id="R9662fdea9e6a4951" /><Relationship Type="http://schemas.openxmlformats.org/officeDocument/2006/relationships/notesSlide" Target="/ppt/notesSlides/notesSlide8.xml" Id="R883b732efd5944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1687ed8ec4faa" /><Relationship Type="http://schemas.openxmlformats.org/officeDocument/2006/relationships/image" Target="/ppt/media/image10.png" Id="Rc02d00bd376b4ae2" /><Relationship Type="http://schemas.openxmlformats.org/officeDocument/2006/relationships/notesSlide" Target="/ppt/notesSlides/notesSlide9.xml" Id="Rb4f98a10708e4b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99a5b4eb2e4b6a" /><Relationship Type="http://schemas.openxmlformats.org/officeDocument/2006/relationships/image" Target="/ppt/media/image11.png" Id="R2d9dd67cf3ef487e" /><Relationship Type="http://schemas.openxmlformats.org/officeDocument/2006/relationships/notesSlide" Target="/ppt/notesSlides/notesSlide10.xml" Id="R001e24e64db34b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b048468be54444" /><Relationship Type="http://schemas.openxmlformats.org/officeDocument/2006/relationships/image" Target="/ppt/media/image12.png" Id="R7bd162798e0842fa" /><Relationship Type="http://schemas.openxmlformats.org/officeDocument/2006/relationships/notesSlide" Target="/ppt/notesSlides/notesSlide11.xml" Id="R46d62a959966484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比上一年变化</c:v>
          </c:tx>
          <c:spPr>
            <a:solidFill xmlns:a="http://schemas.openxmlformats.org/drawingml/2006/main">
              <a:srgbClr val="003F88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03F8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D5D23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组件产量</c:v>
                </c:pt>
                <c:pt idx="1">
                  <c:v>组件价格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0.135</c:v>
                </c:pt>
                <c:pt idx="1">
                  <c:v>-0.297</c:v>
                </c:pt>
              </c:numCache>
            </c:numRef>
          </c:val>
        </c:ser>
        <c:dLbls>
          <c:numFmt formatCode="0.0%;-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233042"/>
                  </a:solidFill>
                  <a:latin typeface="LXGW WenKai"/>
                  <a:ea typeface="LXGW WenKai"/>
                  <a:cs typeface="LXGW WenKa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-0.4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</a:p>
        </c:txPr>
        <c:crossAx val="48650112"/>
        <c:crossBetween val="between"/>
        <c:majorUnit val="0.1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DDAD3-9862-49DB-A1E2-D0F2684F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095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C1B75-186B-4E22-831B-E0F6199B99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94ba533f74143"/>
          <a:stretch xmlns:a="http://schemas.openxmlformats.org/drawingml/2006/main"/>
        </p:blipFill>
        <p:spPr>
          <a:xfrm xmlns:a="http://schemas.openxmlformats.org/drawingml/2006/main">
            <a:off x="711553" y="523875"/>
            <a:ext cx="2958394" cy="1028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562FB-F6F7-469B-B5E6-6E353125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产业智能报告生成系统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62664-95B3-4FC7-BD90-87C63EF7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整理产业资料，生成有出处的报告草稿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44164-8E1C-4A0C-A70B-EDCB1007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第11组　组长：程文博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4049C-BE7E-4738-9C54-D8D93707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组员：田亦洁、李佳雨、许子萌、崔大元、郭润航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2B133-5D4C-4076-8498-C3213BD7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482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展示人：郭润航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FF77C-9D3E-455F-9E3B-869CEDF5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软件工程管理 · 2026年10月26日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63B99-26A9-465E-85D3-462549CE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产业智能报告生成系统 · 第11组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473D9-F291-4F83-A888-12A75BA8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01 / 11</a:t>
            </a:r>
          </a:p>
        </p:txBody>
      </p:sp>
    </p:spTree>
    <p:extLst>
      <p:ext uri="{BB962C8B-B14F-4D97-AF65-F5344CB8AC3E}">
        <p14:creationId xmlns:p14="http://schemas.microsoft.com/office/powerpoint/2010/main" val="10779787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0EC16-D740-4DEE-9764-5180EFF4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谁会用？主要帮他们做什么？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587B1-DF91-441A-9E6C-C2FBF43C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3FA63-7AAE-4228-B3AD-C0C03580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面向写课程调研、整理产业信息的学生和研究助理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DF92D-3477-4B28-946A-ABA3D174FA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581a2e3044091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D6B4F-0C71-44CE-8142-93DC088A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写报告时，时间常花在哪里？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F6174-A788-4756-B88C-9C126CBF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找资料：原文分散在不同网站和文件里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624CC-5E61-4455-BBE8-A7110236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搭结构：每次都要重新列提纲、整理章节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0F8D0-DD4F-4C7D-966E-3C4CEB60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查出处：看到一个数字，要能找到它来自哪里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70C34-C903-4E9D-88A2-38A77C69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我们的目标：先生成可核对的草稿，再由人修改和确认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3D9D9-7DE8-4100-A14B-743E6E9B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需求假设将在开题后通过真实用户任务核实。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BFD71-9DB6-49C2-A8A9-50950059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产业智能报告生成系统 · 第11组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2F839-00BB-40A7-A9A8-B5BD4090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02 / 11</a:t>
            </a:r>
          </a:p>
        </p:txBody>
      </p:sp>
    </p:spTree>
    <p:extLst>
      <p:ext uri="{BB962C8B-B14F-4D97-AF65-F5344CB8AC3E}">
        <p14:creationId xmlns:p14="http://schemas.microsoft.com/office/powerpoint/2010/main" val="20153716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66F4D-9404-404C-8F3A-C647EB11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同样是光伏数据，两个数字不能混用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5C602-5FCD-4834-8F40-30559CDC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C92FA-38C7-49BD-B739-96CC0B4F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2024年公开数据示例：写进报告前，要先看清指标和单位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258EB-D3B4-42CC-B4C6-C2AEC32C8D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0e2b4048342e0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4B2E7-39E1-482C-A146-AAFC0911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组件产量增加，组件价格下降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82B5A27-E8AF-4E24-8756-94F3C918BD0F}"/>
              </a:ext>
            </a:extLst>
          </p:cNvPr>
          <p:cNvGraphicFramePr/>
          <p:nvPr/>
        </p:nvGraphicFramePr>
        <p:xfrm>
          <a:off xmlns:a="http://schemas.openxmlformats.org/drawingml/2006/main" x="666750" y="2209800"/>
          <a:ext xmlns:a="http://schemas.openxmlformats.org/drawingml/2006/main" cx="6762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9958953dbc4a3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4CDB4-0DCB-4A0C-8D7E-1DA0F478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573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588 GW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8B45C-F91F-4ABB-97A9-94DA6761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组件产量</a:t>
            </a:r>
          </a:p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制造了多少光伏组件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1C851-A268-4CB2-9FF0-B030D1AF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242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278 GW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7BE95-0F18-4922-80BB-549DFAAE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新增装机</a:t>
            </a:r>
          </a:p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新增投入使用的发电容量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B1715-F4B3-46C5-9BBA-DF7B7D82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左图为比上一年的变化；来源：工信部2024光伏制造统计、国家能源局2024并网运行统计。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A854C-088A-43D5-94D9-F5827B6B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产业智能报告生成系统 · 第11组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9DE54-3469-4562-945A-4A8B17AB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03 / 11</a:t>
            </a:r>
          </a:p>
        </p:txBody>
      </p:sp>
    </p:spTree>
    <p:extLst>
      <p:ext uri="{BB962C8B-B14F-4D97-AF65-F5344CB8AC3E}">
        <p14:creationId xmlns:p14="http://schemas.microsoft.com/office/powerpoint/2010/main" val="14834490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522C8-70A2-49A8-8395-BD5698D2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系统怎样用？目前做到哪一步？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899C4-BE4F-4196-9650-FF4CF7D9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BBF1D-BEB5-4C63-A0FA-A9967C32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录入资料 → 选择模板 → 生成草稿 → 人工核对后导出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F4DAD-B719-40A4-8C6A-199846072B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f91adfe4e4b00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3984C-F98A-4F62-887E-E3ECF08EBD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e298904ae43bc"/>
          <a:stretch xmlns:a="http://schemas.openxmlformats.org/drawingml/2006/main"/>
        </p:blipFill>
        <p:spPr>
          <a:xfrm xmlns:a="http://schemas.openxmlformats.org/drawingml/2006/main">
            <a:off x="666750" y="2156034"/>
            <a:ext cx="5191125" cy="330793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0C749-F926-4736-AC3D-5D2C7356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9545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已经能做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C3F15-DDDA-4F90-8E35-198A58B3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9825"/>
            <a:ext cx="5095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保存资料、选择来源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生成摘录、查看原文快照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保存历史、下载 Markdown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8D81B-0042-4154-B033-187A91D8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5290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接下来要做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9A152-BF33-45A6-9242-024B4450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67275"/>
            <a:ext cx="5095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按模板分章生成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核对引用、修改内容、正式导出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C4A3D-25DE-4E3B-82BB-3203D8EC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产业智能报告生成系统 · 第11组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81155-6A9D-48D5-A90D-7DCC78FC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04 / 11</a:t>
            </a:r>
          </a:p>
        </p:txBody>
      </p:sp>
    </p:spTree>
    <p:extLst>
      <p:ext uri="{BB962C8B-B14F-4D97-AF65-F5344CB8AC3E}">
        <p14:creationId xmlns:p14="http://schemas.microsoft.com/office/powerpoint/2010/main" val="12572064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6CB709-F3D3-46B9-ACBA-5DB336A2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Harness：给AI任务安排步骤、保存进度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B80C5-6584-40E2-B15A-A980B83F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DFB33-7B55-404F-B28B-8DD43B1E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结合上节课学长的分享，我们把长报告拆成可以接着做的小任务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B58DF-AB40-4709-96A1-42FE49B416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2f66b882f40fd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C114A-7FEF-4543-8D60-52F94025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383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60CFB-B293-4B25-AA59-D285E231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383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80317-88FD-4AC5-819C-453E6536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85B09-C47C-4724-960B-FFA0A6A4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选资料和模板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B4EAB-BF27-43D7-A956-23BDCFB4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先确定这次用什么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8A3D0-533C-4F3C-B46C-1294F4FC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FC013-EDC3-4A12-A440-9933B39F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分章写报告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FBE48-588F-42BD-84A6-2EA02BFB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每完成一章就保存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67B38-FF62-4BA6-8260-FD003F7A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8F710-2C67-48A3-827A-F592FAC9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核对后导出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195C4-8AD9-4178-BD91-52DE5CFA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查出处、人工修改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EC2DE-A66A-47E3-89D6-711287B6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671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BC0662-A4C8-4B93-86B8-3F1B55E6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671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8A991D-3833-4016-8811-20A5079C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1DC28-9192-48C0-A7CC-CD2C48E1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第1章：写好了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9EC7D0-FE00-408B-BCB2-A254E89F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保留已经完成的内容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1AFA61-9BD9-44FC-8C27-89810C12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7C57A-D71E-457F-8DC8-8008165C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第2章：中断了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1FBA65-C0D9-4729-903B-96C693C3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修好后从这里继续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8B1357-7E0A-4E1C-BE8F-0D98D2BE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1F2B93-0D07-4EF9-A5BF-396B64B9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第3章：还没写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0E2F1E-3385-480C-BA1C-EC0E5856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等前面完成后再写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CE1F3E-3B53-4F63-ADDC-13B5C996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目标：中途出错，也能接着做；花到预算上限，就停下来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0728F3-DA3C-4796-BF52-5D894CC2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这是计划实现的能力；技术参考：Anthropic官方文章、LangGraph持久化文档。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4208EA-814E-4456-BB3D-9EA13DAC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产业智能报告生成系统 · 第11组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3935EC-B65B-4644-9EB3-1B592C39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05 / 11</a:t>
            </a:r>
          </a:p>
        </p:txBody>
      </p:sp>
    </p:spTree>
    <p:extLst>
      <p:ext uri="{BB962C8B-B14F-4D97-AF65-F5344CB8AC3E}">
        <p14:creationId xmlns:p14="http://schemas.microsoft.com/office/powerpoint/2010/main" val="17351390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F0CF7-BFE6-4C1C-82D2-E4B5FF6F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本学期做到什么程度，才算完成？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8B781-29FB-4533-8956-86D86B15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EB607-7124-47F7-8D11-4E929C9A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把目标写成能实际检查的条件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1D2AA-EF16-4F66-8B93-9CAAE7E467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a95fb2eed4405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34003-7B9A-43B1-B5A9-D534EFD24330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8965"/>
                <a:gridCol w="7709535"/>
              </a:tblGrid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要交付的能力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怎么检查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更换产业和模板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两种模板；两个产业各用至少3份公开资料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草稿能查出处、能修改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每份抽查至少5条关键表述，保留修改前后版本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出错后能继续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人为让一章失败，确认成功内容保留并能接着写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报告能正式导出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至少1种带单位和出处的图表，中文与分页可读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换台环境也能运行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按说明启动，完成资料录入到报告导出的流程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F2670-7CD5-478F-86BB-07384F0E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系统保持通用；先用光伏、新能源汽车资料验证。以上是学期目标。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B7884-5414-470D-8FE4-012FB61A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产业智能报告生成系统 · 第11组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31DB8-D2A5-4C59-B19D-D0A3AEAF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06 / 11</a:t>
            </a:r>
          </a:p>
        </p:txBody>
      </p:sp>
    </p:spTree>
    <p:extLst>
      <p:ext uri="{BB962C8B-B14F-4D97-AF65-F5344CB8AC3E}">
        <p14:creationId xmlns:p14="http://schemas.microsoft.com/office/powerpoint/2010/main" val="1865016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0775F4-AC0A-4563-82B5-8CE0813A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工作怎么拆？预计投入多少时间？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171D5-217E-4466-A167-8AEFF40F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22961-CDF9-4C77-B940-9D62B208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按老师讲的WBS：整个项目 → 工作包 → 具体任务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18E32-985D-4155-BB2F-821ADA2F73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1e9d451094826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ADDDE-1F97-4A7D-8262-F9D04887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09800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3D8B4-CADA-4568-BC36-C2B41318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C66BA-489B-4E4B-BBCE-32E17911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5573B-AD17-46E7-953E-2AB250DA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整个项目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ECF61-6D20-4582-A0F2-2B8058E0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860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预计268人时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1785B-6698-417D-8DC9-C7D9BFB0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85925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39783-E25B-4E67-9CEC-1888642E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报告生成模块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15BB8-48D8-470A-8044-499C4A9C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预计56人时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1CDA0C-4CB6-4922-9570-5D8E9B3B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85925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DC035-0BAC-4E24-AEED-7C4D391B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再拆成小任务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D9B86-F988-4240-98DD-7C43993E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860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模板 / 章节 / 恢复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7CFAF5-B788-4661-9FE7-45ED80D59DCE}"/>
              </a:ext>
            </a:extLst>
          </p:cNvPr>
          <p:cNvGraphicFramePr/>
          <p:nvPr/>
        </p:nvGraphicFramePr>
        <p:xfrm>
          <a:off xmlns:a="http://schemas.openxmlformats.org/drawingml/2006/main" x="666750" y="3333750"/>
          <a:ext xmlns:a="http://schemas.openxmlformats.org/drawingml/2006/main" cx="10858500" cy="114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51214"/>
                <a:gridCol w="1551214"/>
                <a:gridCol w="1551214"/>
                <a:gridCol w="1551214"/>
                <a:gridCol w="1551214"/>
                <a:gridCol w="1551214"/>
                <a:gridCol w="1551214"/>
              </a:tblGrid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统筹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调研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设计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资料处理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报告生成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页面导出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测试交付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16小时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28小时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32小时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40小时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56小时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44小时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52小时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02D1D-9AA7-4578-B9E5-92ACAF1E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生成模块的三种估计：顺利40小时 / 正常52小时 / 返工88小时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CA232-E180-4FAF-9E88-EFA67442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268人时是六人预计投入的时间总和；需求细化后继续调整。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1C38CC-79ED-44CA-BA30-1223F08E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产业智能报告生成系统 · 第11组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0BC61-686D-461C-821F-8FEC620A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07 / 11</a:t>
            </a:r>
          </a:p>
        </p:txBody>
      </p:sp>
    </p:spTree>
    <p:extLst>
      <p:ext uri="{BB962C8B-B14F-4D97-AF65-F5344CB8AC3E}">
        <p14:creationId xmlns:p14="http://schemas.microsoft.com/office/powerpoint/2010/main" val="15296959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54F83-3628-408B-BB75-30C40BAE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六个人分别负责什么？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35860-63CE-40F9-BC05-A73BBC19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2742D-F315-4384-8001-F8D32178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每块工作有人负责，交接时要说清输入、输出和没有完成的部分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2F926-B14D-42DA-869A-E43F1AFCEB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2fdea9e6a4951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97CE5-CF14-486F-9009-C2C3B1F71F63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63115"/>
                <a:gridCol w="4451985"/>
                <a:gridCol w="4343400"/>
              </a:tblGrid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成员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主要负责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主要交付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程文博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统筹协调、评审和验收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范围、进度、预算与版本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田亦洁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需求和系统设计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需求说明、接口和验收条件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李佳雨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页面、修改功能和导出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可操作的页面、图表和报告文件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郭润航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测试、部署和汇报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测试记录、运行说明和演示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崔大元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资料整理和数据处理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来源记录、资料导入和版本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许子萌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Harness和报告生成后端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模板、分章生成、保存与恢复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CB809-6809-4828-B0C1-77CDB4DC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各模块交接后一起测试；组长组织范围变更和最终验收。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6140E-B3AD-42C4-84D6-76B30018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产业智能报告生成系统 · 第11组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6C116-CC03-4C00-85FA-2210FA4E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08 / 11</a:t>
            </a:r>
          </a:p>
        </p:txBody>
      </p:sp>
    </p:spTree>
    <p:extLst>
      <p:ext uri="{BB962C8B-B14F-4D97-AF65-F5344CB8AC3E}">
        <p14:creationId xmlns:p14="http://schemas.microsoft.com/office/powerpoint/2010/main" val="18500384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BC8E2E-4C70-4830-8001-828B087B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开发顺序：先定需求，再生成，最后一起测试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6ADF8-0825-4673-A0C4-05773611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08A0A-4948-4E68-99E0-304C42F1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核心流程预计23个工作日，另留3天处理问题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83EA7-1DCF-4079-9C4B-E0EFB12A97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d00bd376b4ae2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B74B1-4F7B-4F61-A23D-8B96B76B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53ABA-2FDC-425E-BBAF-B3137482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C5F75-CCA2-48FA-AEB8-386F6CC0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B0A60-06F2-4AE7-BE48-73666B15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1602A-54EE-4620-8CA7-1239A285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CA387-7447-4090-923C-48815250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需求和资料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00008-3BE5-4DEC-9C76-E92615F5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5个工作日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2B3AB-B2E6-4226-BA2A-302B9311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92291-B1FB-4BE6-A028-ACC1EB42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模板与接口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D3C6D-51F2-4280-8C5E-C2696BA2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3个工作日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2A6F5-157C-4008-B069-DFD234BD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2E1A69-DE1E-438E-904B-94BC30CE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分章与恢复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CBAA3-F1B8-47AE-9E31-CF10C289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6个工作日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F57AC-EEB1-4BBB-A389-0F4D55C6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D762B2-8544-4856-92BF-171F59AA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审阅与导出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4F163A-7774-40DF-B0A4-5C669386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4个工作日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2B947C-D7EE-4B66-BB62-D52E2357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D5775C-1909-4C83-9DB2-5B60D23E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联调测试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F9717A-6615-4FDC-8750-60732D38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5个工作日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8FAAC9-9FAF-44C5-94E6-5C7100DA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81350"/>
            <a:ext cx="14288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02A994-BBE2-48B4-826F-2EF56665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1285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9BC147-9913-44F0-9F61-AC4C83CE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95800"/>
            <a:ext cx="1285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59877D-5F68-44E7-ACF0-7181FA27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81350"/>
            <a:ext cx="14288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293B8F-F7CE-4152-9020-A80BD445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71925"/>
            <a:ext cx="4143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0A1A24-294F-4BD4-B249-8AD85A1F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前端页面：3个工作日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75EB3B-FD5B-4A31-9241-6DA46376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3857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需求确定后，与生成模块并行开发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340BD3-287B-40F5-B906-0C798532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5 + 3 + 6 + 4 + 5 = 23天；再留3天缓冲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8579B5-DB44-4EB8-972E-5EE5D186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这是核心开发的初步安排；正式日期落定后重排，终期前另留3周做系统测试。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B8194A-883E-46E5-87E7-F4FEDA19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产业智能报告生成系统 · 第11组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8FB756-4ACE-43C5-BE50-0CA4D14A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09 / 11</a:t>
            </a:r>
          </a:p>
        </p:txBody>
      </p:sp>
    </p:spTree>
    <p:extLst>
      <p:ext uri="{BB962C8B-B14F-4D97-AF65-F5344CB8AC3E}">
        <p14:creationId xmlns:p14="http://schemas.microsoft.com/office/powerpoint/2010/main" val="16284264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71DF7-879E-4D49-9FAB-CF60042A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预算怎么控制？出问题怎么办？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A1B32-6DC5-4F49-8988-DF3FEBF3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9F0FC-350E-4AA1-AB41-E041216E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建议现金上限200元，主要用于模型试验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24D28-6EFA-44DB-83B2-32613D24FF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dd67cf3ef487e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0876E-5C80-47CD-BC3C-F843BBD1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模型试验160元  +  应急40元  =  200元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76F0B-FDE6-4B54-A4FB-11BAA1FD7DD1}"/>
              </a:ext>
            </a:extLst>
          </p:cNvPr>
          <p:cNvGraphicFramePr/>
          <p:nvPr/>
        </p:nvGraphicFramePr>
        <p:xfrm>
          <a:off xmlns:a="http://schemas.openxmlformats.org/drawingml/2006/main" x="666750" y="2714625"/>
          <a:ext xmlns:a="http://schemas.openxmlformats.org/drawingml/2006/main" cx="10858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4815"/>
                <a:gridCol w="6623685"/>
              </a:tblGrid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可能遇到的问题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我们的处理办法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模型中断，或者不清楚是否已经扣费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保存进度，先核对调用结果再决定是否重试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资料的数字、单位或出处对不上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回到原文核对，核不清的内容不写进结论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核心任务延期，影响后面的人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组长协调补位，先完成必须交付的功能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B134E-9322-4BB7-99DC-AAB32584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预算是计划上限，不是已支出；选定服务后按实际调用核算。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98B7C-0691-40AD-8034-D4C5AB8F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产业智能报告生成系统 · 第11组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C3365-FBE6-488A-8161-E383545F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9251418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11A1F-03C6-4301-9CA5-F4C8A49E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让草稿有用，也让每一步经得起检查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5AF3D-1CF6-4E72-AE0E-79993B4C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18643-1BE8-4190-B745-977E0DA4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AI帮忙整理和起草；人负责需求、事实核对和最终确认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63479-3DA0-4432-8843-B6BB0D89D7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162798e0842fa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37E13-5922-43D7-8F80-FAA4CC36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已有基础：原型可运行，16项基线测试通过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82C0B-DBE7-40A3-9F9B-9875B90F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接下来检查：换产业能用吗？出错能恢复吗？导出能读吗？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112AA-4C7E-4D63-8646-AE93C4FA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每周一起看：交出了什么、卡在哪里、需要怎么调整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2ADB9-1A77-4CFB-93C5-EA90EFDF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开题后先确认资料、模板和接口，再按分工推进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F25F0-CF69-4897-8822-CF36C81B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产业智能报告生成系统 · 第11组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E8446-CBA1-4CF5-A7E2-45389DDA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1862699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2026-10-24T15:07:24.2950000Z</dcterms:created>
  <dcterms:modified xsi:type="dcterms:W3CDTF">2026-10-24T15:07:24.2950000Z</dcterms:modified>
</coreProperties>
</file>