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4ac13d80b45f9" /><Relationship Type="http://schemas.openxmlformats.org/officeDocument/2006/relationships/extended-properties" Target="/docProps/app.xml" Id="R991e0bc114c64975" /><Relationship Type="http://schemas.openxmlformats.org/officeDocument/2006/relationships/officeDocument" Target="/ppt/presentation.xml" Id="Rac87813470a548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db76f0cc334dbe"/>
  </p:sldMasterIdLst>
  <p:notesMasterIdLst>
    <p:notesMasterId xmlns:r="http://schemas.openxmlformats.org/officeDocument/2006/relationships" r:id="Rfa2d6964565048bd"/>
  </p:notesMasterIdLst>
  <p:sldIdLst>
    <p:sldId xmlns:r="http://schemas.openxmlformats.org/officeDocument/2006/relationships" id="256" r:id="R6cbafdf15f494c5e"/>
    <p:sldId xmlns:r="http://schemas.openxmlformats.org/officeDocument/2006/relationships" id="257" r:id="R3b5f270c4cb74c5c"/>
    <p:sldId xmlns:r="http://schemas.openxmlformats.org/officeDocument/2006/relationships" id="258" r:id="R747b0ac32e724060"/>
    <p:sldId xmlns:r="http://schemas.openxmlformats.org/officeDocument/2006/relationships" id="259" r:id="R4d21d859867f4e7f"/>
    <p:sldId xmlns:r="http://schemas.openxmlformats.org/officeDocument/2006/relationships" id="260" r:id="R8bd5921537ef4d24"/>
    <p:sldId xmlns:r="http://schemas.openxmlformats.org/officeDocument/2006/relationships" id="261" r:id="R312a26e69e6b4229"/>
    <p:sldId xmlns:r="http://schemas.openxmlformats.org/officeDocument/2006/relationships" id="262" r:id="R8f4bee3678574889"/>
    <p:sldId xmlns:r="http://schemas.openxmlformats.org/officeDocument/2006/relationships" id="263" r:id="R5874f500fd6d40d7"/>
    <p:sldId xmlns:r="http://schemas.openxmlformats.org/officeDocument/2006/relationships" id="264" r:id="R7fae5da71a30479a"/>
    <p:sldId xmlns:r="http://schemas.openxmlformats.org/officeDocument/2006/relationships" id="265" r:id="Raf7d0e189bf44455"/>
    <p:sldId xmlns:r="http://schemas.openxmlformats.org/officeDocument/2006/relationships" id="266" r:id="R4286ca6a95394959"/>
    <p:sldId xmlns:r="http://schemas.openxmlformats.org/officeDocument/2006/relationships" id="267" r:id="Ra3fe7273fca94ed3"/>
    <p:sldId xmlns:r="http://schemas.openxmlformats.org/officeDocument/2006/relationships" id="268" r:id="Rf2edc5ccdadc4739"/>
    <p:sldId xmlns:r="http://schemas.openxmlformats.org/officeDocument/2006/relationships" id="269" r:id="Rcfeec19ffe5943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d059e6ab794f00" /><Relationship Type="http://schemas.openxmlformats.org/officeDocument/2006/relationships/slideMaster" Target="/ppt/slideMasters/slideMaster1.xml" Id="Rc8db76f0cc334dbe" /><Relationship Type="http://schemas.openxmlformats.org/officeDocument/2006/relationships/notesMaster" Target="/ppt/notesMasters/notesMaster1.xml" Id="Rfa2d6964565048bd" /><Relationship Type="http://schemas.openxmlformats.org/officeDocument/2006/relationships/presProps" Target="/ppt/presProps.xml" Id="R6a58ea8c33834888" /><Relationship Type="http://schemas.openxmlformats.org/officeDocument/2006/relationships/tableStyles" Target="/ppt/tableStyles.xml" Id="R836322ba56d34529" /><Relationship Type="http://schemas.openxmlformats.org/officeDocument/2006/relationships/slide" Target="/ppt/slides/slide1.xml" Id="R6cbafdf15f494c5e" /><Relationship Type="http://schemas.openxmlformats.org/officeDocument/2006/relationships/slide" Target="/ppt/slides/slide2.xml" Id="R3b5f270c4cb74c5c" /><Relationship Type="http://schemas.openxmlformats.org/officeDocument/2006/relationships/slide" Target="/ppt/slides/slide3.xml" Id="R747b0ac32e724060" /><Relationship Type="http://schemas.openxmlformats.org/officeDocument/2006/relationships/slide" Target="/ppt/slides/slide4.xml" Id="R4d21d859867f4e7f" /><Relationship Type="http://schemas.openxmlformats.org/officeDocument/2006/relationships/slide" Target="/ppt/slides/slide5.xml" Id="R8bd5921537ef4d24" /><Relationship Type="http://schemas.openxmlformats.org/officeDocument/2006/relationships/slide" Target="/ppt/slides/slide6.xml" Id="R312a26e69e6b4229" /><Relationship Type="http://schemas.openxmlformats.org/officeDocument/2006/relationships/slide" Target="/ppt/slides/slide7.xml" Id="R8f4bee3678574889" /><Relationship Type="http://schemas.openxmlformats.org/officeDocument/2006/relationships/slide" Target="/ppt/slides/slide8.xml" Id="R5874f500fd6d40d7" /><Relationship Type="http://schemas.openxmlformats.org/officeDocument/2006/relationships/slide" Target="/ppt/slides/slide9.xml" Id="R7fae5da71a30479a" /><Relationship Type="http://schemas.openxmlformats.org/officeDocument/2006/relationships/slide" Target="/ppt/slides/slide10.xml" Id="Raf7d0e189bf44455" /><Relationship Type="http://schemas.openxmlformats.org/officeDocument/2006/relationships/slide" Target="/ppt/slides/slide11.xml" Id="R4286ca6a95394959" /><Relationship Type="http://schemas.openxmlformats.org/officeDocument/2006/relationships/slide" Target="/ppt/slides/slide12.xml" Id="Ra3fe7273fca94ed3" /><Relationship Type="http://schemas.openxmlformats.org/officeDocument/2006/relationships/slide" Target="/ppt/slides/slide13.xml" Id="Rf2edc5ccdadc4739" /><Relationship Type="http://schemas.openxmlformats.org/officeDocument/2006/relationships/slide" Target="/ppt/slides/slide14.xml" Id="Rcfeec19ffe5943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a206d5f04c40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38cda467649db" /><Relationship Type="http://schemas.openxmlformats.org/officeDocument/2006/relationships/notesMaster" Target="/ppt/notesMasters/notesMaster1.xml" Id="R169a4df3627f40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eae0525b6a4817" /><Relationship Type="http://schemas.openxmlformats.org/officeDocument/2006/relationships/notesMaster" Target="/ppt/notesMasters/notesMaster1.xml" Id="R9555e0d23592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479a9075574412" /><Relationship Type="http://schemas.openxmlformats.org/officeDocument/2006/relationships/notesMaster" Target="/ppt/notesMasters/notesMaster1.xml" Id="Rc1cc205324d945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bd74a48a1a40ff" /><Relationship Type="http://schemas.openxmlformats.org/officeDocument/2006/relationships/notesMaster" Target="/ppt/notesMasters/notesMaster1.xml" Id="R38dbb18747444c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4c6a5f64824ea4" /><Relationship Type="http://schemas.openxmlformats.org/officeDocument/2006/relationships/notesMaster" Target="/ppt/notesMasters/notesMaster1.xml" Id="R9ce56fbb143545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a643892f854a68" /><Relationship Type="http://schemas.openxmlformats.org/officeDocument/2006/relationships/notesMaster" Target="/ppt/notesMasters/notesMaster1.xml" Id="Reb2b0f1c67d047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98dbeaf0bf49f1" /><Relationship Type="http://schemas.openxmlformats.org/officeDocument/2006/relationships/notesMaster" Target="/ppt/notesMasters/notesMaster1.xml" Id="R7e0231cc787845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fef1dfa1354b14" /><Relationship Type="http://schemas.openxmlformats.org/officeDocument/2006/relationships/notesMaster" Target="/ppt/notesMasters/notesMaster1.xml" Id="Rfd4be09fe42740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44f96be1014616" /><Relationship Type="http://schemas.openxmlformats.org/officeDocument/2006/relationships/notesMaster" Target="/ppt/notesMasters/notesMaster1.xml" Id="R94694bd4054e4c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11057cd119492b" /><Relationship Type="http://schemas.openxmlformats.org/officeDocument/2006/relationships/notesMaster" Target="/ppt/notesMasters/notesMaster1.xml" Id="Rc9dcf2157fbc41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842c24b4744963" /><Relationship Type="http://schemas.openxmlformats.org/officeDocument/2006/relationships/notesMaster" Target="/ppt/notesMasters/notesMaster1.xml" Id="R61f90d580f3a40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06a5480cbf457f" /><Relationship Type="http://schemas.openxmlformats.org/officeDocument/2006/relationships/notesMaster" Target="/ppt/notesMasters/notesMaster1.xml" Id="R0baf78cd935542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a169e0f0fb40b5" /><Relationship Type="http://schemas.openxmlformats.org/officeDocument/2006/relationships/notesMaster" Target="/ppt/notesMasters/notesMaster1.xml" Id="R8acba7bda3ee4e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04a49733a74a77" /><Relationship Type="http://schemas.openxmlformats.org/officeDocument/2006/relationships/notesMaster" Target="/ppt/notesMasters/notesMaster1.xml" Id="Rbcca5e1581614a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大家好，我是第11组的郭润航。本组选择产业智能报告生成系统。接下来介绍课堂方法怎样落实到计划，以及Harness准备解决什么问题。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讲了先分解工作，再考虑责任、估算和依赖，我们把它们变成了可检查的项目产物。结合上节课学长对Harness的分享，我们进一步考虑长任务的状态和接续。这里是本组的设计思考；技术细节参考官方资料，不转述未经核对的学长原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2024年光伏组件产量增长13.5%，价格却下降29.7%。我们不能据此直接判断利润。另一个常见错误是把588GW组件产量写成新增装机，后者实际是278GW。这说明报告要保存指标、时间、单位和出处。图中数据是人工核对的例子，不是模型评测结果。</a:t>
            </a:r>
          </a:p>
          <a:p xmlns:a="http://schemas.openxmlformats.org/drawingml/2006/main">
            <a:r>
              <a:t>来源D1、D2完整链接见备注来源页及materials/references/research-notes.md。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次真实启动原型后的截图。我们录入前面的两条公开资料，选择摘录模式，保存草稿并查看来源。已有持久化和Markdown下载；分章恢复、审阅、图表和正式导出仍是学期目标。我们把现状和目标分开讲，避免把原型当成完整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在这里是一套执行机制。先固定资料和模板，再按章节保存产物。如果第二章失败，保留第一章，修复后从未完成步骤继续。检查点必须持久化，仅放内存不能支持重启恢复。超时也不代表供应商没执行，结果不明要人工确认。是否采用LangGraph要先验证，目前尚未实现这套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六类交付说明怎样才算完成。重点包括两个产业复用模板、关键表述可回查，以及真实故障后的恢复。引用标签只能帮助定位，不能自动证明结论正确。光伏和新能源汽车先作为候选样例，资料与模板还要在需求阶段细化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三级WBS，我们把项目拆成七个工作包、二十一个子任务，合计268计划人时。以Harness包为例，乐观40、最可能52、悲观88，按老师讲的PERT公式得到56人时。这是初估情景，不是实测或既有投入。完整表还列出每个人的分摊。三级子任务分别是模板步骤、章节引用和恢复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人按模块承担学期工作，我负责本次展示，组长负责协调和最终验收。资料与需求先交给后端和前端，接口完成后由测试牵头联调。各作者都要能解释自己的实现和失败边界。这里的人时是计划分配，不当作成员已经完成的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排期。资料与需求完成后，模板接口和前端页面可以并行。分章恢复依赖接口，审阅导出要等生成和页面都就绪，最后联调。蓝色这条链合计23个工作日，再留3日缓冲；橙色页面任务有6日浮动。它是核心流程的试排，不是正式日历，也不包含终期前三周集中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金预算建议把160元用于模型试验，40元作为备用，合计200元，由组长确认。人力单独按268人时管理。风险不是只列名字：调用不明先确认，资料不清回查原文，关键路径延期则先调整依赖和扩展范围。服务选定后再按官方价格和实际用量核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可证实的是十六项基线测试与本地摘录流程，模型测试使用模拟响应。学期还要完成跨产业、关键事实检查以及恢复故障实验。按老师的进度控制方法，每周看验收产物、依赖和真实投入；现在缺少实际工时和已验收预算完成量，不编造SPI或C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下一步先完成团队确认和计时彩排，再冻结资料、模板和接口基线。AI辅助起草和机械工作，范围判断、估算和事实核验由我们承担。所有成员要能解释自己负责的实现。谢谢老师，欢迎提问。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时说明：PERT的三点值来自初估情景，不是历史样本。CPM先前推最早完成，再后推最晚开始，总浮动为零构成关键路径。前端浮动六日，延迟超过六日会影响联调。该模型未覆盖完整资源平衡，实际按成员可用时间滚动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来源记录见materials/references/research-notes.md，课程文件指纹及页码见teacher-files.json与课程内容映射.csv。</a:t>
            </a:r>
          </a:p>
          <a:p xmlns:a="http://schemas.openxmlformats.org/drawingml/2006/main">
            <a:r>
              <a:t>R1 https://www.anthropic.com/research/effective-harnesses-for-long-running-agents</a:t>
            </a:r>
          </a:p>
          <a:p xmlns:a="http://schemas.openxmlformats.org/drawingml/2006/main">
            <a:r>
              <a:t>R2 https://www.anthropic.com/research/building-effective-agents</a:t>
            </a:r>
          </a:p>
          <a:p xmlns:a="http://schemas.openxmlformats.org/drawingml/2006/main">
            <a:r>
              <a:t>R3 https://docs.langchain.com/oss/python/langgraph/persistence</a:t>
            </a:r>
          </a:p>
          <a:p xmlns:a="http://schemas.openxmlformats.org/drawingml/2006/main">
            <a:r>
              <a:t>D1 https://www.miit.gov.cn/gyhxxhb/jgsj/dzxxs/dzjc/art/2025/art_da51f7f47c75477ea1fa6732155536db.html</a:t>
            </a:r>
          </a:p>
          <a:p xmlns:a="http://schemas.openxmlformats.org/drawingml/2006/main">
            <a:r>
              <a:t>D2 https://obor.nea.gov.cn/detail2/21770.html</a:t>
            </a:r>
          </a:p>
          <a:p xmlns:a="http://schemas.openxmlformats.org/drawingml/2006/main">
            <a:r>
              <a:t>D3 https://www.miit.gov.cn/jgsj/zbys/gzdt/art/2025/art_e4f577dfac694724a108cbdca9a612d3.html</a:t>
            </a:r>
          </a:p>
          <a:p xmlns:a="http://schemas.openxmlformats.org/drawingml/2006/main">
            <a:r>
              <a:t>正式时间依据课程评分与注意事项，7分钟讲述及3分钟问答；12页为建议上限。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b9843a87843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e4f5f4dba42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49ae292e348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b13f125f447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77088ea4348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7d443ac73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F36AEB-C441-4EEB-AC2D-E41652C4A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57F5F2-30B8-4155-9E62-541F30322D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E1BAE7-65FE-43A3-99CD-AA797D51A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789F70-4657-4913-9705-F6B1D0E21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0EF1DB-6D0F-4AE9-8851-8E75CF76A5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CF3931-53B5-487E-9D5F-C939C05BE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695EA7-C2E6-4524-91FA-16DB52F04B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3F16F4-C2F4-42F9-9886-E066BE3DB6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C1A27D-FD00-4960-8F9A-00D180D5F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9BB5A-F1E7-4AEE-B4A7-32C68356E9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3f71975e834dd4" /><Relationship Type="http://schemas.openxmlformats.org/officeDocument/2006/relationships/slideLayout" Target="/ppt/slideLayouts/slideLayout1.xml" Id="R97a8f97fb0a44148" /><Relationship Type="http://schemas.openxmlformats.org/officeDocument/2006/relationships/slideLayout" Target="/ppt/slideLayouts/slideLayout2.xml" Id="R60907fae64f54d66" /><Relationship Type="http://schemas.openxmlformats.org/officeDocument/2006/relationships/slideLayout" Target="/ppt/slideLayouts/slideLayout3.xml" Id="R1663adf837064d1e" /><Relationship Type="http://schemas.openxmlformats.org/officeDocument/2006/relationships/slideLayout" Target="/ppt/slideLayouts/slideLayout4.xml" Id="Rf2720ccd20d24ceb" /><Relationship Type="http://schemas.openxmlformats.org/officeDocument/2006/relationships/slideLayout" Target="/ppt/slideLayouts/slideLayout5.xml" Id="R9e2c23138e7d4d17" /><Relationship Type="http://schemas.openxmlformats.org/officeDocument/2006/relationships/slideLayout" Target="/ppt/slideLayouts/slideLayout6.xml" Id="R9c8ad99ab1294b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a8f97fb0a44148"/>
    <p:sldLayoutId xmlns:r="http://schemas.openxmlformats.org/officeDocument/2006/relationships" id="2147483650" r:id="R60907fae64f54d66"/>
    <p:sldLayoutId xmlns:r="http://schemas.openxmlformats.org/officeDocument/2006/relationships" id="2147483651" r:id="R1663adf837064d1e"/>
    <p:sldLayoutId xmlns:r="http://schemas.openxmlformats.org/officeDocument/2006/relationships" id="2147483652" r:id="Rf2720ccd20d24ceb"/>
    <p:sldLayoutId xmlns:r="http://schemas.openxmlformats.org/officeDocument/2006/relationships" id="2147483653" r:id="R9e2c23138e7d4d17"/>
    <p:sldLayoutId xmlns:r="http://schemas.openxmlformats.org/officeDocument/2006/relationships" id="2147483654" r:id="R9c8ad99ab1294b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dd6302a2649a8" /><Relationship Type="http://schemas.openxmlformats.org/officeDocument/2006/relationships/image" Target="/ppt/media/image.png" Id="R68de1de840fd498b" /><Relationship Type="http://schemas.openxmlformats.org/officeDocument/2006/relationships/notesSlide" Target="/ppt/notesSlides/notesSlide1.xml" Id="R7c89c77840744a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624832b7b4cff" /><Relationship Type="http://schemas.openxmlformats.org/officeDocument/2006/relationships/image" Target="/ppt/media/image2.png" Id="Re3926e9d1a2e4339" /><Relationship Type="http://schemas.openxmlformats.org/officeDocument/2006/relationships/notesSlide" Target="/ppt/notesSlides/notesSlide2.xml" Id="R4c907951942d4c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9d9d06713404a" /><Relationship Type="http://schemas.openxmlformats.org/officeDocument/2006/relationships/image" Target="/ppt/media/image3.png" Id="R79af54b9e7144e8b" /><Relationship Type="http://schemas.openxmlformats.org/officeDocument/2006/relationships/chart" Target="/ppt/slides/charts/chart1.xml" Id="Rddd440c2c667432d" /><Relationship Type="http://schemas.openxmlformats.org/officeDocument/2006/relationships/notesSlide" Target="/ppt/notesSlides/notesSlide3.xml" Id="R3cb10c5b1e1f43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eb2cd68a1409d" /><Relationship Type="http://schemas.openxmlformats.org/officeDocument/2006/relationships/image" Target="/ppt/media/image4.png" Id="R46b3d53d7cf34823" /><Relationship Type="http://schemas.openxmlformats.org/officeDocument/2006/relationships/image" Target="/ppt/media/image5.png" Id="R509195321d9048f4" /><Relationship Type="http://schemas.openxmlformats.org/officeDocument/2006/relationships/notesSlide" Target="/ppt/notesSlides/notesSlide4.xml" Id="R240ab02cc01847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ee89fec15462d" /><Relationship Type="http://schemas.openxmlformats.org/officeDocument/2006/relationships/image" Target="/ppt/media/image6.png" Id="R7bc3a241de0e44fe" /><Relationship Type="http://schemas.openxmlformats.org/officeDocument/2006/relationships/notesSlide" Target="/ppt/notesSlides/notesSlide5.xml" Id="R42d2c1c1750e40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93793b99848f4" /><Relationship Type="http://schemas.openxmlformats.org/officeDocument/2006/relationships/image" Target="/ppt/media/image7.png" Id="Rbf1051da31cc474b" /><Relationship Type="http://schemas.openxmlformats.org/officeDocument/2006/relationships/notesSlide" Target="/ppt/notesSlides/notesSlide6.xml" Id="R0e86e42d48f54b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4504790b34128" /><Relationship Type="http://schemas.openxmlformats.org/officeDocument/2006/relationships/image" Target="/ppt/media/image8.png" Id="Rd96ffe4b257f4018" /><Relationship Type="http://schemas.openxmlformats.org/officeDocument/2006/relationships/notesSlide" Target="/ppt/notesSlides/notesSlide7.xml" Id="Rbf437babcfc347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be22baff44711" /><Relationship Type="http://schemas.openxmlformats.org/officeDocument/2006/relationships/image" Target="/ppt/media/image9.png" Id="R03ae5a07c6be4771" /><Relationship Type="http://schemas.openxmlformats.org/officeDocument/2006/relationships/notesSlide" Target="/ppt/notesSlides/notesSlide8.xml" Id="Rbb5b188f25b440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3c75c63ee4104" /><Relationship Type="http://schemas.openxmlformats.org/officeDocument/2006/relationships/image" Target="/ppt/media/image10.png" Id="Rfda83260d4f44a01" /><Relationship Type="http://schemas.openxmlformats.org/officeDocument/2006/relationships/notesSlide" Target="/ppt/notesSlides/notesSlide9.xml" Id="R53914282a43c40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d5c692b7a45f7" /><Relationship Type="http://schemas.openxmlformats.org/officeDocument/2006/relationships/image" Target="/ppt/media/image11.png" Id="R741a54aa58564e5e" /><Relationship Type="http://schemas.openxmlformats.org/officeDocument/2006/relationships/notesSlide" Target="/ppt/notesSlides/notesSlide10.xml" Id="Rb4bb4e79a2894e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a1689a9914533" /><Relationship Type="http://schemas.openxmlformats.org/officeDocument/2006/relationships/image" Target="/ppt/media/image12.png" Id="Rbcec48e65ede48a7" /><Relationship Type="http://schemas.openxmlformats.org/officeDocument/2006/relationships/notesSlide" Target="/ppt/notesSlides/notesSlide11.xml" Id="R4d8fe5fc36eb43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e1fb2a5ec4c8e" /><Relationship Type="http://schemas.openxmlformats.org/officeDocument/2006/relationships/image" Target="/ppt/media/image13.png" Id="R959106118b054799" /><Relationship Type="http://schemas.openxmlformats.org/officeDocument/2006/relationships/notesSlide" Target="/ppt/notesSlides/notesSlide12.xml" Id="R1c033e2e37f542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497e13deb46f6" /><Relationship Type="http://schemas.openxmlformats.org/officeDocument/2006/relationships/image" Target="/ppt/media/image14.png" Id="R5bfa37192c5d439e" /><Relationship Type="http://schemas.openxmlformats.org/officeDocument/2006/relationships/notesSlide" Target="/ppt/notesSlides/notesSlide13.xml" Id="R9b285487ed9340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e20fb5e054dfb" /><Relationship Type="http://schemas.openxmlformats.org/officeDocument/2006/relationships/image" Target="/ppt/media/image15.png" Id="R235d20f4686e46c4" /><Relationship Type="http://schemas.openxmlformats.org/officeDocument/2006/relationships/notesSlide" Target="/ppt/notesSlides/notesSlide14.xml" Id="Rc1f1a39e10734cc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同比变化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产量同比</c:v>
                </c:pt>
                <c:pt idx="1">
                  <c:v>价格同比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8893F-F622-4456-A801-6ADF7C62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68860-8E29-476D-8D71-578C59AC0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e1de840fd498b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D617C-9BFF-44D0-B3D6-9F7CBAE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79F26-88AE-4C8A-8B4B-CCF7170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通用流程 × 可追溯资料 × 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B8B7D-14BA-44C1-8277-5CDD5A5A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7F745-50A6-499D-A6DB-28B4C699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F698E-6BE3-45F4-A76A-7EBDD19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78485-683F-4AE0-A725-4952744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2026年10月26日 · 开题评阅稿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64646-7EF9-4804-AD8C-C34AD13B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0C873-91C4-4B76-BC57-70A5513B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1531914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A5A6B-D4B6-4138-A77B-7C8BD3B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从课堂方法，到我们的项目决策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13A03-6B63-4132-97B1-C51B3026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7246D-4A50-4903-B0FB-6F325EB4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结合老师的项目管理方法，以及上节课学长关于 Harness 的分享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22EA5-7251-440D-A6AC-9485A94DCC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26e9d1a2e4339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58325-BEB5-423B-8E1F-99CD5A5BA91D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8965"/>
                <a:gridCol w="3800475"/>
                <a:gridCol w="3909060"/>
              </a:tblGrid>
              <a:tr h="757238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课堂内容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我们的安排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可检查的产物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57238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P4：滚动计划、三级WBS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先明确范围，再逐层拆任务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21项子任务与验收条件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P4：责任矩阵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执行、评审、确认分别落实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六人职责与交接表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P5：估算、依赖与关键路径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先估工作量，再安排并行与缓冲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三点估算、甘特图与预算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CF76A-6372-4C19-BF8A-D5D3D4D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分享后的思考：长任务怎样分步推进、留下进度、失败后接着做？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3E1A2-F429-4020-A0D8-AF83EBEC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课堂：P4 第24、32、43页；P5 第6、12、17—21页。技术细节另核对官方资料。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487B2-8717-4A2B-AC36-FDAB526A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39FC5-A1B5-47BB-9AC8-8E966193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923807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B9B47-D883-4686-A646-51DA313C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用一个真实例子说明：报告为什么需要核对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1520F-A9FF-4F1D-BC6F-F9F704AA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D374E-B4FE-4B09-ADF7-E0540B3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2024年光伏简报 · 历史完整年度示例，数据由人工从原文整理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65148-485D-4FA0-996D-9D20DF7E2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f54b9e7144e8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BBBD0-A32A-426E-9F8F-2E99E16C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同一年，产量与价格可以向不同方向变化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7711EC2-8BD4-4F1B-8795-2076CE769491}"/>
              </a:ext>
            </a:extLst>
          </p:cNvPr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6762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d440c2c667432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7AEF9-C2FC-48A3-8C3D-7DBB2EFA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524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CFA8B-99BE-4457-9EA5-3CA7BB3F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05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025EE-89DF-4955-8BC3-1578C039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光伏组件产量</a:t>
            </a:r>
          </a:p>
          <a:p xmlns:a="http://schemas.openxmlformats.org/drawingml/2006/main">
            <a: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制造端指标 · 工信部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DD0EB-1957-4DD8-9104-6B44862C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013DF-209B-4797-B3AB-AD48DA7E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8625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光伏新增装机</a:t>
            </a:r>
          </a:p>
          <a:p xmlns:a="http://schemas.openxmlformats.org/drawingml/2006/main">
            <a:pPr>
              <a:def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发电端指标 · 国家能源局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E125A-8412-4E49-9EC2-507E7CAD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D1 工信部《2024年全国光伏制造行业运行情况》；D2 国家能源局《2024年可再生能源并网运行情况》。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10BFB-C50A-432D-B68C-2A591F96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7DBD5-D57B-4DE6-AA57-431799B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999816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571B5-715B-45C3-8B8B-EEF1A67B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现有原型：已经能把资料与草稿串起来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8AFDD-7401-4C33-BC01-4AF175FE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33949-8F43-4CC3-B5FC-B66671A2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本地实际运行截图 · 摘录模式，无模型调用；不代表完整产业报告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BE9C8-E5A4-4B22-8D3B-4FCE3DAF0F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3d53d7cf34823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35C35-647D-46C8-9AE6-5D2423BF2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195321d9048f4"/>
          <a:stretch xmlns:a="http://schemas.openxmlformats.org/drawingml/2006/main"/>
        </p:blipFill>
        <p:spPr>
          <a:xfrm xmlns:a="http://schemas.openxmlformats.org/drawingml/2006/main">
            <a:off x="666750" y="2217947"/>
            <a:ext cx="5191125" cy="33079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CBB12-5662-426F-B521-3E1EC8BA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现在可实际操作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BA553-0118-45F5-AE85-6D89B3E5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43150"/>
            <a:ext cx="5095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录入公开资料 → 勾选来源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生成摘录草稿 → 查看来源快照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保存历史 → 下载 Markdown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29050-7987-443D-970C-BC7BE692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接下来补齐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C125E-1F0E-416E-A38C-193B59B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67275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模板与分章、引用核对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恢复与预算、审阅与正式导出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1B845-A6D4-4CC1-8EBD-98D3F3CE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5812D-725B-445B-A645-3FE77616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1943643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7E920-FB06-44E4-8A1C-9BE8D308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Harness：让报告任务能分步执行、失败接续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33773-49ED-41E9-BB88-7B9A6123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50ABF-8C58-4052-9BF7-E180991C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本期采用明确工作流；模型写内容，程序管状态，人做事实与发布判断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6CDE9-8C8B-438B-97A5-B3A5771C73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3a241de0e44f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3348D-E93D-4F9D-B431-2C113974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809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A93AE-5BC6-42B3-8FE5-FCC3D22A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809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E9003-7185-45F4-8058-0CF9F75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D128F-BFE5-4D16-BD7F-DCF80680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资料与模板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C59D7-A190-4F7D-B2A9-8E9F2723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固定输入版本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D38AC-9041-46BD-9331-85132E08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74CF4-55C9-4132-9B60-6AF7A94C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383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提纲与章节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902F4-9731-4D04-9735-EE337680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145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分步生成产物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27BE5-3807-42C7-8FD3-2202FE70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71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55CE9-76D2-4F46-AAED-356A71E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383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引用与审阅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B6886-C7F9-4412-BA37-6B5C160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145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人工核对后导出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F31CE-AB14-4DAF-968A-F5D1859B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66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B6B52-EE36-45C4-AC20-6D478384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29075"/>
            <a:ext cx="66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82A41-8001-427F-A736-81A27707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7EE7E-5C79-4930-A1A8-3629C9E7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290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章节1：已保存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630D0-04D4-4B49-B397-A1D4A866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052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恢复时直接复用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62561-DA1C-40EC-8C36-5C85FD0B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5E1CA-7E5A-4225-9C5E-03468B6A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290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章节2：失败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2F42F-84B3-4A92-AFFE-ED314068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修复后从这里继续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8FD1D-7597-4A57-ABEA-3FEE1001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C314C-7B10-43D0-8F77-D919329C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290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章节3：等待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4112E-51CF-4461-A89E-773971D5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052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前一步通过再执行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851A1-E150-434F-BC36-2746EA6F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检查点保存：输入版本 / 步骤状态 / 输出 / 错误 / 用量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77EB6-CBA3-49DA-934A-0035165E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设计参考 R1 Anthropic 长任务Harness、R2 工作流、R3 LangGraph持久化。结果不明的付费调用先人工确认。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3503A-5DE9-407B-A588-84AF96E1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08B4C2-E717-4070-9001-2D9DF1E3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715973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8C5F7-4B2A-4FD2-8AA7-FF785495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学期交付：用具体条件定义“做完”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C820C-A6D1-4F92-B62F-6D0CED26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5DAC0-C118-4FCA-8E56-78CBFC9F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同一主模板在两个产业复用；产业是验证输入，系统保持通用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7624F-37E5-4DEA-A6CA-F28CF96AF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051da31cc474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0BB21-F2C5-49C3-9886-94C4E2B2F808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7455"/>
                <a:gridCol w="8361045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交付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D1 资料管理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来源、正文、版本可查；重启仍可读取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D2 模板生成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两种模板；两个产业各至少3份公开资料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D3 引用审阅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每份抽查至少5条关键表述，保留修订版本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D4 执行恢复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注入失败后成功产物保留，只接续未完成步骤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D5 图表导出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至少1种图表，标单位与出处；正式导出可读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D6 运行证据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新环境能启动，需求与设计、测试对应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E2685-B085-4843-8A34-9F95616D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当前已有部分基线；表中是学期验收目标。候选验证产业：光伏、新能源汽车。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BC4FE-3491-4F99-B1B5-370B6D8B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C37D6-2F4B-4E73-8871-94905618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9850066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663DE-A5BE-44A9-B9DA-A0EDE625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三级 WBS：把268人时拆成可交接的工作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F34F2-2720-4865-BFDC-A4A72170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F6E4B-CF45-45B9-9829-B013E7BD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P0 项目 → W0—W6 工作包 → 21项子任务；完整分摊见 team/wbs.csv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83CF6-FAC2-441B-B441-D543A0DE6E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ffe4b257f4018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90D94-E908-4082-81D5-3CDC721D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95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74B5A-AA72-4B4B-8EDD-CB42E18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95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C7BB5-8585-4967-96F6-59B76C9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79456-0574-44BF-8527-DEA64663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P0 报告系统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3C56F-6176-4145-B85C-FBD6531F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268计划人时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3C754-6EB9-475F-B6E0-EB2F51B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58B37-BFBF-43E0-8A07-F0729A6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383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W4 Harness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635DC-AE66-4096-AE91-8C053749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145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56计划人时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DD5BF-FEE9-42E9-8DAC-D664521E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87610-A45A-42D5-8F11-CF5CC323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三级子任务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2680C-BAE0-4C1A-9598-92D3B92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模板 / 章节 / 恢复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45A6D-93C3-4EB0-B5F0-6E451227B8BC}"/>
              </a:ext>
            </a:extLst>
          </p:cNvPr>
          <p:cNvGraphicFramePr/>
          <p:nvPr/>
        </p:nvGraphicFramePr>
        <p:xfrm>
          <a:off xmlns:a="http://schemas.openxmlformats.org/drawingml/2006/main" x="666750" y="3333750"/>
          <a:ext xmlns:a="http://schemas.openxmlformats.org/drawingml/2006/main" cx="10858500" cy="121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1214"/>
                <a:gridCol w="1551214"/>
                <a:gridCol w="1551214"/>
                <a:gridCol w="1551214"/>
                <a:gridCol w="1551214"/>
                <a:gridCol w="1551214"/>
                <a:gridCol w="1551214"/>
              </a:tblGrid>
              <a:tr h="6096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W0 统筹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W1 调研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W2 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W3 资料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W4 生成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W5 前端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W6 测试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096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16h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28h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32h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40h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56h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44h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52h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D4025-ACAF-479F-821B-ACAE4CD4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W4三点估算：乐观40h / 最可能52h / 悲观88h → 期望56h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2AE9E-7050-42A0-BAD8-5A970C3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参考P4第43页、P5第6及12页。取值是三种集成情景的初估；人时不等于日历工期。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CB0AA-C875-45A2-A66C-D04A407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6863F-E18E-4AE1-B465-DD4783B9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518481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99AB1-2C99-4DD7-8130-20FFD081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六人分工：每块产物都有负责人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84D75-C422-4A5E-B895-EF253624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1F0A2-7049-4C55-8A54-276E87F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组长统筹协调；执行、交叉评审和最终确认分开落实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3171E-D9A6-47C7-8300-3F1B820CAD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e5a07c6be477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25FE6-1995-43FF-8C18-A37C0C7AEDBF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6040"/>
                <a:gridCol w="4017645"/>
                <a:gridCol w="4234815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学期主责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 · 40h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统筹、架构评审与验收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 / 进度 / 预算 / 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 · 44h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需求与系统设计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任务 / 接口 / 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 · 44h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前端、审阅、图表及导出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可交互页面与正式导出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 · 40h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测试、部署与演示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故障复测 / 运行说明 / 答辩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 · 44h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资料与数据处理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来源许可 / 导入 / 资料版本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 · 56h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Harness与生成后端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 / 章节 / 检查点 / 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16091-44AF-4718-85DB-C01A9399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本次开题：田写报告、李做PPT、郭展示、崔整理课程资料、许完善代码、程统筹。均为任务安排。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A7E02-9532-49EC-BF3B-D9A44506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B145B-238B-41FE-9AF7-5314935B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1594749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DDAFEC-22EA-4661-ACA9-14A393C1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排期：先看谁等谁，再看什么时候交付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215F8-6EF4-485B-88B0-2FEAD90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3A381-71D7-4E0E-8DAA-CCA60CC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工作日试排 · 数字从0起算；输入与计算保存在 team/core-schedule.json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2CBCE-6F59-4CF2-A93D-3CBC844ACB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83260d4f44a0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7AE15-4017-42D7-B448-376E4C2C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72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任务 / 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3E037-D207-4616-9FA3-5F77859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049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BC13A-91FE-45D6-99D9-70EEE34B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71675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0F8AA-6393-434A-8634-1C90CC2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5049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613E5-5372-42B1-95C2-37C05CD5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71675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5DDC5-17ED-44BA-97B6-802ADD6B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8541D-9FC2-492C-A8F3-713BCEF5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D5D98-C985-41AA-A75D-57AC6C8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049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031FC-B67B-46E5-B214-DBEE61E7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71675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203E3-9DFC-43A9-9039-ADD05CA4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049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5D5AA-FA19-4B5B-BA7D-35D23EC5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71675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6F034-83B1-4180-9138-6CCF25D7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5049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5C2DA-8C93-44AF-8055-CCE5E365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971675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4EDAE-6512-4C8E-B7C8-A3348483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A 需求与资料</a:t>
            </a:r>
          </a:p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田亦洁 / 崔大元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58A58-5BB7-4AB8-9B85-4C461902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EDB51-991B-43BD-982E-6A8C370A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812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5日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374A7-3E1C-4C47-8544-FCCB72FD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B 模板与接口</a:t>
            </a:r>
          </a:p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许子萌 / 田亦洁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7641A-877D-4B31-B855-B4D6F11C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57475"/>
            <a:ext cx="828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6BE13-D2B9-47EF-AC92-EA145108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479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3日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E2553-9652-40C8-87C2-912A0A82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C 分章与恢复</a:t>
            </a:r>
          </a:p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许子萌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81B25-6BB9-446B-BA28-E034511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24200"/>
            <a:ext cx="1657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685713-90F4-453B-AE82-B1D03528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146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6日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A33B7-7624-4AFD-B519-9C9FBABE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F 前端页面</a:t>
            </a:r>
          </a:p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李佳雨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ADF42-BE57-4438-A0E3-888AD204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90925"/>
            <a:ext cx="828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5D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696D4D-E3DF-494C-B7E1-D044BBF6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581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3日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FCBAF-94DE-4BF1-A240-7A8EEAA4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D 审阅与导出</a:t>
            </a:r>
          </a:p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李佳雨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F97FA-31AA-4A34-96EF-6EB4A53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57650"/>
            <a:ext cx="1104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46ACCE-5CE2-4763-B191-74A31982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481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F44A46-9646-4AE9-9A4C-7E60A58A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E 联调验收</a:t>
            </a:r>
          </a:p>
          <a:p xmlns:a="http://schemas.openxmlformats.org/drawingml/2006/main">
            <a:pPr>
              <a:def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郭润航 / 田亦洁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E957FE-C16B-4ACB-A5E3-E4EAC3EC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FEDCEF-F629-4A0E-92FD-9CD36EA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148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5日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99018D-001B-4FC8-BEFB-E7FC68B8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24375"/>
            <a:ext cx="828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8F417E-A9CE-4D0A-B66F-352FA231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2482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缓冲3日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2E5E47-2A25-4B09-9E8A-17108B4A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蓝色串行链 A→B→C→D→E：23日；另留3日缓冲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B4F25D-5D98-4239-9092-D027F155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橙色F可并行，有6日浮动。仅为核心流程工作日试排；正式日期待通知，终期前另留3周系统测试。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1FDBF0-6066-4432-BC68-DB098DF8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E78D83-99CF-448C-A5E1-2CA568D1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1586586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2987A-7D0E-4E7D-AEFF-FFEBF6D9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成本与风险：设上限，也准备应对办法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D6CB6-1154-4D15-8B40-F787EEAF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2C4DA-EA04-45BF-AC1E-318592D7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人力计划268人时；现金建议上限200元，实际方案由组长确认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DAF87-0614-4A6D-BA4E-D2DD8B42F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a54aa58564e5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6D6CE-F309-45AE-94B2-0D30B6DE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1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160元 模型试验  +  40元 风险备用  =  200元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9C7BC-08D8-48C9-B5B6-50C78A164381}"/>
              </a:ext>
            </a:extLst>
          </p:cNvPr>
          <p:cNvGraphicFramePr/>
          <p:nvPr/>
        </p:nvGraphicFramePr>
        <p:xfrm>
          <a:off xmlns:a="http://schemas.openxmlformats.org/drawingml/2006/main" x="666750" y="2800350"/>
          <a:ext xmlns:a="http://schemas.openxmlformats.org/drawingml/2006/main" cx="108585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8965"/>
                <a:gridCol w="5212080"/>
                <a:gridCol w="2497455"/>
              </a:tblGrid>
              <a:tr h="631031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触发情况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采取措施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负责人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31031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模型失败或结果不明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保存进度；未知付费状态先确认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 / 程文博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资料口径或许可不清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回到原文核对；未核清不用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 / 内容作者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关键任务延期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核对依赖与投入，扩展功能后移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4D5DD-F0A9-4E47-9525-DEB8C4A9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P5第10、38页：人力、API与缓冲。200元是预算建议，不是报价或已支出；按实际调用核算。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D7E6A-8F3F-4624-92C7-B3F9B9D6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2F15F-7E75-47EE-BC01-865921C6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75555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24191-BDC1-40C9-A697-0493147A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验证与进度控制：用产物说明进展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23515-98CA-49B3-BC4C-E93BEE3D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78A11-5701-4176-93C5-59DC810B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已有结果与后续计划分开；AI输出和仓库检查都不能替代业务证据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C1E0F-69D4-496B-8E60-09C0C8418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c48e65ede48a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68AEE-C3A1-4CAB-AB19-9C3575E04897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4530"/>
                <a:gridCol w="5103495"/>
                <a:gridCol w="3800475"/>
              </a:tblGrid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怎样留证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已实际执行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16项基线测试通过；本地摘录流程运行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测试环境、日志、源码版本与截图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后续验证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两个产业复用、人工核对关键表述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输入资料、输出、检查清单与缺陷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后续验证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章节失败、进程重启、预算停止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故障注入、恢复产物与用量记录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D9DB1-F120-47AC-B164-58AAECC5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每周检查：验收产物 + 任务依赖 + 实际投入 + 变更原因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4254F-A109-4ABE-BA0E-BBE70655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基线0d6890e，Python 3.12.14，2026-10-24；模型测试使用模拟响应。尚无数据计算实际SPI/CPI。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9C0D4-2F47-4D28-9F4E-C0C03BE9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1B545-499C-4EA5-8076-0344DC92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20435912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17101-39F1-4429-AA6B-2F905603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下一步：先把计划变成团队确认的基线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C7D32-D0C0-46E9-AAC3-9BB411E5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2314C-8F10-483B-98F1-1042A98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人工负责问题、估计、证据与发布；AI承担起草、排版和重复劳动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82656-D1EF-4431-87B2-4BAF1A6CEA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106118b054799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EF3A5-8951-4733-B351-4422EBC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CDE17-2CB5-4333-A34F-07E31DB2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E914A-1FB3-4CB4-B108-2719B635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2D3CC-0998-4D87-8B7C-EDCAA37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开题前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E02B7-FF37-4D96-A9EE-6AD349B0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材料冻结与计时彩排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EF7AD-3856-4051-BC8A-AF74DF0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1A24B-3291-4397-8B74-AF770772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335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开题后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CA235-FEBB-4BA3-AB23-5C65DE3C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98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确认资料、模板与接口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62F10-0722-48E5-98F0-0972A782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E80A1-5EDF-43FD-89CF-F5962A1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335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随后集成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3E748-34E3-4381-8531-3BCAE2BB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098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按WBS实现与验收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93F9A-8BA4-4CCC-8014-16155D55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本次提交：项目计划书 PDF / 可编辑 PPTX / 展示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C7493-1B0A-4076-A1EB-AA8A6607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源码、分工、课程映射与参考资料随仓库维护。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成员应能解释自己负责的架构、数据流、关键函数和失败处理。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76BAD-0A2E-4C84-8DEB-3A06918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正式展示目标约7分钟，问答约3分钟；本稿讲述分配400秒，需实际彩排验证。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9F619-06FE-4878-A1E4-6E93574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78477-E7A4-4080-991F-F7C18B6C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12014918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0A1F8-107F-4D95-809E-3064BB7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备用：估算与关键路径怎样算出来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8CBA4-314F-47FE-98E3-60A41731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92FF1-5FAA-4D09-B141-937B7FD4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用于问答；输入假设、计算方法和适用边界均可追溯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C7794-EE37-42B4-9B2F-84EE77177A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a37192c5d439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E1163-3C31-4AA9-B949-9E130B62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PERT：E=(O+4M+P)/6 = 56h；σ=(P−O)/6 = 8h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78D5A-F232-448A-95C8-F585086320B2}"/>
              </a:ext>
            </a:extLst>
          </p:cNvPr>
          <p:cNvGraphicFramePr/>
          <p:nvPr/>
        </p:nvGraphicFramePr>
        <p:xfrm>
          <a:off xmlns:a="http://schemas.openxmlformats.org/drawingml/2006/main" x="666750" y="237172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31795"/>
                <a:gridCol w="1628775"/>
                <a:gridCol w="1628775"/>
                <a:gridCol w="2714625"/>
                <a:gridCol w="1954530"/>
              </a:tblGrid>
              <a:tr h="4762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活动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工期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最早起止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总浮动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A 需求资料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0—5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B 模板接口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3日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5—8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C 分章恢复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6日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8—14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F 前端页面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3日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5—8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6日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 审阅导出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C、F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4日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14—18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E 联调验收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18—23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6AE20-3B16-4B41-9320-12250DF7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前推ES=max前置EF；后推LF=min后继LS；浮动=LS−ES。零浮动链23日，另留3日缓冲。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5C520-FA10-4013-810D-73BB5EFA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32759-9C7E-4E2C-A905-5660309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18912541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DE067-4950-4D22-82B1-FEE1C2F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备用：来源与讲述边界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53F1B-0822-44D4-B954-5564D4A3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12947-B798-498C-989E-9C5E38E0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课程原件、本次真实运行和官方公开资料分别留存定位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653ED-99B7-4F41-B1F8-3591F13B4F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d20f4686e46c4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4542B-C060-43F9-94D6-D546E03699F8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28775"/>
                <a:gridCol w="6297930"/>
                <a:gridCol w="2931795"/>
              </a:tblGrid>
              <a:tr h="5683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可定位来源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本次用途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683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C1 / C2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老师P4：7、24、32、43页；P5：6、12、17—21页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课题、计划、分工与估算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R1 / R2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Anthropic：长期任务Harness；Building effective agents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进度产物、固定工作流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R3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LangGraph官方Persistence文档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持久化检查点与恢复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D1 / D2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工信部2024光伏制造；国家能源局2024并网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产量、价格与装机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D3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工信部2024年12月汽车工业经济运行情况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新能源汽车第二案例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BFAB4-0109-4C38-8FA3-E1104DE8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学长分享仅依据组长说明；技术细节用官方来源核对。</a:t>
            </a:r>
          </a:p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ChronoMemo参考结构与版式；产业数据和运行结果由本项目另行留证。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885CC-7970-4224-A576-BA17188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/ 开题评阅稿 v0.8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D08C8-6045-4C3D-9FB9-A318FE97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93548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2026-10-24T14:47:56.1670000Z</dcterms:created>
  <dcterms:modified xsi:type="dcterms:W3CDTF">2026-10-24T14:47:56.1670000Z</dcterms:modified>
</coreProperties>
</file>