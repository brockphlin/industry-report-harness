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a17818285a45d5" /><Relationship Type="http://schemas.openxmlformats.org/officeDocument/2006/relationships/extended-properties" Target="/docProps/app.xml" Id="R76da516b12be44e4" /><Relationship Type="http://schemas.openxmlformats.org/officeDocument/2006/relationships/officeDocument" Target="/ppt/presentation.xml" Id="R9667fb548a644f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775339d434a8f"/>
  </p:sldMasterIdLst>
  <p:notesMasterIdLst>
    <p:notesMasterId xmlns:r="http://schemas.openxmlformats.org/officeDocument/2006/relationships" r:id="R37ef8a0bf1d549a1"/>
  </p:notesMasterIdLst>
  <p:sldIdLst>
    <p:sldId xmlns:r="http://schemas.openxmlformats.org/officeDocument/2006/relationships" id="256" r:id="R6dce35f1fcfa432d"/>
    <p:sldId xmlns:r="http://schemas.openxmlformats.org/officeDocument/2006/relationships" id="257" r:id="Rcea78ea0f115462c"/>
    <p:sldId xmlns:r="http://schemas.openxmlformats.org/officeDocument/2006/relationships" id="258" r:id="R95b3cfae8d8544d8"/>
    <p:sldId xmlns:r="http://schemas.openxmlformats.org/officeDocument/2006/relationships" id="259" r:id="Rda0a24f3e5804952"/>
    <p:sldId xmlns:r="http://schemas.openxmlformats.org/officeDocument/2006/relationships" id="260" r:id="R4259c0bafa1e40da"/>
    <p:sldId xmlns:r="http://schemas.openxmlformats.org/officeDocument/2006/relationships" id="261" r:id="R35e920d0e9e34ece"/>
    <p:sldId xmlns:r="http://schemas.openxmlformats.org/officeDocument/2006/relationships" id="262" r:id="R33114d2ea73d4b76"/>
    <p:sldId xmlns:r="http://schemas.openxmlformats.org/officeDocument/2006/relationships" id="263" r:id="Rd22a756922804f0b"/>
    <p:sldId xmlns:r="http://schemas.openxmlformats.org/officeDocument/2006/relationships" id="264" r:id="R5bbb44d9a7024548"/>
    <p:sldId xmlns:r="http://schemas.openxmlformats.org/officeDocument/2006/relationships" id="265" r:id="R4e830af2dd954ff6"/>
    <p:sldId xmlns:r="http://schemas.openxmlformats.org/officeDocument/2006/relationships" id="266" r:id="Rddf57efa3bf24f6d"/>
    <p:sldId xmlns:r="http://schemas.openxmlformats.org/officeDocument/2006/relationships" id="267" r:id="R5641c6804e194a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8bb826a7404e1c" /><Relationship Type="http://schemas.openxmlformats.org/officeDocument/2006/relationships/slideMaster" Target="/ppt/slideMasters/slideMaster1.xml" Id="Rac8775339d434a8f" /><Relationship Type="http://schemas.openxmlformats.org/officeDocument/2006/relationships/notesMaster" Target="/ppt/notesMasters/notesMaster1.xml" Id="R37ef8a0bf1d549a1" /><Relationship Type="http://schemas.openxmlformats.org/officeDocument/2006/relationships/presProps" Target="/ppt/presProps.xml" Id="R18e0d188d3794265" /><Relationship Type="http://schemas.openxmlformats.org/officeDocument/2006/relationships/tableStyles" Target="/ppt/tableStyles.xml" Id="R2a9200701b78417d" /><Relationship Type="http://schemas.openxmlformats.org/officeDocument/2006/relationships/slide" Target="/ppt/slides/slide1.xml" Id="R6dce35f1fcfa432d" /><Relationship Type="http://schemas.openxmlformats.org/officeDocument/2006/relationships/slide" Target="/ppt/slides/slide2.xml" Id="Rcea78ea0f115462c" /><Relationship Type="http://schemas.openxmlformats.org/officeDocument/2006/relationships/slide" Target="/ppt/slides/slide3.xml" Id="R95b3cfae8d8544d8" /><Relationship Type="http://schemas.openxmlformats.org/officeDocument/2006/relationships/slide" Target="/ppt/slides/slide4.xml" Id="Rda0a24f3e5804952" /><Relationship Type="http://schemas.openxmlformats.org/officeDocument/2006/relationships/slide" Target="/ppt/slides/slide5.xml" Id="R4259c0bafa1e40da" /><Relationship Type="http://schemas.openxmlformats.org/officeDocument/2006/relationships/slide" Target="/ppt/slides/slide6.xml" Id="R35e920d0e9e34ece" /><Relationship Type="http://schemas.openxmlformats.org/officeDocument/2006/relationships/slide" Target="/ppt/slides/slide7.xml" Id="R33114d2ea73d4b76" /><Relationship Type="http://schemas.openxmlformats.org/officeDocument/2006/relationships/slide" Target="/ppt/slides/slide8.xml" Id="Rd22a756922804f0b" /><Relationship Type="http://schemas.openxmlformats.org/officeDocument/2006/relationships/slide" Target="/ppt/slides/slide9.xml" Id="R5bbb44d9a7024548" /><Relationship Type="http://schemas.openxmlformats.org/officeDocument/2006/relationships/slide" Target="/ppt/slides/slide10.xml" Id="R4e830af2dd954ff6" /><Relationship Type="http://schemas.openxmlformats.org/officeDocument/2006/relationships/slide" Target="/ppt/slides/slide11.xml" Id="Rddf57efa3bf24f6d" /><Relationship Type="http://schemas.openxmlformats.org/officeDocument/2006/relationships/slide" Target="/ppt/slides/slide12.xml" Id="R5641c6804e194a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d01689b34d40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0977c995dc46f8" /><Relationship Type="http://schemas.openxmlformats.org/officeDocument/2006/relationships/notesMaster" Target="/ppt/notesMasters/notesMaster1.xml" Id="R1e5736997ef74a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48e21537994c0a" /><Relationship Type="http://schemas.openxmlformats.org/officeDocument/2006/relationships/notesMaster" Target="/ppt/notesMasters/notesMaster1.xml" Id="R2a06c7a6239c4a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556e3d60174083" /><Relationship Type="http://schemas.openxmlformats.org/officeDocument/2006/relationships/notesMaster" Target="/ppt/notesMasters/notesMaster1.xml" Id="R3f5ef19a827a45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b4a340df4b4e79" /><Relationship Type="http://schemas.openxmlformats.org/officeDocument/2006/relationships/notesMaster" Target="/ppt/notesMasters/notesMaster1.xml" Id="Raa9b8c3c60ad40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3a271be28e475f" /><Relationship Type="http://schemas.openxmlformats.org/officeDocument/2006/relationships/notesMaster" Target="/ppt/notesMasters/notesMaster1.xml" Id="R7d21c72293b946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55577a89414573" /><Relationship Type="http://schemas.openxmlformats.org/officeDocument/2006/relationships/notesMaster" Target="/ppt/notesMasters/notesMaster1.xml" Id="Ra7db9f9b4cae4e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456b99f98e4c4d" /><Relationship Type="http://schemas.openxmlformats.org/officeDocument/2006/relationships/notesMaster" Target="/ppt/notesMasters/notesMaster1.xml" Id="Ra145b26500dd4d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60983eb22949ef" /><Relationship Type="http://schemas.openxmlformats.org/officeDocument/2006/relationships/notesMaster" Target="/ppt/notesMasters/notesMaster1.xml" Id="Rde4ce2c990e340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0049584c864aa3" /><Relationship Type="http://schemas.openxmlformats.org/officeDocument/2006/relationships/notesMaster" Target="/ppt/notesMasters/notesMaster1.xml" Id="R49171daff75241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19e9f4e56e4570" /><Relationship Type="http://schemas.openxmlformats.org/officeDocument/2006/relationships/notesMaster" Target="/ppt/notesMasters/notesMaster1.xml" Id="Ra61a8512829248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31a75fd5a84041" /><Relationship Type="http://schemas.openxmlformats.org/officeDocument/2006/relationships/notesMaster" Target="/ppt/notesMasters/notesMaster1.xml" Id="R17d58e23e58446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ec31589e904264" /><Relationship Type="http://schemas.openxmlformats.org/officeDocument/2006/relationships/notesMaster" Target="/ppt/notesMasters/notesMaster1.xml" Id="Rf9e9c8e8bffe44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选择的是产业大模型报告生成引擎：面向政府智库、产业规划和行业研究，把资料和数据按模板组织成规范、有出处、能够修改的产业报告。下面介绍要做哪些功能，以及我们怎样分阶段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选题面向政府智库、产业规划和行业研究。比如研究人员要写一份产业报告，常常要重新找资料、搭结构，还要手动对齐数字和图表。我们希望解决的是写得慢、结构不统一、数据和内容脱节这三个问题。系统按模板先生成能够核对的草稿，再由人修改和确认，形成完善的产业报告。这些痛点来自选题要求，后面还需要通过真实用户任务核实，不能把它当成已经做过调研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和内容怎样联动？看这个光伏例子：工信部公布的2024年组件产量增长13.5%，但组件价格下降29.7%，所以不能只看产量就写行业全面向好。右侧588GW是组件产量，278GW是新增装机，含义也不同。我们计划让报告中的数字和图表关联同一份数据记录，保留时间、单位和出处；写出的观点还要回到原文核对。这张图是人工整理的设计例子，不是系统已经自动生成的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仍然围绕四项能力展开。第一，管理模板，但这里要分两种：内容模板规定一份产业分析或对标报告该写哪些章节；版式模板决定PDF的字体、页眉页脚和分页。第二，先组织提纲，再逐章生成，内容统一用Markdown这种轻量的文本格式保存。第三，数据进入正文和图表，关键观点关联原文，证据不足时提示。第四，经过公文风格润色和人工确认，同一份Markdown可以选择不同版式导出PDF，并保存内容和模板的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我们的主流程。资料进入系统后，先按内容模板列提纲。写某一章之前，模型还可以调用参考报告检索工具，查看类似章节的结构和写法，再结合这次资料生成Markdown。它是一种带标题、表格和图片引用的文本格式，方便修改和比较版本。人工确认内容后，选择研究版或简报版导出PDF。换版式不重新生成结论。参考报告不是事实依据，来源和图表数据要另外保存。Harness负责安排步骤、保存进度，并记录查了什么，失败后能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类报告的区别主要在内容模板：产业分析看规模、产业链和趋势；景气报告看供需和价格；对标报告让多个对象按相同指标比较；招商报告关注产业基础、目标企业和配套；出海研判关注目标市场、准入和风险。本学期先用产业分析和对标两类、两个产业验收完整流程，其他类型逐步扩展。版式则单独验证：同一份确认后的Markdown，要能导出研究版和简报版两种PDF，两份都保留相同事实、图表和来源，中文、目录和分页也要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整个学期的大概安排。每一行是一个阶段，从左到右是先推进主要工作，再完善，最后留出检查和展示的时间。开题前，我们先明确问题、范围和分工，检查计划书和PPT。接着用11月上旬确认需求、资料和接口，中旬把生成流程和页面接起来，月底集中联调，准备11月30日的中期展示。12月先完善恢复和导出，从12月7日起留三周做测试、修复和复测，再整理材料。课表把12月28日列为课程收尾，正式提交截止还以通知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课程介绍PDF文件顺序第47页（原页未印数字页码）《课时安排》：10月26日开题，11月30日中期，12月28日项目收尾、课程总结。该页未给正式终期提交截止。</a:t>
            </a:r>
          </a:p>
          <a:p xmlns:a="http://schemas.openxmlformats.org/drawingml/2006/main">
            <a:r>
              <a:t>文件：materials/course-slides/1.1 软件工程管理课程介绍(1).pdf</a:t>
            </a:r>
          </a:p>
          <a:p xmlns:a="http://schemas.openxmlformats.org/drawingml/2006/main">
            <a:r>
              <a:t>阶段内起止为本组暂排，见team/semester-timeline.json；不把计划当作已完成实绩。图条长度不表示实际天数。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人仍按原分工推进。程文博统筹范围、进度和验收；田亦洁负责需求、模板规则和系统设计；崔大元整理资料、数据口径和来源；许子萌完成模板、分章生成和流程后端；李佳雨负责页面、审阅、图表展示和导出；我负责测试、部署和汇报。交接要讲清输入输出、失败情况和未完成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同一个GitHub仓库维护代码、报告和PPT源码。每个人在自己的分支修改，完成后提交PR，请其他成员检查，再由组长确认合并。Markdown内容和PDF版式模板也在这里分开维护，改内容或改版式都有记录。每周一下午软工管课后，我们简单讨论一下：这周完成了什么，卡在哪里，下周各自做什么。有范围或模板变化就记下来，同步到任务和验收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份外部报告不仅可以作为版式参考，我们还想把它们用到生成过程中。计划给模型一个参考报告检索工具：比如要写产业对标，就按报告类型和当前章节，查相关提纲、少量写作片段或图表规范，返回时带上报告名称和页码。模型借鉴怎样组织内容，数字和结论仍然要来自本次资料，不能把参考报告里的旧结论直接搬过来。这个想法有没有帮助，还要做对照：相同资料和任务，分别有工具和没工具生成，比较结构完整性、事实错误和人工修改量。这是计划试验，不是已经实现或证明的创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R4 用户提供McKinsey Technology Trends Outlook 2026，PDF第3、5、13页（印刷1、3、11页）。</a:t>
            </a:r>
          </a:p>
          <a:p xmlns:a="http://schemas.openxmlformats.org/drawingml/2006/main">
            <a:r>
              <a:t>R5 用户提供Stanford AI Index Report 2026，PDF第2、14、20页（印刷1、13、19页）。</a:t>
            </a:r>
          </a:p>
          <a:p xmlns:a="http://schemas.openxmlformats.org/drawingml/2006/main">
            <a:r>
              <a:t>只用于结构和版式观察；原PDF未加入团队仓库。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风险也围绕报告质量来控制。模型失败，要能定位步骤并保留已有结果；数字、单位或出处对不上，就回原文核对，证据不足不能硬写结论。润色时还要防止把原意改掉。关键任务卡住就及时协调，优先跑通选模板到导出的完整流程。不同成员的修改通过分支和PR检查后再合并，问题和处理结果留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报告§8的项目风险安排；具体执行结果按任务、PR与测试记录核对。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原型可以保存资料、生成摘录、查看来源快照、保存历史和下载Markdown。截图没有调用模型，十八项基线测试使用了模拟响应，所以还不能代表完整报告引擎。接下来先跑通模板、分章生成、数据图表、溯源和润色，再把Markdown导出成不同版式的PDF。参考报告检索会先做小规模对照，效果好再逐步完善。我们会在不断摸索和验证的过程中，逐步形成自己的创新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a4db515ad4b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75b1837b743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9b679f62b49f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0f9b61f1e45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4656125b784b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675eab9f8846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D5E049-9B22-45DF-9AB6-E072D83D93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54C31B-4099-4B62-8E6F-73F7A480CB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45534E-4899-4362-87C1-7BD1FD5E0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1126B3-AA99-4189-BB96-FB8F9667C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B628BC-DE73-4189-ADA3-40EBD6D77A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499C48-4B35-4B12-B3FB-7DF9F4C880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10C1EC-48D9-42F3-823F-4E2B08E34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C5EAAB-6EDB-4F57-B11D-C36D43AC37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286A8D-95E3-47BA-B34F-87F806A1FE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A7A38F-4811-4796-9716-ECFCB5CC5E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4e1e903ec482e" /><Relationship Type="http://schemas.openxmlformats.org/officeDocument/2006/relationships/slideLayout" Target="/ppt/slideLayouts/slideLayout1.xml" Id="R32e05a7db4b14101" /><Relationship Type="http://schemas.openxmlformats.org/officeDocument/2006/relationships/slideLayout" Target="/ppt/slideLayouts/slideLayout2.xml" Id="R15a0ed5a0137405e" /><Relationship Type="http://schemas.openxmlformats.org/officeDocument/2006/relationships/slideLayout" Target="/ppt/slideLayouts/slideLayout3.xml" Id="R59694a0103284795" /><Relationship Type="http://schemas.openxmlformats.org/officeDocument/2006/relationships/slideLayout" Target="/ppt/slideLayouts/slideLayout4.xml" Id="Rdb8938aac5694ed7" /><Relationship Type="http://schemas.openxmlformats.org/officeDocument/2006/relationships/slideLayout" Target="/ppt/slideLayouts/slideLayout5.xml" Id="Rec011abce88b416d" /><Relationship Type="http://schemas.openxmlformats.org/officeDocument/2006/relationships/slideLayout" Target="/ppt/slideLayouts/slideLayout6.xml" Id="R53995009d4bd4c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e05a7db4b14101"/>
    <p:sldLayoutId xmlns:r="http://schemas.openxmlformats.org/officeDocument/2006/relationships" id="2147483650" r:id="R15a0ed5a0137405e"/>
    <p:sldLayoutId xmlns:r="http://schemas.openxmlformats.org/officeDocument/2006/relationships" id="2147483651" r:id="R59694a0103284795"/>
    <p:sldLayoutId xmlns:r="http://schemas.openxmlformats.org/officeDocument/2006/relationships" id="2147483652" r:id="Rdb8938aac5694ed7"/>
    <p:sldLayoutId xmlns:r="http://schemas.openxmlformats.org/officeDocument/2006/relationships" id="2147483653" r:id="Rec011abce88b416d"/>
    <p:sldLayoutId xmlns:r="http://schemas.openxmlformats.org/officeDocument/2006/relationships" id="2147483654" r:id="R53995009d4bd4c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4dd67d017b4b3d" /><Relationship Type="http://schemas.openxmlformats.org/officeDocument/2006/relationships/image" Target="/ppt/media/image.png" Id="R7552dbb399ae4ed8" /><Relationship Type="http://schemas.openxmlformats.org/officeDocument/2006/relationships/notesSlide" Target="/ppt/notesSlides/notesSlide1.xml" Id="R14e95eb65c5b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7f75be2e5f41c1" /><Relationship Type="http://schemas.openxmlformats.org/officeDocument/2006/relationships/image" Target="/ppt/media/image2.png" Id="Rc4f377c3e27c47a8" /><Relationship Type="http://schemas.openxmlformats.org/officeDocument/2006/relationships/notesSlide" Target="/ppt/notesSlides/notesSlide2.xml" Id="Re748180634984d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ec7278507640ac" /><Relationship Type="http://schemas.openxmlformats.org/officeDocument/2006/relationships/image" Target="/ppt/media/image3.png" Id="Rfd33961cd76544da" /><Relationship Type="http://schemas.openxmlformats.org/officeDocument/2006/relationships/chart" Target="/ppt/slides/charts/chart1.xml" Id="Ra06e3e40ecaf4b27" /><Relationship Type="http://schemas.openxmlformats.org/officeDocument/2006/relationships/notesSlide" Target="/ppt/notesSlides/notesSlide3.xml" Id="Rf3e99e30707341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236e0e57ec4266" /><Relationship Type="http://schemas.openxmlformats.org/officeDocument/2006/relationships/image" Target="/ppt/media/image4.png" Id="R9eefd8a873f94226" /><Relationship Type="http://schemas.openxmlformats.org/officeDocument/2006/relationships/notesSlide" Target="/ppt/notesSlides/notesSlide4.xml" Id="Rcb48b73d0ed443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a78260769b4cbf" /><Relationship Type="http://schemas.openxmlformats.org/officeDocument/2006/relationships/image" Target="/ppt/media/image5.png" Id="R03a9c5c821804f1e" /><Relationship Type="http://schemas.openxmlformats.org/officeDocument/2006/relationships/notesSlide" Target="/ppt/notesSlides/notesSlide5.xml" Id="Rfa87c56112074a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2040150a8f400e" /><Relationship Type="http://schemas.openxmlformats.org/officeDocument/2006/relationships/image" Target="/ppt/media/image6.png" Id="R9921399d55f041ae" /><Relationship Type="http://schemas.openxmlformats.org/officeDocument/2006/relationships/notesSlide" Target="/ppt/notesSlides/notesSlide6.xml" Id="R1ee6277442fe4a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39dfd2fb045a9" /><Relationship Type="http://schemas.openxmlformats.org/officeDocument/2006/relationships/image" Target="/ppt/media/image7.png" Id="R362f4e8f97824d27" /><Relationship Type="http://schemas.openxmlformats.org/officeDocument/2006/relationships/notesSlide" Target="/ppt/notesSlides/notesSlide7.xml" Id="R835be60720ed43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f9c1edfa14975" /><Relationship Type="http://schemas.openxmlformats.org/officeDocument/2006/relationships/image" Target="/ppt/media/image8.png" Id="Rf87be499ae0e4621" /><Relationship Type="http://schemas.openxmlformats.org/officeDocument/2006/relationships/notesSlide" Target="/ppt/notesSlides/notesSlide8.xml" Id="R3b2b10082be640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8e500e52a463c" /><Relationship Type="http://schemas.openxmlformats.org/officeDocument/2006/relationships/image" Target="/ppt/media/image9.png" Id="Re6c737004b914f17" /><Relationship Type="http://schemas.openxmlformats.org/officeDocument/2006/relationships/image" Target="/ppt/media/image10.png" Id="R88327b7cd11d410a" /><Relationship Type="http://schemas.openxmlformats.org/officeDocument/2006/relationships/notesSlide" Target="/ppt/notesSlides/notesSlide9.xml" Id="R8657a34446aa41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7a0478ebc4117" /><Relationship Type="http://schemas.openxmlformats.org/officeDocument/2006/relationships/image" Target="/ppt/media/image11.png" Id="Rf1fa376068cc4c29" /><Relationship Type="http://schemas.openxmlformats.org/officeDocument/2006/relationships/image" Target="/ppt/media/image12.png" Id="R99afd7a8f1ed49f4" /><Relationship Type="http://schemas.openxmlformats.org/officeDocument/2006/relationships/image" Target="/ppt/media/image13.png" Id="R426a8fc035fc4c45" /><Relationship Type="http://schemas.openxmlformats.org/officeDocument/2006/relationships/notesSlide" Target="/ppt/notesSlides/notesSlide10.xml" Id="Ref7f6a4ced5a42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495aea484f464c" /><Relationship Type="http://schemas.openxmlformats.org/officeDocument/2006/relationships/image" Target="/ppt/media/image14.png" Id="Rbb7190fbfe974e21" /><Relationship Type="http://schemas.openxmlformats.org/officeDocument/2006/relationships/notesSlide" Target="/ppt/notesSlides/notesSlide11.xml" Id="Ra145910053ae47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f8ff38896448a" /><Relationship Type="http://schemas.openxmlformats.org/officeDocument/2006/relationships/image" Target="/ppt/media/image15.png" Id="Ra8df9e3b02434f77" /><Relationship Type="http://schemas.openxmlformats.org/officeDocument/2006/relationships/image" Target="/ppt/media/image16.png" Id="R68943309cc6844d6" /><Relationship Type="http://schemas.openxmlformats.org/officeDocument/2006/relationships/notesSlide" Target="/ppt/notesSlides/notesSlide12.xml" Id="R401d59729d55401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比上一年变化</c:v>
          </c:tx>
          <c:spPr>
            <a:solidFill xmlns:a="http://schemas.openxmlformats.org/drawingml/2006/main">
              <a:srgbClr val="003F8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03F8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D5D23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组件产量</c:v>
                </c:pt>
                <c:pt idx="1">
                  <c:v>组件价格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0.135</c:v>
                </c:pt>
                <c:pt idx="1">
                  <c:v>-0.297</c:v>
                </c:pt>
              </c:numCache>
            </c:numRef>
          </c:val>
        </c:ser>
        <c:dLbls>
          <c:numFmt formatCode="0.0%;-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>
                  <a:solidFill>
                    <a:srgbClr val="233042"/>
                  </a:solidFill>
                  <a:latin typeface="LXGW WenKai"/>
                  <a:ea typeface="LXGW WenKai"/>
                  <a:cs typeface="LXGW WenKa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0.4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6D803-A1A8-40D3-8FE3-77DE6F0B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95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B6129-A704-4EFE-ABDD-F26223D190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2dbb399ae4ed8"/>
          <a:stretch xmlns:a="http://schemas.openxmlformats.org/drawingml/2006/main"/>
        </p:blipFill>
        <p:spPr>
          <a:xfrm xmlns:a="http://schemas.openxmlformats.org/drawingml/2006/main">
            <a:off x="711553" y="523875"/>
            <a:ext cx="2958394" cy="1028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ECB74-110F-4739-B68A-0D4F15E6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435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产业智能报告生成系统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17970-D105-49C3-89F8-8705832D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6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《软件工程管理》第十一组小组开题展示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F8F09-5BF4-4F30-8178-B0B4DE80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第11组　组长：程文博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25A49-81FC-4B1C-8686-BC1C5F07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组员：田亦洁、李佳雨、许子萌、崔大元、郭润航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32EB8-8202-4EA7-8C2B-EF7E954E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482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展示人：郭润航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5EACB-0EF1-45A7-9DC9-F3349E3C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软件工程管理 · 2026年10月26日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C7571-A584-409B-9E6B-A47265EF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B07D3-5A6B-409E-BCE1-1A28C605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262300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50DE0-482B-4C9A-A247-63973DE1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面向真实产业研究，解决写报告的三个难点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6374B-F48D-4B82-ABEE-08B3EFC2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84CCB-CC8B-4F73-A926-9847176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目标场景：政府智库、产业规划与行业研究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DA264-DA1E-4A36-B228-F8CB2D8264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377c3e27c47a8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E6852-DE17-4E07-A829-1A7BF524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写得慢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AB0A8-23BA-4D99-BB60-3BBDC5C0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资料反复搜集，章节逐段编写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8366B-EEA9-40A0-B130-6830425F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结构不统一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41ACA-2A77-4C10-8A5B-89C52EDD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051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同类报告提纲不同，内容难以复用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C207B-9944-49CA-9ECA-C0730475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数据联动弱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16BDC-5B11-4C6D-A96A-9A77750B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5760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数字、图表与观点脱节，出处难回查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85818-8B3F-4F40-9CD1-7299D810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我们的目标：按模板生成可核对的草稿，经人修改和确认，</a:t>
            </a:r>
          </a:p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形成完善的产业报告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D7C5D-AD98-44C7-847D-82FC6C70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91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痛点来自选题定义；专业用户需求和实际收益仍需调研验证。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AFB22-0B74-4E6D-9AB0-2DD77AF5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328EC-2D30-46FC-A571-0D952A03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2025990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185FD-EE3A-4158-8294-CEC0CEFA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同样是光伏数据，两个数字不能混用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B3BCB-6C2E-4CD3-87CB-02456DE1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B67B5-BA3D-460C-929D-2EE9CEEB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2024年公开数据示例：写进报告前，要先看清指标和单位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81591-05FA-46F5-9FAF-7B3123BB08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3961cd76544da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87CD3-AA2D-4C97-9FE4-DB5569A0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组件产量增加，组件价格下降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90DBB66-97B8-42F9-A2FD-D877E97D27E0}"/>
              </a:ext>
            </a:extLst>
          </p:cNvPr>
          <p:cNvGraphicFramePr/>
          <p:nvPr/>
        </p:nvGraphicFramePr>
        <p:xfrm>
          <a:off xmlns:a="http://schemas.openxmlformats.org/drawingml/2006/main" x="666750" y="2209800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6e3e40ecaf4b2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39E53-2971-4E7B-A7D7-4844ECFD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73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588 GW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1E76C-B8F8-4550-8CD2-9E667F11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组件产量</a:t>
            </a:r>
          </a:p>
          <a:p xmlns:a="http://schemas.openxmlformats.org/drawingml/2006/main">
            <a:pPr>
              <a:def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制造了多少光伏组件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6EDFA8-4B3F-48BC-9EB3-58E5A80B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2427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36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278 GW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3AAC8-5E5D-448E-879F-0779F292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新增装机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新增投入使用的发电容量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B563B-6FCE-4E8B-A30A-AA57AE66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左图为比上一年的变化；来源：工信部2024光伏制造统计、国家能源局2024并网运行统计。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E8816-03F9-4C19-B30A-19A079D7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B05DC-F298-49E2-B2B1-755936B2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6783715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A4E9F-E5FF-4D18-96C7-E0C8C342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报告引擎要做好哪四件事？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8D437-9EA9-4D88-B386-B5790586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8BB59-6785-44AD-B4A3-ECB3DA72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模板化、结构化、可溯源、可定制，落实到具体功能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594CF-0B13-4305-997E-235926635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fd8a873f94226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04F47-702B-4603-87C1-333B7F8B5B56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57550"/>
                <a:gridCol w="7600950"/>
              </a:tblGrid>
              <a:tr h="7429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核心能力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系统具体要做什么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429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报告模板管理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区分报告提纲模板与PDF版式模板，分别管理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长文本结构化生成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先组织提纲，再分章填充，检查章节衔接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数据、图表与观点溯源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嵌入数据、生成图表；关联原文，提示证据不足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润色、导出与版本管理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公文风格润色；Markdown定稿后换版式导出PDF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4C1A2-E947-4D95-A427-4DF33330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可定制：产业主题、章节提纲、写作风格与PDF版式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71074-E50F-4B74-81A2-A6E00A68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8B6F5-2822-4CC8-A0C3-2F77BBE1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97779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E39157-6DE3-4917-8E70-63C08160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Markdown写内容，模板决定PDF长什么样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E5261-DDF8-4618-8363-A6F09C95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80F49-FEC6-47C9-A862-1FA7D7E8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内容与版式分开：同一份确认稿，可导出不同风格的PDF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0B1EE-091F-4784-9369-D014D723F2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9c5c821804f1e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C1D2E-364E-4D77-956C-3AE8E6C4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A903D-0504-42C8-816D-1595849B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43246-280C-484F-BD5C-F35E0D8D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23E77-FCCB-4B6B-BE47-B36AE7C0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资料与数据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9FBA0-3765-4BD9-9FB3-B82CDCEA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保留来源、年份和单位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A47E3-3DF1-44E8-A0E0-54A0BEA9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1238C-C6C0-47CA-B604-94565462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内容模板与参考工具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9B499-A3AC-4008-99F5-BC9C541B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定章节，查相关结构与写法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029384-BE9F-40C2-9017-CA2F2C0D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C01CF-E59C-47CC-8E83-C06A8FAD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Markdown报告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BB13D-5123-481C-8977-094BCC0C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145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保存正文、图表引用与出处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3854D-7922-4E89-99D8-530037DF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62250"/>
            <a:ext cx="14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8F393-C19A-4976-A1AA-EDF78162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3250"/>
            <a:ext cx="7715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FB02B-55D4-49A0-9187-2E41697F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143250"/>
            <a:ext cx="14288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CE7C2-8B2E-4D74-8F45-DABCC590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86E670-70D1-48CC-8B20-C2FD7DB4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67175"/>
            <a:ext cx="714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AE45C-31CB-491B-B1E3-3B2A42F7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B06A2-E8BB-494F-8DF1-D16B236B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润色与人工审阅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41E00-BE52-47C3-B4C9-13C887F4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核对事实，确认内容版本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C27B9-F699-4AD2-B093-EB88B242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CE854-925F-4692-B41F-1DCDDBFE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选择版式模板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9ED35-5EA3-4161-B4E3-1CD10C60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研究版 / 简报版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58EBC1-5D97-46A0-A5C9-E2899940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433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BBF2B8-2B38-40B4-A269-F2CD850A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67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导出PDF与版本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C9F07C-D5CE-443F-A9D2-C93C1D94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保存内容版、模板版和成品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D87795-930E-4BF1-B91B-7460578C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同一份Markdown不必重复撰写，换版式模板即可重新导出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909A8C-B6C5-4889-8C33-C3288824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Harness按步骤保存进度；来源与图表数据另存记录。这是目标流程，尚未全部实现。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A28DAB-A91D-41B7-A556-F67588A9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3FC3C5-7CC3-4C8B-9AB4-B82DDA8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593060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D51EC2-F16F-4EE9-A1C7-40B0C72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五类报告如何做？本学期先验收什么？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21F5A-20D9-4AD8-A423-C3E6D611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AAB54-D6AB-4B94-8FA8-0905E95D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模板体系面向五类报告；优先把两类报告的完整流程做扎实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57667-B5E7-4361-AB2C-5673A0FE3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1399d55f041ae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F5EFD-89B4-471F-AD9B-9A3AADFADAB6}"/>
              </a:ext>
            </a:extLst>
          </p:cNvPr>
          <p:cNvGraphicFramePr/>
          <p:nvPr/>
        </p:nvGraphicFramePr>
        <p:xfrm>
          <a:off xmlns:a="http://schemas.openxmlformats.org/drawingml/2006/main" x="666750" y="1590675"/>
          <a:ext xmlns:a="http://schemas.openxmlformats.org/drawingml/2006/main" cx="108585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8870"/>
                <a:gridCol w="6189345"/>
                <a:gridCol w="2280285"/>
              </a:tblGrid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报告类型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模板重点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推进安排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产业分析报告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规模、产业链、竞争格局与趋势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首轮跑通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景气报告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供需、价格与景气变化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分步扩展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对标报告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多个对象采用同一指标口径比较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首轮跑通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招商报告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产业基础、目标企业与配套条件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分步扩展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出海研判报告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目标市场、准入条件与风险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分步扩展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12A9E-7507-43AA-957B-9AC7854B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先验收：两类报告 × 两个产业；数据入文、图表生成、观点查源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4E10E-E3BE-4BF3-870D-61D565D3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还要检查：同一份Markdown能导出研究版、简报版两种PDF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5041F-3C17-4AD8-8A70-874AD996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其余三类模板为后续扩展，不能据此声称五类完整报告都已实现。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D059B-C62F-44F7-9621-F20B5C2A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41248-FE40-4C04-BEB0-6C7A60A6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513340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25EB3F-4F67-4897-B45D-159638C4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学期时间安排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404B5-77CB-4C12-9DB1-F1FEAF23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517894-E501-444A-B487-78AA2E13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开题前定方向，11月跑通流程，12月完善、测试和交付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DD2D9-F6E2-4EE3-AD61-F78B09870D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f4e8f97824d27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1D3C8-2B57-4FC1-869B-F44C744C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首轮推进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29FC8-FCD5-4CB0-AC34-710351AD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764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二轮完善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DFEAF-A989-4BF7-98FB-C3C84104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检查与展示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8D193-1DBB-4773-8EAA-83D72B39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开题准备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054E5-6A3C-49BF-A0F6-45F60924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12994-E004-4336-8CF9-38AFB6A3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10月中下旬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75B0A-D81B-47B2-9A9B-59E94577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问题、范围与分工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F3A7E-9B19-4DCF-9284-30D1365B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CF05B-9FD0-4F0D-B357-A9201153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0505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10.24—10.25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2022B-11D2-4E41-8BDB-8E74EA05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051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计划书、PPT检查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2D7C0-5753-4E52-938B-F7846887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A8B90-A864-424D-AAD9-435BF66A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10.26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79550-8F21-40BF-AF1E-2B26FEFF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0510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开题展示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10197-5E97-4EE0-A7A7-9B9B058C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中期版本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E61198-7E0C-4F91-83F4-A61E5094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E0C84D-40B9-4A98-99D1-9F3D12AC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10.27—11.08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37CE4-B728-4C6A-B2A2-BB7EDC0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需求、资料与接口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ABA03-B9B1-4AD6-B758-21E28613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76625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062D9-1152-4D31-84B1-700718A4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909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11.09—11.22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9D097-5F7D-410A-9884-002A1370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90975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生成流程、页面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08A5BA-038A-4C8C-8F6B-2840A0CA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35E7F-A879-482F-AF78-8A61BEA6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90925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11.23—11.30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440C2-7EE0-4EF0-AC75-9FEA6FDC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90975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联调修复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11.30中期展示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767891-900A-4DC7-9711-847CA6F8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后期完善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34C0AC-0515-4A48-844F-0D1A6984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37834-84BD-4CCC-BDBE-B4239EC5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12.01—12.06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2C1E33-8CC9-4785-AD3E-FF497172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完善恢复与导出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EB0BE-1A4D-41CA-AD7E-7C4E4D2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62500"/>
            <a:ext cx="3238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B1F42D-4A79-4351-9376-9B5D6A1A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76800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12.07—12.20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D661DE-3A4A-47A1-81F1-35D3AEF5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768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系统测试、修复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4071C1-ACE6-45FE-8ADE-600053B2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6250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BDBCA5-F17D-4CAF-B143-6ABBC93A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7680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12.21—12.28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CA69C1-97B8-40EA-834E-C515CD2E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768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复测、材料</a:t>
            </a:r>
          </a:p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12.28课程收尾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2D411D-B9B2-4F99-A9CC-C418F5F9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组内阶段计划示意，条形长度不表示天数；正式提交日期以课程通知为准。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E486AA-7EB5-4F8B-B2CD-288463CB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54C5BC-29F0-4808-870D-935AF586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7354650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0833D-9DB9-4A3E-9394-93238FCA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六个人分别负责什么？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93C14-B09B-4463-8E8E-0D3300A3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4D38F-AED1-4715-BE92-56DC523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每块工作有人负责，交接时要说清输入、输出和没有完成的部分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B91E0-860A-4618-BEFF-CB71118FEB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be499ae0e4621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C4160-455C-46C3-8C36-59AB4CDB378B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63115"/>
                <a:gridCol w="4451985"/>
                <a:gridCol w="4343400"/>
              </a:tblGrid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主要负责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主要交付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统筹协调、评审和验收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范围、进度、资源与版本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田亦洁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需求和系统设计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需求说明、接口和验收条件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李佳雨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页面、修改功能和导出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可操作的页面、图表和报告文件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郭润航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测试、部署和汇报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测试记录、运行说明和演示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崔大元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资料整理和数据处理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来源记录、资料导入和版本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许子萌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Harness和报告生成后端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模板、分章生成、保存与恢复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3B06D-A20A-40CF-8952-5F83531A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各模块交接后一起测试；组长组织范围变更和最终验收。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ECC18-388B-4EC0-83C2-44D8EF7F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B4C6B-7F8E-4725-AC31-BB04259D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3399138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72782-BFC8-4505-8628-7F359C2A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六人共同维护一个GitHub仓库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DE12-5AE8-4955-9D89-2EE3B944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369C2-5F04-4A6F-95F1-3F67EDC7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每人按分工修改，提交PR后互相检查，再合并到主分支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08C40-99C9-4855-AD2B-5624C0127A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737004b914f17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4EA0B-E00D-4BC2-82CB-653DEA2F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github.com/BrockPhlin/industry-report-harness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E5DFF-9C79-48A9-A7EF-C137D18F5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27b7cd11d410a"/>
          <a:stretch xmlns:a="http://schemas.openxmlformats.org/drawingml/2006/main"/>
        </p:blipFill>
        <p:spPr>
          <a:xfrm xmlns:a="http://schemas.openxmlformats.org/drawingml/2006/main">
            <a:off x="619125" y="1973428"/>
            <a:ext cx="7429500" cy="361599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1F24F-6DC4-49AA-9860-0A51F786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050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1 分支里改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995ED-A463-4C47-9DC2-08BD3082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按分工修改代码和材料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CEBA9-8A79-4BE1-9BD2-AE8946E3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62325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2 PR互相检查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5FD36-0DFC-40C9-B16D-FD88F027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说明改动，核对测试与版本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14D2B-7C5C-4B79-9B66-29B8E277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67250"/>
            <a:ext cx="30956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3 合并后同步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A51C8-3C29-4B15-AC2A-6F53F5D1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816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组长确认，其他人拉取更新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1B742-1DDA-4B7E-BD8F-27020027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协作者列表：5个协作者账号，加上仓库所有者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5988A-CBE6-4719-8B56-177F1527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每周一下午课后简单讨论：本周进展、遇到的问题、下周任务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A0C23-64D2-41D3-A989-AAFF52AA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5E974-A9F4-4237-A6A3-919E317E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632401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69066-A11C-4452-9911-16C5A83F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给模型一个工具：写前先查参考报告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0E912-C555-4396-9D85-62385125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D8890-DB6F-42B6-89E0-23726E03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计划中的改进：参考结构与写法，事实由本次资料支撑，效果通过对照验证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7E859-7B31-4125-A875-8B2CA0DC4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a376068cc4c29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C0786-6448-4D6C-B246-BC8B8FEDA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afd7a8f1ed49f4"/>
          <a:stretch xmlns:a="http://schemas.openxmlformats.org/drawingml/2006/main"/>
        </p:blipFill>
        <p:spPr>
          <a:xfrm xmlns:a="http://schemas.openxmlformats.org/drawingml/2006/main">
            <a:off x="693660" y="1676400"/>
            <a:ext cx="2613179" cy="33813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E3A4A-5BE8-40E8-A8BB-9EC8C39A3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a8fc035fc4c45"/>
          <a:stretch xmlns:a="http://schemas.openxmlformats.org/drawingml/2006/main"/>
        </p:blipFill>
        <p:spPr>
          <a:xfrm xmlns:a="http://schemas.openxmlformats.org/drawingml/2006/main">
            <a:off x="3884535" y="1676400"/>
            <a:ext cx="2613179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6DE65-B93C-4BE6-983C-2D516067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530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McKinsey 技术趋势展望</a:t>
            </a:r>
          </a:p>
          <a:p xmlns:a="http://schemas.openxmlformats.org/drawingml/2006/main">
            <a: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参考：章节、指标与趋势解读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ED5B1-11BB-41E8-BC93-25F849B8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53025"/>
            <a:ext cx="3000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Stanford AI Index</a:t>
            </a:r>
          </a:p>
          <a:p xmlns:a="http://schemas.openxmlformats.org/drawingml/2006/main">
            <a:pPr>
              <a:def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650" b="0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参考：图表、编号与来源标注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7FCFB-0E6C-4B18-A7E3-61FD96D7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716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计划：参考报告检索工具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63C0C-DC5F-4281-8967-A618310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9555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查结构、写法与图表规范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F7CBC-14D4-4692-A98B-A733FA23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432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返回相关片段，附报告名与页码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6D63ED-7307-4A9E-BF35-1444BA69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9100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结合本次资料撰写Markdown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75E68-6EA8-4EC5-B8F4-EA196780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03872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效果待验证，不照搬参考结论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9D745-0541-450F-B8D4-60560F2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340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参考为用户提供的两份2026年报告：McKinsey PDF第13页（印刷11页）；AI Index PDF第20页（印刷19页）。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D94CF-8C78-4A84-B567-E3587BC1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仅作结构、写法与版式参考，不代表系统已生成这些报告或具备同等研究能力。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7A437-A83C-4664-8519-3596F6E7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B0DE2-A22A-4197-ACFD-A480DD55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7132936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7EC7B-3AAE-483B-8FF4-B4F2DAFF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遇到问题怎么处理？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CB6D7-FD0A-4542-B5FC-47FB9670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10E74-19EF-4E92-BBF6-FEED1E8E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先把主要流程做稳，再逐步完善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F0213-B267-4A58-900E-13231BFB41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190fbfe974e21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3F0DB-ABB6-4846-B7AE-DDE8795C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7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问题及时说清，处理结果留下记录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85165-8270-4A83-A396-C4261429E59B}"/>
              </a:ext>
            </a:extLst>
          </p:cNvPr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108585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26230"/>
                <a:gridCol w="6732270"/>
              </a:tblGrid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可能遇到的问题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我们的处理办法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模型调用失败或中断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明确报错，查看记录，确认原因后再重试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数字、单位或出处对不上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回到原文核对，核不清的内容不写进结论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润色改变原意、关键任务卡住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核对修改前后事实；及时协调，先打通完整流程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不同成员的修改互相覆盖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各自使用分支，提交PR检查后再合并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8C178-A55E-41DC-9644-0D2FCEF3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50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按实际处理和测试结果确认功能，不把计划当作已经完成。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6AE67-6C54-4932-9B50-7004EEBE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A2C4F-E27D-4754-BEA9-67D84D75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6121672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28473-C6EB-4F4E-B993-8F61B3A5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从可运行初稿，走向完整报告引擎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BD254-0FD6-4A78-A4FF-25DE2A8C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D91E7-BA2D-4EA2-BDFA-B9A8CC1F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已有基础与后续目标分开说明，按实际结果验收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9FCBB-BD30-473C-A3C0-44A515F7CA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f9e3b02434f77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721BF-88AE-4A8F-BA49-C3BF1AE552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43309cc6844d6"/>
          <a:stretch xmlns:a="http://schemas.openxmlformats.org/drawingml/2006/main"/>
        </p:blipFill>
        <p:spPr>
          <a:xfrm xmlns:a="http://schemas.openxmlformats.org/drawingml/2006/main">
            <a:off x="728185" y="1676400"/>
            <a:ext cx="5306380" cy="3381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F5081-7F04-4A98-9995-69E25E55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049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已有基础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CB189-5045-4CB7-8272-38B6E762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资料保存、摘录与来源快照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历史记录、Markdown下载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C8310-37EB-4442-8F21-E209585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337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接下来验证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6C2A8-1CD7-43A7-B06D-0E11D1D0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参考检索与分章生成、数据图表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Markdown定稿、双版式PDF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FBB83-245D-487B-B32A-8ACC21F4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5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我们会在不断摸索和验证的过程中，逐步形成自己的创新。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8F538-AD1B-46FF-8D0C-94FBAEC3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6267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左图为摘录模式的实际原型，不是完整AI报告；18项模拟响应基线测试通过，真实模型仍待联调。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917D7-0F8E-4694-BB74-1C420A2C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 · 开题展示 v1.7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76C4E-51CD-48E8-AC93-D47E2155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252526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2026-10-26T02:42:53.4190000Z</dcterms:created>
  <dcterms:modified xsi:type="dcterms:W3CDTF">2026-10-26T02:42:53.4190000Z</dcterms:modified>
</coreProperties>
</file>