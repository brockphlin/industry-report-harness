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封面，约15秒。本项目对应课程十大课题之课题2。组长程文博统筹，PPT由李佳雨制作，报告田亦洁，汇报郭润航，资料崔大元，代码许子萌。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约45秒。课题2原定义来自课程十大课题说明。痛点是产业研究共性问题，真实用户和细分产业待T1/T4调研后补。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约45秒。核心流程对应基线已跑通的链路。问题假设是待验证项，不是调研发现。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约40秒。对应评分细则里本学期范围与交付物。核心功能和执行控制是必交；暂不开展项明确写出。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约45秒。六层架构：前端、业务API、Harness在上层；资料模块、检索与生成、持久化在下层。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约40秒。程序管执行可靠性，模型管内容生成，人工管事实与验收。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约45秒。REQ编号与报告第2章一致。基线已实现REQ-01到REQ-04的最小版本。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约40秒。我是T2李佳雨。其他任务都已认领。交接顺序按team/本次任务与认领.md执行。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约45秒。M0是当前阶段。人时、模型费用、中期终期具体日期按实际可用时间填。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约40秒。结尾页。明确哪些是已经做的、哪些是下一步要做的。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备用页，0秒。回答代码现在能跑吗时翻这页。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备用页，0秒。回答提交有什么要求时翻这页。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3143250"/>
            <a:ext cx="10953750" cy="85725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571500"/>
            <a:ext cx="1095375" cy="1095375"/>
          </a:xfrm>
          <a:prstGeom prst="rect">
            <a:avLst/>
          </a:prstGeom>
        </p:spPr>
      </p:pic>
      <p:pic>
        <p:nvPicPr>
          <p:cNvPr id="5" name="Picture 4" descr="char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1828800"/>
            <a:ext cx="1504950" cy="514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3238500"/>
            <a:ext cx="104775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150" b="1">
                <a:solidFill>
                  <a:srgbClr val="003F88"/>
                </a:solidFill>
                <a:latin typeface="Microsoft YaHei"/>
              </a:rPr>
              <a:t>产业智能报告生成系统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191000"/>
            <a:ext cx="10477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40" b="1">
                <a:solidFill>
                  <a:srgbClr val="233042"/>
                </a:solidFill>
                <a:latin typeface="Microsoft YaHei"/>
              </a:rPr>
              <a:t>基于 Agent Harness 的可溯源产业研究报告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95300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10" b="0">
                <a:solidFill>
                  <a:srgbClr val="233042"/>
                </a:solidFill>
                <a:latin typeface="Microsoft YaHei"/>
              </a:rPr>
              <a:t>组长：程文博　　PPT：李佳雨　　报告：田亦洁　　汇报：郭润航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5476875"/>
            <a:ext cx="10287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20" b="0">
                <a:solidFill>
                  <a:srgbClr val="60728C"/>
                </a:solidFill>
                <a:latin typeface="Microsoft YaHei"/>
              </a:rPr>
              <a:t>第11组　2026年10月26日　开题初稿 v0.5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项目背景与问题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课题来源与痛点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125" y="1524000"/>
            <a:ext cx="51435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40" b="1">
                <a:solidFill>
                  <a:srgbClr val="003F88"/>
                </a:solidFill>
                <a:latin typeface="Microsoft YaHei"/>
              </a:rPr>
              <a:t>课题定位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047875"/>
            <a:ext cx="51435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课程十大课题之课题2：面向政府智库、产业规划、行业研究场景，做模板化、结构化、可溯源、可定制的产业大模型报告生成引擎。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3524250"/>
            <a:ext cx="51435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40" b="1">
                <a:solidFill>
                  <a:srgbClr val="003F88"/>
                </a:solidFill>
                <a:latin typeface="Microsoft YaHei"/>
              </a:rPr>
              <a:t>拟解决的痛点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4048125"/>
            <a:ext cx="51435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• 传统产业研究文稿撰写效率低</a:t>
            </a:r>
          </a:p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• 报告结构不规范、模板不统一</a:t>
            </a:r>
          </a:p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• 数据与观点联动弱、引用难追溯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1524000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40" b="1">
                <a:solidFill>
                  <a:srgbClr val="003F88"/>
                </a:solidFill>
                <a:latin typeface="Microsoft YaHei"/>
              </a:rPr>
              <a:t>本项目目标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047875"/>
            <a:ext cx="5048250" cy="1666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为学生或研究助理提供：资料录入 → 草稿生成 → 引用定位 → 人工审阅 → 版本导出的闭环；用 Harness 管理多步骤执行、状态恢复与调用约束。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000500"/>
            <a:ext cx="50482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20" b="0">
                <a:solidFill>
                  <a:srgbClr val="60728C"/>
                </a:solidFill>
                <a:latin typeface="Microsoft YaHei"/>
              </a:rPr>
              <a:t>目标用户：需要整理公开产业资料的学生与研究助理。</a:t>
            </a:r>
          </a:p>
          <a:p>
            <a:pPr algn="l"/>
            <a:r>
              <a:rPr sz="2120" b="0">
                <a:solidFill>
                  <a:srgbClr val="60728C"/>
                </a:solidFill>
                <a:latin typeface="Microsoft YaHei"/>
              </a:rPr>
              <a:t>细分产业与具体资料来源由 T1/T4 在调研后锁定。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目标用户与核心场景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谁在用、怎么用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125" y="1571625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40" b="1">
                <a:solidFill>
                  <a:srgbClr val="003F88"/>
                </a:solidFill>
                <a:latin typeface="Microsoft YaHei"/>
              </a:rPr>
              <a:t>目标用户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0955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需要整理公开产业资料、撰写结构化简报的学生或研究助理。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3190875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40" b="1">
                <a:solidFill>
                  <a:srgbClr val="003F88"/>
                </a:solidFill>
                <a:latin typeface="Microsoft YaHei"/>
              </a:rPr>
              <a:t>核心操作流程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3714750"/>
            <a:ext cx="4953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① 录入资料并勾选来源</a:t>
            </a:r>
          </a:p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② 输入报告主题</a:t>
            </a:r>
          </a:p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③ 生成草稿（摘录或模型）</a:t>
            </a:r>
          </a:p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④ 核对引用原文快照</a:t>
            </a:r>
          </a:p>
          <a:p>
            <a:pPr algn="l"/>
            <a:r>
              <a:rPr sz="2300" b="0">
                <a:solidFill>
                  <a:srgbClr val="233042"/>
                </a:solidFill>
                <a:latin typeface="Microsoft YaHei"/>
              </a:rPr>
              <a:t>⑤ 下载 Markdown 并人工修订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1571625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40" b="1">
                <a:solidFill>
                  <a:srgbClr val="003F88"/>
                </a:solidFill>
                <a:latin typeface="Microsoft YaHei"/>
              </a:rPr>
              <a:t>待验证的问题假设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143125"/>
            <a:ext cx="5048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材料分散，来源定位耗时</a:t>
            </a:r>
          </a:p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章节中的数字与观点需要逐条核对</a:t>
            </a:r>
          </a:p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长任务失败后，已有产物可能重复生成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095750"/>
            <a:ext cx="50482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20" b="0">
                <a:solidFill>
                  <a:srgbClr val="60728C"/>
                </a:solidFill>
                <a:latin typeface="Microsoft YaHei"/>
              </a:rPr>
              <a:t>T1与T4联系目标用户，记录现有流程、资料来源与验收期待；T2把结论落到PPT。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本学期范围与交付物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单一细分产业 + 一种主模板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1619250"/>
          <a:ext cx="11049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820"/>
                <a:gridCol w="906018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390" b="1">
                          <a:solidFill>
                            <a:srgbClr val="003F88"/>
                          </a:solidFill>
                          <a:latin typeface="Microsoft YaHei"/>
                        </a:rPr>
                        <a:t>范围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1">
                          <a:solidFill>
                            <a:srgbClr val="003F88"/>
                          </a:solidFill>
                          <a:latin typeface="Microsoft YaHei"/>
                        </a:rPr>
                        <a:t>本学期拟交付内容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核心功能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资料导入、带引用章节、基础图表、人工审阅、版本与导出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执行控制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任务状态、约定步骤恢复、有限重试、调用约束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条件扩展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多模板、自动搜索、章节局部重做（核心验收完成后决定）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暂不开展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全产业覆盖、模型预训练、复杂多Agent协作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125" y="5381625"/>
            <a:ext cx="10763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80" b="1">
                <a:solidFill>
                  <a:srgbClr val="003F88"/>
                </a:solidFill>
                <a:latin typeface="Microsoft YaHei"/>
              </a:rPr>
              <a:t>细分产业与主模板由真实资料和用户需求共同确定，不在开题阶段拍死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系统架构与数据流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设计提案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76625" y="2428875"/>
            <a:ext cx="1190625" cy="14287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0" y="2428875"/>
            <a:ext cx="1190625" cy="14287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38750" y="2952750"/>
            <a:ext cx="14287" cy="381000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47875" y="3333750"/>
            <a:ext cx="3190875" cy="14287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47875" y="3333750"/>
            <a:ext cx="14287" cy="762000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6625" y="4619625"/>
            <a:ext cx="1190625" cy="14287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24750" y="4619625"/>
            <a:ext cx="1190625" cy="14287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44125" y="2952750"/>
            <a:ext cx="14287" cy="1143000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91625" y="2952750"/>
            <a:ext cx="14287" cy="666750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0" y="3619500"/>
            <a:ext cx="3095625" cy="14287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3619500"/>
            <a:ext cx="14287" cy="476250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125" y="1905000"/>
            <a:ext cx="2857500" cy="1047750"/>
          </a:xfrm>
          <a:prstGeom prst="rect">
            <a:avLst/>
          </a:prstGeom>
          <a:solidFill>
            <a:srgbClr val="ECF3FA"/>
          </a:solidFill>
          <a:ln w="12700">
            <a:solidFill>
              <a:srgbClr val="003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2028825"/>
            <a:ext cx="257175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60" b="1">
                <a:solidFill>
                  <a:srgbClr val="003F88"/>
                </a:solidFill>
                <a:latin typeface="Microsoft YaHei"/>
              </a:rPr>
              <a:t>前端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505075"/>
            <a:ext cx="25717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233042"/>
                </a:solidFill>
                <a:latin typeface="Microsoft YaHei"/>
              </a:rPr>
              <a:t>任务、进度、审阅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7250" y="1905000"/>
            <a:ext cx="2857500" cy="1047750"/>
          </a:xfrm>
          <a:prstGeom prst="rect">
            <a:avLst/>
          </a:prstGeom>
          <a:solidFill>
            <a:srgbClr val="ECF3FA"/>
          </a:solidFill>
          <a:ln w="12700">
            <a:solidFill>
              <a:srgbClr val="003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0125" y="2028825"/>
            <a:ext cx="257175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60" b="1">
                <a:solidFill>
                  <a:srgbClr val="003F88"/>
                </a:solidFill>
                <a:latin typeface="Microsoft YaHei"/>
              </a:rPr>
              <a:t>业务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0125" y="2505075"/>
            <a:ext cx="25717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233042"/>
                </a:solidFill>
                <a:latin typeface="Microsoft YaHei"/>
              </a:rPr>
              <a:t>任务、报告版本、导出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15375" y="1905000"/>
            <a:ext cx="2857500" cy="1047750"/>
          </a:xfrm>
          <a:prstGeom prst="rect">
            <a:avLst/>
          </a:prstGeom>
          <a:solidFill>
            <a:srgbClr val="ECF3FA"/>
          </a:solidFill>
          <a:ln w="12700">
            <a:solidFill>
              <a:srgbClr val="003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8250" y="2028825"/>
            <a:ext cx="257175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60" b="1">
                <a:solidFill>
                  <a:srgbClr val="003F88"/>
                </a:solidFill>
                <a:latin typeface="Microsoft YaHei"/>
              </a:rPr>
              <a:t>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0" y="2505075"/>
            <a:ext cx="25717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233042"/>
                </a:solidFill>
                <a:latin typeface="Microsoft YaHei"/>
              </a:rPr>
              <a:t>状态、检查点、约束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125" y="4095750"/>
            <a:ext cx="2857500" cy="1047750"/>
          </a:xfrm>
          <a:prstGeom prst="rect">
            <a:avLst/>
          </a:prstGeom>
          <a:solidFill>
            <a:srgbClr val="ECF3FA"/>
          </a:solidFill>
          <a:ln w="12700">
            <a:solidFill>
              <a:srgbClr val="003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219575"/>
            <a:ext cx="257175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60" b="1">
                <a:solidFill>
                  <a:srgbClr val="003F88"/>
                </a:solidFill>
                <a:latin typeface="Microsoft YaHei"/>
              </a:rPr>
              <a:t>资料模块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695825"/>
            <a:ext cx="25717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233042"/>
                </a:solidFill>
                <a:latin typeface="Microsoft YaHei"/>
              </a:rPr>
              <a:t>来源 ID、原文片段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7250" y="4095750"/>
            <a:ext cx="2857500" cy="1047750"/>
          </a:xfrm>
          <a:prstGeom prst="rect">
            <a:avLst/>
          </a:prstGeom>
          <a:solidFill>
            <a:srgbClr val="ECF3FA"/>
          </a:solidFill>
          <a:ln w="12700">
            <a:solidFill>
              <a:srgbClr val="003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0125" y="4219575"/>
            <a:ext cx="257175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60" b="1">
                <a:solidFill>
                  <a:srgbClr val="003F88"/>
                </a:solidFill>
                <a:latin typeface="Microsoft YaHei"/>
              </a:rPr>
              <a:t>检索与生成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0125" y="4695825"/>
            <a:ext cx="25717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233042"/>
                </a:solidFill>
                <a:latin typeface="Microsoft YaHei"/>
              </a:rPr>
              <a:t>提纲、章节、引用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15375" y="4095750"/>
            <a:ext cx="2857500" cy="1047750"/>
          </a:xfrm>
          <a:prstGeom prst="rect">
            <a:avLst/>
          </a:prstGeom>
          <a:solidFill>
            <a:srgbClr val="ECF3FA"/>
          </a:solidFill>
          <a:ln w="12700">
            <a:solidFill>
              <a:srgbClr val="003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58250" y="4219575"/>
            <a:ext cx="257175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60" b="1">
                <a:solidFill>
                  <a:srgbClr val="003F88"/>
                </a:solidFill>
                <a:latin typeface="Microsoft YaHei"/>
              </a:rPr>
              <a:t>持久化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0" y="4695825"/>
            <a:ext cx="25717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233042"/>
                </a:solidFill>
                <a:latin typeface="Microsoft YaHei"/>
              </a:rPr>
              <a:t>状态、产物、用量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125" y="5572125"/>
            <a:ext cx="10858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0">
                <a:solidFill>
                  <a:srgbClr val="60728C"/>
                </a:solidFill>
                <a:latin typeface="Microsoft YaHei"/>
              </a:rPr>
              <a:t>开发期先验证本地单进程执行，再判断队列和其他底座需求；基线只用Python标准库+本地SQLite。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Harness 职责与验证边界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程序、模型、人工三方分工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1619250"/>
          <a:ext cx="110490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6170"/>
                <a:gridCol w="3756660"/>
                <a:gridCol w="3646170"/>
              </a:tblGrid>
              <a:tr h="714375">
                <a:tc>
                  <a:txBody>
                    <a:bodyPr wrap="square"/>
                    <a:lstStyle/>
                    <a:p>
                      <a:pPr algn="l"/>
                      <a:r>
                        <a:rPr sz="2390" b="1">
                          <a:solidFill>
                            <a:srgbClr val="003F88"/>
                          </a:solidFill>
                          <a:latin typeface="Microsoft YaHei"/>
                        </a:rPr>
                        <a:t>程序负责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1">
                          <a:solidFill>
                            <a:srgbClr val="003F88"/>
                          </a:solidFill>
                          <a:latin typeface="Microsoft YaHei"/>
                        </a:rPr>
                        <a:t>模型负责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1">
                          <a:solidFill>
                            <a:srgbClr val="003F88"/>
                          </a:solidFill>
                          <a:latin typeface="Microsoft YaHei"/>
                        </a:rPr>
                        <a:t>人工核验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</a:tr>
              <a:tr h="714375"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保存步骤和产物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组织提纲与章节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需求和产业资料依据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恢复与有限重试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从相关片段生成草稿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数字及引用是否支持表述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限制调用并记录用量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返回引用与结构化数据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90" b="0">
                          <a:solidFill>
                            <a:srgbClr val="233042"/>
                          </a:solidFill>
                          <a:latin typeface="Microsoft YaHei"/>
                        </a:rPr>
                        <a:t>发布、验收和质量判断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125" y="4857750"/>
            <a:ext cx="10953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70" b="1">
                <a:solidFill>
                  <a:srgbClr val="003F88"/>
                </a:solidFill>
                <a:latin typeface="Microsoft YaHei"/>
              </a:rPr>
              <a:t>先跑通基线，再增加 Harness 流程与业务验证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5381625"/>
            <a:ext cx="10953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20" b="0">
                <a:solidFill>
                  <a:srgbClr val="60728C"/>
                </a:solidFill>
                <a:latin typeface="Microsoft YaHei"/>
              </a:rPr>
              <a:t>基线已有摘录演示与模型适配接口；真实模型联调、恢复流程、产业效果评测待完成。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核心需求与验收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需求编号贯穿设计与测试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1571625"/>
          <a:ext cx="110490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8839200"/>
              </a:tblGrid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1">
                          <a:solidFill>
                            <a:srgbClr val="003F88"/>
                          </a:solidFill>
                          <a:latin typeface="Microsoft YaHei"/>
                        </a:rPr>
                        <a:t>需求编号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1">
                          <a:solidFill>
                            <a:srgbClr val="003F88"/>
                          </a:solidFill>
                          <a:latin typeface="Microsoft YaHei"/>
                        </a:rPr>
                        <a:t>交付内容与当前状态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REQ-01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资料录入：文本接口、重启后读取、非法输入提示（基线已实现）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REQ-02 / 03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草稿生成与引用：离线摘录+原文快照；模型适配接口已留，未真实联调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REQ-04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报告下载：Markdown格式（基线已实现）；PDF/DOCX 后续开发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REQ-05 / 06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Harness恢复、人工审阅图表与版本管理（后续模块）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125" y="5143500"/>
            <a:ext cx="10953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80" b="1">
                <a:solidFill>
                  <a:srgbClr val="003F88"/>
                </a:solidFill>
                <a:latin typeface="Microsoft YaHei"/>
              </a:rPr>
              <a:t>每条执行记录包含：版本、输入、实际结果、执行人及证据位置。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566737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20" b="0">
                <a:solidFill>
                  <a:srgbClr val="60728C"/>
                </a:solidFill>
                <a:latin typeface="Microsoft YaHei"/>
              </a:rPr>
              <a:t>引用可定位不等于观点成立；基本功能测试不代替产业效果评测。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本次分工与交接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一人牵头一项，程文博统筹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1476375"/>
          <a:ext cx="11049000" cy="3905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546860"/>
                <a:gridCol w="4640580"/>
                <a:gridCol w="3093720"/>
              </a:tblGrid>
              <a:tr h="557892">
                <a:tc>
                  <a:txBody>
                    <a:bodyPr wrap="square"/>
                    <a:lstStyle/>
                    <a:p>
                      <a:pPr algn="l"/>
                      <a:r>
                        <a:rPr sz="2020" b="1">
                          <a:solidFill>
                            <a:srgbClr val="003F88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1">
                          <a:solidFill>
                            <a:srgbClr val="003F88"/>
                          </a:solidFill>
                          <a:latin typeface="Microsoft YaHei"/>
                        </a:rPr>
                        <a:t>负责人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1">
                          <a:solidFill>
                            <a:srgbClr val="003F88"/>
                          </a:solidFill>
                          <a:latin typeface="Microsoft YaHei"/>
                        </a:rPr>
                        <a:t>必须交付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1">
                          <a:solidFill>
                            <a:srgbClr val="003F88"/>
                          </a:solidFill>
                          <a:latin typeface="Microsoft YaHei"/>
                        </a:rPr>
                        <a:t>交接节点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</a:tr>
              <a:tr h="557892"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T0 统筹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程文博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认领、排期、评审与提交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组织一致性核对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7892"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T1 报告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田亦洁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report.md 与 PDF、四张必需表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消费 T4/T5 素材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7892"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T2 PPT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李佳雨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slides.json、PPTX 与 PDF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交 T3 理解讲述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7892"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T3 汇报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郭润航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讲稿、问答、两次完整彩排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回问作者澄清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7892"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T4 资料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崔大元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老师课件与课程内容映射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交 T1/T2 引用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57892"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T5 代码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许子萌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可运行初稿与实际检查记录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20" b="0">
                          <a:solidFill>
                            <a:srgbClr val="233042"/>
                          </a:solidFill>
                          <a:latin typeface="Microsoft YaHei"/>
                        </a:rPr>
                        <a:t>交功能边界样例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125" y="5667375"/>
            <a:ext cx="108585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20" b="0">
                <a:solidFill>
                  <a:srgbClr val="60728C"/>
                </a:solidFill>
                <a:latin typeface="Microsoft YaHei"/>
              </a:rPr>
              <a:t>10/22 T4/T5先交边界与样例；10/23 T1/T2交初稿；10/24 T3两次彩排；10/26 T3主讲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里程碑与资源投入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本学期路线与成本估计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1524000"/>
          <a:ext cx="110490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6629400"/>
                <a:gridCol w="2209800"/>
              </a:tblGrid>
              <a:tr h="523875">
                <a:tc>
                  <a:txBody>
                    <a:bodyPr wrap="square"/>
                    <a:lstStyle/>
                    <a:p>
                      <a:pPr algn="l"/>
                      <a:r>
                        <a:rPr sz="2210" b="1">
                          <a:solidFill>
                            <a:srgbClr val="003F88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1">
                          <a:solidFill>
                            <a:srgbClr val="003F88"/>
                          </a:solidFill>
                          <a:latin typeface="Microsoft YaHei"/>
                        </a:rPr>
                        <a:t>目标与检查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1">
                          <a:solidFill>
                            <a:srgbClr val="003F88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</a:tr>
              <a:tr h="523875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M0 开题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范围、认领、计划与素材一致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进行中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M1 基线完善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真实资料到草稿下载完整连通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待启动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M2 中期集成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需求、设计、接口与当前结果对齐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待启动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M3 流程增强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Harness、恢复预算与人工审阅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待启动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M4 质量交付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系统测试、复测、部署与文档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待启动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125" y="4953000"/>
            <a:ext cx="1095375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10" b="0">
                <a:solidFill>
                  <a:srgbClr val="233042"/>
                </a:solidFill>
                <a:latin typeface="Microsoft YaHei"/>
              </a:rPr>
              <a:t>资源：6人团队；模型接口采用 Chat Completions 兼容协议，费用按实际用量估算；本地开发用 Python 标准库 + SQLite，无现金支出；资料优先使用合法公开产业数据。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风险与 AI 使用方式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核对事实并保留证据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1571625"/>
          <a:ext cx="11049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40"/>
                <a:gridCol w="7071360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2300" b="1">
                          <a:solidFill>
                            <a:srgbClr val="003F88"/>
                          </a:solidFill>
                          <a:latin typeface="Microsoft YaHei"/>
                        </a:rPr>
                        <a:t>风险与触发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1">
                          <a:solidFill>
                            <a:srgbClr val="003F88"/>
                          </a:solidFill>
                          <a:latin typeface="Microsoft YaHei"/>
                        </a:rPr>
                        <a:t>措施与责任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33042"/>
                          </a:solidFill>
                          <a:latin typeface="Microsoft YaHei"/>
                        </a:rPr>
                        <a:t>无人认领或交接晚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33042"/>
                          </a:solidFill>
                          <a:latin typeface="Microsoft YaHei"/>
                        </a:rPr>
                        <a:t>T0协调，先交可用素材并记录剩余项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33042"/>
                          </a:solidFill>
                          <a:latin typeface="Microsoft YaHei"/>
                        </a:rPr>
                        <a:t>课堂依据或引用不足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33042"/>
                          </a:solidFill>
                          <a:latin typeface="Microsoft YaHei"/>
                        </a:rPr>
                        <a:t>T4核对课件来源，T1/T2标注待补，不虚构课堂原话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33042"/>
                          </a:solidFill>
                          <a:latin typeface="Microsoft YaHei"/>
                        </a:rPr>
                        <a:t>代码或汇报理解不足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33042"/>
                          </a:solidFill>
                          <a:latin typeface="Microsoft YaHei"/>
                        </a:rPr>
                        <a:t>T5记录实际运行，T3回问作者并彩排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33042"/>
                          </a:solidFill>
                          <a:latin typeface="Microsoft YaHei"/>
                        </a:rPr>
                        <a:t>模型或资料不可用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33042"/>
                          </a:solidFill>
                          <a:latin typeface="Microsoft YaHei"/>
                        </a:rPr>
                        <a:t>区分摘录与模型，缩小资料范围，记录限制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125" y="4572000"/>
            <a:ext cx="11049000" cy="523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80" b="1">
                <a:solidFill>
                  <a:srgbClr val="003F88"/>
                </a:solidFill>
                <a:latin typeface="Microsoft YaHei"/>
              </a:rPr>
              <a:t>AI 辅助起草与编码，成员核验来源、设计、实际运行与结论。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5286375"/>
            <a:ext cx="10953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10" b="0">
                <a:solidFill>
                  <a:srgbClr val="233042"/>
                </a:solidFill>
                <a:latin typeface="Microsoft YaHei"/>
              </a:rPr>
              <a:t>本次交付：项目计划书、PPTX 与 PDF。</a:t>
            </a:r>
          </a:p>
          <a:p>
            <a:pPr algn="l"/>
            <a:r>
              <a:rPr sz="2210" b="0">
                <a:solidFill>
                  <a:srgbClr val="233042"/>
                </a:solidFill>
                <a:latin typeface="Microsoft YaHei"/>
              </a:rPr>
              <a:t>下一步：T4 补课件映射，T5 完成模型联调与真实资料跑通，T3 两次彩排后主讲。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备用 基线代码现状与边界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问答使用，不上正式讲述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1619250"/>
          <a:ext cx="110490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4861560"/>
                <a:gridCol w="4419600"/>
              </a:tblGrid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1">
                          <a:solidFill>
                            <a:srgbClr val="003F88"/>
                          </a:solidFill>
                          <a:latin typeface="Microsoft YaHei"/>
                        </a:rPr>
                        <a:t>组成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1">
                          <a:solidFill>
                            <a:srgbClr val="003F88"/>
                          </a:solidFill>
                          <a:latin typeface="Microsoft YaHei"/>
                        </a:rPr>
                        <a:t>已初始化内容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1">
                          <a:solidFill>
                            <a:srgbClr val="003F88"/>
                          </a:solidFill>
                          <a:latin typeface="Microsoft YaHei"/>
                        </a:rPr>
                        <a:t>后续增加</a:t>
                      </a:r>
                    </a:p>
                  </a:txBody>
                  <a:tcPr marL="95250" marR="95250" marT="57150" marB="57150" anchor="ctr">
                    <a:solidFill>
                      <a:srgbClr val="ECF3FA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资料层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原文、标题、机构、日期文本录入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PDF解析、检索、数据治理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生成层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摘录演示与单次模型适配接口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分章节生成、预算、引用门禁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业务层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报告保存、历史、来源快照、Markdown下载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审阅、版本、图表、正式导出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执行层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同步请求、出错明确返回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10" b="0">
                          <a:solidFill>
                            <a:srgbClr val="233042"/>
                          </a:solidFill>
                          <a:latin typeface="Microsoft YaHei"/>
                        </a:rPr>
                        <a:t>Harness、检查点、恢复、有限重试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125" y="5286375"/>
            <a:ext cx="10763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10" b="0">
                <a:solidFill>
                  <a:srgbClr val="233042"/>
                </a:solidFill>
                <a:latin typeface="Microsoft YaHei"/>
              </a:rPr>
              <a:t>运行方式：python code/run.py，浏览器打开 http://127.0.0.1:8000；只用Python标准库，SQLite自动创建。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57175"/>
            <a:ext cx="99060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79" b="1">
                <a:solidFill>
                  <a:srgbClr val="003F88"/>
                </a:solidFill>
                <a:latin typeface="Microsoft YaHei"/>
              </a:rPr>
              <a:t>备用 提交规则与评分口径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847725"/>
            <a:ext cx="11049000" cy="28575"/>
          </a:xfrm>
          <a:prstGeom prst="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25" y="952500"/>
            <a:ext cx="10477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20" b="0">
                <a:solidFill>
                  <a:srgbClr val="60728C"/>
                </a:solidFill>
                <a:latin typeface="Microsoft YaHei"/>
              </a:rPr>
              <a:t>问答使用，不上正式讲述</a:t>
            </a:r>
          </a:p>
        </p:txBody>
      </p:sp>
      <p:pic>
        <p:nvPicPr>
          <p:cNvPr id="6" name="Picture 5" descr="cha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285750"/>
            <a:ext cx="1095375" cy="371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9125" y="1619250"/>
            <a:ext cx="107632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项目计划书：正文不超过10页且不超过6000字</a:t>
            </a:r>
          </a:p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PPT 与 PDF：正式展示页不超过12页，封面及结尾计入</a:t>
            </a:r>
          </a:p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展示 7 分钟 + 问答 3 分钟，超时按课程规则扣分</a:t>
            </a:r>
          </a:p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材料区分：计划内容 / 已完成内容 / 待验证结论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3762375"/>
            <a:ext cx="10763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需求编号对应设计、实现与测试</a:t>
            </a:r>
          </a:p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关键主张有原文件或日志，模拟与真实服务分开记录</a:t>
            </a:r>
          </a:p>
          <a:p>
            <a:pPr algn="l"/>
            <a:r>
              <a:rPr sz="2390" b="0">
                <a:solidFill>
                  <a:srgbClr val="233042"/>
                </a:solidFill>
                <a:latin typeface="Microsoft YaHei"/>
              </a:rPr>
              <a:t>• AI 使用写明工具、用途、人工核验责任人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5715000"/>
            <a:ext cx="10858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20" b="0">
                <a:solidFill>
                  <a:srgbClr val="60728C"/>
                </a:solidFill>
                <a:latin typeface="Microsoft YaHei"/>
              </a:rPr>
              <a:t>课程依据：materials/references 下的评分细则与十大课题说明。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6496050"/>
            <a:ext cx="99060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60" b="0">
                <a:solidFill>
                  <a:srgbClr val="60728C"/>
                </a:solidFill>
                <a:latin typeface="Microsoft YaHei"/>
              </a:rPr>
              <a:t>开题初稿 v0.5 / 计划与实际分开记录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0875" y="6496050"/>
            <a:ext cx="952500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60" b="0">
                <a:solidFill>
                  <a:srgbClr val="60728C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