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43.xml" ContentType="application/vnd.openxmlformats-officedocument.presentationml.slide+xml"/>
  <Override PartName="/ppt/slides/slide40.xml" ContentType="application/vnd.openxmlformats-officedocument.presentationml.slide+xml"/>
  <Override PartName="/ppt/slides/slide13.xml" ContentType="application/vnd.openxmlformats-officedocument.presentationml.slide+xml"/>
  <Override PartName="/ppt/slides/slide42.xml" ContentType="application/vnd.openxmlformats-officedocument.presentationml.slide+xml"/>
  <Override PartName="/ppt/slides/slide11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28.xml" ContentType="application/vnd.openxmlformats-officedocument.presentationml.slide+xml"/>
  <Override PartName="/ppt/slides/slide8.xml" ContentType="application/vnd.openxmlformats-officedocument.presentationml.slide+xml"/>
  <Override PartName="/ppt/slides/slide30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29.xml" ContentType="application/vnd.openxmlformats-officedocument.presentationml.slide+xml"/>
  <Override PartName="/ppt/slides/slide41.xml" ContentType="application/vnd.openxmlformats-officedocument.presentationml.slide+xml"/>
  <Override PartName="/ppt/slides/slide1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45.xml" ContentType="application/vnd.openxmlformats-officedocument.presentationml.slide+xml"/>
  <Override PartName="/ppt/slides/slide16.xml" ContentType="application/vnd.openxmlformats-officedocument.presentationml.slide+xml"/>
  <Override PartName="/ppt/slides/slide4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32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slides/slide37.xml" ContentType="application/vnd.openxmlformats-officedocument.presentationml.slide+xml"/>
  <Override PartName="/ppt/tableStyles.xml" ContentType="application/vnd.openxmlformats-officedocument.presentationml.tableStyles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4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43" Type="http://schemas.openxmlformats.org/officeDocument/2006/relationships/slide" Target="slides/slide43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8" Type="http://schemas.openxmlformats.org/officeDocument/2006/relationships/slide" Target="slides/slide8.xml" /><Relationship Id="rId30" Type="http://schemas.openxmlformats.org/officeDocument/2006/relationships/slide" Target="slides/slide30.xml" /><Relationship Id="rId10" Type="http://schemas.openxmlformats.org/officeDocument/2006/relationships/slide" Target="slides/slide10.xml" /><Relationship Id="rId34" Type="http://schemas.openxmlformats.org/officeDocument/2006/relationships/slide" Target="slides/slide34.xml" /><Relationship Id="rId29" Type="http://schemas.openxmlformats.org/officeDocument/2006/relationships/slide" Target="slides/slide29.xml" /><Relationship Id="rId12" Type="http://schemas.openxmlformats.org/officeDocument/2006/relationships/slide" Target="slides/slide12.xml" /><Relationship Id="rId33" Type="http://schemas.openxmlformats.org/officeDocument/2006/relationships/slide" Target="slides/slide33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6" Type="http://schemas.openxmlformats.org/officeDocument/2006/relationships/slide" Target="slides/slide6.xml" /><Relationship Id="rId21" Type="http://schemas.openxmlformats.org/officeDocument/2006/relationships/slide" Target="slides/slide21.xml" /><Relationship Id="rId32" Type="http://schemas.openxmlformats.org/officeDocument/2006/relationships/slide" Target="slides/slide32.xml" /><Relationship Id="rId22" Type="http://schemas.openxmlformats.org/officeDocument/2006/relationships/slide" Target="slides/slide22.xml" /><Relationship Id="rId42" Type="http://schemas.openxmlformats.org/officeDocument/2006/relationships/slide" Target="slides/slide42.xml" /><Relationship Id="rId23" Type="http://schemas.openxmlformats.org/officeDocument/2006/relationships/slide" Target="slides/slide23.xml" /><Relationship Id="rId5" Type="http://schemas.openxmlformats.org/officeDocument/2006/relationships/slide" Target="slides/slide5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7" Type="http://schemas.openxmlformats.org/officeDocument/2006/relationships/slide" Target="slides/slide27.xml" /><Relationship Id="rId28" Type="http://schemas.openxmlformats.org/officeDocument/2006/relationships/slide" Target="slides/slide28.xml" /><Relationship Id="rId3" Type="http://schemas.openxmlformats.org/officeDocument/2006/relationships/slide" Target="slides/slide3.xml" /><Relationship Id="rId37" Type="http://schemas.openxmlformats.org/officeDocument/2006/relationships/slide" Target="slides/slide37.xml" /><Relationship Id="rId31" Type="http://schemas.openxmlformats.org/officeDocument/2006/relationships/slide" Target="slides/slide31.xml" /><Relationship Id="rId44" Type="http://schemas.openxmlformats.org/officeDocument/2006/relationships/slide" Target="slides/slide44.xml" /><Relationship Id="rId35" Type="http://schemas.openxmlformats.org/officeDocument/2006/relationships/slide" Target="slides/slide35.xml" /><Relationship Id="rId36" Type="http://schemas.openxmlformats.org/officeDocument/2006/relationships/slide" Target="slides/slide36.xml" /><Relationship Id="rId38" Type="http://schemas.openxmlformats.org/officeDocument/2006/relationships/slide" Target="slides/slide38.xml" /><Relationship Id="rId39" Type="http://schemas.openxmlformats.org/officeDocument/2006/relationships/slide" Target="slides/slide39.xml" /><Relationship Id="rId4" Type="http://schemas.openxmlformats.org/officeDocument/2006/relationships/slide" Target="slides/slide4.xml" /><Relationship Id="rId40" Type="http://schemas.openxmlformats.org/officeDocument/2006/relationships/slide" Target="slides/slide40.xml" /><Relationship Id="rId41" Type="http://schemas.openxmlformats.org/officeDocument/2006/relationships/slide" Target="slides/slide41.xml" /><Relationship Id="rId45" Type="http://schemas.openxmlformats.org/officeDocument/2006/relationships/slide" Target="slides/slide45.xml" /><Relationship Id="rId46" Type="http://schemas.openxmlformats.org/officeDocument/2006/relationships/notesMaster" Target="notesMasters/notesMaster1.xml" /><Relationship Id="rId47" Type="http://schemas.openxmlformats.org/officeDocument/2006/relationships/presProps" Target="presProps.xml" /><Relationship Id="rId49" Type="http://schemas.openxmlformats.org/officeDocument/2006/relationships/viewProps" Target="viewProps.xml" /><Relationship Id="rId48" Type="http://schemas.openxmlformats.org/officeDocument/2006/relationships/tableStyles" Target="tableStyles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3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_rels/slide3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png" /></Relationships>
</file>

<file path=ppt/slides/_rels/slide4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background: '#0B1220', position: 'relative', overflow: 'hidden' }}&gt;&#13;&#10;    &lt;Image src=&quot;assets/cover_bg.png&quot; style={{ position: 'absolute', top: 0, left: 0, width: 1280, height: 720, objectFit: 'cover', clipPath: 'inset(0 0 11% 0)' }} /&gt;&#13;&#10;    &lt;Box style={{ position: 'absolute', top: 0, left: 0, width: 1280, height: 720, background: 'linear-gradient(180deg, rgba(11,18,32,0.35) 0%, rgba(11,18,32,0.82) 100%)' }} /&gt;&#13;&#10;    &lt;Box style={{ position: 'absolute', left: 96, top: 208 }}&gt;&#13;&#10;        &lt;Text style={{ fontSize: 21, color: '#22D3EE', letterSpacing: 4, fontWeight: 'bold' }}&gt;软件工程管理 · 浙江大学&lt;/Text&gt;&#13;&#10;        &lt;Text style={{ fontSize: 66, fontWeight: 'bold', color: '#E2E8F0', marginTop: 22 }}&gt;项目估算与进度管理&lt;/Text&gt;&#13;&#10;        &lt;Box style={{ width: 96, height: 5, background: 'linear-gradient(90deg, #3B82F6 0%, #22D3EE 100%)', borderRadius: 3, marginTop: 30 }} /&gt;&#13;&#10;        &lt;Text style={{ fontSize: 24, color: '#94A3B8', marginTop: 26 }}&gt;把&quot;模糊的需求&quot;变成&quot;可度量的计划&quot;&lt;/Text&gt;&#13;&#10;        &lt;Text style={{ fontSize: 16, color: '#64748B', marginTop: 18, letterSpacing: 1 }}&gt;规模 · 工作量 · 成本 · 甘特图 · 关键路径 · 挣值&lt;/Text&gt;&#13;&#10;    &lt;/Box&gt;&#13;&#10;    &lt;Box style={{ position: 'absolute', right: 96, bottom: 66, flexDirection: 'row', gap: 10, alignItems: 'center' }}&gt;&#13;&#10;        &lt;Box style={{ width: 8, height: 8, borderRadius: 4, background: '#3B82F6' }} /&gt;&#13;&#10;        &lt;Box style={{ width: 8, height: 8, borderRadius: 4, background: '#22D3EE' }} /&gt;&#13;&#10;        &lt;Box style={{ width: 8, height: 8, borderRadius: 4, background: '#8B5CF6' }} /&gt;&#13;&#10;        &lt;Text style={{ fontSize: 14, color: '#64748B', marginLeft: 8 }}&gt;产业网链大模型 · 十大软件工程创新实践课题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custGeom>
            <a:pathLst>
              <a:path w="1280" h="720">
                <a:moveTo>
                  <a:pt x="0" y="0"/>
                </a:moveTo>
                <a:lnTo>
                  <a:pt x="1280" y="0"/>
                </a:lnTo>
                <a:lnTo>
                  <a:pt x="1280" y="641"/>
                </a:lnTo>
                <a:lnTo>
                  <a:pt x="0" y="641"/>
                </a:lnTo>
                <a:close/>
              </a:path>
            </a:pathLst>
          </a:cu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35000"/>
                </a:srgbClr>
              </a:gs>
              <a:gs pos="100000">
                <a:srgbClr val="0B1220">
                  <a:alpha val="82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914400" y="1981200"/>
            <a:ext cx="56578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300">
                <a:solidFill>
                  <a:srgbClr val="22D3EE"/>
                </a:solidFill>
                <a:latin typeface="Microsoft YaHei"/>
                <a:ea typeface="Microsoft YaHei"/>
              </a:rPr>
              <a:t>软件工程管理</a:t>
            </a:r>
            <a:r>
              <a:rPr lang="en-US" sz="1575" b="1" spc="300">
                <a:solidFill>
                  <a:srgbClr val="22D3E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 spc="300">
                <a:solidFill>
                  <a:srgbClr val="22D3EE"/>
                </a:solidFill>
                <a:latin typeface="Microsoft YaHei"/>
                <a:ea typeface="Microsoft YaHei"/>
              </a:rPr>
              <a:t>浙江大学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14400" y="2438400"/>
            <a:ext cx="5657850" cy="762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950" b="1">
                <a:solidFill>
                  <a:srgbClr val="E2E8F0"/>
                </a:solidFill>
                <a:latin typeface="Microsoft YaHei"/>
                <a:ea typeface="Microsoft YaHei"/>
              </a:rPr>
              <a:t>项目估算与进度管理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914400" y="3486150"/>
            <a:ext cx="914400" cy="47625"/>
          </a:xfrm>
          <a:prstGeom prst="roundRect">
            <a:avLst>
              <a:gd name="adj" fmla="val 6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14400" y="3781425"/>
            <a:ext cx="56578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94A3B8"/>
                </a:solidFill>
                <a:latin typeface="Microsoft YaHei"/>
                <a:ea typeface="Microsoft YaHei"/>
              </a:rPr>
              <a:t>把</a:t>
            </a:r>
            <a:r>
              <a:rPr lang="en-US" sz="180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800">
                <a:solidFill>
                  <a:srgbClr val="94A3B8"/>
                </a:solidFill>
                <a:latin typeface="Microsoft YaHei"/>
                <a:ea typeface="Microsoft YaHei"/>
              </a:rPr>
              <a:t>模糊的需求</a:t>
            </a:r>
            <a:r>
              <a:rPr lang="en-US" sz="180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800">
                <a:solidFill>
                  <a:srgbClr val="94A3B8"/>
                </a:solidFill>
                <a:latin typeface="Microsoft YaHei"/>
                <a:ea typeface="Microsoft YaHei"/>
              </a:rPr>
              <a:t>变成</a:t>
            </a:r>
            <a:r>
              <a:rPr lang="en-US" sz="180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800">
                <a:solidFill>
                  <a:srgbClr val="94A3B8"/>
                </a:solidFill>
                <a:latin typeface="Microsoft YaHei"/>
                <a:ea typeface="Microsoft YaHei"/>
              </a:rPr>
              <a:t>可度量的计划</a:t>
            </a:r>
            <a:r>
              <a:rPr lang="en-US" sz="180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914400" y="4229100"/>
            <a:ext cx="5657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75">
                <a:solidFill>
                  <a:srgbClr val="64748B"/>
                </a:solidFill>
                <a:latin typeface="Microsoft YaHei"/>
                <a:ea typeface="Microsoft YaHei"/>
              </a:rPr>
              <a:t>规模</a:t>
            </a:r>
            <a:r>
              <a:rPr lang="en-US" sz="1200" spc="7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75">
                <a:solidFill>
                  <a:srgbClr val="64748B"/>
                </a:solidFill>
                <a:latin typeface="Microsoft YaHei"/>
                <a:ea typeface="Microsoft YaHei"/>
              </a:rPr>
              <a:t>工作量</a:t>
            </a:r>
            <a:r>
              <a:rPr lang="en-US" sz="1200" spc="7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75">
                <a:solidFill>
                  <a:srgbClr val="64748B"/>
                </a:solidFill>
                <a:latin typeface="Microsoft YaHei"/>
                <a:ea typeface="Microsoft YaHei"/>
              </a:rPr>
              <a:t>成本</a:t>
            </a:r>
            <a:r>
              <a:rPr lang="en-US" sz="1200" spc="7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75">
                <a:solidFill>
                  <a:srgbClr val="64748B"/>
                </a:solidFill>
                <a:latin typeface="Microsoft YaHei"/>
                <a:ea typeface="Microsoft YaHei"/>
              </a:rPr>
              <a:t>甘特图</a:t>
            </a:r>
            <a:r>
              <a:rPr lang="en-US" sz="1200" spc="7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75">
                <a:solidFill>
                  <a:srgbClr val="64748B"/>
                </a:solidFill>
                <a:latin typeface="Microsoft YaHei"/>
                <a:ea typeface="Microsoft YaHei"/>
              </a:rPr>
              <a:t>关键路径</a:t>
            </a:r>
            <a:r>
              <a:rPr lang="en-US" sz="1200" spc="75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 spc="75">
                <a:solidFill>
                  <a:srgbClr val="64748B"/>
                </a:solidFill>
                <a:latin typeface="Microsoft YaHei"/>
                <a:ea typeface="Microsoft YaHei"/>
              </a:rPr>
              <a:t>挣值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8039100" y="61150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8210550" y="61150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2" name=""/>
          <p:cNvSpPr/>
          <p:nvPr/>
        </p:nvSpPr>
        <p:spPr>
          <a:xfrm rot="0" flipH="0" flipV="0">
            <a:off x="8382000" y="61150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629650" y="6067425"/>
            <a:ext cx="2647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产业网链大模型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十大软件工程创新实践课题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88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8B5CF6 0%, #22D3EE 100%)', borderRadius: 3, marginRight: 20 }} /&gt;&#13;&#10;        &lt;Text style={{ fontSize: 34, fontWeight: 'bold', color: '#E2E8F0' }}&gt;目录&lt;/Text&gt;&#13;&#10;&lt;Text style={{ fontSize: 16, color: '#94A3B8', marginLeft: 18 }}&gt;CONTENTS&lt;/Text&gt;&#13;&#10;    &lt;/Box&gt;&#13;&#10;    &lt;Box style={{ flex: 1, flexDirection: 'row', flexWrap: 'wrap', gap: 18, alignContent: 'center' }}&gt;&#13;&#10;        &lt;Box style={{ width: 545, background: '#111B2E', borderRadius: 14, padding: 22, border: '1px solid rgba(148,163,184,0.28)', flexDirection: 'row', gap: 20, alignItems: 'center' }}&gt;&#13;&#10;            &lt;Text style={{ fontSize: 46, fontWeight: 'bold', color: '#8B5CF6' }}&gt;01&lt;/Text&gt;&#13;&#10;            &lt;Box style={{ flex: 1 }}&gt;&#13;&#10;                &lt;Text style={{ fontSize: 23, fontWeight: 'bold', color: '#E2E8F0' }}&gt;项目估算&lt;/Text&gt;&#13;&#10;                &lt;Text style={{ fontSize: 15.5, color: '#94A3B8', lineHeight: 1.5, marginTop: 5 }}&gt;规模 / 工作量 / 成本 / COCOMO / AI 辅助估算&lt;/Text&gt;&#13;&#10;            &lt;/Box&gt;&#13;&#10;            &lt;Text style={{ fontSize: 14, color: '#8B5CF6' }}&gt;P03–15&lt;/Text&gt;&#13;&#10;        &lt;/Box&gt;&#13;&#10;        &lt;Box style={{ width: 545, background: '#111B2E', borderRadius: 14, padding: 22, border: '1px solid rgba(148,163,184,0.28)', flexDirection: 'row', gap: 20, alignItems: 'center' }}&gt;&#13;&#10;            &lt;Text style={{ fontSize: 46, fontWeight: 'bold', color: '#22D3EE' }}&gt;02&lt;/Text&gt;&#13;&#10;            &lt;Box style={{ flex: 1 }}&gt;&#13;&#10;                &lt;Text style={{ fontSize: 23, fontWeight: 'bold', color: '#E2E8F0' }}&gt;进度管理&lt;/Text&gt;&#13;&#10;                &lt;Text style={{ fontSize: 15.5, color: '#94A3B8', lineHeight: 1.5, marginTop: 5 }}&gt;WBS → 排序 → 甘特图 → 网络图 → 关键路径&lt;/Text&gt;&#13;&#10;            &lt;/Box&gt;&#13;&#10;            &lt;Text style={{ fontSize: 14, color: '#22D3EE' }}&gt;P16–26&lt;/Text&gt;&#13;&#10;        &lt;/Box&gt;&#13;&#10;        &lt;Box style={{ width: 545, background: '#111B2E', borderRadius: 14, padding: 22, border: '1px solid rgba(148,163,184,0.28)', flexDirection: 'row', gap: 20, alignItems: 'center' }}&gt;&#13;&#10;            &lt;Text style={{ fontSize: 46, fontWeight: 'bold', color: '#3B82F6' }}&gt;03&lt;/Text&gt;&#13;&#10;            &lt;Box style={{ flex: 1 }}&gt;&#13;&#10;                &lt;Text style={{ fontSize: 23, fontWeight: 'bold', color: '#E2E8F0' }}&gt;进度监控与挣值&lt;/Text&gt;&#13;&#10;                &lt;Text style={{ fontSize: 15.5, color: '#94A3B8', lineHeight: 1.5, marginTop: 5 }}&gt;里程碑 / EVM 挣值 / AI 驱动监控&lt;/Text&gt;&#13;&#10;            &lt;/Box&gt;&#13;&#10;            &lt;Text style={{ fontSize: 14, color: '#3B82F6' }}&gt;P27–33&lt;/Text&gt;&#13;&#10;        &lt;/Box&gt;&#13;&#10;        &lt;Box style={{ width: 545, background: '#111B2E', borderRadius: 14, padding: 22, border: '1px solid rgba(148,163,184,0.28)', flexDirection: 'row', gap: 20, alignItems: 'center' }}&gt;&#13;&#10;            &lt;Text style={{ fontSize: 46, fontWeight: 'bold', color: '#94A3B8' }}&gt;04&lt;/Text&gt;&#13;&#10;            &lt;Box style={{ flex: 1 }}&gt;&#13;&#10;                &lt;Text style={{ fontSize: 23, fontWeight: 'bold', color: '#E2E8F0' }}&gt;十大课题实践&lt;/Text&gt;&#13;&#10;                &lt;Text style={{ fontSize: 15.5, color: '#94A3B8', lineHeight: 1.5, marginTop: 5 }}&gt;产业图谱 · 招商系统 · 估算排程实战&lt;/Text&gt;&#13;&#10;            &lt;/Box&gt;&#13;&#10;            &lt;Text style={{ fontSize: 14, color: '#94A3B8' }}&gt;P34–45&lt;/Text&gt;&#13;&#10;        &lt;/Box&gt;&#13;&#10;    &lt;/Box&gt;&#13;&#10;    &lt;Box style={{ height: 40, flexDirection: 'row', justifyContent: 'space-between', alignItems: 'center', marginTop: 16 }}&gt;&#13;&#10;        &lt;Text style={{ fontSize: 15, color: '#94A3B8' }}&gt;软件工程管理&lt;/Text&gt;&#13;&#10;        &lt;Text style={{ fontSize: 15, color: '#94A3B8' }}&gt;02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B5C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6477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676400" y="571500"/>
            <a:ext cx="819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609600" y="1143000"/>
            <a:ext cx="5191125" cy="2409825"/>
          </a:xfrm>
          <a:prstGeom prst="roundRect">
            <a:avLst>
              <a:gd name="adj" fmla="val 5534"/>
            </a:avLst>
          </a:prstGeom>
          <a:solidFill>
            <a:srgbClr val="111B2E"/>
          </a:solidFill>
          <a:ln w="12700">
            <a:solidFill>
              <a:srgbClr val="94A3B8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19150" y="2085975"/>
            <a:ext cx="5429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8B5CF6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552575" y="2057400"/>
            <a:ext cx="33813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2E8F0"/>
                </a:solidFill>
                <a:latin typeface="Microsoft YaHei"/>
                <a:ea typeface="Microsoft YaHei"/>
              </a:rPr>
              <a:t>项目估算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552575" y="2371725"/>
            <a:ext cx="3381375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规模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工作量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成本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 xml:space="preserve"> / COCOMO / AI 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辅助估算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124450" y="2266950"/>
            <a:ext cx="466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5CF6"/>
                </a:solidFill>
                <a:latin typeface="Microsoft YaHei"/>
                <a:ea typeface="Microsoft YaHei"/>
              </a:rPr>
              <a:t>P03–15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5972175" y="1143000"/>
            <a:ext cx="5191125" cy="2409825"/>
          </a:xfrm>
          <a:prstGeom prst="roundRect">
            <a:avLst>
              <a:gd name="adj" fmla="val 5534"/>
            </a:avLst>
          </a:prstGeom>
          <a:solidFill>
            <a:srgbClr val="111B2E"/>
          </a:solidFill>
          <a:ln w="12700">
            <a:solidFill>
              <a:srgbClr val="94A3B8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181725" y="2085975"/>
            <a:ext cx="5429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22D3E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915150" y="2057400"/>
            <a:ext cx="33813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2E8F0"/>
                </a:solidFill>
                <a:latin typeface="Microsoft YaHei"/>
                <a:ea typeface="Microsoft YaHei"/>
              </a:rPr>
              <a:t>进度管理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915150" y="2371725"/>
            <a:ext cx="3381375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 xml:space="preserve">WBS → 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排序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甘特图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网络图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关键路径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0487025" y="2266950"/>
            <a:ext cx="466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2D3EE"/>
                </a:solidFill>
                <a:latin typeface="Microsoft YaHei"/>
                <a:ea typeface="Microsoft YaHei"/>
              </a:rPr>
              <a:t>P16–26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09600" y="3724275"/>
            <a:ext cx="5191125" cy="2409825"/>
          </a:xfrm>
          <a:prstGeom prst="roundRect">
            <a:avLst>
              <a:gd name="adj" fmla="val 5534"/>
            </a:avLst>
          </a:prstGeom>
          <a:solidFill>
            <a:srgbClr val="111B2E"/>
          </a:solidFill>
          <a:ln w="12700">
            <a:solidFill>
              <a:srgbClr val="94A3B8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19150" y="4667250"/>
            <a:ext cx="5429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3B82F6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552575" y="4638675"/>
            <a:ext cx="33813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2E8F0"/>
                </a:solidFill>
                <a:latin typeface="Microsoft YaHei"/>
                <a:ea typeface="Microsoft YaHei"/>
              </a:rPr>
              <a:t>进度监控与挣值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552575" y="4953000"/>
            <a:ext cx="3381375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里程碑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 xml:space="preserve"> / EVM 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挣值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 xml:space="preserve"> / AI 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驱动监控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124450" y="4848225"/>
            <a:ext cx="466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3B82F6"/>
                </a:solidFill>
                <a:latin typeface="Microsoft YaHei"/>
                <a:ea typeface="Microsoft YaHei"/>
              </a:rPr>
              <a:t>P27–33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5972175" y="3724275"/>
            <a:ext cx="5191125" cy="2409825"/>
          </a:xfrm>
          <a:prstGeom prst="roundRect">
            <a:avLst>
              <a:gd name="adj" fmla="val 5534"/>
            </a:avLst>
          </a:prstGeom>
          <a:solidFill>
            <a:srgbClr val="111B2E"/>
          </a:solidFill>
          <a:ln w="12700">
            <a:solidFill>
              <a:srgbClr val="94A3B8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181725" y="4667250"/>
            <a:ext cx="5429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94A3B8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915150" y="4638675"/>
            <a:ext cx="33813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E2E8F0"/>
                </a:solidFill>
                <a:latin typeface="Microsoft YaHei"/>
                <a:ea typeface="Microsoft YaHei"/>
              </a:rPr>
              <a:t>十大课题实践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915150" y="4953000"/>
            <a:ext cx="3381375" cy="2667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产业图谱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招商系统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估算排程实战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0487025" y="4848225"/>
            <a:ext cx="466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>P34–45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软件工程管理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02 / 45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86" name="" descr="&lt;Slide style={{ width: 1280, height: 720, background: '#0B1220', position: 'relative', overflow: 'hidden' }}&gt;&#13;&#10;    &lt;Image src=&quot;assets/sec_bg.png&quot; style={{ position: 'absolute', top: 0, left: 0, width: 1280, height: 720, objectFit: 'cover', clipPath: 'inset(0 0 11% 0)' }} /&gt;&#13;&#10;    &lt;Box style={{ position: 'absolute', top: 0, left: 0, width: 1280, height: 720, background: 'linear-gradient(180deg, rgba(11,18,32,0.45) 0%, rgba(11,18,32,0.78) 100%)' }} /&gt;&#13;&#10;    &lt;Box style={{ position: 'absolute', left: 96, top: 180 }}&gt;&#13;&#10;        &lt;Text style={{ fontSize: 110, fontWeight: 'bold', color: 'rgba(34,211,238,0.28)' }}&gt;01&lt;/Text&gt;&#13;&#10;        &lt;Text style={{ fontSize: 62, fontWeight: 'bold', color: '#E2E8F0', marginTop: 6 }}&gt;项目估算&lt;/Text&gt;&#13;&#10;        &lt;Box style={{ width: 90, height: 5, background: 'linear-gradient(90deg, #22D3EE 0%, #3B82F6 100%)', borderRadius: 3, marginTop: 26 }} /&gt;&#13;&#10;        &lt;Text style={{ fontSize: 20, color: '#94A3B8', marginTop: 26, letterSpacing: 2 }}&gt;Estimation · 把不确定性收敛为可承诺的范围&lt;/Text&gt;&#13;&#10;    &lt;/Box&gt;&#13;&#10;    &lt;Box style={{ position: 'absolute', right: 96, bottom: 72, flexDirection: 'row', gap: 12, alignItems: 'center' }}&gt;&#13;&#10;        &lt;Box style={{ width: 8, height: 8, borderRadius: 4, background: '#22D3EE' }} /&gt;        &lt;Box style={{ width: 8, height: 8, borderRadius: 4, background: 'rgba(148,163,184,0.35)' }} /&gt;        &lt;Box style={{ width: 8, height: 8, borderRadius: 4, background: 'rgba(148,163,184,0.35)' }} /&gt;        &lt;Box style={{ width: 8, height: 8, borderRadius: 4, background: 'rgba(148,163,184,0.35)' }} /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388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custGeom>
            <a:pathLst>
              <a:path w="1280" h="720">
                <a:moveTo>
                  <a:pt x="0" y="0"/>
                </a:moveTo>
                <a:lnTo>
                  <a:pt x="1280" y="0"/>
                </a:lnTo>
                <a:lnTo>
                  <a:pt x="1280" y="641"/>
                </a:lnTo>
                <a:lnTo>
                  <a:pt x="0" y="641"/>
                </a:lnTo>
                <a:close/>
              </a:path>
            </a:pathLst>
          </a:custGeom>
          <a:ln/>
        </p:spPr>
      </p:pic>
      <p:sp>
        <p:nvSpPr>
          <p:cNvPr id="3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45000"/>
                </a:srgbClr>
              </a:gs>
              <a:gs pos="100000">
                <a:srgbClr val="0B1220">
                  <a:alpha val="78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914400" y="1714500"/>
            <a:ext cx="4305300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22D3EE">
                    <a:alpha val="28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914400" y="3028950"/>
            <a:ext cx="43053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E2E8F0"/>
                </a:solidFill>
                <a:latin typeface="Microsoft YaHei"/>
                <a:ea typeface="Microsoft YaHei"/>
              </a:rPr>
              <a:t>项目估算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914400" y="3990975"/>
            <a:ext cx="857250" cy="47625"/>
          </a:xfrm>
          <a:prstGeom prst="roundRect">
            <a:avLst>
              <a:gd name="adj" fmla="val 60000"/>
            </a:avLst>
          </a:prstGeom>
          <a:gradFill>
            <a:gsLst>
              <a:gs pos="0">
                <a:srgbClr val="22D3EE"/>
              </a:gs>
              <a:gs pos="100000">
                <a:srgbClr val="3B82F6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914400" y="4286250"/>
            <a:ext cx="4305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Estimation · </a:t>
            </a:r>
            <a:r>
              <a:rPr lang="zh-CN" sz="1500" spc="150">
                <a:solidFill>
                  <a:srgbClr val="94A3B8"/>
                </a:solidFill>
                <a:latin typeface="Microsoft YaHei"/>
                <a:ea typeface="Microsoft YaHei"/>
              </a:rPr>
              <a:t>把不确定性收敛为可承诺的范围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10629900" y="6096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395" name=""/>
          <p:cNvSpPr/>
          <p:nvPr/>
        </p:nvSpPr>
        <p:spPr>
          <a:xfrm rot="0" flipH="0" flipV="0">
            <a:off x="10820400" y="6096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94A3B8">
              <a:alpha val="35000"/>
            </a:srgbClr>
          </a:solidFill>
          <a:ln/>
        </p:spPr>
        <p:txBody>
          <a:bodyPr/>
          <a:p/>
        </p:txBody>
      </p:sp>
      <p:sp>
        <p:nvSpPr>
          <p:cNvPr id="396" name=""/>
          <p:cNvSpPr/>
          <p:nvPr/>
        </p:nvSpPr>
        <p:spPr>
          <a:xfrm rot="0" flipH="0" flipV="0">
            <a:off x="11010900" y="6096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94A3B8">
              <a:alpha val="35000"/>
            </a:srgbClr>
          </a:solidFill>
          <a:ln/>
        </p:spPr>
        <p:txBody>
          <a:bodyPr/>
          <a:p/>
        </p:txBody>
      </p:sp>
      <p:sp>
        <p:nvSpPr>
          <p:cNvPr id="397" name=""/>
          <p:cNvSpPr/>
          <p:nvPr/>
        </p:nvSpPr>
        <p:spPr>
          <a:xfrm rot="0" flipH="0" flipV="0">
            <a:off x="11201400" y="6096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94A3B8">
              <a:alpha val="35000"/>
            </a:srgbClr>
          </a:solidFill>
          <a:ln/>
        </p:spPr>
        <p:txBody>
          <a:bodyPr/>
          <a:p/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62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什么是项目估算&lt;/Text&gt;&#13;&#10;&#13;&#10;    &lt;/Box&gt;&#13;&#10;    &lt;Box style={{ flex: 1, flexDirection: 'column', justifyContent: 'center', gap: 16 }}&gt;&#13;&#10;&#13;&#10;        &lt;Box style={{ background: 'rgba(34,211,238,0.08)', borderRadius: 12, padding: '18px 26px', border: '1px solid rgba(34,211,238,0.35)' }}&gt;&#13;&#10;            &lt;Text style={{ fontSize: 19, color: '#E2E8F0', lineHeight: 1.7 }}&gt;项目估算是在信息不完整的情况下，对项目所需 &lt;span style={{ fontWeight: 'bold', color: '#67E8F9' }}&gt;规模、工作量、成本、工期&lt;/span&gt; 做出&lt;span style={{ fontWeight: 'bold', color: '#67E8F9' }}&gt;有依据的预测&lt;/span&gt;，为立项、报价、资源承诺与计划提供决策输入。&lt;/Text&gt;&#13;&#10;        &lt;/Box&gt;&#13;&#10;        &lt;Box style={{ flexDirection: 'row', gap: 14 }}&gt;&#13;&#10;            &lt;Box style={{ flex: 1, background: '#111B2E', borderRadius: 12, padding: '16px 20px', borderTop: '3px solid #3B82F6' }}&gt;&#13;&#10;                &lt;Text style={{ fontSize: 20, fontWeight: 'bold', color: '#93C5FD', marginBottom: 8 }}&gt;估算 ≠ 承诺&lt;/Text&gt;&#13;&#10;                &lt;Text style={{ fontSize: 17, color: '#94A3B8', lineHeight: 1.6 }}&gt;估算是概率预测，承诺是带缓冲的管理决策；两者之间需要&quot;预留缓冲&quot;&lt;/Text&gt;&#13;&#10;            &lt;/Box&gt;&#13;&#10;            &lt;Box style={{ flex: 1, background: '#111B2E', borderRadius: 12, padding: '16px 20px', borderTop: '3px solid #22D3EE' }}&gt;&#13;&#10;                &lt;Text style={{ fontSize: 20, fontWeight: 'bold', color: '#67E8F9', marginBottom: 8 }}&gt;估算为何难&lt;/Text&gt;&#13;&#10;                &lt;Text style={{ fontSize: 17, color: '#94A3B8', lineHeight: 1.6 }}&gt;需求模糊、技术不确定、团队差异、历史数据缺失，四大变量共同作用&lt;/Text&gt;&#13;&#10;            &lt;/Box&gt;&#13;&#10;            &lt;Box style={{ flex: 1, background: '#111B2E', borderRadius: 12, padding: '16px 20px', borderTop: '3px solid #8B5CF6' }}&gt;&#13;&#10;                &lt;Text style={{ fontSize: 20, fontWeight: 'bold', color: '#C4B5FD', marginBottom: 8 }}&gt;估算的价值&lt;/Text&gt;&#13;&#10;                &lt;Text style={{ fontSize: 17, color: '#94A3B8', lineHeight: 1.6 }}&gt;不是&quot;猜得准&quot;，而是建立各方对范围、成本、工期的共同预期基线&lt;/Text&gt;&#13;&#10;            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1 项目估算&lt;/Text&gt;&#13;&#10;        &lt;Text style={{ fontSize: 15, color: '#94A3B8' }}&gt;04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564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什么是项目估算</a:t>
            </a:r>
            <a:endParaRPr/>
          </a:p>
        </p:txBody>
      </p:sp>
      <p:sp>
        <p:nvSpPr>
          <p:cNvPr id="566" name=""/>
          <p:cNvSpPr/>
          <p:nvPr/>
        </p:nvSpPr>
        <p:spPr>
          <a:xfrm rot="0" flipH="0" flipV="0">
            <a:off x="609600" y="2390775"/>
            <a:ext cx="10972800" cy="1085850"/>
          </a:xfrm>
          <a:prstGeom prst="roundRect">
            <a:avLst>
              <a:gd name="adj" fmla="val 10526"/>
            </a:avLst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857250" y="2562225"/>
            <a:ext cx="104775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E2E8F0"/>
                </a:solidFill>
                <a:latin typeface="Microsoft YaHei"/>
                <a:ea typeface="Microsoft YaHei"/>
              </a:rPr>
              <a:t>项目估算是在信息不完整的情况下，对项目所需</a:t>
            </a:r>
            <a:r>
              <a:rPr lang="en-US" sz="1425">
                <a:solidFill>
                  <a:srgbClr val="E2E8F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425" b="1">
                <a:solidFill>
                  <a:srgbClr val="67E8F9"/>
                </a:solidFill>
                <a:latin typeface="Microsoft YaHei"/>
                <a:ea typeface="Microsoft YaHei"/>
              </a:rPr>
              <a:t>规模、工作量、成本、工期</a:t>
            </a:r>
            <a:r>
              <a:rPr lang="en-US" sz="1425">
                <a:solidFill>
                  <a:srgbClr val="E2E8F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425">
                <a:solidFill>
                  <a:srgbClr val="E2E8F0"/>
                </a:solidFill>
                <a:latin typeface="Microsoft YaHei"/>
                <a:ea typeface="Microsoft YaHei"/>
              </a:rPr>
              <a:t>做出</a:t>
            </a:r>
            <a:r>
              <a:rPr lang="zh-CN" sz="1425" b="1">
                <a:solidFill>
                  <a:srgbClr val="67E8F9"/>
                </a:solidFill>
                <a:latin typeface="Microsoft YaHei"/>
                <a:ea typeface="Microsoft YaHei"/>
              </a:rPr>
              <a:t>有依据的预测</a:t>
            </a:r>
            <a:r>
              <a:rPr lang="zh-CN" sz="1425">
                <a:solidFill>
                  <a:srgbClr val="E2E8F0"/>
                </a:solidFill>
                <a:latin typeface="Microsoft YaHei"/>
                <a:ea typeface="Microsoft YaHei"/>
              </a:rPr>
              <a:t>，为立项、报价、资源承诺与计划提供决策输入。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609600" y="3657600"/>
            <a:ext cx="3571875" cy="1266825"/>
          </a:xfrm>
          <a:prstGeom prst="roundRect">
            <a:avLst>
              <a:gd name="adj" fmla="val 902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569" name=""/>
          <p:cNvSpPr/>
          <p:nvPr/>
        </p:nvSpPr>
        <p:spPr>
          <a:xfrm rot="0" flipH="0" flipV="0">
            <a:off x="609600" y="3657600"/>
            <a:ext cx="3571875" cy="1266825"/>
          </a:xfrm>
          <a:custGeom>
            <a:pathLst>
              <a:path w="375" h="133">
                <a:moveTo>
                  <a:pt x="364" y="0"/>
                </a:moveTo>
                <a:cubicBezTo>
                  <a:pt x="369" y="0"/>
                  <a:pt x="374" y="4"/>
                  <a:pt x="375" y="9"/>
                </a:cubicBezTo>
                <a:cubicBezTo>
                  <a:pt x="373" y="6"/>
                  <a:pt x="370" y="3"/>
                  <a:pt x="366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3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800100" y="3810000"/>
            <a:ext cx="3190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93C5FD"/>
                </a:solidFill>
                <a:latin typeface="Microsoft YaHei"/>
                <a:ea typeface="Microsoft YaHei"/>
              </a:rPr>
              <a:t>估算</a:t>
            </a:r>
            <a:r>
              <a:rPr lang="en-US" sz="1500" b="1">
                <a:solidFill>
                  <a:srgbClr val="93C5FD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500" b="1">
                <a:solidFill>
                  <a:srgbClr val="93C5FD"/>
                </a:solidFill>
                <a:latin typeface="Microsoft YaHei"/>
                <a:ea typeface="Microsoft YaHei"/>
              </a:rPr>
              <a:t>承诺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800100" y="4114800"/>
            <a:ext cx="31908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估算是概率预测，承诺是带缓冲的管理决策；两者之间需要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预留缓冲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4314825" y="3657600"/>
            <a:ext cx="3562350" cy="1266825"/>
          </a:xfrm>
          <a:prstGeom prst="roundRect">
            <a:avLst>
              <a:gd name="adj" fmla="val 902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573" name=""/>
          <p:cNvSpPr/>
          <p:nvPr/>
        </p:nvSpPr>
        <p:spPr>
          <a:xfrm rot="0" flipH="0" flipV="0">
            <a:off x="4314825" y="3657600"/>
            <a:ext cx="3562350" cy="1266825"/>
          </a:xfrm>
          <a:custGeom>
            <a:pathLst>
              <a:path w="374" h="133">
                <a:moveTo>
                  <a:pt x="363" y="0"/>
                </a:moveTo>
                <a:cubicBezTo>
                  <a:pt x="368" y="0"/>
                  <a:pt x="373" y="4"/>
                  <a:pt x="374" y="9"/>
                </a:cubicBezTo>
                <a:cubicBezTo>
                  <a:pt x="372" y="6"/>
                  <a:pt x="369" y="3"/>
                  <a:pt x="365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2" y="0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4505325" y="3810000"/>
            <a:ext cx="31813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67E8F9"/>
                </a:solidFill>
                <a:latin typeface="Microsoft YaHei"/>
                <a:ea typeface="Microsoft YaHei"/>
              </a:rPr>
              <a:t>估算为何难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4505325" y="4114800"/>
            <a:ext cx="31813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需求模糊、技术不确定、团队差异、历史数据缺失，四大变量共同作用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8010525" y="3657600"/>
            <a:ext cx="3571875" cy="1266825"/>
          </a:xfrm>
          <a:prstGeom prst="roundRect">
            <a:avLst>
              <a:gd name="adj" fmla="val 902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577" name=""/>
          <p:cNvSpPr/>
          <p:nvPr/>
        </p:nvSpPr>
        <p:spPr>
          <a:xfrm rot="0" flipH="0" flipV="0">
            <a:off x="8010525" y="3657600"/>
            <a:ext cx="3571875" cy="1266825"/>
          </a:xfrm>
          <a:custGeom>
            <a:pathLst>
              <a:path w="375" h="133">
                <a:moveTo>
                  <a:pt x="364" y="0"/>
                </a:moveTo>
                <a:cubicBezTo>
                  <a:pt x="369" y="0"/>
                  <a:pt x="374" y="4"/>
                  <a:pt x="375" y="9"/>
                </a:cubicBezTo>
                <a:cubicBezTo>
                  <a:pt x="373" y="6"/>
                  <a:pt x="370" y="3"/>
                  <a:pt x="366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3" y="0"/>
                </a:ln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201025" y="3810000"/>
            <a:ext cx="3190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4B5FD"/>
                </a:solidFill>
                <a:latin typeface="Microsoft YaHei"/>
                <a:ea typeface="Microsoft YaHei"/>
              </a:rPr>
              <a:t>估算的价值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8201025" y="4114800"/>
            <a:ext cx="319087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不是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猜得准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，而是建立各方对范围、成本、工期的共同预期基线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项目估算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04 / 45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675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估算的挑战与常见误区&lt;/Text&gt;&#13;&#10;&#13;&#10;    &lt;/Box&gt;&#13;&#10;    &lt;Box style={{ flex: 1, flexDirection: 'column', justifyContent: 'center', gap: 16 }}&gt;&#13;&#10;&#13;&#10;        &lt;Box style={{ flexDirection: 'row', gap: 14 }}&gt;&#13;&#10;            &lt;Box style={{ flex: 1.2, background: '#111B2E', borderRadius: 12, padding: '18px 22px', borderLeft: '4px solid #F59E0B' }}&gt;&#13;&#10;                &lt;Text style={{ fontSize: 20, fontWeight: 'bold', color: '#FBBF24', marginBottom: 12 }}&gt;四大常见误区&lt;/Text&gt;&#13;&#10;                &lt;Text style={{ fontSize: 17, color: '#E2E8F0', lineHeight: 1.85 }}&gt;① 拍脑袋：凭直觉报一个&quot;乐观数&quot;&lt;br/&gt;② 锚定效应：被首个数字带偏&lt;br/&gt;③ 忽略范围：不拆解就直接估总量&lt;br/&gt;④ 无历史依据：不用数据只用经验&lt;/Text&gt;&#13;&#10;            &lt;/Box&gt;&#13;&#10;            &lt;Box style={{ flex: 1, flexDirection: 'column', gap: 12, justifyContent: 'center' }}&gt;&#13;&#10;                &lt;Box style={{ background: 'rgba(139,92,246,0.10)', borderRadius: 12, padding: '16px 22px', border: '1px solid rgba(139,92,246,0.4)' }}&gt;&#13;&#10;                    &lt;Text style={{ fontSize: 19, fontWeight: 'bold', color: '#C4B5FD', marginBottom: 4 }}&gt;十大课题的启示&lt;/Text&gt;&#13;&#10;                    &lt;Text style={{ fontSize: 17, color: '#E2E8F0', lineHeight: 1.6 }}&gt;「产业图谱构建」与「招商推荐」虽同属平台，工作量和复杂度差异巨大——&lt;span style={{ fontWeight: 'bold', color: '#C4B5FD' }}&gt;必须先拆解、再分类估算&lt;/span&gt;&lt;/Text&gt;&#13;&#10;                &lt;/Box&gt;&#13;&#10;                &lt;Box style={{ background: '#111B2E', borderRadius: 12, padding: '16px 22px', border: '1px solid rgba(34,211,238,0.3)' }}&gt;&#13;&#10;                    &lt;Text style={{ fontSize: 19, fontWeight: 'bold', color: '#67E8F9', marginBottom: 4 }}&gt;应对策略&lt;/Text&gt;&#13;&#10;                    &lt;Text style={{ fontSize: 17, color: '#E2E8F0', lineHeight: 1.6 }}&gt;拆解 WBS → 逐项估算 → 交叉验证 → 加缓冲&lt;/Text&gt;&#13;&#10;                &lt;/Box&gt;&#13;&#10;            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1 项目估算&lt;/Text&gt;&#13;&#10;        &lt;Text style={{ fontSize: 15, color: '#94A3B8' }}&gt;05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677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估算的挑战与常见误区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647700" y="2552700"/>
            <a:ext cx="5915025" cy="2181225"/>
          </a:xfrm>
          <a:prstGeom prst="roundRect">
            <a:avLst>
              <a:gd name="adj" fmla="val 5240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680" name=""/>
          <p:cNvSpPr/>
          <p:nvPr/>
        </p:nvSpPr>
        <p:spPr>
          <a:xfrm rot="0" flipH="0" flipV="0">
            <a:off x="647700" y="2552700"/>
            <a:ext cx="5915025" cy="2181225"/>
          </a:xfrm>
          <a:custGeom>
            <a:pathLst>
              <a:path w="621" h="229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221"/>
                </a:lnTo>
                <a:cubicBezTo>
                  <a:pt x="4" y="225"/>
                  <a:pt x="7" y="228"/>
                  <a:pt x="10" y="229"/>
                </a:cubicBezTo>
                <a:cubicBezTo>
                  <a:pt x="4" y="228"/>
                  <a:pt x="0" y="223"/>
                  <a:pt x="0" y="217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857250" y="2724150"/>
            <a:ext cx="5457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BBF24"/>
                </a:solidFill>
                <a:latin typeface="Microsoft YaHei"/>
                <a:ea typeface="Microsoft YaHei"/>
              </a:rPr>
              <a:t>四大常见误区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857250" y="3067050"/>
            <a:ext cx="5457825" cy="1438275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拍脑袋：凭直觉报一个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乐观数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endParaRPr/>
          </a:p>
          <a:p>
            <a:pPr>
              <a:lnSpc>
                <a:spcPct val="185000"/>
              </a:lnSpc>
            </a:pP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锚定效应：被首个数字带偏</a:t>
            </a:r>
            <a:endParaRPr/>
          </a:p>
          <a:p>
            <a:pPr>
              <a:lnSpc>
                <a:spcPct val="185000"/>
              </a:lnSpc>
            </a:pP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忽略范围：不拆解就直接估总量</a:t>
            </a:r>
            <a:endParaRPr/>
          </a:p>
          <a:p>
            <a:pPr>
              <a:lnSpc>
                <a:spcPct val="185000"/>
              </a:lnSpc>
            </a:pP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无历史依据：不用数据只用经验</a:t>
            </a:r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6657975" y="2552700"/>
            <a:ext cx="4924425" cy="1190625"/>
          </a:xfrm>
          <a:prstGeom prst="roundRect">
            <a:avLst>
              <a:gd name="adj" fmla="val 9600"/>
            </a:avLst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6867525" y="2705100"/>
            <a:ext cx="4505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4B5FD"/>
                </a:solidFill>
                <a:latin typeface="Microsoft YaHei"/>
                <a:ea typeface="Microsoft YaHei"/>
              </a:rPr>
              <a:t>十大课题的启示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6867525" y="2962275"/>
            <a:ext cx="45053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「产业图谱构建」与「招商推荐」虽同属平台，工作量和复杂度差异巨大——</a:t>
            </a:r>
            <a:r>
              <a:rPr lang="zh-CN" sz="1275" b="1">
                <a:solidFill>
                  <a:srgbClr val="C4B5FD"/>
                </a:solidFill>
                <a:latin typeface="Microsoft YaHei"/>
                <a:ea typeface="Microsoft YaHei"/>
              </a:rPr>
              <a:t>必须先拆解、再分类估算</a:t>
            </a:r>
            <a:endParaRPr/>
          </a:p>
        </p:txBody>
      </p:sp>
      <p:sp>
        <p:nvSpPr>
          <p:cNvPr id="686" name=""/>
          <p:cNvSpPr/>
          <p:nvPr/>
        </p:nvSpPr>
        <p:spPr>
          <a:xfrm rot="0" flipH="0" flipV="0">
            <a:off x="6657975" y="3857625"/>
            <a:ext cx="4924425" cy="876300"/>
          </a:xfrm>
          <a:prstGeom prst="roundRect">
            <a:avLst>
              <a:gd name="adj" fmla="val 13043"/>
            </a:avLst>
          </a:prstGeom>
          <a:solidFill>
            <a:srgbClr val="111B2E"/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6867525" y="4010025"/>
            <a:ext cx="4505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67E8F9"/>
                </a:solidFill>
                <a:latin typeface="Microsoft YaHei"/>
                <a:ea typeface="Microsoft YaHei"/>
              </a:rPr>
              <a:t>应对策略</a:t>
            </a:r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6867525" y="4267200"/>
            <a:ext cx="450532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拆解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WBS →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逐项估算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交叉验证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加缓冲</a:t>
            </a:r>
            <a:endParaRPr/>
          </a:p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项目估算</a:t>
            </a:r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05 / 45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691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规模估算：LOC 与功能点 FP&lt;/Text&gt;&#13;&#10;&#13;&#10;    &lt;/Box&gt;&#13;&#10;    &lt;Box style={{ flex: 1, flexDirection: 'column', justifyContent: 'center', gap: 16 }}&gt;&#13;&#10;&#13;&#10;        &lt;Box style={{ flexDirection: 'row', gap: 16 }}&gt;&#13;&#10;            &lt;Box style={{ flex: 1, background: '#111B2E', borderRadius: 12, padding: '18px 22px', border: '1px solid rgba(59,130,246,0.3)' }}&gt;&#13;&#10;                &lt;Text style={{ fontSize: 20, fontWeight: 'bold', color: '#93C5FD', marginBottom: 8 }}&gt;代码行 LOC&lt;/Text&gt;&#13;&#10;                &lt;Text style={{ fontSize: 17, color: '#E2E8F0', lineHeight: 1.65 }}&gt;以源代码行数度量规模。直观但&lt;span style={{ fontWeight: 'bold', color: '#FBBF24' }}&gt;依赖语言与编码风格&lt;/span&gt;，跨语言、跨团队难比较。&lt;/Text&gt;&#13;&#10;            &lt;/Box&gt;&#13;&#10;            &lt;Box style={{ flex: 1, background: '#111B2E', borderRadius: 12, padding: '18px 22px', border: '1px solid rgba(34,211,238,0.3)' }}&gt;&#13;&#10;                &lt;Text style={{ fontSize: 20, fontWeight: 'bold', color: '#67E8F9', marginBottom: 8 }}&gt;功能点 FP&lt;/Text&gt;&#13;&#10;                &lt;Text style={{ fontSize: 17, color: '#E2E8F0', lineHeight: 1.65 }}&gt;从用户视角度量&lt;span style={{ fontWeight: 'bold', color: '#67E8F9' }}&gt;功能规模&lt;/span&gt;：输入、输出、查询、内部逻辑文件、外部接口五类，与语言无关。&lt;/Text&gt;&#13;&#10;            &lt;/Box&gt;&#13;&#10;        &lt;/Box&gt;&#13;&#10;        &lt;Box style={{ background: 'rgba(139,92,246,0.08)', borderRadius: 12, padding: '16px 22px', border: '1px solid rgba(139,92,246,0.35)' }}&gt;&#13;&#10;            &lt;Text style={{ fontSize: 18, color: '#E2E8F0', lineHeight: 1.7 }}&gt;&lt;span style={{ fontWeight: 'bold', color: '#C4B5FD' }}&gt;十大课题落地：&lt;/span&gt;以「产业智能报告生成系统」为例，规模可拆为 5 类功能点——数据采集接口（外部接口）、报告模板配置（输入）、报告预览导出（输出）、报告检索（查询）、知识库存储（内部逻辑文件），据此估算总规模。&lt;/Text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1 项目估算&lt;/Text&gt;&#13;&#10;        &lt;Text style={{ fontSize: 15, color: '#94A3B8' }}&gt;06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693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4152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规模估算：</a:t>
            </a:r>
            <a:r>
              <a:rPr lang="en-US" sz="2550" b="1">
                <a:solidFill>
                  <a:srgbClr val="E2E8F0"/>
                </a:solidFill>
                <a:latin typeface="Microsoft YaHei"/>
                <a:ea typeface="Microsoft YaHei"/>
              </a:rPr>
              <a:t xml:space="preserve">LOC </a:t>
            </a: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与功能点</a:t>
            </a:r>
            <a:r>
              <a:rPr lang="en-US" sz="2550" b="1">
                <a:solidFill>
                  <a:srgbClr val="E2E8F0"/>
                </a:solidFill>
                <a:latin typeface="Microsoft YaHei"/>
                <a:ea typeface="Microsoft YaHei"/>
              </a:rPr>
              <a:t xml:space="preserve"> FP</a:t>
            </a:r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609600" y="2409825"/>
            <a:ext cx="5410200" cy="1295400"/>
          </a:xfrm>
          <a:prstGeom prst="roundRect">
            <a:avLst>
              <a:gd name="adj" fmla="val 8824"/>
            </a:avLst>
          </a:prstGeom>
          <a:solidFill>
            <a:srgbClr val="111B2E"/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819150" y="2581275"/>
            <a:ext cx="4991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93C5FD"/>
                </a:solidFill>
                <a:latin typeface="Microsoft YaHei"/>
                <a:ea typeface="Microsoft YaHei"/>
              </a:rPr>
              <a:t>代码行</a:t>
            </a:r>
            <a:r>
              <a:rPr lang="en-US" sz="1500" b="1">
                <a:solidFill>
                  <a:srgbClr val="93C5FD"/>
                </a:solidFill>
                <a:latin typeface="Microsoft YaHei"/>
                <a:ea typeface="Microsoft YaHei"/>
              </a:rPr>
              <a:t xml:space="preserve"> LOC</a:t>
            </a:r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819150" y="2886075"/>
            <a:ext cx="49911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以源代码行数度量规模。直观但</a:t>
            </a:r>
            <a:r>
              <a:rPr lang="zh-CN" sz="1275" b="1">
                <a:solidFill>
                  <a:srgbClr val="FBBF24"/>
                </a:solidFill>
                <a:latin typeface="Microsoft YaHei"/>
                <a:ea typeface="Microsoft YaHei"/>
              </a:rPr>
              <a:t>依赖语言与编码风格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，跨语言、跨团队难比较。</a:t>
            </a:r>
            <a:endParaRPr/>
          </a:p>
        </p:txBody>
      </p:sp>
      <p:sp>
        <p:nvSpPr>
          <p:cNvPr id="698" name=""/>
          <p:cNvSpPr/>
          <p:nvPr/>
        </p:nvSpPr>
        <p:spPr>
          <a:xfrm rot="0" flipH="0" flipV="0">
            <a:off x="6172200" y="2409825"/>
            <a:ext cx="5410200" cy="1295400"/>
          </a:xfrm>
          <a:prstGeom prst="roundRect">
            <a:avLst>
              <a:gd name="adj" fmla="val 8824"/>
            </a:avLst>
          </a:prstGeom>
          <a:solidFill>
            <a:srgbClr val="111B2E"/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6381750" y="2581275"/>
            <a:ext cx="4991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67E8F9"/>
                </a:solidFill>
                <a:latin typeface="Microsoft YaHei"/>
                <a:ea typeface="Microsoft YaHei"/>
              </a:rPr>
              <a:t>功能点</a:t>
            </a:r>
            <a:r>
              <a:rPr lang="en-US" sz="1500" b="1">
                <a:solidFill>
                  <a:srgbClr val="67E8F9"/>
                </a:solidFill>
                <a:latin typeface="Microsoft YaHei"/>
                <a:ea typeface="Microsoft YaHei"/>
              </a:rPr>
              <a:t xml:space="preserve"> FP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6381750" y="2886075"/>
            <a:ext cx="49911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从用户视角度量</a:t>
            </a:r>
            <a:r>
              <a:rPr lang="zh-CN" sz="1275" b="1">
                <a:solidFill>
                  <a:srgbClr val="67E8F9"/>
                </a:solidFill>
                <a:latin typeface="Microsoft YaHei"/>
                <a:ea typeface="Microsoft YaHei"/>
              </a:rPr>
              <a:t>功能规模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：输入、输出、查询、内部逻辑文件、外部接口五类，与语言无关。</a:t>
            </a:r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609600" y="3857625"/>
            <a:ext cx="10972800" cy="1009650"/>
          </a:xfrm>
          <a:prstGeom prst="roundRect">
            <a:avLst>
              <a:gd name="adj" fmla="val 11321"/>
            </a:avLst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819150" y="4010025"/>
            <a:ext cx="105537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 b="1">
                <a:solidFill>
                  <a:srgbClr val="C4B5FD"/>
                </a:solidFill>
                <a:latin typeface="Microsoft YaHei"/>
                <a:ea typeface="Microsoft YaHei"/>
              </a:rPr>
              <a:t>十大课题落地：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以「产业智能报告生成系统」为例，规模可拆为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类功能点——数据采集接口（外部接口）、报告模板配置（输入）、报告预览导出（输出）、报告检索（查询）、知识库存储（内部逻辑文件），据此估算总规模。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项目估算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06 / 45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705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工作量估算的四种方法&lt;/Text&gt;&#13;&#10;&#13;&#10;    &lt;/Box&gt;&#13;&#10;    &lt;Box style={{ flex: 1, flexDirection: 'column', justifyContent: 'center', gap: 16 }}&gt;&#13;&#10;&#13;&#10;        &lt;Box style={{ flexDirection: 'row', flexWrap: 'wrap', gap: 14 }}&gt;&#13;&#10;            &lt;Box style={{ width: 545, background: '#111B2E', borderRadius: 12, padding: '16px 20px', borderLeft: '4px solid #3B82F6' }}&gt;&#13;&#10;                &lt;Text style={{ fontSize: 20, fontWeight: 'bold', color: '#93C5FD' }}&gt;① 类比估算&lt;/Text&gt;&#13;&#10;                &lt;Text style={{ fontSize: 17, color: '#94A3B8', lineHeight: 1.6, marginTop: 4 }}&gt;参照类似历史项目按规模比例外推，快但依赖相似度判断&lt;/Text&gt;&#13;&#10;            &lt;/Box&gt;&#13;&#10;            &lt;Box style={{ width: 545, background: '#111B2E', borderRadius: 12, padding: '16px 20px', borderLeft: '4px solid #22D3EE' }}&gt;&#13;&#10;                &lt;Text style={{ fontSize: 20, fontWeight: 'bold', color: '#67E8F9' }}&gt;② 专家判断（Delphi）&lt;/Text&gt;&#13;&#10;                &lt;Text style={{ fontSize: 17, color: '#94A3B8', lineHeight: 1.6, marginTop: 4 }}&gt;多名专家匿名多轮收敛，避免从众与权威压制&lt;/Text&gt;&#13;&#10;            &lt;/Box&gt;&#13;&#10;            &lt;Box style={{ width: 545, background: '#111B2E', borderRadius: 12, padding: '16px 20px', borderLeft: '4px solid #8B5CF6' }}&gt;&#13;&#10;                &lt;Text style={{ fontSize: 20, fontWeight: 'bold', color: '#C4B5FD' }}&gt;③ 参数估算（COCOMO）&lt;/Text&gt;&#13;&#10;                &lt;Text style={{ fontSize: 17, color: '#94A3B8', lineHeight: 1.6, marginTop: 4 }}&gt;用数学模型由规模推算工作量，客观可复算&lt;/Text&gt;&#13;&#10;            &lt;/Box&gt;&#13;&#10;            &lt;Box style={{ width: 545, background: '#111B2E', borderRadius: 12, padding: '16px 20px', borderLeft: '4px solid #F59E0B' }}&gt;&#13;&#10;                &lt;Text style={{ fontSize: 20, fontWeight: 'bold', color: '#FBBF24' }}&gt;④ 自下而上估算&lt;/Text&gt;&#13;&#10;                &lt;Text style={{ fontSize: 17, color: '#94A3B8', lineHeight: 1.6, marginTop: 4 }}&gt;WBS 逐活动估算再汇总，最准但最耗时，适合立项后精估&lt;/Text&gt;&#13;&#10;            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1 项目估算&lt;/Text&gt;&#13;&#10;        &lt;Text style={{ fontSize: 15, color: '#94A3B8' }}&gt;07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707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工作量估算的四种方法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647700" y="2686050"/>
            <a:ext cx="5153025" cy="885825"/>
          </a:xfrm>
          <a:prstGeom prst="roundRect">
            <a:avLst>
              <a:gd name="adj" fmla="val 1290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710" name=""/>
          <p:cNvSpPr/>
          <p:nvPr/>
        </p:nvSpPr>
        <p:spPr>
          <a:xfrm rot="0" flipH="0" flipV="0">
            <a:off x="647700" y="2686050"/>
            <a:ext cx="5153025" cy="885825"/>
          </a:xfrm>
          <a:custGeom>
            <a:pathLst>
              <a:path w="541" h="93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5"/>
                </a:lnTo>
                <a:cubicBezTo>
                  <a:pt x="4" y="89"/>
                  <a:pt x="7" y="92"/>
                  <a:pt x="10" y="93"/>
                </a:cubicBezTo>
                <a:cubicBezTo>
                  <a:pt x="4" y="92"/>
                  <a:pt x="0" y="87"/>
                  <a:pt x="0" y="81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838200" y="2838450"/>
            <a:ext cx="4772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93C5FD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500" b="1">
                <a:solidFill>
                  <a:srgbClr val="93C5FD"/>
                </a:solidFill>
                <a:latin typeface="Microsoft YaHei"/>
                <a:ea typeface="Microsoft YaHei"/>
              </a:rPr>
              <a:t>类比估算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838200" y="3105150"/>
            <a:ext cx="477202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参照类似历史项目按规模比例外推，快但依赖相似度判断</a:t>
            </a:r>
            <a:endParaRPr/>
          </a:p>
        </p:txBody>
      </p:sp>
      <p:sp>
        <p:nvSpPr>
          <p:cNvPr id="713" name=""/>
          <p:cNvSpPr/>
          <p:nvPr/>
        </p:nvSpPr>
        <p:spPr>
          <a:xfrm rot="0" flipH="0" flipV="0">
            <a:off x="5972175" y="2686050"/>
            <a:ext cx="5153025" cy="885825"/>
          </a:xfrm>
          <a:prstGeom prst="roundRect">
            <a:avLst>
              <a:gd name="adj" fmla="val 1290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714" name=""/>
          <p:cNvSpPr/>
          <p:nvPr/>
        </p:nvSpPr>
        <p:spPr>
          <a:xfrm rot="0" flipH="0" flipV="0">
            <a:off x="5972175" y="2686050"/>
            <a:ext cx="5153025" cy="885825"/>
          </a:xfrm>
          <a:custGeom>
            <a:pathLst>
              <a:path w="541" h="93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5"/>
                </a:lnTo>
                <a:cubicBezTo>
                  <a:pt x="4" y="89"/>
                  <a:pt x="7" y="92"/>
                  <a:pt x="10" y="93"/>
                </a:cubicBezTo>
                <a:cubicBezTo>
                  <a:pt x="4" y="92"/>
                  <a:pt x="0" y="87"/>
                  <a:pt x="0" y="81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6162675" y="2838450"/>
            <a:ext cx="4772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67E8F9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500" b="1">
                <a:solidFill>
                  <a:srgbClr val="67E8F9"/>
                </a:solidFill>
                <a:latin typeface="Microsoft YaHei"/>
                <a:ea typeface="Microsoft YaHei"/>
              </a:rPr>
              <a:t>专家判断（</a:t>
            </a:r>
            <a:r>
              <a:rPr lang="en-US" sz="1500" b="1">
                <a:solidFill>
                  <a:srgbClr val="67E8F9"/>
                </a:solidFill>
                <a:latin typeface="Microsoft YaHei"/>
                <a:ea typeface="Microsoft YaHei"/>
              </a:rPr>
              <a:t>Delphi</a:t>
            </a:r>
            <a:r>
              <a:rPr lang="zh-CN" sz="1500" b="1">
                <a:solidFill>
                  <a:srgbClr val="67E8F9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6162675" y="3105150"/>
            <a:ext cx="477202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多名专家匿名多轮收敛，避免从众与权威压制</a:t>
            </a:r>
            <a:endParaRPr/>
          </a:p>
        </p:txBody>
      </p:sp>
      <p:sp>
        <p:nvSpPr>
          <p:cNvPr id="717" name=""/>
          <p:cNvSpPr/>
          <p:nvPr/>
        </p:nvSpPr>
        <p:spPr>
          <a:xfrm rot="0" flipH="0" flipV="0">
            <a:off x="647700" y="3705225"/>
            <a:ext cx="5153025" cy="885825"/>
          </a:xfrm>
          <a:prstGeom prst="roundRect">
            <a:avLst>
              <a:gd name="adj" fmla="val 1290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718" name=""/>
          <p:cNvSpPr/>
          <p:nvPr/>
        </p:nvSpPr>
        <p:spPr>
          <a:xfrm rot="0" flipH="0" flipV="0">
            <a:off x="647700" y="3705225"/>
            <a:ext cx="5153025" cy="885825"/>
          </a:xfrm>
          <a:custGeom>
            <a:pathLst>
              <a:path w="541" h="93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5"/>
                </a:lnTo>
                <a:cubicBezTo>
                  <a:pt x="4" y="89"/>
                  <a:pt x="7" y="92"/>
                  <a:pt x="10" y="93"/>
                </a:cubicBezTo>
                <a:cubicBezTo>
                  <a:pt x="4" y="92"/>
                  <a:pt x="0" y="87"/>
                  <a:pt x="0" y="81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838200" y="3857625"/>
            <a:ext cx="4772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4B5FD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500" b="1">
                <a:solidFill>
                  <a:srgbClr val="C4B5FD"/>
                </a:solidFill>
                <a:latin typeface="Microsoft YaHei"/>
                <a:ea typeface="Microsoft YaHei"/>
              </a:rPr>
              <a:t>参数估算（</a:t>
            </a:r>
            <a:r>
              <a:rPr lang="en-US" sz="1500" b="1">
                <a:solidFill>
                  <a:srgbClr val="C4B5FD"/>
                </a:solidFill>
                <a:latin typeface="Microsoft YaHei"/>
                <a:ea typeface="Microsoft YaHei"/>
              </a:rPr>
              <a:t>COCOMO</a:t>
            </a:r>
            <a:r>
              <a:rPr lang="zh-CN" sz="1500" b="1">
                <a:solidFill>
                  <a:srgbClr val="C4B5FD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838200" y="4124325"/>
            <a:ext cx="477202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用数学模型由规模推算工作量，客观可复算</a:t>
            </a:r>
            <a:endParaRPr/>
          </a:p>
        </p:txBody>
      </p:sp>
      <p:sp>
        <p:nvSpPr>
          <p:cNvPr id="721" name=""/>
          <p:cNvSpPr/>
          <p:nvPr/>
        </p:nvSpPr>
        <p:spPr>
          <a:xfrm rot="0" flipH="0" flipV="0">
            <a:off x="5972175" y="3705225"/>
            <a:ext cx="5153025" cy="885825"/>
          </a:xfrm>
          <a:prstGeom prst="roundRect">
            <a:avLst>
              <a:gd name="adj" fmla="val 1290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722" name=""/>
          <p:cNvSpPr/>
          <p:nvPr/>
        </p:nvSpPr>
        <p:spPr>
          <a:xfrm rot="0" flipH="0" flipV="0">
            <a:off x="5972175" y="3705225"/>
            <a:ext cx="5153025" cy="885825"/>
          </a:xfrm>
          <a:custGeom>
            <a:pathLst>
              <a:path w="541" h="93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5"/>
                </a:lnTo>
                <a:cubicBezTo>
                  <a:pt x="4" y="89"/>
                  <a:pt x="7" y="92"/>
                  <a:pt x="10" y="93"/>
                </a:cubicBezTo>
                <a:cubicBezTo>
                  <a:pt x="4" y="92"/>
                  <a:pt x="0" y="87"/>
                  <a:pt x="0" y="81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6162675" y="3857625"/>
            <a:ext cx="4772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BBF24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500" b="1">
                <a:solidFill>
                  <a:srgbClr val="FBBF24"/>
                </a:solidFill>
                <a:latin typeface="Microsoft YaHei"/>
                <a:ea typeface="Microsoft YaHei"/>
              </a:rPr>
              <a:t>自下而上估算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6162675" y="4124325"/>
            <a:ext cx="477202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WBS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逐活动估算再汇总，最准但最耗时，适合立项后精估</a:t>
            </a:r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项目估算</a:t>
            </a:r>
            <a:endParaRPr/>
          </a:p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07 / 45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27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故事点估算：相对规模&lt;/Text&gt;&#13;&#10;&#13;&#10;    &lt;/Box&gt;&#13;&#10;    &lt;Box style={{ flex: 1, flexDirection: 'column', justifyContent: 'center', gap: 16 }}&gt;&#13;&#10;&#13;&#10;        &lt;Box style={{ flexDirection: 'row', gap: 20, alignItems: 'stretch' }}&gt;&#13;&#10;            &lt;Box style={{ flex: 1, justifyContent: 'center' }}&gt;&#13;&#10;                &lt;Text style={{ fontSize: 20, fontWeight: 'bold', color: '#22D3EE', marginBottom: 12 }}&gt;什么是故事点&lt;/Text&gt;&#13;&#10;                &lt;Text style={{ fontSize: 18, color: '#E2E8F0', lineHeight: 1.7 }}&gt;用&lt;span style={{ fontWeight: 'bold', color: '#67E8F9' }}&gt;相对大小&lt;/span&gt;而非绝对工时估算用户故事：选一个&quot;基准故事=1点&quot;，其余故事与之比较。&lt;/Text&gt;&#13;&#10;                &lt;Box style={{ background: '#111B2E', borderRadius: 10, padding: '14px 18px', marginTop: 14, border: '1px solid rgba(34,211,238,0.3)' }}&gt;&#13;&#10;                    &lt;Text style={{ fontSize: 17, color: '#E2E8F0', lineHeight: 1.6 }}&gt;&lt;span style={{ fontWeight: 'bold', color: '#67E8F9' }}&gt;Fibonacci 序列：&lt;/span&gt;1 · 2 · 3 · 5 · 8 · 13 · 21 —— 数值间距拉大，逼团队&lt;span style={{ fontWeight: 'bold', color: '#FBBF24' }}&gt;做出取舍&lt;/span&gt;&lt;/Text&gt;&#13;&#10;                &lt;/Box&gt;&#13;&#10;            &lt;/Box&gt;&#13;&#10;            &lt;Box style={{ flex: 1, justifyContent: 'center', alignItems: 'center' }}&gt;&#13;&#10;                &lt;svg width={520} height={360} viewBox='0 0 520 360'&gt;&#13;&#10;                    &lt;rect x='20' y='260' width='78' height='80' rx='8' fill='#111B2E' stroke='#3B82F6' strokeWidth='2'/&gt;&lt;text x='59' y='305' textAnchor='middle' fill='#93C5FD' fontSize='26' fontWeight='bold'&gt;1&lt;/text&gt;&#13;&#10;                    &lt;rect x='108' y='240' width='78' height='100' rx='8' fill='#111B2E' stroke='#3B82F6' strokeWidth='2'/&gt;&lt;text x='147' y='295' textAnchor='middle' fill='#93C5FD' fontSize='26' fontWeight='bold'&gt;2&lt;/text&gt;&#13;&#10;                    &lt;rect x='196' y='210' width='78' height='130' rx='8' fill='#111B2E' stroke='#22D3EE' strokeWidth='2'/&gt;&lt;text x='235' y='280' textAnchor='middle' fill='#67E8F9' fontSize='26' fontWeight='bold'&gt;3&lt;/text&gt;&#13;&#10;                    &lt;rect x='284' y='170' width='78' height='170' rx='8' fill='#111B2E' stroke='#22D3EE' strokeWidth='2'/&gt;&lt;text x='323' y='260' textAnchor='middle' fill='#67E8F9' fontSize='26' fontWeight='bold'&gt;5&lt;/text&gt;&#13;&#10;                    &lt;rect x='372' y='120' width='78' height='220' rx='8' fill='#111B2E' stroke='#8B5CF6' strokeWidth='2'/&gt;&lt;text x='411' y='235' textAnchor='middle' fill='#C4B5FD' fontSize='26' fontWeight='bold'&gt;8&lt;/text&gt;&#13;&#10;                    &lt;rect x='460' y='60' width='40' height='280' rx='8' fill='#111B2E' stroke='#8B5CF6' strokeWidth='2'/&gt;&lt;text x='480' y='205' textAnchor='middle' fill='#C4B5FD' fontSize='22' fontWeight='bold'&gt;13&lt;/text&gt;&#13;&#10;                    &lt;text x='59' y='352' textAnchor='middle' fill='#64748B' fontSize='14'&gt;图谱构建&lt;/text&gt;&#13;&#10;                    &lt;text x='411' y='352' textAnchor='middle' fill='#64748B' fontSize='14'&gt;招商推荐&lt;/text&gt;&#13;&#10;                    &lt;text x='480' y='352' textAnchor='middle' fill='#64748B' fontSize='14'&gt;出海服务&lt;/text&gt;&#13;&#10;                &lt;/svg&gt;&#13;&#10;            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1 项目估算&lt;/Text&gt;&#13;&#10;        &lt;Text style={{ fontSize: 15, color: '#94A3B8' }}&gt;08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729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故事点估算：相对规模</a:t>
            </a:r>
            <a:endParaRPr/>
          </a:p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609600" y="2600325"/>
            <a:ext cx="5391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D3EE"/>
                </a:solidFill>
                <a:latin typeface="Microsoft YaHei"/>
                <a:ea typeface="Microsoft YaHei"/>
              </a:rPr>
              <a:t>什么是故事点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609600" y="2943225"/>
            <a:ext cx="539115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用</a:t>
            </a: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相对大小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而非绝对工时估算用户故事：选一个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基准故事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=1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点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，其余故事与之比较。</a:t>
            </a:r>
            <a:endParaRPr/>
          </a:p>
        </p:txBody>
      </p:sp>
      <p:sp>
        <p:nvSpPr>
          <p:cNvPr id="733" name=""/>
          <p:cNvSpPr/>
          <p:nvPr/>
        </p:nvSpPr>
        <p:spPr>
          <a:xfrm rot="0" flipH="0" flipV="0">
            <a:off x="609600" y="3781425"/>
            <a:ext cx="5391150" cy="895350"/>
          </a:xfrm>
          <a:prstGeom prst="roundRect">
            <a:avLst>
              <a:gd name="adj" fmla="val 10638"/>
            </a:avLst>
          </a:prstGeom>
          <a:solidFill>
            <a:srgbClr val="111B2E"/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781050" y="3914775"/>
            <a:ext cx="50482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 b="1">
                <a:solidFill>
                  <a:srgbClr val="67E8F9"/>
                </a:solidFill>
                <a:latin typeface="Microsoft YaHei"/>
                <a:ea typeface="Microsoft YaHei"/>
              </a:rPr>
              <a:t xml:space="preserve">Fibonacci </a:t>
            </a:r>
            <a:r>
              <a:rPr lang="zh-CN" sz="1275" b="1">
                <a:solidFill>
                  <a:srgbClr val="67E8F9"/>
                </a:solidFill>
                <a:latin typeface="Microsoft YaHei"/>
                <a:ea typeface="Microsoft YaHei"/>
              </a:rPr>
              <a:t>序列：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1 · 2 · 3 · 5 · 8 · 13 · 21 ——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数值间距拉大，逼团队</a:t>
            </a:r>
            <a:r>
              <a:rPr lang="zh-CN" sz="1275" b="1">
                <a:solidFill>
                  <a:srgbClr val="FBBF24"/>
                </a:solidFill>
                <a:latin typeface="Microsoft YaHei"/>
                <a:ea typeface="Microsoft YaHei"/>
              </a:rPr>
              <a:t>做出取舍</a:t>
            </a:r>
            <a:endParaRPr/>
          </a:p>
        </p:txBody>
      </p:sp>
      <p:pic>
        <p:nvPicPr>
          <p:cNvPr id="7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410325" y="1924050"/>
            <a:ext cx="4953000" cy="3429000"/>
          </a:xfrm>
          <a:prstGeom prst="rect">
            <a:avLst/>
          </a:prstGeom>
          <a:ln/>
        </p:spPr>
      </p:pic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项目估算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08 / 45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738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十大课题：规模与复杂度对比&lt;/Text&gt;&#13;&#10;&#13;&#10;    &lt;/Box&gt;&#13;&#10;    &lt;Box style={{ flex: 1, flexDirection: 'column', justifyContent: 'center', gap: 16 }}&gt;&#13;&#10;&#13;&#10;        &lt;Box style={{ flexDirection: 'row', gap: 16, alignItems: 'stretch' }}&gt;&#13;&#10;            &lt;Box style={{ flex: 1, background: 'rgba(34,211,238,0.07)', borderRadius: 12, padding: '16px 20px', border: '1px solid rgba(34,211,238,0.3)' }}&gt;&#13;&#10;                &lt;Text style={{ fontSize: 19, fontWeight: 'bold', color: '#67E8F9', marginBottom: 10 }}&gt;底层基础底座（课题 1–4）&lt;/Text&gt;&#13;&#10;                &lt;Text style={{ fontSize: 17, color: '#E2E8F0', lineHeight: 1.8 }}&gt;图谱构建 · 报告生成 · 态势感知 · 百科知识库&lt;/Text&gt;&#13;&#10;                &lt;Text style={{ fontSize: 16, color: '#94A3B8', marginTop: 8, lineHeight: 1.6 }}&gt;偏数据工程与平台：数据采集清洗、知识建模、图数据库，&lt;span style={{ color: '#67E8F9', fontWeight: 'bold' }}&gt;规模大、复用度高&lt;/span&gt;&lt;/Text&gt;&#13;&#10;            &lt;/Box&gt;&#13;&#10;            &lt;Box style={{ flex: 1, background: 'rgba(139,92,246,0.08)', borderRadius: 12, padding: '16px 20px', border: '1px solid rgba(139,92,246,0.35)' }}&gt;&#13;&#10;                &lt;Text style={{ fontSize: 19, fontWeight: 'bold', color: '#C4B5FD', marginBottom: 10 }}&gt;上层产业应用（课题 5–10）&lt;/Text&gt;&#13;&#10;                &lt;Text style={{ fontSize: 17, color: '#E2E8F0', lineHeight: 1.8 }}&gt;产业研究 · 科技情报 · 技术转化 · 招商 · 仿真 · 出海&lt;/Text&gt;&#13;&#10;                &lt;Text style={{ fontSize: 16, color: '#94A3B8', marginTop: 8, lineHeight: 1.6 }}&gt;偏业务场景与智能应用：业务闭环、交互体验，&lt;span style={{ color: '#C4B5FD', fontWeight: 'bold' }}&gt;复杂度高、场景差异大&lt;/span&gt;&lt;/Text&gt;&#13;&#10;            &lt;/Box&gt;&#13;&#10;        &lt;/Box&gt;&#13;&#10;        &lt;Box style={{ background: '#111B2E', borderRadius: 12, padding: '15px 22px', borderLeft: '4px solid #F59E0B' }}&gt;&#13;&#10;            &lt;Text style={{ fontSize: 18, color: '#E2E8F0', lineHeight: 1.65 }}&gt;&lt;span style={{ fontWeight: 'bold', color: '#FBBF24' }}&gt;估算启示：&lt;/span&gt;底座课题适合按&lt;span style={{ fontWeight: 'bold', color: '#FBBF24' }}&gt;功能点/数据规模&lt;/span&gt;估，应用课题适合按&lt;span style={{ fontWeight: 'bold', color: '#FBBF24' }}&gt;用户故事点&lt;/span&gt;估——先分类，再选方法。&lt;/Text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1 项目估算&lt;/Text&gt;&#13;&#10;        &lt;Text style={{ fontSize: 15, color: '#94A3B8' }}&gt;09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740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十大课题：规模与复杂度对比</a:t>
            </a:r>
            <a:endParaRPr/>
          </a:p>
        </p:txBody>
      </p:sp>
      <p:sp>
        <p:nvSpPr>
          <p:cNvPr id="742" name=""/>
          <p:cNvSpPr/>
          <p:nvPr/>
        </p:nvSpPr>
        <p:spPr>
          <a:xfrm rot="0" flipH="0" flipV="0">
            <a:off x="609600" y="2428875"/>
            <a:ext cx="5410200" cy="1638300"/>
          </a:xfrm>
          <a:prstGeom prst="roundRect">
            <a:avLst>
              <a:gd name="adj" fmla="val 6977"/>
            </a:avLst>
          </a:prstGeom>
          <a:solidFill>
            <a:srgbClr val="22D3EE">
              <a:alpha val="7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800100" y="2581275"/>
            <a:ext cx="5029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67E8F9"/>
                </a:solidFill>
                <a:latin typeface="Microsoft YaHei"/>
                <a:ea typeface="Microsoft YaHei"/>
              </a:rPr>
              <a:t>底层基础底座（课题</a:t>
            </a:r>
            <a:r>
              <a:rPr lang="en-US" sz="1425" b="1">
                <a:solidFill>
                  <a:srgbClr val="67E8F9"/>
                </a:solidFill>
                <a:latin typeface="Microsoft YaHei"/>
                <a:ea typeface="Microsoft YaHei"/>
              </a:rPr>
              <a:t xml:space="preserve"> 1–4</a:t>
            </a:r>
            <a:r>
              <a:rPr lang="zh-CN" sz="1425" b="1">
                <a:solidFill>
                  <a:srgbClr val="67E8F9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800100" y="2895600"/>
            <a:ext cx="5029200" cy="3524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图谱构建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报告生成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态势感知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百科知识库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800100" y="3324225"/>
            <a:ext cx="50292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偏数据工程与平台：数据采集清洗、知识建模、图数据库，</a:t>
            </a:r>
            <a:r>
              <a:rPr lang="zh-CN" sz="1200" b="1">
                <a:solidFill>
                  <a:srgbClr val="67E8F9"/>
                </a:solidFill>
                <a:latin typeface="Microsoft YaHei"/>
                <a:ea typeface="Microsoft YaHei"/>
              </a:rPr>
              <a:t>规模大、复用度高</a:t>
            </a:r>
            <a:endParaRPr/>
          </a:p>
        </p:txBody>
      </p:sp>
      <p:sp>
        <p:nvSpPr>
          <p:cNvPr id="746" name=""/>
          <p:cNvSpPr/>
          <p:nvPr/>
        </p:nvSpPr>
        <p:spPr>
          <a:xfrm rot="0" flipH="0" flipV="0">
            <a:off x="6172200" y="2428875"/>
            <a:ext cx="5410200" cy="1638300"/>
          </a:xfrm>
          <a:prstGeom prst="roundRect">
            <a:avLst>
              <a:gd name="adj" fmla="val 6977"/>
            </a:avLst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6362700" y="2581275"/>
            <a:ext cx="5029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4B5FD"/>
                </a:solidFill>
                <a:latin typeface="Microsoft YaHei"/>
                <a:ea typeface="Microsoft YaHei"/>
              </a:rPr>
              <a:t>上层产业应用（课题</a:t>
            </a:r>
            <a:r>
              <a:rPr lang="en-US" sz="1425" b="1">
                <a:solidFill>
                  <a:srgbClr val="C4B5FD"/>
                </a:solidFill>
                <a:latin typeface="Microsoft YaHei"/>
                <a:ea typeface="Microsoft YaHei"/>
              </a:rPr>
              <a:t xml:space="preserve"> 5–10</a:t>
            </a:r>
            <a:r>
              <a:rPr lang="zh-CN" sz="1425" b="1">
                <a:solidFill>
                  <a:srgbClr val="C4B5FD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6362700" y="2895600"/>
            <a:ext cx="5029200" cy="3524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产业研究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科技情报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技术转化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招商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仿真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出海</a:t>
            </a:r>
            <a:endParaRPr/>
          </a:p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6362700" y="3324225"/>
            <a:ext cx="50292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偏业务场景与智能应用：业务闭环、交互体验，</a:t>
            </a:r>
            <a:r>
              <a:rPr lang="zh-CN" sz="1200" b="1">
                <a:solidFill>
                  <a:srgbClr val="C4B5FD"/>
                </a:solidFill>
                <a:latin typeface="Microsoft YaHei"/>
                <a:ea typeface="Microsoft YaHei"/>
              </a:rPr>
              <a:t>复杂度高、场景差异大</a:t>
            </a:r>
            <a:endParaRPr/>
          </a:p>
        </p:txBody>
      </p:sp>
      <p:sp>
        <p:nvSpPr>
          <p:cNvPr id="750" name=""/>
          <p:cNvSpPr/>
          <p:nvPr/>
        </p:nvSpPr>
        <p:spPr>
          <a:xfrm rot="0" flipH="0" flipV="0">
            <a:off x="647700" y="4219575"/>
            <a:ext cx="10972800" cy="628650"/>
          </a:xfrm>
          <a:prstGeom prst="roundRect">
            <a:avLst>
              <a:gd name="adj" fmla="val 18182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751" name=""/>
          <p:cNvSpPr/>
          <p:nvPr/>
        </p:nvSpPr>
        <p:spPr>
          <a:xfrm rot="0" flipH="0" flipV="0">
            <a:off x="647700" y="4219575"/>
            <a:ext cx="10972800" cy="628650"/>
          </a:xfrm>
          <a:custGeom>
            <a:pathLst>
              <a:path w="1152" h="6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58"/>
                </a:lnTo>
                <a:cubicBezTo>
                  <a:pt x="4" y="62"/>
                  <a:pt x="7" y="65"/>
                  <a:pt x="10" y="66"/>
                </a:cubicBezTo>
                <a:cubicBezTo>
                  <a:pt x="4" y="65"/>
                  <a:pt x="0" y="60"/>
                  <a:pt x="0" y="5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857250" y="4362450"/>
            <a:ext cx="10515600" cy="3429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350" b="1">
                <a:solidFill>
                  <a:srgbClr val="FBBF24"/>
                </a:solidFill>
                <a:latin typeface="Microsoft YaHei"/>
                <a:ea typeface="Microsoft YaHei"/>
              </a:rPr>
              <a:t>估算启示：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底座课题适合按</a:t>
            </a:r>
            <a:r>
              <a:rPr lang="zh-CN" sz="1350" b="1">
                <a:solidFill>
                  <a:srgbClr val="FBBF24"/>
                </a:solidFill>
                <a:latin typeface="Microsoft YaHei"/>
                <a:ea typeface="Microsoft YaHei"/>
              </a:rPr>
              <a:t>功能点</a:t>
            </a:r>
            <a:r>
              <a:rPr lang="en-US" sz="1350" b="1">
                <a:solidFill>
                  <a:srgbClr val="FBBF24"/>
                </a:solidFill>
                <a:latin typeface="Microsoft YaHei"/>
                <a:ea typeface="Microsoft YaHei"/>
              </a:rPr>
              <a:t>/</a:t>
            </a:r>
            <a:r>
              <a:rPr lang="zh-CN" sz="1350" b="1">
                <a:solidFill>
                  <a:srgbClr val="FBBF24"/>
                </a:solidFill>
                <a:latin typeface="Microsoft YaHei"/>
                <a:ea typeface="Microsoft YaHei"/>
              </a:rPr>
              <a:t>数据规模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估，应用课题适合按</a:t>
            </a:r>
            <a:r>
              <a:rPr lang="zh-CN" sz="1350" b="1">
                <a:solidFill>
                  <a:srgbClr val="FBBF24"/>
                </a:solidFill>
                <a:latin typeface="Microsoft YaHei"/>
                <a:ea typeface="Microsoft YaHei"/>
              </a:rPr>
              <a:t>用户故事点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估——先分类，再选方法。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项目估算</a:t>
            </a:r>
            <a:endParaRPr/>
          </a:p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09 / 45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4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成本估算：从工作量到预算&lt;/Text&gt;&#13;&#10;&#13;&#10;    &lt;/Box&gt;&#13;&#10;    &lt;Box style={{ flex: 1, flexDirection: 'column', justifyContent: 'center', gap: 16 }}&gt;&#13;&#10;&#13;&#10;        &lt;Box style={{ flexDirection: 'row', gap: 16 }}&gt;&#13;&#10;            &lt;Box style={{ flex: 1, flexDirection: 'column', gap: 13, justifyContent: 'center' }}&gt;&#13;&#10;                &lt;Box style={{ background: '#111B2E', borderRadius: 12, padding: '15px 20px', borderLeft: '4px solid #3B82F6' }}&gt;&#13;&#10;                    &lt;Text style={{ fontSize: 19, fontWeight: 'bold', color: '#93C5FD' }}&gt;人力成本&lt;/Text&gt;&#13;&#10;                    &lt;Text style={{ fontSize: 17, color: '#E2E8F0', lineHeight: 1.6, marginTop: 4 }}&gt;成本 = 工作量（人月）× 人员单价&lt;/Text&gt;&#13;&#10;                &lt;/Box&gt;&#13;&#10;                &lt;Box style={{ background: '#111B2E', borderRadius: 12, padding: '15px 20px', borderLeft: '4px solid #22D3EE' }}&gt;&#13;&#10;                    &lt;Text style={{ fontSize: 19, fontWeight: 'bold', color: '#67E8F9' }}&gt;资源成本&lt;/Text&gt;&#13;&#10;                    &lt;Text style={{ fontSize: 17, color: '#E2E8F0', lineHeight: 1.6, marginTop: 4 }}&gt;算力 GPU / 大模型 API 调用 / 云服务&lt;/Text&gt;&#13;&#10;                &lt;/Box&gt;&#13;&#10;                &lt;Box style={{ background: '#111B2E', borderRadius: 12, padding: '15px 20px', borderLeft: '4px solid #8B5CF6' }}&gt;&#13;&#10;                    &lt;Text style={{ fontSize: 19, fontWeight: 'bold', color: '#C4B5FD' }}&gt;间接成本&lt;/Text&gt;&#13;&#10;                    &lt;Text style={{ fontSize: 17, color: '#E2E8F0', lineHeight: 1.6, marginTop: 4 }}&gt;管理、培训、环境与风险准备金（buffer）&lt;/Text&gt;&#13;&#10;                &lt;/Box&gt;&#13;&#10;            &lt;/Box&gt;&#13;&#10;            &lt;Box style={{ flex: 1, background: 'rgba(139,92,246,0.08)', borderRadius: 12, padding: '18px 22px', border: '1px solid rgba(139,92,246,0.35)', justifyContent: 'center' }}&gt;&#13;&#10;                &lt;Text style={{ fontSize: 19, fontWeight: 'bold', color: '#C4B5FD', marginBottom: 10 }}&gt;AI 时代的成本结构变化&lt;/Text&gt;&#13;&#10;                &lt;Text style={{ fontSize: 17, color: '#E2E8F0', lineHeight: 1.7 }}&gt;传统项目成本以人力为主；十大课题这类 &lt;span style={{ fontWeight: 'bold', color: '#C4B5FD' }}&gt;大模型应用&lt;/span&gt; 的成本结构变成——&lt;/Text&gt;&#13;&#10;                &lt;Box style={{ flexDirection: 'row', gap: 8, marginTop: 12, flexWrap: 'wrap' }}&gt;&#13;&#10;                    &lt;Box style={{ background: '#111B2E', borderRadius: 8, padding: '8px 14px' }}&gt;&lt;Text style={{ fontSize: 15, color: '#E2E8F0' }}&gt;模型推理费用&lt;/Text&gt;&lt;/Box&gt;&#13;&#10;                    &lt;Box style={{ background: '#111B2E', borderRadius: 8, padding: '8px 14px' }}&gt;&lt;Text style={{ fontSize: 15, color: '#E2E8F0' }}&gt;数据标注成本&lt;/Text&gt;&lt;/Box&gt;&#13;&#10;                    &lt;Box style={{ background: '#111B2E', borderRadius: 8, padding: '8px 14px' }}&gt;&lt;Text style={{ fontSize: 15, color: '#E2E8F0' }}&gt;算力租赁&lt;/Text&gt;&lt;/Box&gt;&#13;&#10;                    &lt;Box style={{ background: '#111B2E', borderRadius: 8, padding: '8px 14px' }}&gt;&lt;Text style={{ fontSize: 15, color: '#E2E8F0' }}&gt;提示词工程人力&lt;/Text&gt;&lt;/Box&gt;&#13;&#10;                &lt;/Box&gt;&#13;&#10;            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1 项目估算&lt;/Text&gt;&#13;&#10;        &lt;Text style={{ fontSize: 15, color: '#94A3B8' }}&gt;10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6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成本估算：从工作量到预算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47700" y="2228850"/>
            <a:ext cx="5410200" cy="857250"/>
          </a:xfrm>
          <a:prstGeom prst="roundRect">
            <a:avLst>
              <a:gd name="adj" fmla="val 1333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647700" y="2228850"/>
            <a:ext cx="5410200" cy="857250"/>
          </a:xfrm>
          <a:custGeom>
            <a:pathLst>
              <a:path w="568" h="90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2"/>
                </a:lnTo>
                <a:cubicBezTo>
                  <a:pt x="4" y="86"/>
                  <a:pt x="7" y="89"/>
                  <a:pt x="10" y="90"/>
                </a:cubicBezTo>
                <a:cubicBezTo>
                  <a:pt x="4" y="89"/>
                  <a:pt x="0" y="84"/>
                  <a:pt x="0" y="7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38200" y="2371725"/>
            <a:ext cx="4991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93C5FD"/>
                </a:solidFill>
                <a:latin typeface="Microsoft YaHei"/>
                <a:ea typeface="Microsoft YaHei"/>
              </a:rPr>
              <a:t>人力成本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38200" y="2628900"/>
            <a:ext cx="49911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成本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工作量（人月）×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人员单价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47700" y="3209925"/>
            <a:ext cx="5410200" cy="857250"/>
          </a:xfrm>
          <a:prstGeom prst="roundRect">
            <a:avLst>
              <a:gd name="adj" fmla="val 1333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647700" y="3209925"/>
            <a:ext cx="5410200" cy="857250"/>
          </a:xfrm>
          <a:custGeom>
            <a:pathLst>
              <a:path w="568" h="90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2"/>
                </a:lnTo>
                <a:cubicBezTo>
                  <a:pt x="4" y="86"/>
                  <a:pt x="7" y="89"/>
                  <a:pt x="10" y="90"/>
                </a:cubicBezTo>
                <a:cubicBezTo>
                  <a:pt x="4" y="89"/>
                  <a:pt x="0" y="84"/>
                  <a:pt x="0" y="7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38200" y="3352800"/>
            <a:ext cx="4991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67E8F9"/>
                </a:solidFill>
                <a:latin typeface="Microsoft YaHei"/>
                <a:ea typeface="Microsoft YaHei"/>
              </a:rPr>
              <a:t>资源成本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838200" y="3609975"/>
            <a:ext cx="49911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算力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GPU /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大模型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调用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云服务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647700" y="4191000"/>
            <a:ext cx="5410200" cy="857250"/>
          </a:xfrm>
          <a:prstGeom prst="roundRect">
            <a:avLst>
              <a:gd name="adj" fmla="val 1333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647700" y="4191000"/>
            <a:ext cx="5410200" cy="857250"/>
          </a:xfrm>
          <a:custGeom>
            <a:pathLst>
              <a:path w="568" h="90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2"/>
                </a:lnTo>
                <a:cubicBezTo>
                  <a:pt x="4" y="86"/>
                  <a:pt x="7" y="89"/>
                  <a:pt x="10" y="90"/>
                </a:cubicBezTo>
                <a:cubicBezTo>
                  <a:pt x="4" y="89"/>
                  <a:pt x="0" y="84"/>
                  <a:pt x="0" y="7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38200" y="4333875"/>
            <a:ext cx="4991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4B5FD"/>
                </a:solidFill>
                <a:latin typeface="Microsoft YaHei"/>
                <a:ea typeface="Microsoft YaHei"/>
              </a:rPr>
              <a:t>间接成本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38200" y="4591050"/>
            <a:ext cx="49911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管理、培训、环境与风险准备金（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>buffer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172200" y="2228850"/>
            <a:ext cx="5410200" cy="2819400"/>
          </a:xfrm>
          <a:prstGeom prst="roundRect">
            <a:avLst>
              <a:gd name="adj" fmla="val 4054"/>
            </a:avLst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381750" y="2933700"/>
            <a:ext cx="4991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C4B5FD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425" b="1">
                <a:solidFill>
                  <a:srgbClr val="C4B5FD"/>
                </a:solidFill>
                <a:latin typeface="Microsoft YaHei"/>
                <a:ea typeface="Microsoft YaHei"/>
              </a:rPr>
              <a:t>时代的成本结构变化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381750" y="3248025"/>
            <a:ext cx="49911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传统项目成本以人力为主；十大课题这类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 b="1">
                <a:solidFill>
                  <a:srgbClr val="C4B5FD"/>
                </a:solidFill>
                <a:latin typeface="Microsoft YaHei"/>
                <a:ea typeface="Microsoft YaHei"/>
              </a:rPr>
              <a:t>大模型应用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的成本结构变成——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381750" y="4029075"/>
            <a:ext cx="1123950" cy="323850"/>
          </a:xfrm>
          <a:prstGeom prst="roundRect">
            <a:avLst>
              <a:gd name="adj" fmla="val 23529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515100" y="410527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模型推理费用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7581900" y="4029075"/>
            <a:ext cx="1123950" cy="323850"/>
          </a:xfrm>
          <a:prstGeom prst="roundRect">
            <a:avLst>
              <a:gd name="adj" fmla="val 23529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715250" y="410527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数据标注成本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8782050" y="4029075"/>
            <a:ext cx="838200" cy="323850"/>
          </a:xfrm>
          <a:prstGeom prst="roundRect">
            <a:avLst>
              <a:gd name="adj" fmla="val 23529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915400" y="41052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算力租赁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9696450" y="4029075"/>
            <a:ext cx="1266825" cy="323850"/>
          </a:xfrm>
          <a:prstGeom prst="roundRect">
            <a:avLst>
              <a:gd name="adj" fmla="val 23529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9829800" y="4105275"/>
            <a:ext cx="1000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2E8F0"/>
                </a:solidFill>
                <a:latin typeface="Microsoft YaHei"/>
                <a:ea typeface="Microsoft YaHei"/>
              </a:rPr>
              <a:t>提示词工程人力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项目估算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10 / 45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3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COCOMO 模型：参数化估算&lt;/Text&gt;&#13;&#10;&#13;&#10;    &lt;/Box&gt;&#13;&#10;    &lt;Box style={{ flex: 1, flexDirection: 'column', justifyContent: 'center', gap: 16 }}&gt;&#13;&#10;&#13;&#10;        &lt;Box style={{ flexDirection: 'row', gap: 16, alignItems: 'stretch' }}&gt;&#13;&#10;            &lt;Box style={{ flex: 1, background: '#111B2E', borderRadius: 12, padding: '18px 22px', border: '1px solid rgba(59,130,246,0.3)' }}&gt;&#13;&#10;                &lt;Text style={{ fontSize: 20, fontWeight: 'bold', color: '#93C5FD', marginBottom: 10 }}&gt;三个层次&lt;/Text&gt;&#13;&#10;                &lt;Text style={{ fontSize: 17, color: '#E2E8F0', lineHeight: 1.9 }}&gt;基本模型：仅看规模&lt;br/&gt;中级模型：× 15 项成本驱动因子&lt;br/&gt;详细模型：按阶段、按模块细分&lt;/Text&gt;&#13;&#10;            &lt;/Box&gt;&#13;&#10;            &lt;Box style={{ flex: 1, background: 'rgba(34,211,238,0.07)', borderRadius: 12, padding: '18px 22px', border: '1px solid rgba(34,211,238,0.3)', justifyContent: 'center' }}&gt;&#13;&#10;                &lt;Text style={{ fontSize: 20, fontWeight: 'bold', color: '#67E8F9', marginBottom: 10 }}&gt;核心公式&lt;/Text&gt;&#13;&#10;                &lt;Text style={{ fontSize: 24, color: '#E2E8F0', fontWeight: 'bold', letterSpacing: 1 }}&gt;Effort = a × KLOC&lt;sup&gt;b&lt;/sup&gt;&lt;/Text&gt;&#13;&#10;                &lt;Text style={{ fontSize: 16, color: '#94A3B8', marginTop: 10, lineHeight: 1.6 }}&gt;Effort 单位为人月；a、b 由项目类型（组织型/半独立型/嵌入型）决定&lt;/Text&gt;&#13;&#10;            &lt;/Box&gt;&#13;&#10;        &lt;/Box&gt;&#13;&#10;        &lt;Box style={{ background: 'rgba(139,92,246,0.08)', borderRadius: 12, padding: '15px 22px', border: '1px solid rgba(139,92,246,0.35)' }}&gt;&#13;&#10;            &lt;Text style={{ fontSize: 17, color: '#E2E8F0', lineHeight: 1.65 }}&gt;&lt;span style={{ fontWeight: 'bold', color: '#C4B5FD' }}&gt;局限：&lt;/span&gt;COCOMO 基于传统代码规模（KLOC），对以 &lt;span style={{ fontWeight: 'bold', color: '#C4B5FD' }}&gt;大模型调用、RAG 检索、知识图谱&lt;/span&gt; 为主的十大课题需结合功能点与故事点，&lt;span style={{ fontWeight: 'bold', color: '#FBBF24' }}&gt;不宜生搬硬套&lt;/span&gt;。&lt;/Text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1 项目估算&lt;/Text&gt;&#13;&#10;        &lt;Text style={{ fontSize: 15, color: '#94A3B8' }}&gt;11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42481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2E8F0"/>
                </a:solidFill>
                <a:latin typeface="Microsoft YaHei"/>
                <a:ea typeface="Microsoft YaHei"/>
              </a:rPr>
              <a:t xml:space="preserve">COCOMO </a:t>
            </a: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模型：参数化估算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609600" y="2371725"/>
            <a:ext cx="5410200" cy="1781175"/>
          </a:xfrm>
          <a:prstGeom prst="roundRect">
            <a:avLst>
              <a:gd name="adj" fmla="val 6417"/>
            </a:avLst>
          </a:prstGeom>
          <a:solidFill>
            <a:srgbClr val="111B2E"/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19150" y="2543175"/>
            <a:ext cx="4991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93C5FD"/>
                </a:solidFill>
                <a:latin typeface="Microsoft YaHei"/>
                <a:ea typeface="Microsoft YaHei"/>
              </a:rPr>
              <a:t>三个层次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19150" y="2867025"/>
            <a:ext cx="4991100" cy="111442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基本模型：仅看规模</a:t>
            </a:r>
            <a:endParaRPr/>
          </a:p>
          <a:p>
            <a:pPr>
              <a:lnSpc>
                <a:spcPct val="19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中级模型：×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15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项成本驱动因子</a:t>
            </a:r>
            <a:endParaRPr/>
          </a:p>
          <a:p>
            <a:pPr>
              <a:lnSpc>
                <a:spcPct val="19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详细模型：按阶段、按模块细分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172200" y="2371725"/>
            <a:ext cx="5410200" cy="1781175"/>
          </a:xfrm>
          <a:prstGeom prst="roundRect">
            <a:avLst>
              <a:gd name="adj" fmla="val 6417"/>
            </a:avLst>
          </a:prstGeom>
          <a:solidFill>
            <a:srgbClr val="22D3EE">
              <a:alpha val="7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381750" y="2771775"/>
            <a:ext cx="4991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67E8F9"/>
                </a:solidFill>
                <a:latin typeface="Microsoft YaHei"/>
                <a:ea typeface="Microsoft YaHei"/>
              </a:rPr>
              <a:t>核心公式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381750" y="3095625"/>
            <a:ext cx="4991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 spc="75">
                <a:solidFill>
                  <a:srgbClr val="E2E8F0"/>
                </a:solidFill>
                <a:latin typeface="Microsoft YaHei"/>
                <a:ea typeface="Microsoft YaHei"/>
              </a:rPr>
              <a:t>Effort = a × KLOC</a:t>
            </a:r>
            <a:r>
              <a:rPr lang="en-US" sz="1800" b="1" spc="75">
                <a:solidFill>
                  <a:srgbClr val="E2E8F0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381750" y="3467100"/>
            <a:ext cx="4991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Effort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单位为人月；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a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、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由项目类型（组织型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半独立型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嵌入型）决定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09600" y="4305300"/>
            <a:ext cx="10972800" cy="609600"/>
          </a:xfrm>
          <a:prstGeom prst="roundRect">
            <a:avLst>
              <a:gd name="adj" fmla="val 18750"/>
            </a:avLst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19150" y="4448175"/>
            <a:ext cx="10553700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 b="1">
                <a:solidFill>
                  <a:srgbClr val="C4B5FD"/>
                </a:solidFill>
                <a:latin typeface="Microsoft YaHei"/>
                <a:ea typeface="Microsoft YaHei"/>
              </a:rPr>
              <a:t>局限：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COCOMO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基于传统代码规模（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>KLOC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），对以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 b="1">
                <a:solidFill>
                  <a:srgbClr val="C4B5FD"/>
                </a:solidFill>
                <a:latin typeface="Microsoft YaHei"/>
                <a:ea typeface="Microsoft YaHei"/>
              </a:rPr>
              <a:t>大模型调用、</a:t>
            </a:r>
            <a:r>
              <a:rPr lang="en-US" sz="1275" b="1">
                <a:solidFill>
                  <a:srgbClr val="C4B5FD"/>
                </a:solidFill>
                <a:latin typeface="Microsoft YaHei"/>
                <a:ea typeface="Microsoft YaHei"/>
              </a:rPr>
              <a:t xml:space="preserve">RAG </a:t>
            </a:r>
            <a:r>
              <a:rPr lang="zh-CN" sz="1275" b="1">
                <a:solidFill>
                  <a:srgbClr val="C4B5FD"/>
                </a:solidFill>
                <a:latin typeface="Microsoft YaHei"/>
                <a:ea typeface="Microsoft YaHei"/>
              </a:rPr>
              <a:t>检索、知识图谱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为主的十大课题需结合功能点与故事点，</a:t>
            </a:r>
            <a:r>
              <a:rPr lang="zh-CN" sz="1275" b="1">
                <a:solidFill>
                  <a:srgbClr val="FBBF24"/>
                </a:solidFill>
                <a:latin typeface="Microsoft YaHei"/>
                <a:ea typeface="Microsoft YaHei"/>
              </a:rPr>
              <a:t>不宜生搬硬套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项目估算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11 / 45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8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三点估算：PERT&lt;/Text&gt;&#13;&#10;&#13;&#10;    &lt;/Box&gt;&#13;&#10;    &lt;Box style={{ flex: 1, flexDirection: 'column', justifyContent: 'center', gap: 16 }}&gt;&#13;&#10;&#13;&#10;        &lt;Box style={{ flexDirection: 'row', gap: 20, alignItems: 'center' }}&gt;&#13;&#10;            &lt;Box style={{ flex: 1, justifyContent: 'center' }}&gt;&#13;&#10;                &lt;Text style={{ fontSize: 19, fontWeight: 'bold', color: '#22D3EE', marginBottom: 10 }}&gt;三点取值&lt;/Text&gt;&#13;&#10;                &lt;Text style={{ fontSize: 18, color: '#E2E8F0', lineHeight: 1.9 }}&gt;乐观 O（最顺利）&lt;br/&gt;最可能 M（正常情况）&lt;br/&gt;悲观 P（最困难）&lt;/Text&gt;&#13;&#10;                &lt;Box style={{ background: '#111B2E', borderRadius: 10, padding: '16px 20px', marginTop: 14, border: '1px solid rgba(34,211,238,0.3)' }}&gt;&#13;&#10;                    &lt;Text style={{ fontSize: 18, color: '#E2E8F0', lineHeight: 1.7 }}&gt;&lt;span style={{ fontWeight: 'bold', color: '#67E8F9' }}&gt;期望值：&lt;/span&gt;E = (O + 4M + P) / 6&lt;/Text&gt;&#13;&#10;                    &lt;Text style={{ fontSize: 16, color: '#94A3B8', marginTop: 6 }}&gt;标准差 σ = (P − O) / 6&lt;/Text&gt;&#13;&#10;                &lt;/Box&gt;&#13;&#10;            &lt;/Box&gt;&#13;&#10;            &lt;Box style={{ flex: 1, justifyContent: 'center', alignItems: 'center' }}&gt;&#13;&#10;                &lt;svg width={520} height={320} viewBox='0 0 520 320'&gt;&#13;&#10;                    &lt;line x1='40' y1='280' x2='500' y2='280' stroke='#334155' strokeWidth='2'/&gt;&#13;&#10;                    &lt;path d='M40,260 Q120,120 260,140 Q400,160 500,270' fill='none' stroke='#22D3EE' strokeWidth='3'/&gt;&#13;&#10;                    &lt;line x1='120' y1='120' x2='120' y2='280' stroke='#64748B' strokeWidth='1' strokeDasharray='4'/&gt;&#13;&#10;                    &lt;line x1='260' y1='140' x2='260' y2='280' stroke='#64748B' strokeWidth='1' strokeDasharray='4'/&gt;&#13;&#10;                    &lt;line x1='440' y1='220' x2='440' y2='280' stroke='#64748B' strokeWidth='1' strokeDasharray='4'/&gt;&#13;&#10;                    &lt;circle cx='120' cy='140' r='6' fill='#22D3EE'/&gt;&#13;&#10;                    &lt;circle cx='260' cy='140' r='7' fill='#3B82F6'/&gt;&#13;&#10;                    &lt;circle cx='440' cy='200' r='6' fill='#8B5CF6'/&gt;&#13;&#10;                    &lt;text x='120' y='105' textAnchor='middle' fill='#67E8F9' fontSize='16' fontWeight='bold'&gt;O&lt;/text&gt;&#13;&#10;                    &lt;text x='260' y='122' textAnchor='middle' fill='#93C5FD' fontSize='16' fontWeight='bold'&gt;M&lt;/text&gt;&#13;&#10;                    &lt;text x='440' y='185' textAnchor='middle' fill='#C4B5FD' fontSize='16' fontWeight='bold'&gt;P&lt;/text&gt;&#13;&#10;                    &lt;text x='120' y='302' textAnchor='middle' fill='#64748B' fontSize='14'&gt;乐观&lt;/text&gt;&#13;&#10;                    &lt;text x='260' y='302' textAnchor='middle' fill='#64748B' fontSize='14'&gt;最可能&lt;/text&gt;&#13;&#10;                    &lt;text x='440' y='302' textAnchor='middle' fill='#64748B' fontSize='14'&gt;悲观&lt;/text&gt;&#13;&#10;                &lt;/svg&gt;&#13;&#10;            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1 项目估算&lt;/Text&gt;&#13;&#10;        &lt;Text style={{ fontSize: 15, color: '#94A3B8' }}&gt;12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2447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三点估算：</a:t>
            </a:r>
            <a:r>
              <a:rPr lang="en-US" sz="2550" b="1">
                <a:solidFill>
                  <a:srgbClr val="E2E8F0"/>
                </a:solidFill>
                <a:latin typeface="Microsoft YaHei"/>
                <a:ea typeface="Microsoft YaHei"/>
              </a:rPr>
              <a:t>PERT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09600" y="2371725"/>
            <a:ext cx="53911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2D3EE"/>
                </a:solidFill>
                <a:latin typeface="Microsoft YaHei"/>
                <a:ea typeface="Microsoft YaHei"/>
              </a:rPr>
              <a:t>三点取值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09600" y="2686050"/>
            <a:ext cx="5391150" cy="11811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乐观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O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（最顺利）</a:t>
            </a:r>
            <a:endParaRPr/>
          </a:p>
          <a:p>
            <a:pPr>
              <a:lnSpc>
                <a:spcPct val="190000"/>
              </a:lnSpc>
            </a:pP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最可能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M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（正常情况）</a:t>
            </a:r>
            <a:endParaRPr/>
          </a:p>
          <a:p>
            <a:pPr>
              <a:lnSpc>
                <a:spcPct val="190000"/>
              </a:lnSpc>
            </a:pP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悲观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P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（最困难）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09600" y="4000500"/>
            <a:ext cx="5391150" cy="904875"/>
          </a:xfrm>
          <a:prstGeom prst="roundRect">
            <a:avLst>
              <a:gd name="adj" fmla="val 10526"/>
            </a:avLst>
          </a:prstGeom>
          <a:solidFill>
            <a:srgbClr val="111B2E"/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800100" y="4152900"/>
            <a:ext cx="501015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期望值：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E = (O + 4M + P) / 6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00100" y="456247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标准差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σ = (P − O) / 6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410325" y="2114550"/>
            <a:ext cx="4953000" cy="3048000"/>
          </a:xfrm>
          <a:prstGeom prst="rect">
            <a:avLst/>
          </a:prstGeom>
          <a:ln/>
        </p:spPr>
      </p:pic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项目估算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12 / 45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70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AI 辅助估算&lt;/Text&gt;&#13;&#10;&#13;&#10;    &lt;/Box&gt;&#13;&#10;    &lt;Box style={{ flex: 1, flexDirection: 'column', justifyContent: 'center', gap: 16 }}&gt;&#13;&#10;&#13;&#10;        &lt;Box style={{ flexDirection: 'row', gap: 16, alignItems: 'stretch' }}&gt;&#13;&#10;            &lt;Box style={{ flex: 1, flexDirection: 'column', gap: 12, justifyContent: 'center' }}&gt;&#13;&#10;                &lt;Box style={{ background: '#111B2E', borderRadius: 12, padding: '15px 20px', borderLeft: '4px solid #3B82F6' }}&gt;&#13;&#10;                    &lt;Text style={{ fontSize: 19, fontWeight: 'bold', color: '#93C5FD' }}&gt;历史数据驱动&lt;/Text&gt;&#13;&#10;                    &lt;Text style={{ fontSize: 17, color: '#E2E8F0', lineHeight: 1.6, marginTop: 4 }}&gt;用过往项目的工作量、周期、缺陷数据训练预测模型&lt;/Text&gt;&#13;&#10;                &lt;/Box&gt;&#13;&#10;                &lt;Box style={{ background: '#111B2E', borderRadius: 12, padding: '15px 20px', borderLeft: '4px solid #22D3EE' }}&gt;&#13;&#10;                    &lt;Text style={{ fontSize: 19, fontWeight: 'bold', color: '#67E8F9' }}&gt;LLM 辅助拆解&lt;/Text&gt;&#13;&#10;                    &lt;Text style={{ fontSize: 17, color: '#E2E8F0', lineHeight: 1.6, marginTop: 4 }}&gt;大模型自动生成 WBS、识别遗漏、给出参考区间&lt;/Text&gt;&#13;&#10;                &lt;/Box&gt;&#13;&#10;                &lt;Box style={{ background: '#111B2E', borderRadius: 12, padding: '15px 20px', borderLeft: '4px solid #8B5CF6' }}&gt;&#13;&#10;                    &lt;Text style={{ fontSize: 19, fontWeight: 'bold', color: '#C4B5FD' }}&gt;持续校准&lt;/Text&gt;&#13;&#10;                    &lt;Text style={{ fontSize: 17, color: '#E2E8F0', lineHeight: 1.6, marginTop: 4 }}&gt;实际 vs 估算偏差回流，滚动修正参数&lt;/Text&gt;&#13;&#10;                &lt;/Box&gt;&#13;&#10;            &lt;/Box&gt;&#13;&#10;            &lt;Box style={{ flex: 1, background: 'rgba(34,211,238,0.07)', borderRadius: 12, padding: '18px 22px', border: '1px solid rgba(34,211,238,0.3)', justifyContent: 'center' }}&gt;&#13;&#10;                &lt;Text style={{ fontSize: 19, fontWeight: 'bold', color: '#67E8F9', marginBottom: 10 }}&gt;人机分工&lt;/Text&gt;&#13;&#10;                &lt;Text style={{ fontSize: 18, color: '#E2E8F0', lineHeight: 1.75 }}&gt;AI 提供&lt;span style={{ fontWeight: 'bold', color: '#67E8F9' }}&gt;数据与候选区间&lt;/span&gt;，人做&lt;span style={{ fontWeight: 'bold', color: '#FBBF24' }}&gt;判断与承诺&lt;/span&gt;——估算的问责仍在于人。&lt;/Text&gt;&#13;&#10;                &lt;Text style={{ fontSize: 16, color: '#94A3B8', marginTop: 12, lineHeight: 1.6 }}&gt;项目经理从&quot;算数的人&quot;转向&quot;校验 AI 估算的人&quot;。&lt;/Text&gt;&#13;&#10;            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1 项目估算&lt;/Text&gt;&#13;&#10;        &lt;Text style={{ fontSize: 15, color: '#94A3B8' }}&gt;13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1752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2E8F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辅助估算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47700" y="2238375"/>
            <a:ext cx="5410200" cy="857250"/>
          </a:xfrm>
          <a:prstGeom prst="roundRect">
            <a:avLst>
              <a:gd name="adj" fmla="val 1333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647700" y="2238375"/>
            <a:ext cx="5410200" cy="857250"/>
          </a:xfrm>
          <a:custGeom>
            <a:pathLst>
              <a:path w="568" h="90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2"/>
                </a:lnTo>
                <a:cubicBezTo>
                  <a:pt x="4" y="86"/>
                  <a:pt x="7" y="89"/>
                  <a:pt x="10" y="90"/>
                </a:cubicBezTo>
                <a:cubicBezTo>
                  <a:pt x="4" y="89"/>
                  <a:pt x="0" y="84"/>
                  <a:pt x="0" y="7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838200" y="2381250"/>
            <a:ext cx="4991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93C5FD"/>
                </a:solidFill>
                <a:latin typeface="Microsoft YaHei"/>
                <a:ea typeface="Microsoft YaHei"/>
              </a:rPr>
              <a:t>历史数据驱动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38200" y="2638425"/>
            <a:ext cx="49911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用过往项目的工作量、周期、缺陷数据训练预测模型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47700" y="3209925"/>
            <a:ext cx="5410200" cy="857250"/>
          </a:xfrm>
          <a:prstGeom prst="roundRect">
            <a:avLst>
              <a:gd name="adj" fmla="val 1333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647700" y="3209925"/>
            <a:ext cx="5410200" cy="857250"/>
          </a:xfrm>
          <a:custGeom>
            <a:pathLst>
              <a:path w="568" h="90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2"/>
                </a:lnTo>
                <a:cubicBezTo>
                  <a:pt x="4" y="86"/>
                  <a:pt x="7" y="89"/>
                  <a:pt x="10" y="90"/>
                </a:cubicBezTo>
                <a:cubicBezTo>
                  <a:pt x="4" y="89"/>
                  <a:pt x="0" y="84"/>
                  <a:pt x="0" y="7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838200" y="3352800"/>
            <a:ext cx="4991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67E8F9"/>
                </a:solidFill>
                <a:latin typeface="Microsoft YaHei"/>
                <a:ea typeface="Microsoft YaHei"/>
              </a:rPr>
              <a:t xml:space="preserve">LLM </a:t>
            </a:r>
            <a:r>
              <a:rPr lang="zh-CN" sz="1425" b="1">
                <a:solidFill>
                  <a:srgbClr val="67E8F9"/>
                </a:solidFill>
                <a:latin typeface="Microsoft YaHei"/>
                <a:ea typeface="Microsoft YaHei"/>
              </a:rPr>
              <a:t>辅助拆解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38200" y="3609975"/>
            <a:ext cx="49911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大模型自动生成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WBS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、识别遗漏、给出参考区间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647700" y="4181475"/>
            <a:ext cx="5410200" cy="857250"/>
          </a:xfrm>
          <a:prstGeom prst="roundRect">
            <a:avLst>
              <a:gd name="adj" fmla="val 1333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647700" y="4181475"/>
            <a:ext cx="5410200" cy="857250"/>
          </a:xfrm>
          <a:custGeom>
            <a:pathLst>
              <a:path w="568" h="90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2"/>
                </a:lnTo>
                <a:cubicBezTo>
                  <a:pt x="4" y="86"/>
                  <a:pt x="7" y="89"/>
                  <a:pt x="10" y="90"/>
                </a:cubicBezTo>
                <a:cubicBezTo>
                  <a:pt x="4" y="89"/>
                  <a:pt x="0" y="84"/>
                  <a:pt x="0" y="78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38200" y="4324350"/>
            <a:ext cx="4991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4B5FD"/>
                </a:solidFill>
                <a:latin typeface="Microsoft YaHei"/>
                <a:ea typeface="Microsoft YaHei"/>
              </a:rPr>
              <a:t>持续校准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38200" y="4581525"/>
            <a:ext cx="49911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实际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vs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估算偏差回流，滚动修正参数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172200" y="2238375"/>
            <a:ext cx="5410200" cy="2800350"/>
          </a:xfrm>
          <a:prstGeom prst="roundRect">
            <a:avLst>
              <a:gd name="adj" fmla="val 4082"/>
            </a:avLst>
          </a:prstGeom>
          <a:solidFill>
            <a:srgbClr val="22D3EE">
              <a:alpha val="7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381750" y="2914650"/>
            <a:ext cx="4991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67E8F9"/>
                </a:solidFill>
                <a:latin typeface="Microsoft YaHei"/>
                <a:ea typeface="Microsoft YaHei"/>
              </a:rPr>
              <a:t>人机分工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381750" y="3228975"/>
            <a:ext cx="49911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提供</a:t>
            </a: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数据与候选区间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，人做</a:t>
            </a:r>
            <a:r>
              <a:rPr lang="zh-CN" sz="1350" b="1">
                <a:solidFill>
                  <a:srgbClr val="FBBF24"/>
                </a:solidFill>
                <a:latin typeface="Microsoft YaHei"/>
                <a:ea typeface="Microsoft YaHei"/>
              </a:rPr>
              <a:t>判断与承诺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——估算的问责仍在于人。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381750" y="4067175"/>
            <a:ext cx="499110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项目经理从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算数的人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转向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校验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估算的人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项目估算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13 / 45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2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估算的精度演进：锥形不确定性&lt;/Text&gt;&#13;&#10;&#13;&#10;    &lt;/Box&gt;&#13;&#10;    &lt;Box style={{ flex: 1, flexDirection: 'column', justifyContent: 'center', gap: 16 }}&gt;&#13;&#10;&#13;&#10;        &lt;Box style={{ flexDirection: 'row', gap: 20, alignItems: 'center' }}&gt;&#13;&#10;            &lt;Box style={{ flex: 1, justifyContent: 'center', alignItems: 'center' }}&gt;&#13;&#10;                &lt;svg width={540} height={380} viewBox='0 0 540 380'&gt;&#13;&#10;                    &lt;polygon points='270,40 60,340 480,340' fill='rgba(34,211,238,0.06)' stroke='#22D3EE' strokeWidth='2'/&gt;&#13;&#10;                    &lt;polygon points='270,90 140,340 400,340' fill='rgba(59,130,246,0.08)' stroke='#3B82F6' strokeWidth='2'/&gt;&#13;&#10;                    &lt;polygon points='270,150 220,340 320,340' fill='rgba(139,92,246,0.10)' stroke='#8B5CF6' strokeWidth='2'/&gt;&#13;&#10;                    &lt;line x1='270' y1='30' x2='270' y2='340' stroke='#334155' strokeWidth='1' strokeDasharray='4'/&gt;&#13;&#10;                    &lt;text x='270' y='366' textAnchor='middle' fill='#94A3B8' fontSize='15'&gt;立项 —— 需求 —— 设计 —— 交付&lt;/text&gt;&#13;&#10;                    &lt;text x='60' y='360' textAnchor='middle' fill='#67E8F9' fontSize='15'&gt;±400%&lt;/text&gt;&#13;&#10;                    &lt;text x='400' y='360' textAnchor='middle' fill='#C4B5FD' fontSize='15'&gt;±10%&lt;/text&gt;&#13;&#10;                    &lt;text x='270' y='24' textAnchor='middle' fill='#94A3B8' fontSize='15'&gt;估算不确定度&lt;/text&gt;&#13;&#10;                &lt;/svg&gt;&#13;&#10;            &lt;/Box&gt;&#13;&#10;            &lt;Box style={{ flex: 1, justifyContent: 'center' }}&gt;&#13;&#10;                &lt;Text style={{ fontSize: 20, fontWeight: 'bold', color: '#22D3EE', marginBottom: 10 }}&gt;核心洞察&lt;/Text&gt;&#13;&#10;                &lt;Text style={{ fontSize: 18, color: '#E2E8F0', lineHeight: 1.75 }}&gt;项目越早期，估算误差越大（可到 &lt;span style={{ fontWeight: 'bold', color: '#FBBF24' }}&gt;±400%&lt;/span&gt;）；随需求澄清、设计细化，误差收敛到 &lt;span style={{ fontWeight: 'bold', color: '#C4B5FD' }}&gt;±10%&lt;/span&gt;。&lt;/Text&gt;&#13;&#10;                &lt;Text style={{ fontSize: 17, color: '#94A3B8', marginTop: 12, lineHeight: 1.6 }}&gt;因此：&lt;span style={{ fontWeight: 'bold', color: '#E2E8F0' }}&gt;早期给区间，不轻易给承诺；&lt;/span&gt;滚动细化，逐步收敛。&lt;/Text&gt;&#13;&#10;            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1 项目估算&lt;/Text&gt;&#13;&#10;        &lt;Text style={{ fontSize: 15, color: '#94A3B8' }}&gt;14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94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估算的精度演进：锥形不确定性</a:t>
            </a:r>
            <a:endParaRPr/>
          </a:p>
        </p:txBody>
      </p:sp>
      <p:pic>
        <p:nvPicPr>
          <p:cNvPr id="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33425" y="1828800"/>
            <a:ext cx="5143500" cy="3619500"/>
          </a:xfrm>
          <a:prstGeom prst="rect">
            <a:avLst/>
          </a:prstGeom>
          <a:ln/>
        </p:spPr>
      </p:pic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191250" y="2905125"/>
            <a:ext cx="5391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2D3EE"/>
                </a:solidFill>
                <a:latin typeface="Microsoft YaHei"/>
                <a:ea typeface="Microsoft YaHei"/>
              </a:rPr>
              <a:t>核心洞察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191250" y="3228975"/>
            <a:ext cx="539115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项目越早期，估算误差越大（可到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350" b="1">
                <a:solidFill>
                  <a:srgbClr val="FBBF24"/>
                </a:solidFill>
                <a:latin typeface="Microsoft YaHei"/>
                <a:ea typeface="Microsoft YaHei"/>
              </a:rPr>
              <a:t>±400%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）；随需求澄清、设计细化，误差收敛到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350" b="1">
                <a:solidFill>
                  <a:srgbClr val="C4B5FD"/>
                </a:solidFill>
                <a:latin typeface="Microsoft YaHei"/>
                <a:ea typeface="Microsoft YaHei"/>
              </a:rPr>
              <a:t>±10%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191250" y="4067175"/>
            <a:ext cx="539115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因此：</a:t>
            </a:r>
            <a:r>
              <a:rPr lang="zh-CN" sz="1275" b="1">
                <a:solidFill>
                  <a:srgbClr val="E2E8F0"/>
                </a:solidFill>
                <a:latin typeface="Microsoft YaHei"/>
                <a:ea typeface="Microsoft YaHei"/>
              </a:rPr>
              <a:t>早期给区间，不轻易给承诺；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滚动细化，逐步收敛。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项目估算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14 / 45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02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第一章小结：项目估算&lt;/Text&gt;&#13;&#10;&#13;&#10;    &lt;/Box&gt;&#13;&#10;    &lt;Box style={{ flex: 1, flexDirection: 'column', justifyContent: 'center', gap: 16 }}&gt;&#13;&#10;&#13;&#10;        &lt;Box style={{ flexDirection: 'row', gap: 14 }}&gt;&#13;&#10;            &lt;Box style={{ flex: 1, background: '#111B2E', borderRadius: 12, padding: '16px 20px', borderTop: '3px solid #3B82F6' }}&gt;&#13;&#10;                &lt;Text style={{ fontSize: 19, fontWeight: 'bold', color: '#93C5FD', marginBottom: 6 }}&gt;规模&lt;/Text&gt;&#13;&#10;                &lt;Text style={{ fontSize: 16, color: '#94A3B8', lineHeight: 1.6 }}&gt;LOC · 功能点 · 故事点&lt;/Text&gt;&#13;&#10;            &lt;/Box&gt;&#13;&#10;            &lt;Box style={{ flex: 1, background: '#111B2E', borderRadius: 12, padding: '16px 20px', borderTop: '3px solid #22D3EE' }}&gt;&#13;&#10;                &lt;Text style={{ fontSize: 19, fontWeight: 'bold', color: '#67E8F9', marginBottom: 6 }}&gt;工作量&lt;/Text&gt;&#13;&#10;                &lt;Text style={{ fontSize: 16, color: '#94A3B8', lineHeight: 1.6 }}&gt;类比 · 专家 · 参数 · 自下而上&lt;/Text&gt;&#13;&#10;            &lt;/Box&gt;&#13;&#10;            &lt;Box style={{ flex: 1, background: '#111B2E', borderRadius: 12, padding: '16px 20px', borderTop: '3px solid #8B5CF6' }}&gt;&#13;&#10;                &lt;Text style={{ fontSize: 19, fontWeight: 'bold', color: '#C4B5FD', marginBottom: 6 }}&gt;成本&lt;/Text&gt;&#13;&#10;                &lt;Text style={{ fontSize: 16, color: '#94A3B8', lineHeight: 1.6 }}&gt;人月 × 单价 + 资源 + 缓冲&lt;/Text&gt;&#13;&#10;            &lt;/Box&gt;&#13;&#10;            &lt;Box style={{ flex: 1, background: '#111B2E', borderRadius: 12, padding: '16px 20px', borderTop: '3px solid #F59E0B' }}&gt;&#13;&#10;                &lt;Text style={{ fontSize: 19, fontWeight: 'bold', color: '#FBBF24', marginBottom: 6 }}&gt;AI 增强&lt;/Text&gt;&#13;&#10;                &lt;Text style={{ fontSize: 16, color: '#94A3B8', lineHeight: 1.6 }}&gt;数据驱动 + 持续校准&lt;/Text&gt;&#13;&#10;            &lt;/Box&gt;&#13;&#10;        &lt;/Box&gt;&#13;&#10;        &lt;Box style={{ background: 'rgba(34,211,238,0.08)', borderRadius: 12, padding: '15px 22px', border: '1px solid rgba(34,211,238,0.3)' }}&gt;&#13;&#10;            &lt;Text style={{ fontSize: 18, color: '#E2E8F0', lineHeight: 1.65 }}&gt;&lt;span style={{ fontWeight: 'bold', color: '#67E8F9' }}&gt;一句话：&lt;/span&gt;估算不是猜数字，而是&lt;span style={{ fontWeight: 'bold', color: '#67E8F9' }}&gt;拆解 + 方法 + 数据 + 缓冲&lt;/span&gt;的工程过程；十大课题须&lt;span style={{ fontWeight: 'bold', color: '#FBBF24' }}&gt;先分类再选方法&lt;/span&gt;。&lt;/Text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1 项目估算&lt;/Text&gt;&#13;&#10;        &lt;Text style={{ fontSize: 15, color: '#94A3B8' }}&gt;15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第一章小结：项目估算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09600" y="2828925"/>
            <a:ext cx="2647950" cy="904875"/>
          </a:xfrm>
          <a:prstGeom prst="roundRect">
            <a:avLst>
              <a:gd name="adj" fmla="val 12632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609600" y="2828925"/>
            <a:ext cx="2647950" cy="904875"/>
          </a:xfrm>
          <a:custGeom>
            <a:pathLst>
              <a:path w="278" h="95">
                <a:moveTo>
                  <a:pt x="267" y="0"/>
                </a:moveTo>
                <a:cubicBezTo>
                  <a:pt x="272" y="0"/>
                  <a:pt x="277" y="4"/>
                  <a:pt x="278" y="9"/>
                </a:cubicBezTo>
                <a:cubicBezTo>
                  <a:pt x="276" y="6"/>
                  <a:pt x="273" y="3"/>
                  <a:pt x="269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00100" y="2981325"/>
            <a:ext cx="2266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93C5FD"/>
                </a:solidFill>
                <a:latin typeface="Microsoft YaHei"/>
                <a:ea typeface="Microsoft YaHei"/>
              </a:rPr>
              <a:t>规模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00100" y="3257550"/>
            <a:ext cx="22669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LOC ·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功能点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故事点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3390900" y="2828925"/>
            <a:ext cx="2638425" cy="904875"/>
          </a:xfrm>
          <a:prstGeom prst="roundRect">
            <a:avLst>
              <a:gd name="adj" fmla="val 12632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3390900" y="2828925"/>
            <a:ext cx="2638425" cy="904875"/>
          </a:xfrm>
          <a:custGeom>
            <a:pathLst>
              <a:path w="277" h="95">
                <a:moveTo>
                  <a:pt x="266" y="0"/>
                </a:moveTo>
                <a:cubicBezTo>
                  <a:pt x="271" y="0"/>
                  <a:pt x="276" y="4"/>
                  <a:pt x="277" y="9"/>
                </a:cubicBezTo>
                <a:cubicBezTo>
                  <a:pt x="275" y="6"/>
                  <a:pt x="272" y="3"/>
                  <a:pt x="268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5" y="0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3581400" y="2981325"/>
            <a:ext cx="2257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67E8F9"/>
                </a:solidFill>
                <a:latin typeface="Microsoft YaHei"/>
                <a:ea typeface="Microsoft YaHei"/>
              </a:rPr>
              <a:t>工作量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3581400" y="3257550"/>
            <a:ext cx="22574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类比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专家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参数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自下而上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162675" y="2828925"/>
            <a:ext cx="2647950" cy="904875"/>
          </a:xfrm>
          <a:prstGeom prst="roundRect">
            <a:avLst>
              <a:gd name="adj" fmla="val 12632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6162675" y="2828925"/>
            <a:ext cx="2647950" cy="904875"/>
          </a:xfrm>
          <a:custGeom>
            <a:pathLst>
              <a:path w="278" h="95">
                <a:moveTo>
                  <a:pt x="267" y="0"/>
                </a:moveTo>
                <a:cubicBezTo>
                  <a:pt x="272" y="0"/>
                  <a:pt x="277" y="4"/>
                  <a:pt x="278" y="9"/>
                </a:cubicBezTo>
                <a:cubicBezTo>
                  <a:pt x="276" y="6"/>
                  <a:pt x="273" y="3"/>
                  <a:pt x="269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353175" y="2981325"/>
            <a:ext cx="2266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4B5FD"/>
                </a:solidFill>
                <a:latin typeface="Microsoft YaHei"/>
                <a:ea typeface="Microsoft YaHei"/>
              </a:rPr>
              <a:t>成本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353175" y="3257550"/>
            <a:ext cx="22669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人月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单价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资源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缓冲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8943975" y="2828925"/>
            <a:ext cx="2638425" cy="904875"/>
          </a:xfrm>
          <a:prstGeom prst="roundRect">
            <a:avLst>
              <a:gd name="adj" fmla="val 12632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8943975" y="2828925"/>
            <a:ext cx="2638425" cy="904875"/>
          </a:xfrm>
          <a:custGeom>
            <a:pathLst>
              <a:path w="277" h="95">
                <a:moveTo>
                  <a:pt x="266" y="0"/>
                </a:moveTo>
                <a:cubicBezTo>
                  <a:pt x="271" y="0"/>
                  <a:pt x="276" y="4"/>
                  <a:pt x="277" y="9"/>
                </a:cubicBezTo>
                <a:cubicBezTo>
                  <a:pt x="275" y="6"/>
                  <a:pt x="272" y="3"/>
                  <a:pt x="268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5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9134475" y="2981325"/>
            <a:ext cx="2257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BBF24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425" b="1">
                <a:solidFill>
                  <a:srgbClr val="FBBF24"/>
                </a:solidFill>
                <a:latin typeface="Microsoft YaHei"/>
                <a:ea typeface="Microsoft YaHei"/>
              </a:rPr>
              <a:t>增强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9134475" y="3257550"/>
            <a:ext cx="22574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数据驱动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持续校准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09600" y="3857625"/>
            <a:ext cx="10972800" cy="628650"/>
          </a:xfrm>
          <a:prstGeom prst="roundRect">
            <a:avLst>
              <a:gd name="adj" fmla="val 18182"/>
            </a:avLst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819150" y="4000500"/>
            <a:ext cx="10553700" cy="3429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一句话：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估算不是猜数字，而是</a:t>
            </a: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拆解</a:t>
            </a:r>
            <a:r>
              <a:rPr lang="en-US" sz="1350" b="1">
                <a:solidFill>
                  <a:srgbClr val="67E8F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方法</a:t>
            </a:r>
            <a:r>
              <a:rPr lang="en-US" sz="1350" b="1">
                <a:solidFill>
                  <a:srgbClr val="67E8F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数据</a:t>
            </a:r>
            <a:r>
              <a:rPr lang="en-US" sz="1350" b="1">
                <a:solidFill>
                  <a:srgbClr val="67E8F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缓冲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的工程过程；十大课题须</a:t>
            </a:r>
            <a:r>
              <a:rPr lang="zh-CN" sz="1350" b="1">
                <a:solidFill>
                  <a:srgbClr val="FBBF24"/>
                </a:solidFill>
                <a:latin typeface="Microsoft YaHei"/>
                <a:ea typeface="Microsoft YaHei"/>
              </a:rPr>
              <a:t>先分类再选方法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01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项目估算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15 / 45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26" name="" descr="&lt;Slide style={{ width: 1280, height: 720, background: '#0B1220', position: 'relative', overflow: 'hidden' }}&gt;&#13;&#10;    &lt;Image src=&quot;assets/sec_bg.png&quot; style={{ position: 'absolute', top: 0, left: 0, width: 1280, height: 720, objectFit: 'cover', clipPath: 'inset(0 0 11% 0)' }} /&gt;&#13;&#10;    &lt;Box style={{ position: 'absolute', top: 0, left: 0, width: 1280, height: 720, background: 'linear-gradient(180deg, rgba(11,18,32,0.45) 0%, rgba(11,18,32,0.78) 100%)' }} /&gt;&#13;&#10;    &lt;Box style={{ position: 'absolute', left: 96, top: 180 }}&gt;&#13;&#10;        &lt;Text style={{ fontSize: 110, fontWeight: 'bold', color: 'rgba(34,211,238,0.28)' }}&gt;02&lt;/Text&gt;&#13;&#10;        &lt;Text style={{ fontSize: 62, fontWeight: 'bold', color: '#E2E8F0', marginTop: 6 }}&gt;进度管理&lt;/Text&gt;&#13;&#10;        &lt;Box style={{ width: 90, height: 5, background: 'linear-gradient(90deg, #22D3EE 0%, #3B82F6 100%)', borderRadius: 3, marginTop: 26 }} /&gt;&#13;&#10;        &lt;Text style={{ fontSize: 20, color: '#94A3B8', marginTop: 26, letterSpacing: 2 }}&gt;Schedule · 把估算结果排成可执行的时间表&lt;/Text&gt;&#13;&#10;    &lt;/Box&gt;&#13;&#10;    &lt;Box style={{ position: 'absolute', right: 96, bottom: 72, flexDirection: 'row', gap: 12, alignItems: 'center' }}&gt;&#13;&#10;        &lt;Box style={{ width: 8, height: 8, borderRadius: 4, background: '#22D3EE' }} /&gt;        &lt;Box style={{ width: 8, height: 8, borderRadius: 4, background: 'rgba(148,163,184,0.35)' }} /&gt;        &lt;Box style={{ width: 8, height: 8, borderRadius: 4, background: 'rgba(148,163,184,0.35)' }} /&gt;        &lt;Box style={{ width: 8, height: 8, borderRadius: 4, background: 'rgba(148,163,184,0.35)' }} /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128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custGeom>
            <a:pathLst>
              <a:path w="1280" h="720">
                <a:moveTo>
                  <a:pt x="0" y="0"/>
                </a:moveTo>
                <a:lnTo>
                  <a:pt x="1280" y="0"/>
                </a:lnTo>
                <a:lnTo>
                  <a:pt x="1280" y="641"/>
                </a:lnTo>
                <a:lnTo>
                  <a:pt x="0" y="641"/>
                </a:lnTo>
                <a:close/>
              </a:path>
            </a:pathLst>
          </a:custGeom>
          <a:ln/>
        </p:spPr>
      </p:pic>
      <p:sp>
        <p:nvSpPr>
          <p:cNvPr id="1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45000"/>
                </a:srgbClr>
              </a:gs>
              <a:gs pos="100000">
                <a:srgbClr val="0B1220">
                  <a:alpha val="78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914400" y="1714500"/>
            <a:ext cx="4133850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22D3EE">
                    <a:alpha val="28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914400" y="3028950"/>
            <a:ext cx="413385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E2E8F0"/>
                </a:solidFill>
                <a:latin typeface="Microsoft YaHei"/>
                <a:ea typeface="Microsoft YaHei"/>
              </a:rPr>
              <a:t>进度管理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914400" y="3990975"/>
            <a:ext cx="857250" cy="47625"/>
          </a:xfrm>
          <a:prstGeom prst="roundRect">
            <a:avLst>
              <a:gd name="adj" fmla="val 60000"/>
            </a:avLst>
          </a:prstGeom>
          <a:gradFill>
            <a:gsLst>
              <a:gs pos="0">
                <a:srgbClr val="22D3EE"/>
              </a:gs>
              <a:gs pos="100000">
                <a:srgbClr val="3B82F6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914400" y="4286250"/>
            <a:ext cx="413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Schedule · </a:t>
            </a:r>
            <a:r>
              <a:rPr lang="zh-CN" sz="1500" spc="150">
                <a:solidFill>
                  <a:srgbClr val="94A3B8"/>
                </a:solidFill>
                <a:latin typeface="Microsoft YaHei"/>
                <a:ea typeface="Microsoft YaHei"/>
              </a:rPr>
              <a:t>把估算结果排成可执行的时间表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10629900" y="6096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10820400" y="6096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94A3B8">
              <a:alpha val="35000"/>
            </a:srgbClr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11010900" y="6096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94A3B8">
              <a:alpha val="35000"/>
            </a:srgbClr>
          </a:solidFill>
          <a:ln/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11201400" y="6096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94A3B8">
              <a:alpha val="35000"/>
            </a:srgbClr>
          </a:solidFill>
          <a:ln/>
        </p:spPr>
        <p:txBody>
          <a:bodyPr/>
          <a:p/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38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从 WBS 到进度计划&lt;/Text&gt;&#13;&#10;&#13;&#10;    &lt;/Box&gt;&#13;&#10;    &lt;Box style={{ flex: 1, flexDirection: 'column', justifyContent: 'center', gap: 16 }}&gt;&#13;&#10;&#13;&#10;        &lt;Box style={{ flexDirection: 'row', gap: 14, alignItems: 'stretch' }}&gt;&#13;&#10;            &lt;Box style={{ flex: 1, flexDirection: 'column', gap: 12, justifyContent: 'center' }}&gt;&#13;&#10;                &lt;Text style={{ fontSize: 19, fontWeight: 'bold', color: '#22D3EE', marginBottom: 4 }}&gt;承接 P4 的计划链条&lt;/Text&gt;&#13;&#10;                &lt;Box style={{ background: '#111B2E', borderRadius: 10, padding: '13px 18px', borderLeft: '4px solid #3B82F6' }}&gt;&lt;Text style={{ fontSize: 17, color: '#E2E8F0' }}&gt;① WBS 工作分解 → ② 活动定义&lt;/Text&gt;&lt;/Box&gt;&#13;&#10;                &lt;Box style={{ background: '#111B2E', borderRadius: 10, padding: '13px 18px', borderLeft: '4px solid #22D3EE' }}&gt;&lt;Text style={{ fontSize: 17, color: '#E2E8F0' }}&gt;③ 活动排序 → ④ 估算资源与工期&lt;/Text&gt;&lt;/Box&gt;&#13;&#10;                &lt;Box style={{ background: '#111B2E', borderRadius: 10, padding: '13px 18px', borderLeft: '4px solid #8B5CF6' }}&gt;&lt;Text style={{ fontSize: 17, color: '#E2E8F0' }}&gt;⑤ 制定进度计划 → ⑥ 控制进度&lt;/Text&gt;&lt;/Box&gt;&#13;&#10;            &lt;/Box&gt;&#13;&#10;            &lt;Box style={{ flex: 1, background: 'rgba(139,92,246,0.08)', borderRadius: 12, padding: '18px 22px', border: '1px solid rgba(139,92,246,0.35)', justifyContent: 'center' }}&gt;&#13;&#10;                &lt;Text style={{ fontSize: 19, fontWeight: 'bold', color: '#C4B5FD', marginBottom: 10 }}&gt;十大课题示例&lt;/Text&gt;&#13;&#10;                &lt;Text style={{ fontSize: 17, color: '#E2E8F0', lineHeight: 1.7 }}&gt;「产业图谱构建」WBS 拆为：数据采集 → 实体抽取 → 关系抽取 → 图谱构建 → 可视化，每个活动再估算工期并排序。&lt;/Text&gt;&#13;&#10;            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2 进度管理&lt;/Text&gt;&#13;&#10;        &lt;Text style={{ fontSize: 15, color: '#94A3B8' }}&gt;17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29051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从</a:t>
            </a:r>
            <a:r>
              <a:rPr lang="en-US" sz="2550" b="1">
                <a:solidFill>
                  <a:srgbClr val="E2E8F0"/>
                </a:solidFill>
                <a:latin typeface="Microsoft YaHei"/>
                <a:ea typeface="Microsoft YaHei"/>
              </a:rPr>
              <a:t xml:space="preserve"> WBS </a:t>
            </a: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到进度计划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09600" y="2667000"/>
            <a:ext cx="5419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2D3EE"/>
                </a:solidFill>
                <a:latin typeface="Microsoft YaHei"/>
                <a:ea typeface="Microsoft YaHei"/>
              </a:rPr>
              <a:t>承接</a:t>
            </a:r>
            <a:r>
              <a:rPr lang="en-US" sz="1425" b="1">
                <a:solidFill>
                  <a:srgbClr val="22D3EE"/>
                </a:solidFill>
                <a:latin typeface="Microsoft YaHei"/>
                <a:ea typeface="Microsoft YaHei"/>
              </a:rPr>
              <a:t xml:space="preserve"> P4 </a:t>
            </a:r>
            <a:r>
              <a:rPr lang="zh-CN" sz="1425" b="1">
                <a:solidFill>
                  <a:srgbClr val="22D3EE"/>
                </a:solidFill>
                <a:latin typeface="Microsoft YaHei"/>
                <a:ea typeface="Microsoft YaHei"/>
              </a:rPr>
              <a:t>的计划链条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47700" y="3038475"/>
            <a:ext cx="5419725" cy="447675"/>
          </a:xfrm>
          <a:prstGeom prst="roundRect">
            <a:avLst>
              <a:gd name="adj" fmla="val 21277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647700" y="3038475"/>
            <a:ext cx="5419725" cy="447675"/>
          </a:xfrm>
          <a:custGeom>
            <a:pathLst>
              <a:path w="569" h="47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1"/>
                </a:lnTo>
                <a:cubicBezTo>
                  <a:pt x="4" y="44"/>
                  <a:pt x="6" y="46"/>
                  <a:pt x="9" y="47"/>
                </a:cubicBezTo>
                <a:cubicBezTo>
                  <a:pt x="4" y="46"/>
                  <a:pt x="0" y="42"/>
                  <a:pt x="0" y="3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19150" y="3162300"/>
            <a:ext cx="5038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① WBS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工作分解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②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活动定义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47700" y="3600450"/>
            <a:ext cx="5419725" cy="447675"/>
          </a:xfrm>
          <a:prstGeom prst="roundRect">
            <a:avLst>
              <a:gd name="adj" fmla="val 21277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647700" y="3600450"/>
            <a:ext cx="5419725" cy="447675"/>
          </a:xfrm>
          <a:custGeom>
            <a:pathLst>
              <a:path w="569" h="47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1"/>
                </a:lnTo>
                <a:cubicBezTo>
                  <a:pt x="4" y="44"/>
                  <a:pt x="6" y="46"/>
                  <a:pt x="9" y="47"/>
                </a:cubicBezTo>
                <a:cubicBezTo>
                  <a:pt x="4" y="46"/>
                  <a:pt x="0" y="42"/>
                  <a:pt x="0" y="3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819150" y="3724275"/>
            <a:ext cx="5038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活动排序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④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估算资源与工期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47700" y="4162425"/>
            <a:ext cx="5419725" cy="447675"/>
          </a:xfrm>
          <a:prstGeom prst="roundRect">
            <a:avLst>
              <a:gd name="adj" fmla="val 21277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647700" y="4162425"/>
            <a:ext cx="5419725" cy="447675"/>
          </a:xfrm>
          <a:custGeom>
            <a:pathLst>
              <a:path w="569" h="47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1"/>
                </a:lnTo>
                <a:cubicBezTo>
                  <a:pt x="4" y="44"/>
                  <a:pt x="6" y="46"/>
                  <a:pt x="9" y="47"/>
                </a:cubicBezTo>
                <a:cubicBezTo>
                  <a:pt x="4" y="46"/>
                  <a:pt x="0" y="42"/>
                  <a:pt x="0" y="37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19150" y="4286250"/>
            <a:ext cx="5038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⑤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制定进度计划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⑥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控制进度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162675" y="2667000"/>
            <a:ext cx="5419725" cy="1943100"/>
          </a:xfrm>
          <a:prstGeom prst="roundRect">
            <a:avLst>
              <a:gd name="adj" fmla="val 5882"/>
            </a:avLst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372225" y="3152775"/>
            <a:ext cx="5000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4B5FD"/>
                </a:solidFill>
                <a:latin typeface="Microsoft YaHei"/>
                <a:ea typeface="Microsoft YaHei"/>
              </a:rPr>
              <a:t>十大课题示例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372225" y="3467100"/>
            <a:ext cx="50006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「产业图谱构建」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WBS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拆为：数据采集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实体抽取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关系抽取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图谱构建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可视化，每个活动再估算工期并排序。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进度管理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17 / 45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57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活动排序与依赖关系&lt;/Text&gt;&#13;&#10;&#13;&#10;    &lt;/Box&gt;&#13;&#10;    &lt;Box style={{ flex: 1, flexDirection: 'column', justifyContent: 'center', gap: 16 }}&gt;&#13;&#10;&#13;&#10;        &lt;Box style={{ flexDirection: 'row', gap: 16 }}&gt;&#13;&#10;            &lt;Box style={{ flex: 1, flexDirection: 'column', gap: 12, justifyContent: 'center' }}&gt;&#13;&#10;                &lt;Text style={{ fontSize: 19, fontWeight: 'bold', color: '#22D3EE', marginBottom: 4 }}&gt;四类依赖&lt;/Text&gt;&#13;&#10;                &lt;Box style={{ background: '#111B2E', borderRadius: 10, padding: '12px 18px', borderLeft: '4px solid #3B82F6' }}&gt;&lt;Text style={{ fontSize: 17, color: '#E2E8F0' }}&gt;&lt;span style={{ fontWeight: 'bold', color: '#93C5FD' }}&gt;FS 完成-开始：&lt;/span&gt;最常见，前置完成后续才可开始&lt;/Text&gt;&lt;/Box&gt;&#13;&#10;                &lt;Box style={{ background: '#111B2E', borderRadius: 10, padding: '12px 18px', borderLeft: '4px solid #22D3EE' }}&gt;&lt;Text style={{ fontSize: 17, color: '#E2E8F0' }}&gt;&lt;span style={{ fontWeight: 'bold', color: '#67E8F9' }}&gt;SS 开始-开始：&lt;/span&gt;两项并行启动&lt;/Text&gt;&lt;/Box&gt;&#13;&#10;                &lt;Box style={{ background: '#111B2E', borderRadius: 10, padding: '12px 18px', borderLeft: '4px solid #8B5CF6' }}&gt;&lt;Text style={{ fontSize: 17, color: '#E2E8F0' }}&gt;&lt;span style={{ fontWeight: 'bold', color: '#C4B5FD' }}&gt;FF 完成-完成 / SF 开始-完成：&lt;/span&gt;较少见&lt;/Text&gt;&lt;/Box&gt;&#13;&#10;            &lt;/Box&gt;&#13;&#10;            &lt;Box style={{ flex: 1, background: 'rgba(34,211,238,0.07)', borderRadius: 12, padding: '18px 22px', border: '1px solid rgba(34,211,238,0.3)', justifyContent: 'center' }}&gt;&#13;&#10;                &lt;Text style={{ fontSize: 19, fontWeight: 'bold', color: '#67E8F9', marginBottom: 10 }}&gt;识别依赖的意义&lt;/Text&gt;&#13;&#10;                &lt;Text style={{ fontSize: 17, color: '#E2E8F0', lineHeight: 1.7 }}&gt;依赖关系决定&lt;span style={{ fontWeight: 'bold', color: '#67E8F9' }}&gt;哪些活动必须串行、哪些可以并行&lt;/span&gt;，是后续网络图与关键路径的基础。&lt;/Text&gt;&#13;&#10;                &lt;Text style={{ fontSize: 16, color: '#94A3B8', marginTop: 10 }}&gt;例：图谱构建中「实体抽取」必须先于「关系抽取」。&lt;/Text&gt;&#13;&#10;            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2 进度管理&lt;/Text&gt;&#13;&#10;        &lt;Text style={{ fontSize: 15, color: '#94A3B8' }}&gt;18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59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活动排序与依赖关系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2695575"/>
            <a:ext cx="5410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2D3EE"/>
                </a:solidFill>
                <a:latin typeface="Microsoft YaHei"/>
                <a:ea typeface="Microsoft YaHei"/>
              </a:rPr>
              <a:t>四类依赖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647700" y="3067050"/>
            <a:ext cx="5410200" cy="428625"/>
          </a:xfrm>
          <a:prstGeom prst="roundRect">
            <a:avLst>
              <a:gd name="adj" fmla="val 22222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647700" y="3067050"/>
            <a:ext cx="5410200" cy="428625"/>
          </a:xfrm>
          <a:custGeom>
            <a:pathLst>
              <a:path w="568" h="4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39"/>
                </a:lnTo>
                <a:cubicBezTo>
                  <a:pt x="4" y="42"/>
                  <a:pt x="6" y="44"/>
                  <a:pt x="9" y="45"/>
                </a:cubicBezTo>
                <a:cubicBezTo>
                  <a:pt x="4" y="44"/>
                  <a:pt x="0" y="40"/>
                  <a:pt x="0" y="3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19150" y="3181350"/>
            <a:ext cx="502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93C5FD"/>
                </a:solidFill>
                <a:latin typeface="Microsoft YaHei"/>
                <a:ea typeface="Microsoft YaHei"/>
              </a:rPr>
              <a:t xml:space="preserve">FS </a:t>
            </a:r>
            <a:r>
              <a:rPr lang="zh-CN" sz="1275" b="1">
                <a:solidFill>
                  <a:srgbClr val="93C5FD"/>
                </a:solidFill>
                <a:latin typeface="Microsoft YaHei"/>
                <a:ea typeface="Microsoft YaHei"/>
              </a:rPr>
              <a:t>完成</a:t>
            </a:r>
            <a:r>
              <a:rPr lang="en-US" sz="1275" b="1">
                <a:solidFill>
                  <a:srgbClr val="93C5FD"/>
                </a:solidFill>
                <a:latin typeface="Microsoft YaHei"/>
                <a:ea typeface="Microsoft YaHei"/>
              </a:rPr>
              <a:t>-</a:t>
            </a:r>
            <a:r>
              <a:rPr lang="zh-CN" sz="1275" b="1">
                <a:solidFill>
                  <a:srgbClr val="93C5FD"/>
                </a:solidFill>
                <a:latin typeface="Microsoft YaHei"/>
                <a:ea typeface="Microsoft YaHei"/>
              </a:rPr>
              <a:t>开始：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最常见，前置完成后续才可开始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47700" y="3609975"/>
            <a:ext cx="5410200" cy="428625"/>
          </a:xfrm>
          <a:prstGeom prst="roundRect">
            <a:avLst>
              <a:gd name="adj" fmla="val 22222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647700" y="3609975"/>
            <a:ext cx="5410200" cy="428625"/>
          </a:xfrm>
          <a:custGeom>
            <a:pathLst>
              <a:path w="568" h="4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39"/>
                </a:lnTo>
                <a:cubicBezTo>
                  <a:pt x="4" y="42"/>
                  <a:pt x="6" y="44"/>
                  <a:pt x="9" y="45"/>
                </a:cubicBezTo>
                <a:cubicBezTo>
                  <a:pt x="4" y="44"/>
                  <a:pt x="0" y="40"/>
                  <a:pt x="0" y="3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819150" y="3724275"/>
            <a:ext cx="502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67E8F9"/>
                </a:solidFill>
                <a:latin typeface="Microsoft YaHei"/>
                <a:ea typeface="Microsoft YaHei"/>
              </a:rPr>
              <a:t xml:space="preserve">SS </a:t>
            </a:r>
            <a:r>
              <a:rPr lang="zh-CN" sz="1275" b="1">
                <a:solidFill>
                  <a:srgbClr val="67E8F9"/>
                </a:solidFill>
                <a:latin typeface="Microsoft YaHei"/>
                <a:ea typeface="Microsoft YaHei"/>
              </a:rPr>
              <a:t>开始</a:t>
            </a:r>
            <a:r>
              <a:rPr lang="en-US" sz="1275" b="1">
                <a:solidFill>
                  <a:srgbClr val="67E8F9"/>
                </a:solidFill>
                <a:latin typeface="Microsoft YaHei"/>
                <a:ea typeface="Microsoft YaHei"/>
              </a:rPr>
              <a:t>-</a:t>
            </a:r>
            <a:r>
              <a:rPr lang="zh-CN" sz="1275" b="1">
                <a:solidFill>
                  <a:srgbClr val="67E8F9"/>
                </a:solidFill>
                <a:latin typeface="Microsoft YaHei"/>
                <a:ea typeface="Microsoft YaHei"/>
              </a:rPr>
              <a:t>开始：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两项并行启动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47700" y="4152900"/>
            <a:ext cx="5410200" cy="428625"/>
          </a:xfrm>
          <a:prstGeom prst="roundRect">
            <a:avLst>
              <a:gd name="adj" fmla="val 22222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647700" y="4152900"/>
            <a:ext cx="5410200" cy="428625"/>
          </a:xfrm>
          <a:custGeom>
            <a:pathLst>
              <a:path w="568" h="4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39"/>
                </a:lnTo>
                <a:cubicBezTo>
                  <a:pt x="4" y="42"/>
                  <a:pt x="6" y="44"/>
                  <a:pt x="9" y="45"/>
                </a:cubicBezTo>
                <a:cubicBezTo>
                  <a:pt x="4" y="44"/>
                  <a:pt x="0" y="40"/>
                  <a:pt x="0" y="3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19150" y="4267200"/>
            <a:ext cx="5029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4B5FD"/>
                </a:solidFill>
                <a:latin typeface="Microsoft YaHei"/>
                <a:ea typeface="Microsoft YaHei"/>
              </a:rPr>
              <a:t xml:space="preserve">FF </a:t>
            </a:r>
            <a:r>
              <a:rPr lang="zh-CN" sz="1275" b="1">
                <a:solidFill>
                  <a:srgbClr val="C4B5FD"/>
                </a:solidFill>
                <a:latin typeface="Microsoft YaHei"/>
                <a:ea typeface="Microsoft YaHei"/>
              </a:rPr>
              <a:t>完成</a:t>
            </a:r>
            <a:r>
              <a:rPr lang="en-US" sz="1275" b="1">
                <a:solidFill>
                  <a:srgbClr val="C4B5FD"/>
                </a:solidFill>
                <a:latin typeface="Microsoft YaHei"/>
                <a:ea typeface="Microsoft YaHei"/>
              </a:rPr>
              <a:t>-</a:t>
            </a:r>
            <a:r>
              <a:rPr lang="zh-CN" sz="1275" b="1">
                <a:solidFill>
                  <a:srgbClr val="C4B5FD"/>
                </a:solidFill>
                <a:latin typeface="Microsoft YaHei"/>
                <a:ea typeface="Microsoft YaHei"/>
              </a:rPr>
              <a:t>完成</a:t>
            </a:r>
            <a:r>
              <a:rPr lang="en-US" sz="1275" b="1">
                <a:solidFill>
                  <a:srgbClr val="C4B5FD"/>
                </a:solidFill>
                <a:latin typeface="Microsoft YaHei"/>
                <a:ea typeface="Microsoft YaHei"/>
              </a:rPr>
              <a:t xml:space="preserve"> / SF </a:t>
            </a:r>
            <a:r>
              <a:rPr lang="zh-CN" sz="1275" b="1">
                <a:solidFill>
                  <a:srgbClr val="C4B5FD"/>
                </a:solidFill>
                <a:latin typeface="Microsoft YaHei"/>
                <a:ea typeface="Microsoft YaHei"/>
              </a:rPr>
              <a:t>开始</a:t>
            </a:r>
            <a:r>
              <a:rPr lang="en-US" sz="1275" b="1">
                <a:solidFill>
                  <a:srgbClr val="C4B5FD"/>
                </a:solidFill>
                <a:latin typeface="Microsoft YaHei"/>
                <a:ea typeface="Microsoft YaHei"/>
              </a:rPr>
              <a:t>-</a:t>
            </a:r>
            <a:r>
              <a:rPr lang="zh-CN" sz="1275" b="1">
                <a:solidFill>
                  <a:srgbClr val="C4B5FD"/>
                </a:solidFill>
                <a:latin typeface="Microsoft YaHei"/>
                <a:ea typeface="Microsoft YaHei"/>
              </a:rPr>
              <a:t>完成：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较少见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172200" y="2695575"/>
            <a:ext cx="5410200" cy="1885950"/>
          </a:xfrm>
          <a:prstGeom prst="roundRect">
            <a:avLst>
              <a:gd name="adj" fmla="val 6061"/>
            </a:avLst>
          </a:prstGeom>
          <a:solidFill>
            <a:srgbClr val="22D3EE">
              <a:alpha val="7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381750" y="3009900"/>
            <a:ext cx="4991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67E8F9"/>
                </a:solidFill>
                <a:latin typeface="Microsoft YaHei"/>
                <a:ea typeface="Microsoft YaHei"/>
              </a:rPr>
              <a:t>识别依赖的意义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381750" y="3324225"/>
            <a:ext cx="49911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依赖关系决定</a:t>
            </a:r>
            <a:r>
              <a:rPr lang="zh-CN" sz="1275" b="1">
                <a:solidFill>
                  <a:srgbClr val="67E8F9"/>
                </a:solidFill>
                <a:latin typeface="Microsoft YaHei"/>
                <a:ea typeface="Microsoft YaHei"/>
              </a:rPr>
              <a:t>哪些活动必须串行、哪些可以并行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，是后续网络图与关键路径的基础。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381750" y="4086225"/>
            <a:ext cx="499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例：图谱构建中「实体抽取」必须先于「关系抽取」。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进度管理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18 / 45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77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甘特图：可视化的进度表&lt;/Text&gt;&#13;&#10;&#13;&#10;    &lt;/Box&gt;&#13;&#10;    &lt;Box style={{ flex: 1, flexDirection: 'column', justifyContent: 'center', gap: 16 }}&gt;&#13;&#10;&#13;&#10;        &lt;Box style={{ flexDirection: 'row', gap: 18, alignItems: 'center' }}&gt;&#13;&#10;            &lt;Box style={{ flex: 1, justifyContent: 'center' }}&gt;&#13;&#10;                &lt;Text style={{ fontSize: 19, fontWeight: 'bold', color: '#22D3EE', marginBottom: 10 }}&gt;甘特图（Gantt Chart）&lt;/Text&gt;&#13;&#10;                &lt;Text style={{ fontSize: 17, color: '#E2E8F0', lineHeight: 1.7 }}&gt;以横向条形表示活动的起止时间，直观展示&lt;span style={{ fontWeight: 'bold', color: '#67E8F9' }}&gt;谁在何时做什么&lt;/span&gt;、进度重叠与里程碑。&lt;/Text&gt;&#13;&#10;                &lt;Box style={{ background: '#111B2E', borderRadius: 10, padding: '14px 18px', marginTop: 14, border: '1px solid rgba(34,211,238,0.3)' }}&gt;&#13;&#10;                    &lt;Text style={{ fontSize: 16, color: '#E2E8F0', lineHeight: 1.6 }}&gt;优点：直观、易沟通&lt;br/&gt;局限：不易看出活动间&lt;span style={{ color: '#FBBF24', fontWeight: 'bold' }}&gt;逻辑依赖与关键路径&lt;/span&gt;&lt;/Text&gt;&#13;&#10;                &lt;/Box&gt;&#13;&#10;            &lt;/Box&gt;&#13;&#10;            &lt;Box style={{ flex: 1.2, justifyContent: 'center', alignItems: 'center' }}&gt;&#13;&#10;                &lt;svg width={560} height={340} viewBox='0 0 560 340'&gt;&#13;&#10;                    &lt;text x='0' y='20' fill='#94A3B8' fontSize='13'&gt;W1&lt;/text&gt;&lt;text x='90' y='20' fill='#94A3B8' fontSize='13'&gt;W2&lt;/text&gt;&lt;text x='180' y='20' fill='#94A3B8' fontSize='13'&gt;W3&lt;/text&gt;&lt;text x='270' y='20' fill='#94A3B8' fontSize='13'&gt;W4&lt;/text&gt;&lt;text x='360' y='20' fill='#94A3B8' fontSize='13'&gt;W5&lt;/text&gt;&lt;text x='450' y='20' fill='#94A3B8' fontSize='13'&gt;W6&lt;/text&gt;&#13;&#10;                    &lt;text x='0' y='58' fill='#E2E8F0' fontSize='14'&gt;需求分析&lt;/text&gt;&lt;rect x='120' y='38' width='150' height='26' rx='4' fill='#3B82F6'/&gt;&#13;&#10;                    &lt;text x='0' y='98' fill='#E2E8F0' fontSize='14'&gt;实体抽取&lt;/text&gt;&lt;rect x='210' y='78' width='120' height='26' rx='4' fill='#22D3EE'/&gt;&#13;&#10;                    &lt;text x='0' y='138' fill='#E2E8F0' fontSize='14'&gt;关系抽取&lt;/text&gt;&lt;rect x='270' y='118' width='120' height='26' rx='4' fill='#22D3EE'/&gt;&#13;&#10;                    &lt;text x='0' y='178' fill='#E2E8F0' fontSize='14'&gt;图谱构建&lt;/text&gt;&lt;rect x='330' y='158' width='140' height='26' rx='4' fill='#8B5CF6'/&gt;&#13;&#10;                    &lt;text x='0' y='218' fill='#E2E8F0' fontSize='14'&gt;可视化&lt;/text&gt;&lt;rect x='420' y='198' width='90' height='26' rx='4' fill='#8B5CF6'/&gt;&#13;&#10;                    &lt;text x='0' y='270' fill='#E2E8F0' fontSize='14'&gt;里程碑&lt;/text&gt;&lt;line x1='300' y1='250' x2='300' y2='318' stroke='#F59E0B' strokeWidth='2' strokeDasharray='4'/&gt;&lt;circle cx='300' cy='262' r='5' fill='#F59E0B'/&gt;&#13;&#10;                    &lt;line x1='110' y1='30' x2='110' y2='318' stroke='#334155' strokeWidth='1'/&gt;&lt;line x1='200' y1='30' x2='200' y2='318' stroke='#334155' strokeWidth='1'/&gt;&lt;line x1='290' y1='30' x2='290' y2='318' stroke='#334155' strokeWidth='1'/&gt;&lt;line x1='380' y1='30' x2='380' y2='318' stroke='#334155' strokeWidth='1'/&gt;&lt;line x1='470' y1='30' x2='470' y2='318' stroke='#334155' strokeWidth='1'/&gt;&#13;&#10;                &lt;/svg&gt;&#13;&#10;            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2 进度管理&lt;/Text&gt;&#13;&#10;        &lt;Text style={{ fontSize: 15, color: '#94A3B8' }}&gt;19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甘特图：可视化的进度表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09600" y="2657475"/>
            <a:ext cx="4905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2D3EE"/>
                </a:solidFill>
                <a:latin typeface="Microsoft YaHei"/>
                <a:ea typeface="Microsoft YaHei"/>
              </a:rPr>
              <a:t>甘特图（</a:t>
            </a:r>
            <a:r>
              <a:rPr lang="en-US" sz="1425" b="1">
                <a:solidFill>
                  <a:srgbClr val="22D3EE"/>
                </a:solidFill>
                <a:latin typeface="Microsoft YaHei"/>
                <a:ea typeface="Microsoft YaHei"/>
              </a:rPr>
              <a:t>Gantt Chart</a:t>
            </a:r>
            <a:r>
              <a:rPr lang="zh-CN" sz="1425" b="1">
                <a:solidFill>
                  <a:srgbClr val="22D3EE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09600" y="2971800"/>
            <a:ext cx="49053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以横向条形表示活动的起止时间，直观展示</a:t>
            </a:r>
            <a:r>
              <a:rPr lang="zh-CN" sz="1275" b="1">
                <a:solidFill>
                  <a:srgbClr val="67E8F9"/>
                </a:solidFill>
                <a:latin typeface="Microsoft YaHei"/>
                <a:ea typeface="Microsoft YaHei"/>
              </a:rPr>
              <a:t>谁在何时做什么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、进度重叠与里程碑。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609600" y="3771900"/>
            <a:ext cx="4905375" cy="857250"/>
          </a:xfrm>
          <a:prstGeom prst="roundRect">
            <a:avLst>
              <a:gd name="adj" fmla="val 11111"/>
            </a:avLst>
          </a:prstGeom>
          <a:solidFill>
            <a:srgbClr val="111B2E"/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781050" y="3905250"/>
            <a:ext cx="4562475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优点：直观、易沟通</a:t>
            </a:r>
            <a:endParaRPr/>
          </a:p>
          <a:p>
            <a:pPr>
              <a:lnSpc>
                <a:spcPct val="160000"/>
              </a:lnSpc>
            </a:pP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局限：不易看出活动间</a:t>
            </a:r>
            <a:r>
              <a:rPr lang="zh-CN" sz="1200" b="1">
                <a:solidFill>
                  <a:srgbClr val="FBBF24"/>
                </a:solidFill>
                <a:latin typeface="Microsoft YaHei"/>
                <a:ea typeface="Microsoft YaHei"/>
              </a:rPr>
              <a:t>逻辑依赖与关键路径</a:t>
            </a:r>
            <a:endParaRPr/>
          </a:p>
        </p:txBody>
      </p:sp>
      <p:pic>
        <p:nvPicPr>
          <p:cNvPr id="1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72175" y="2019300"/>
            <a:ext cx="5334000" cy="3238500"/>
          </a:xfrm>
          <a:prstGeom prst="rect">
            <a:avLst/>
          </a:prstGeom>
          <a:ln/>
        </p:spPr>
      </p:pic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进度管理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19 / 45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15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网络图：PDM 与 ADM&lt;/Text&gt;&#13;&#10;&#13;&#10;    &lt;/Box&gt;&#13;&#10;    &lt;Box style={{ flex: 1, flexDirection: 'column', justifyContent: 'center', gap: 16 }}&gt;&#13;&#10;&#13;&#10;        &lt;Box style={{ flexDirection: 'row', gap: 16 }}&gt;&#13;&#10;            &lt;Box style={{ flex: 1, background: '#111B2E', borderRadius: 12, padding: '16px 20px', border: '1px solid rgba(59,130,246,0.3)' }}&gt;&#13;&#10;                &lt;Text style={{ fontSize: 19, fontWeight: 'bold', color: '#93C5FD', marginBottom: 8 }}&gt;PDM 前导图（节点法）&lt;/Text&gt;&#13;&#10;                &lt;Text style={{ fontSize: 17, color: '#E2E8F0', lineHeight: 1.6 }}&gt;活动画在&lt;span style={{ fontWeight: 'bold', color: '#93C5FD' }}&gt;节点&lt;/span&gt;上，箭头表示依赖；支持 FS/SS/FF/SF 四类关系。&lt;/Text&gt;&#13;&#10;            &lt;/Box&gt;&#13;&#10;            &lt;Box style={{ flex: 1, background: '#111B2E', borderRadius: 12, padding: '16px 20px', border: '1px solid rgba(34,211,238,0.3)' }}&gt;&#13;&#10;                &lt;Text style={{ fontSize: 19, fontWeight: 'bold', color: '#67E8F9', marginBottom: 8 }}&gt;ADM 箭线图（箭线法）&lt;/Text&gt;&#13;&#10;                &lt;Text style={{ fontSize: 17, color: '#E2E8F0', lineHeight: 1.6 }}&gt;活动画在&lt;span style={{ fontWeight: 'bold', color: '#67E8F9' }}&gt;箭线&lt;/span&gt;上，节点表示事件；仅有 FS 关系，可能需要虚活动。&lt;/Text&gt;&#13;&#10;            &lt;/Box&gt;&#13;&#10;        &lt;/Box&gt;&#13;&#10;        &lt;Box style={{ justifyContent: 'center', alignItems: 'center' }}&gt;&#13;&#10;            &lt;svg width={800} height={200} viewBox='0 0 800 200'&gt;&#13;&#10;                &lt;circle cx='80' cy='100' r='30' fill='#111B2E' stroke='#3B82F6' strokeWidth='2'/&gt;&lt;text x='80' y='95' textAnchor='middle' fill='#E2E8F0' fontSize='14'&gt;A&lt;/text&gt;&lt;text x='80' y='112' textAnchor='middle' fill='#64748B' fontSize='11'&gt;需求&lt;/text&gt;&#13;&#10;                &lt;line x1='110' y1='100' x2='230' y2='100' stroke='#22D3EE' strokeWidth='2' markerEnd='url(#arr)'/&gt;&#13;&#10;                &lt;circle cx='260' cy='100' r='30' fill='#111B2E' stroke='#3B82F6' strokeWidth='2'/&gt;&lt;text x='260' y='95' textAnchor='middle' fill='#E2E8F0' fontSize='14'&gt;B&lt;/text&gt;&lt;text x='260' y='112' textAnchor='middle' fill='#64748B' fontSize='11'&gt;抽取&lt;/text&gt;&#13;&#10;                &lt;line x1='290' y1='100' x2='410' y2='100' stroke='#22D3EE' strokeWidth='2'/&gt;&#13;&#10;                &lt;circle cx='440' cy='100' r='30' fill='#111B2E' stroke='#8B5CF6' strokeWidth='2'/&gt;&lt;text x='440' y='95' textAnchor='middle' fill='#E2E8F0' fontSize='14'&gt;C&lt;/text&gt;&lt;text x='440' y='112' textAnchor='middle' fill='#64748B' fontSize='11'&gt;图谱&lt;/text&gt;&#13;&#10;                &lt;line x1='470' y1='100' x2='590' y2='100' stroke='#22D3EE' strokeWidth='2'/&gt;&#13;&#10;                &lt;circle cx='620' cy='100' r='30' fill='#111B2E' stroke='#8B5CF6' strokeWidth='2'/&gt;&lt;text x='620' y='95' textAnchor='middle' fill='#E2E8F0' fontSize='14'&gt;D&lt;/text&gt;&lt;text x='620' y='112' textAnchor='middle' fill='#64748B' fontSize='11'&gt;可视化&lt;/text&gt;&#13;&#10;                &lt;defs&gt;&lt;marker id='arr' markerWidth='10' markerHeight='10' refX='8' refY='3' orient='auto'&gt;&lt;path d='M0,0 L0,6 L9,3 z' fill='#22D3EE'/&gt;&lt;/marker&gt;&lt;/defs&gt;&#13;&#10;                &lt;text x='170' y='88' textAnchor='middle' fill='#64748B' fontSize='12'&gt;FS&lt;/text&gt;&lt;text x='350' y='88' textAnchor='middle' fill='#64748B' fontSize='12'&gt;FS&lt;/text&gt;&lt;text x='530' y='88' textAnchor='middle' fill='#64748B' fontSize='12'&gt;FS&lt;/text&gt;&#13;&#10;            &lt;/svg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2 进度管理&lt;/Text&gt;&#13;&#10;        &lt;Text style={{ fontSize: 15, color: '#94A3B8' }}&gt;20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3448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网络图：</a:t>
            </a:r>
            <a:r>
              <a:rPr lang="en-US" sz="2550" b="1">
                <a:solidFill>
                  <a:srgbClr val="E2E8F0"/>
                </a:solidFill>
                <a:latin typeface="Microsoft YaHei"/>
                <a:ea typeface="Microsoft YaHei"/>
              </a:rPr>
              <a:t xml:space="preserve">PDM </a:t>
            </a: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与</a:t>
            </a:r>
            <a:r>
              <a:rPr lang="en-US" sz="2550" b="1">
                <a:solidFill>
                  <a:srgbClr val="E2E8F0"/>
                </a:solidFill>
                <a:latin typeface="Microsoft YaHei"/>
                <a:ea typeface="Microsoft YaHei"/>
              </a:rPr>
              <a:t xml:space="preserve"> ADM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09600" y="2152650"/>
            <a:ext cx="5410200" cy="914400"/>
          </a:xfrm>
          <a:prstGeom prst="roundRect">
            <a:avLst>
              <a:gd name="adj" fmla="val 12500"/>
            </a:avLst>
          </a:prstGeom>
          <a:solidFill>
            <a:srgbClr val="111B2E"/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00100" y="2305050"/>
            <a:ext cx="5029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93C5FD"/>
                </a:solidFill>
                <a:latin typeface="Microsoft YaHei"/>
                <a:ea typeface="Microsoft YaHei"/>
              </a:rPr>
              <a:t xml:space="preserve">PDM </a:t>
            </a:r>
            <a:r>
              <a:rPr lang="zh-CN" sz="1425" b="1">
                <a:solidFill>
                  <a:srgbClr val="93C5FD"/>
                </a:solidFill>
                <a:latin typeface="Microsoft YaHei"/>
                <a:ea typeface="Microsoft YaHei"/>
              </a:rPr>
              <a:t>前导图（节点法）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00100" y="2600325"/>
            <a:ext cx="50292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活动画在</a:t>
            </a:r>
            <a:r>
              <a:rPr lang="zh-CN" sz="1275" b="1">
                <a:solidFill>
                  <a:srgbClr val="93C5FD"/>
                </a:solidFill>
                <a:latin typeface="Microsoft YaHei"/>
                <a:ea typeface="Microsoft YaHei"/>
              </a:rPr>
              <a:t>节点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上，箭头表示依赖；支持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FS/SS/FF/SF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四类关系。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172200" y="2152650"/>
            <a:ext cx="5410200" cy="914400"/>
          </a:xfrm>
          <a:prstGeom prst="roundRect">
            <a:avLst>
              <a:gd name="adj" fmla="val 12500"/>
            </a:avLst>
          </a:prstGeom>
          <a:solidFill>
            <a:srgbClr val="111B2E"/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362700" y="2305050"/>
            <a:ext cx="5029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67E8F9"/>
                </a:solidFill>
                <a:latin typeface="Microsoft YaHei"/>
                <a:ea typeface="Microsoft YaHei"/>
              </a:rPr>
              <a:t xml:space="preserve">ADM </a:t>
            </a:r>
            <a:r>
              <a:rPr lang="zh-CN" sz="1425" b="1">
                <a:solidFill>
                  <a:srgbClr val="67E8F9"/>
                </a:solidFill>
                <a:latin typeface="Microsoft YaHei"/>
                <a:ea typeface="Microsoft YaHei"/>
              </a:rPr>
              <a:t>箭线图（箭线法）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362700" y="2600325"/>
            <a:ext cx="50292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活动画在</a:t>
            </a:r>
            <a:r>
              <a:rPr lang="zh-CN" sz="1275" b="1">
                <a:solidFill>
                  <a:srgbClr val="67E8F9"/>
                </a:solidFill>
                <a:latin typeface="Microsoft YaHei"/>
                <a:ea typeface="Microsoft YaHei"/>
              </a:rPr>
              <a:t>箭线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上，节点表示事件；仅有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FS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关系，可能需要虚活动。</a:t>
            </a:r>
            <a:endParaRPr/>
          </a:p>
        </p:txBody>
      </p:sp>
      <p:pic>
        <p:nvPicPr>
          <p:cNvPr id="2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286000" y="3219450"/>
            <a:ext cx="7620000" cy="1905000"/>
          </a:xfrm>
          <a:prstGeom prst="rect">
            <a:avLst/>
          </a:prstGeom>
          <a:ln/>
        </p:spPr>
      </p:pic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进度管理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20 / 45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228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关键路径法：CPM&lt;/Text&gt;&#13;&#10;&#13;&#10;    &lt;/Box&gt;&#13;&#10;    &lt;Box style={{ flex: 1, flexDirection: 'column', justifyContent: 'center', gap: 16 }}&gt;&#13;&#10;&#13;&#10;        &lt;Box style={{ flexDirection: 'row', gap: 18, alignItems: 'stretch' }}&gt;&#13;&#10;            &lt;Box style={{ flex: 1, flexDirection: 'column', gap: 12, justifyContent: 'center' }}&gt;&#13;&#10;                &lt;Text style={{ fontSize: 19, fontWeight: 'bold', color: '#22D3EE', marginBottom: 4 }}&gt;核心概念&lt;/Text&gt;&#13;&#10;                &lt;Box style={{ background: '#111B2E', borderRadius: 10, padding: '12px 18px', borderLeft: '4px solid #3B82F6' }}&gt;&lt;Text style={{ fontSize: 17, color: '#E2E8F0' }}&gt;&lt;span style={{ fontWeight: 'bold', color: '#93C5FD' }}&gt;关键路径：&lt;/span&gt;网络图中工期最长的路径，决定项目总工期&lt;/Text&gt;&lt;/Box&gt;&#13;&#10;                &lt;Box style={{ background: '#111B2E', borderRadius: 10, padding: '12px 18px', borderLeft: '4px solid #22D3EE' }}&gt;&lt;Text style={{ fontSize: 17, color: '#E2E8F0' }}&gt;&lt;span style={{ fontWeight: 'bold', color: '#67E8F9' }}&gt;浮动时间：&lt;/span&gt;活动可推迟而不影响总工期的余量&lt;/Text&gt;&lt;/Box&gt;&#13;&#10;                &lt;Box style={{ background: '#111B2E', borderRadius: 10, padding: '12px 18px', borderLeft: '4px solid #8B5CF6' }}&gt;&lt;Text style={{ fontSize: 17, color: '#E2E8F0' }}&gt;&lt;span style={{ fontWeight: 'bold', color: '#C4B5FD' }}&gt;正推求最早、逆推求最晚&lt;/span&gt;，浮动为零即关键活动&lt;/Text&gt;&lt;/Box&gt;&#13;&#10;            &lt;/Box&gt;&#13;&#10;            &lt;Box style={{ flex: 1.2, background: 'rgba(34,211,238,0.07)', borderRadius: 12, padding: '18px 22px', border: '1px solid rgba(34,211,238,0.3)', justifyContent: 'center' }}&gt;&#13;&#10;                &lt;Text style={{ fontSize: 18, color: '#E2E8F0', lineHeight: 1.75 }}&gt;管理含义：&lt;span style={{ fontWeight: 'bold', color: '#FBBF24' }}&gt;关键路径上的活动一旦延误，总工期必延误&lt;/span&gt;。项目经理要把管控资源优先投向关键路径。&lt;/Text&gt;&#13;&#10;                &lt;Text style={{ fontSize: 16, color: '#94A3B8', marginTop: 10 }}&gt;十大课题中，数据采集与实体抽取往往是关键路径。&lt;/Text&gt;&#13;&#10;            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2 进度管理&lt;/Text&gt;&#13;&#10;        &lt;Text style={{ fontSize: 15, color: '#94A3B8' }}&gt;21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30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27146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关键路径法：</a:t>
            </a:r>
            <a:r>
              <a:rPr lang="en-US" sz="2550" b="1">
                <a:solidFill>
                  <a:srgbClr val="E2E8F0"/>
                </a:solidFill>
                <a:latin typeface="Microsoft YaHei"/>
                <a:ea typeface="Microsoft YaHei"/>
              </a:rPr>
              <a:t>CPM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09600" y="2695575"/>
            <a:ext cx="4905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2D3EE"/>
                </a:solidFill>
                <a:latin typeface="Microsoft YaHei"/>
                <a:ea typeface="Microsoft YaHei"/>
              </a:rPr>
              <a:t>核心概念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647700" y="3067050"/>
            <a:ext cx="4905375" cy="428625"/>
          </a:xfrm>
          <a:prstGeom prst="roundRect">
            <a:avLst>
              <a:gd name="adj" fmla="val 22222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647700" y="3067050"/>
            <a:ext cx="4905375" cy="428625"/>
          </a:xfrm>
          <a:custGeom>
            <a:pathLst>
              <a:path w="515" h="4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39"/>
                </a:lnTo>
                <a:cubicBezTo>
                  <a:pt x="4" y="42"/>
                  <a:pt x="6" y="44"/>
                  <a:pt x="9" y="45"/>
                </a:cubicBezTo>
                <a:cubicBezTo>
                  <a:pt x="4" y="44"/>
                  <a:pt x="0" y="40"/>
                  <a:pt x="0" y="3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19150" y="3181350"/>
            <a:ext cx="4524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93C5FD"/>
                </a:solidFill>
                <a:latin typeface="Microsoft YaHei"/>
                <a:ea typeface="Microsoft YaHei"/>
              </a:rPr>
              <a:t>关键路径：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网络图中工期最长的路径，决定项目总工期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47700" y="3609975"/>
            <a:ext cx="4905375" cy="428625"/>
          </a:xfrm>
          <a:prstGeom prst="roundRect">
            <a:avLst>
              <a:gd name="adj" fmla="val 22222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647700" y="3609975"/>
            <a:ext cx="4905375" cy="428625"/>
          </a:xfrm>
          <a:custGeom>
            <a:pathLst>
              <a:path w="515" h="4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39"/>
                </a:lnTo>
                <a:cubicBezTo>
                  <a:pt x="4" y="42"/>
                  <a:pt x="6" y="44"/>
                  <a:pt x="9" y="45"/>
                </a:cubicBezTo>
                <a:cubicBezTo>
                  <a:pt x="4" y="44"/>
                  <a:pt x="0" y="40"/>
                  <a:pt x="0" y="3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19150" y="3724275"/>
            <a:ext cx="4524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67E8F9"/>
                </a:solidFill>
                <a:latin typeface="Microsoft YaHei"/>
                <a:ea typeface="Microsoft YaHei"/>
              </a:rPr>
              <a:t>浮动时间：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活动可推迟而不影响总工期的余量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47700" y="4152900"/>
            <a:ext cx="4905375" cy="428625"/>
          </a:xfrm>
          <a:prstGeom prst="roundRect">
            <a:avLst>
              <a:gd name="adj" fmla="val 22222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647700" y="4152900"/>
            <a:ext cx="4905375" cy="428625"/>
          </a:xfrm>
          <a:custGeom>
            <a:pathLst>
              <a:path w="515" h="4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39"/>
                </a:lnTo>
                <a:cubicBezTo>
                  <a:pt x="4" y="42"/>
                  <a:pt x="6" y="44"/>
                  <a:pt x="9" y="45"/>
                </a:cubicBezTo>
                <a:cubicBezTo>
                  <a:pt x="4" y="44"/>
                  <a:pt x="0" y="40"/>
                  <a:pt x="0" y="3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19150" y="4267200"/>
            <a:ext cx="4524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4B5FD"/>
                </a:solidFill>
                <a:latin typeface="Microsoft YaHei"/>
                <a:ea typeface="Microsoft YaHei"/>
              </a:rPr>
              <a:t>正推求最早、逆推求最晚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，浮动为零即关键活动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5686425" y="2695575"/>
            <a:ext cx="5895975" cy="1885950"/>
          </a:xfrm>
          <a:prstGeom prst="roundRect">
            <a:avLst>
              <a:gd name="adj" fmla="val 6061"/>
            </a:avLst>
          </a:prstGeom>
          <a:solidFill>
            <a:srgbClr val="22D3EE">
              <a:alpha val="7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5895975" y="3133725"/>
            <a:ext cx="5476875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管理含义：</a:t>
            </a:r>
            <a:r>
              <a:rPr lang="zh-CN" sz="1350" b="1">
                <a:solidFill>
                  <a:srgbClr val="FBBF24"/>
                </a:solidFill>
                <a:latin typeface="Microsoft YaHei"/>
                <a:ea typeface="Microsoft YaHei"/>
              </a:rPr>
              <a:t>关键路径上的活动一旦延误，总工期必延误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。项目经理要把管控资源优先投向关键路径。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5895975" y="3952875"/>
            <a:ext cx="5476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十大课题中，数据采集与实体抽取往往是关键路径。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进度管理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21 / 45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47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十大课题关键路径示例&lt;/Text&gt;&#13;&#10;&#13;&#10;    &lt;/Box&gt;&#13;&#10;    &lt;Box style={{ flex: 1, flexDirection: 'column', justifyContent: 'center', gap: 16 }}&gt;&#13;&#10;&#13;&#10;        &lt;Box style={{ justifyContent: 'center', alignItems: 'center', marginBottom: 8 }}&gt;&#13;&#10;            &lt;svg width={900} height={260} viewBox='0 0 900 260'&gt;&#13;&#10;                &lt;rect x='30' y='90' width='120' height='60' rx='8' fill='#111B2E' stroke='#F59E0B' strokeWidth='2.5'/&gt;&lt;text x='90' y='115' textAnchor='middle' fill='#FBBF24' fontSize='15' fontWeight='bold'&gt;数据采集&lt;/text&gt;&lt;text x='90' y='135' textAnchor='middle' fill='#64748B' fontSize='12'&gt;5 天&lt;/text&gt;&#13;&#10;                &lt;rect x='200' y='90' width='120' height='60' rx='8' fill='#111B2E' stroke='#F59E0B' strokeWidth='2.5'/&gt;&lt;text x='260' y='115' textAnchor='middle' fill='#FBBF24' fontSize='15' fontWeight='bold'&gt;实体抽取&lt;/text&gt;&lt;text x='260' y='135' textAnchor='middle' fill='#64748B' fontSize='12'&gt;8 天&lt;/text&gt;&#13;&#10;                &lt;rect x='370' y='90' width='120' height='60' rx='8' fill='#111B2E' stroke='#F59E0B' strokeWidth='2.5'/&gt;&lt;text x='430' y='115' textAnchor='middle' fill='#FBBF24' fontSize='15' fontWeight='bold'&gt;关系抽取&lt;/text&gt;&lt;text x='430' y='135' textAnchor='middle' fill='#64748B' fontSize='12'&gt;6 天&lt;/text&gt;&#13;&#10;                &lt;rect x='540' y='90' width='120' height='60' rx='8' fill='#111B2E' stroke='#F59E0B' strokeWidth='2.5'/&gt;&lt;text x='600' y='115' textAnchor='middle' fill='#FBBF24' fontSize='15' fontWeight='bold'&gt;图谱构建&lt;/text&gt;&lt;text x='600' y='135' textAnchor='middle' fill='#64748B' fontSize='12'&gt;7 天&lt;/text&gt;&#13;&#10;                &lt;rect x='710' y='90' width='120' height='60' rx='8' fill='#111B2E' stroke='#F59E0B' strokeWidth='2.5'/&gt;&lt;text x='770' y='115' textAnchor='middle' fill='#FBBF24' fontSize='15' fontWeight='bold'&gt;可视化&lt;/text&gt;&lt;text x='770' y='135' textAnchor='middle' fill='#64748B' fontSize='12'&gt;3 天&lt;/text&gt;&#13;&#10;                &lt;line x1='150' y1='120' x2='195' y2='120' stroke='#F59E0B' strokeWidth='2'/&gt;&lt;line x1='320' y1='120' x2='365' y2='120' stroke='#F59E0B' strokeWidth='2'/&gt;&lt;line x1='490' y1='120' x2='535' y2='120' stroke='#F59E0B' strokeWidth='2'/&gt;&lt;line x1='660' y1='120' x2='705' y2='120' stroke='#F59E0B' strokeWidth='2'/&gt;&#13;&#10;                &lt;rect x='370' y='190' width='120' height='46' rx='8' fill='#111B2E' stroke='#3B82F6' strokeWidth='1.5'/&gt;&lt;text x='430' y='210' textAnchor='middle' fill='#93C5FD' fontSize='14'&gt;界面设计&lt;/text&gt;&lt;text x='430' y='228' textAnchor='middle' fill='#64748B' fontSize='11'&gt;4 天（浮动）&lt;/text&gt;&#13;&#10;                &lt;line x1='260' y1='150' x2='400' y2='188' stroke='#3B82F6' strokeWidth='1.5' strokeDasharray='4'/&gt;&#13;&#10;                &lt;text x='430' y='252' textAnchor='middle' fill='#F59E0B' fontSize='14' fontWeight='bold'&gt;关键路径 = 5+8+6+7+3 = 29 天&lt;/text&gt;&#13;&#10;            &lt;/svg&gt;&#13;&#10;        &lt;/Box&gt;&#13;&#10;        &lt;Box style={{ background: '#111B2E', borderRadius: 10, padding: '13px 20px', borderLeft: '4px solid #F59E0B' }}&gt;&#13;&#10;            &lt;Text style={{ fontSize: 17, color: '#E2E8F0', lineHeight: 1.6 }}&gt;&lt;span style={{ fontWeight: 'bold', color: '#FBBF24' }}&gt;解读：&lt;/span&gt;「界面设计」有 4 天浮动时间，可并行推进不挤占关键路径；「实体抽取」与「关系抽取」是进度管控的重中之重。&lt;/Text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2 进度管理&lt;/Text&gt;&#13;&#10;        &lt;Text style={{ fontSize: 15, color: '#94A3B8' }}&gt;22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十大课题关键路径示例</a:t>
            </a:r>
            <a:endParaRPr/>
          </a:p>
        </p:txBody>
      </p:sp>
      <p:pic>
        <p:nvPicPr>
          <p:cNvPr id="2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809750" y="2009775"/>
            <a:ext cx="8572500" cy="2476500"/>
          </a:xfrm>
          <a:prstGeom prst="rect">
            <a:avLst/>
          </a:prstGeom>
          <a:ln/>
        </p:spPr>
      </p:pic>
      <p:sp>
        <p:nvSpPr>
          <p:cNvPr id="252" name=""/>
          <p:cNvSpPr/>
          <p:nvPr/>
        </p:nvSpPr>
        <p:spPr>
          <a:xfrm rot="0" flipH="0" flipV="0">
            <a:off x="647700" y="4714875"/>
            <a:ext cx="10972800" cy="561975"/>
          </a:xfrm>
          <a:prstGeom prst="roundRect">
            <a:avLst>
              <a:gd name="adj" fmla="val 16949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647700" y="4714875"/>
            <a:ext cx="10972800" cy="561975"/>
          </a:xfrm>
          <a:custGeom>
            <a:pathLst>
              <a:path w="1152" h="59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3"/>
                </a:lnTo>
                <a:cubicBezTo>
                  <a:pt x="4" y="56"/>
                  <a:pt x="6" y="58"/>
                  <a:pt x="9" y="59"/>
                </a:cubicBezTo>
                <a:cubicBezTo>
                  <a:pt x="4" y="58"/>
                  <a:pt x="0" y="54"/>
                  <a:pt x="0" y="49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38200" y="4838700"/>
            <a:ext cx="105537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FBBF24"/>
                </a:solidFill>
                <a:latin typeface="Microsoft YaHei"/>
                <a:ea typeface="Microsoft YaHei"/>
              </a:rPr>
              <a:t>解读：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「界面设计」有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天浮动时间，可并行推进不挤占关键路径；「实体抽取」与「关系抽取」是进度管控的重中之重。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进度管理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22 / 45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257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进度压缩：赶工与快速跟进&lt;/Text&gt;&#13;&#10;&#13;&#10;    &lt;/Box&gt;&#13;&#10;    &lt;Box style={{ flex: 1, flexDirection: 'column', justifyContent: 'center', gap: 16 }}&gt;&#13;&#10;&#13;&#10;        &lt;Box style={{ flexDirection: 'row', gap: 16 }}&gt;&#13;&#10;            &lt;Box style={{ flex: 1, background: '#111B2E', borderRadius: 12, padding: '18px 22px', border: '1px solid rgba(59,130,246,0.3)' }}&gt;&#13;&#10;                &lt;Text style={{ fontSize: 20, fontWeight: 'bold', color: '#93C5FD', marginBottom: 8 }}&gt;赶工（Crashing）&lt;/Text&gt;&#13;&#10;                &lt;Text style={{ fontSize: 17, color: '#E2E8F0', lineHeight: 1.65 }}&gt;增加资源压缩关键活动工期，以&lt;span style={{ fontWeight: 'bold', color: '#FBBF24' }}&gt;成本换时间&lt;/span&gt;。优先压成本斜率低的活动。&lt;/Text&gt;&#13;&#10;            &lt;/Box&gt;&#13;&#10;            &lt;Box style={{ flex: 1, background: '#111B2E', borderRadius: 12, padding: '18px 22px', border: '1px solid rgba(34,211,238,0.3)' }}&gt;&#13;&#10;                &lt;Text style={{ fontSize: 20, fontWeight: 'bold', color: '#67E8F9', marginBottom: 8 }}&gt;快速跟进（Fast Tracking）&lt;/Text&gt;&#13;&#10;                &lt;Text style={{ fontSize: 17, color: '#E2E8F0', lineHeight: 1.65 }}&gt;把串行活动改为并行，以&lt;span style={{ fontWeight: 'bold', color: '#FBBF24' }}&gt;风险换时间&lt;/span&gt;，可能带来返工。&lt;/Text&gt;&#13;&#10;            &lt;/Box&gt;&#13;&#10;        &lt;/Box&gt;&#13;&#10;        &lt;Box style={{ background: 'rgba(139,92,246,0.08)', borderRadius: 12, padding: '15px 22px', border: '1px solid rgba(139,92,246,0.35)' }}&gt;&#13;&#10;            &lt;Text style={{ fontSize: 17, color: '#E2E8F0', lineHeight: 1.65 }}&gt;&lt;span style={{ fontWeight: 'bold', color: '#C4B5FD' }}&gt;AI 视角：&lt;/span&gt;大模型开发中「赶工」可对应&lt;span style={{ fontWeight: 'bold', color: '#C4B5FD' }}&gt;调用更强模型/加算力&lt;/span&gt;；「快速跟进」可对应&lt;span style={{ fontWeight: 'bold', color: '#C4B5FD' }}&gt;数据采集与提示词设计并行&lt;/span&gt;。&lt;/Text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2 进度管理&lt;/Text&gt;&#13;&#10;        &lt;Text style={{ fontSize: 15, color: '#94A3B8' }}&gt;23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进度压缩：赶工与快速跟进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609600" y="2609850"/>
            <a:ext cx="5410200" cy="1295400"/>
          </a:xfrm>
          <a:prstGeom prst="roundRect">
            <a:avLst>
              <a:gd name="adj" fmla="val 8824"/>
            </a:avLst>
          </a:prstGeom>
          <a:solidFill>
            <a:srgbClr val="111B2E"/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819150" y="2781300"/>
            <a:ext cx="4991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93C5FD"/>
                </a:solidFill>
                <a:latin typeface="Microsoft YaHei"/>
                <a:ea typeface="Microsoft YaHei"/>
              </a:rPr>
              <a:t>赶工（</a:t>
            </a:r>
            <a:r>
              <a:rPr lang="en-US" sz="1500" b="1">
                <a:solidFill>
                  <a:srgbClr val="93C5FD"/>
                </a:solidFill>
                <a:latin typeface="Microsoft YaHei"/>
                <a:ea typeface="Microsoft YaHei"/>
              </a:rPr>
              <a:t>Crashing</a:t>
            </a:r>
            <a:r>
              <a:rPr lang="zh-CN" sz="1500" b="1">
                <a:solidFill>
                  <a:srgbClr val="93C5FD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819150" y="3086100"/>
            <a:ext cx="499110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增加资源压缩关键活动工期，以</a:t>
            </a:r>
            <a:r>
              <a:rPr lang="zh-CN" sz="1275" b="1">
                <a:solidFill>
                  <a:srgbClr val="FBBF24"/>
                </a:solidFill>
                <a:latin typeface="Microsoft YaHei"/>
                <a:ea typeface="Microsoft YaHei"/>
              </a:rPr>
              <a:t>成本换时间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。优先压成本斜率低的活动。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6172200" y="2609850"/>
            <a:ext cx="5410200" cy="1295400"/>
          </a:xfrm>
          <a:prstGeom prst="roundRect">
            <a:avLst>
              <a:gd name="adj" fmla="val 8824"/>
            </a:avLst>
          </a:prstGeom>
          <a:solidFill>
            <a:srgbClr val="111B2E"/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381750" y="2781300"/>
            <a:ext cx="4991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67E8F9"/>
                </a:solidFill>
                <a:latin typeface="Microsoft YaHei"/>
                <a:ea typeface="Microsoft YaHei"/>
              </a:rPr>
              <a:t>快速跟进（</a:t>
            </a:r>
            <a:r>
              <a:rPr lang="en-US" sz="1500" b="1">
                <a:solidFill>
                  <a:srgbClr val="67E8F9"/>
                </a:solidFill>
                <a:latin typeface="Microsoft YaHei"/>
                <a:ea typeface="Microsoft YaHei"/>
              </a:rPr>
              <a:t>Fast Tracking</a:t>
            </a:r>
            <a:r>
              <a:rPr lang="zh-CN" sz="1500" b="1">
                <a:solidFill>
                  <a:srgbClr val="67E8F9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381750" y="3086100"/>
            <a:ext cx="4991100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把串行活动改为并行，以</a:t>
            </a:r>
            <a:r>
              <a:rPr lang="zh-CN" sz="1275" b="1">
                <a:solidFill>
                  <a:srgbClr val="FBBF24"/>
                </a:solidFill>
                <a:latin typeface="Microsoft YaHei"/>
                <a:ea typeface="Microsoft YaHei"/>
              </a:rPr>
              <a:t>风险换时间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，可能带来返工。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609600" y="4057650"/>
            <a:ext cx="10972800" cy="609600"/>
          </a:xfrm>
          <a:prstGeom prst="roundRect">
            <a:avLst>
              <a:gd name="adj" fmla="val 18750"/>
            </a:avLst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819150" y="4200525"/>
            <a:ext cx="10553700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275" b="1">
                <a:solidFill>
                  <a:srgbClr val="C4B5FD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75" b="1">
                <a:solidFill>
                  <a:srgbClr val="C4B5FD"/>
                </a:solidFill>
                <a:latin typeface="Microsoft YaHei"/>
                <a:ea typeface="Microsoft YaHei"/>
              </a:rPr>
              <a:t>视角：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大模型开发中「赶工」可对应</a:t>
            </a:r>
            <a:r>
              <a:rPr lang="zh-CN" sz="1275" b="1">
                <a:solidFill>
                  <a:srgbClr val="C4B5FD"/>
                </a:solidFill>
                <a:latin typeface="Microsoft YaHei"/>
                <a:ea typeface="Microsoft YaHei"/>
              </a:rPr>
              <a:t>调用更强模型</a:t>
            </a:r>
            <a:r>
              <a:rPr lang="en-US" sz="1275" b="1">
                <a:solidFill>
                  <a:srgbClr val="C4B5FD"/>
                </a:solidFill>
                <a:latin typeface="Microsoft YaHei"/>
                <a:ea typeface="Microsoft YaHei"/>
              </a:rPr>
              <a:t>/</a:t>
            </a:r>
            <a:r>
              <a:rPr lang="zh-CN" sz="1275" b="1">
                <a:solidFill>
                  <a:srgbClr val="C4B5FD"/>
                </a:solidFill>
                <a:latin typeface="Microsoft YaHei"/>
                <a:ea typeface="Microsoft YaHei"/>
              </a:rPr>
              <a:t>加算力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；「快速跟进」可对应</a:t>
            </a:r>
            <a:r>
              <a:rPr lang="zh-CN" sz="1275" b="1">
                <a:solidFill>
                  <a:srgbClr val="C4B5FD"/>
                </a:solidFill>
                <a:latin typeface="Microsoft YaHei"/>
                <a:ea typeface="Microsoft YaHei"/>
              </a:rPr>
              <a:t>数据采集与提示词设计并行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进度管理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23 / 45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271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资源平衡与优化&lt;/Text&gt;&#13;&#10;&#13;&#10;    &lt;/Box&gt;&#13;&#10;    &lt;Box style={{ flex: 1, flexDirection: 'column', justifyContent: 'center', gap: 16 }}&gt;&#13;&#10;&#13;&#10;        &lt;Box style={{ flexDirection: 'row', gap: 18, alignItems: 'center' }}&gt;&#13;&#10;            &lt;Box style={{ flex: 1, justifyContent: 'center' }}&gt;&#13;&#10;                &lt;Text style={{ fontSize: 19, fontWeight: 'bold', color: '#22D3EE', marginBottom: 10 }}&gt;两种策略&lt;/Text&gt;&#13;&#10;                &lt;Box style={{ background: '#111B2E', borderRadius: 10, padding: '14px 18px', marginBottom: 10, borderLeft: '4px solid #3B82F6' }}&gt;&#13;&#10;                    &lt;Text style={{ fontSize: 17, color: '#E2E8F0', lineHeight: 1.6 }}&gt;&lt;span style={{ fontWeight: 'bold', color: '#93C5FD' }}&gt;资源平衡：&lt;/span&gt;在浮动时间内调整活动，削峰填谷，避免资源超载&lt;/Text&gt;&#13;&#10;                &lt;/Box&gt;&#13;&#10;                &lt;Box style={{ background: '#111B2E', borderRadius: 10, padding: '14px 18px', borderLeft: '4px solid #8B5CF6' }}&gt;&#13;&#10;                    &lt;Text style={{ fontSize: 17, color: '#E2E8F0', lineHeight: 1.6 }}&gt;&lt;span style={{ fontWeight: 'bold', color: '#C4B5FD' }}&gt;资源平滑：&lt;/span&gt;在不延长工期的前提下，让资源使用更均匀&lt;/Text&gt;&#13;&#10;                &lt;/Box&gt;&#13;&#10;            &lt;/Box&gt;&#13;&#10;            &lt;Box style={{ flex: 1, background: 'rgba(34,211,238,0.07)', borderRadius: 12, padding: '18px 22px', border: '1px solid rgba(34,211,238,0.3)', justifyContent: 'center' }}&gt;&#13;&#10;                &lt;Text style={{ fontSize: 18, color: '#E2E8F0', lineHeight: 1.75 }}&gt;十大课题团队通常人手有限，&lt;span style={{ fontWeight: 'bold', color: '#67E8F9' }}&gt;算法同学、前端同学、数据同学&lt;/span&gt;常跨活动复用——合理的资源平衡决定计划能否落地。&lt;/Text&gt;&#13;&#10;            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2 进度管理&lt;/Text&gt;&#13;&#10;        &lt;Text style={{ fontSize: 15, color: '#94A3B8' }}&gt;24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73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资源平衡与优化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09600" y="2857500"/>
            <a:ext cx="54006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2D3EE"/>
                </a:solidFill>
                <a:latin typeface="Microsoft YaHei"/>
                <a:ea typeface="Microsoft YaHei"/>
              </a:rPr>
              <a:t>两种策略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47700" y="3171825"/>
            <a:ext cx="5400675" cy="581025"/>
          </a:xfrm>
          <a:prstGeom prst="roundRect">
            <a:avLst>
              <a:gd name="adj" fmla="val 1639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647700" y="3171825"/>
            <a:ext cx="5400675" cy="581025"/>
          </a:xfrm>
          <a:custGeom>
            <a:pathLst>
              <a:path w="567" h="61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5"/>
                </a:lnTo>
                <a:cubicBezTo>
                  <a:pt x="4" y="58"/>
                  <a:pt x="6" y="60"/>
                  <a:pt x="9" y="61"/>
                </a:cubicBezTo>
                <a:cubicBezTo>
                  <a:pt x="4" y="60"/>
                  <a:pt x="0" y="56"/>
                  <a:pt x="0" y="5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19150" y="3305175"/>
            <a:ext cx="501967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93C5FD"/>
                </a:solidFill>
                <a:latin typeface="Microsoft YaHei"/>
                <a:ea typeface="Microsoft YaHei"/>
              </a:rPr>
              <a:t>资源平衡：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在浮动时间内调整活动，削峰填谷，避免资源超载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647700" y="3848100"/>
            <a:ext cx="5400675" cy="581025"/>
          </a:xfrm>
          <a:prstGeom prst="roundRect">
            <a:avLst>
              <a:gd name="adj" fmla="val 1639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280" name=""/>
          <p:cNvSpPr/>
          <p:nvPr/>
        </p:nvSpPr>
        <p:spPr>
          <a:xfrm rot="0" flipH="0" flipV="0">
            <a:off x="647700" y="3848100"/>
            <a:ext cx="5400675" cy="581025"/>
          </a:xfrm>
          <a:custGeom>
            <a:pathLst>
              <a:path w="567" h="61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55"/>
                </a:lnTo>
                <a:cubicBezTo>
                  <a:pt x="4" y="58"/>
                  <a:pt x="6" y="60"/>
                  <a:pt x="9" y="61"/>
                </a:cubicBezTo>
                <a:cubicBezTo>
                  <a:pt x="4" y="60"/>
                  <a:pt x="0" y="56"/>
                  <a:pt x="0" y="51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819150" y="3981450"/>
            <a:ext cx="501967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C4B5FD"/>
                </a:solidFill>
                <a:latin typeface="Microsoft YaHei"/>
                <a:ea typeface="Microsoft YaHei"/>
              </a:rPr>
              <a:t>资源平滑：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在不延长工期的前提下，让资源使用更均匀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181725" y="3114675"/>
            <a:ext cx="5400675" cy="1066800"/>
          </a:xfrm>
          <a:prstGeom prst="roundRect">
            <a:avLst>
              <a:gd name="adj" fmla="val 10714"/>
            </a:avLst>
          </a:prstGeom>
          <a:solidFill>
            <a:srgbClr val="22D3EE">
              <a:alpha val="7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391275" y="3286125"/>
            <a:ext cx="4981575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十大课题团队通常人手有限，</a:t>
            </a: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算法同学、前端同学、数据同学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常跨活动复用——合理的资源平衡决定计划能否落地。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进度管理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24 / 45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286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进度计划的工具与载体&lt;/Text&gt;&#13;&#10;&#13;&#10;    &lt;/Box&gt;&#13;&#10;    &lt;Box style={{ flex: 1, flexDirection: 'column', justifyContent: 'center', gap: 16 }}&gt;&#13;&#10;&#13;&#10;        &lt;Box style={{ flexDirection: 'row', flexWrap: 'wrap', gap: 14 }}&gt;&#13;&#10;            &lt;Box style={{ width: 545, background: '#111B2E', borderRadius: 12, padding: '16px 20px', borderLeft: '4px solid #3B82F6' }}&gt;&#13;&#10;                &lt;Text style={{ fontSize: 20, fontWeight: 'bold', color: '#93C5FD' }}&gt;传统工具&lt;/Text&gt;&#13;&#10;                &lt;Text style={{ fontSize: 17, color: '#94A3B8', lineHeight: 1.6, marginTop: 4 }}&gt;MS Project、Excel 甘特图、Visio 网络图&lt;/Text&gt;&#13;&#10;            &lt;/Box&gt;&#13;&#10;            &lt;Box style={{ width: 545, background: '#111B2E', borderRadius: 12, padding: '16px 20px', borderLeft: '4px solid #22D3EE' }}&gt;&#13;&#10;                &lt;Text style={{ fontSize: 20, fontWeight: 'bold', color: '#67E8F9' }}&gt;敏捷看板&lt;/Text&gt;&#13;&#10;                &lt;Text style={{ fontSize: 17, color: '#94A3B8', lineHeight: 1.6, marginTop: 4 }}&gt;Jira、Trello、飞书多维表格，迭代式跟踪&lt;/Text&gt;&#13;&#10;            &lt;/Box&gt;&#13;&#10;            &lt;Box style={{ width: 545, background: '#111B2E', borderRadius: 12, padding: '16px 20px', borderLeft: '4px solid #8B5CF6' }}&gt;&#13;&#10;                &lt;Text style={{ fontSize: 20, fontWeight: 'bold', color: '#C4B5FD' }}&gt;AI 增强工具&lt;/Text&gt;&#13;&#10;                &lt;Text style={{ fontSize: 17, color: '#94A3B8', lineHeight: 1.6, marginTop: 4 }}&gt;AI 自动生成 WBS/甘特图、智能排期、异常预警&lt;/Text&gt;&#13;&#10;            &lt;/Box&gt;&#13;&#10;            &lt;Box style={{ width: 545, background: '#111B2E', borderRadius: 12, padding: '16px 20px', borderLeft: '4px solid #F59E0B' }}&gt;&#13;&#10;                &lt;Text style={{ fontSize: 20, fontWeight: 'bold', color: '#FBBF24' }}&gt;版本基线&lt;/Text&gt;&#13;&#10;                &lt;Text style={{ fontSize: 17, color: '#94A3B8', lineHeight: 1.6, marginTop: 4 }}&gt;进度基线用于对比偏差，变更走流程，避免&quot;计划漂移&quot;&lt;/Text&gt;&#13;&#10;            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2 进度管理&lt;/Text&gt;&#13;&#10;        &lt;Text style={{ fontSize: 15, color: '#94A3B8' }}&gt;25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288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进度计划的工具与载体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647700" y="2686050"/>
            <a:ext cx="5153025" cy="885825"/>
          </a:xfrm>
          <a:prstGeom prst="roundRect">
            <a:avLst>
              <a:gd name="adj" fmla="val 1290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647700" y="2686050"/>
            <a:ext cx="5153025" cy="885825"/>
          </a:xfrm>
          <a:custGeom>
            <a:pathLst>
              <a:path w="541" h="93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5"/>
                </a:lnTo>
                <a:cubicBezTo>
                  <a:pt x="4" y="89"/>
                  <a:pt x="7" y="92"/>
                  <a:pt x="10" y="93"/>
                </a:cubicBezTo>
                <a:cubicBezTo>
                  <a:pt x="4" y="92"/>
                  <a:pt x="0" y="87"/>
                  <a:pt x="0" y="81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38200" y="2838450"/>
            <a:ext cx="4772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93C5FD"/>
                </a:solidFill>
                <a:latin typeface="Microsoft YaHei"/>
                <a:ea typeface="Microsoft YaHei"/>
              </a:rPr>
              <a:t>传统工具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38200" y="3105150"/>
            <a:ext cx="477202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MS Project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Excel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甘特图、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Visio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网络图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5972175" y="2686050"/>
            <a:ext cx="5153025" cy="885825"/>
          </a:xfrm>
          <a:prstGeom prst="roundRect">
            <a:avLst>
              <a:gd name="adj" fmla="val 1290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295" name=""/>
          <p:cNvSpPr/>
          <p:nvPr/>
        </p:nvSpPr>
        <p:spPr>
          <a:xfrm rot="0" flipH="0" flipV="0">
            <a:off x="5972175" y="2686050"/>
            <a:ext cx="5153025" cy="885825"/>
          </a:xfrm>
          <a:custGeom>
            <a:pathLst>
              <a:path w="541" h="93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5"/>
                </a:lnTo>
                <a:cubicBezTo>
                  <a:pt x="4" y="89"/>
                  <a:pt x="7" y="92"/>
                  <a:pt x="10" y="93"/>
                </a:cubicBezTo>
                <a:cubicBezTo>
                  <a:pt x="4" y="92"/>
                  <a:pt x="0" y="87"/>
                  <a:pt x="0" y="81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162675" y="2838450"/>
            <a:ext cx="4772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67E8F9"/>
                </a:solidFill>
                <a:latin typeface="Microsoft YaHei"/>
                <a:ea typeface="Microsoft YaHei"/>
              </a:rPr>
              <a:t>敏捷看板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162675" y="3105150"/>
            <a:ext cx="477202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Jira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、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Trello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、飞书多维表格，迭代式跟踪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647700" y="3705225"/>
            <a:ext cx="5153025" cy="885825"/>
          </a:xfrm>
          <a:prstGeom prst="roundRect">
            <a:avLst>
              <a:gd name="adj" fmla="val 1290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299" name=""/>
          <p:cNvSpPr/>
          <p:nvPr/>
        </p:nvSpPr>
        <p:spPr>
          <a:xfrm rot="0" flipH="0" flipV="0">
            <a:off x="647700" y="3705225"/>
            <a:ext cx="5153025" cy="885825"/>
          </a:xfrm>
          <a:custGeom>
            <a:pathLst>
              <a:path w="541" h="93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5"/>
                </a:lnTo>
                <a:cubicBezTo>
                  <a:pt x="4" y="89"/>
                  <a:pt x="7" y="92"/>
                  <a:pt x="10" y="93"/>
                </a:cubicBezTo>
                <a:cubicBezTo>
                  <a:pt x="4" y="92"/>
                  <a:pt x="0" y="87"/>
                  <a:pt x="0" y="81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838200" y="3857625"/>
            <a:ext cx="4772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4B5FD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500" b="1">
                <a:solidFill>
                  <a:srgbClr val="C4B5FD"/>
                </a:solidFill>
                <a:latin typeface="Microsoft YaHei"/>
                <a:ea typeface="Microsoft YaHei"/>
              </a:rPr>
              <a:t>增强工具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838200" y="4124325"/>
            <a:ext cx="477202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自动生成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 WBS/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甘特图、智能排期、异常预警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5972175" y="3705225"/>
            <a:ext cx="5153025" cy="885825"/>
          </a:xfrm>
          <a:prstGeom prst="roundRect">
            <a:avLst>
              <a:gd name="adj" fmla="val 1290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5972175" y="3705225"/>
            <a:ext cx="5153025" cy="885825"/>
          </a:xfrm>
          <a:custGeom>
            <a:pathLst>
              <a:path w="541" h="93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5"/>
                </a:lnTo>
                <a:cubicBezTo>
                  <a:pt x="4" y="89"/>
                  <a:pt x="7" y="92"/>
                  <a:pt x="10" y="93"/>
                </a:cubicBezTo>
                <a:cubicBezTo>
                  <a:pt x="4" y="92"/>
                  <a:pt x="0" y="87"/>
                  <a:pt x="0" y="81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162675" y="3857625"/>
            <a:ext cx="4772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BBF24"/>
                </a:solidFill>
                <a:latin typeface="Microsoft YaHei"/>
                <a:ea typeface="Microsoft YaHei"/>
              </a:rPr>
              <a:t>版本基线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6162675" y="4124325"/>
            <a:ext cx="477202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进度基线用于对比偏差，变更走流程，避免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计划漂移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进度管理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25 / 45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308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第二章小结：进度管理&lt;/Text&gt;&#13;&#10;&#13;&#10;    &lt;/Box&gt;&#13;&#10;    &lt;Box style={{ flex: 1, flexDirection: 'column', justifyContent: 'center', gap: 16 }}&gt;&#13;&#10;&#13;&#10;        &lt;Box style={{ flexDirection: 'row', gap: 14 }}&gt;&#13;&#10;            &lt;Box style={{ flex: 1, background: '#111B2E', borderRadius: 12, padding: '16px 20px', borderTop: '3px solid #3B82F6' }}&gt;&lt;Text style={{ fontSize: 18, fontWeight: 'bold', color: '#93C5FD', marginBottom: 6 }}&gt;WBS → 活动&lt;/Text&gt;&lt;Text style={{ fontSize: 15.5, color: '#94A3B8' }}&gt;分解 + 定义 + 排序&lt;/Text&gt;&lt;/Box&gt;&#13;&#10;            &lt;Box style={{ flex: 1, background: '#111B2E', borderRadius: 12, padding: '16px 20px', borderTop: '3px solid #22D3EE' }}&gt;&lt;Text style={{ fontSize: 18, fontWeight: 'bold', color: '#67E8F9', marginBottom: 6 }}&gt;甘特图 + 网络图&lt;/Text&gt;&lt;Text style={{ fontSize: 15.5, color: '#94A3B8' }}&gt;可视化排程&lt;/Text&gt;&lt;/Box&gt;&#13;&#10;            &lt;Box style={{ flex: 1, background: '#111B2E', borderRadius: 12, padding: '16px 20px', borderTop: '3px solid #8B5CF6' }}&gt;&lt;Text style={{ fontSize: 18, fontWeight: 'bold', color: '#C4B5FD', marginBottom: 6 }}&gt;CPM 关键路径&lt;/Text&gt;&lt;Text style={{ fontSize: 15.5, color: '#94A3B8' }}&gt;正推逆推 + 浮动&lt;/Text&gt;&lt;/Box&gt;&#13;&#10;            &lt;Box style={{ flex: 1, background: '#111B2E', borderRadius: 12, padding: '16px 20px', borderTop: '3px solid #F59E0B' }}&gt;&lt;Text style={{ fontSize: 18, fontWeight: 'bold', color: '#FBBF24', marginBottom: 6 }}&gt;压缩 + 平衡&lt;/Text&gt;&lt;Text style={{ fontSize: 15.5, color: '#94A3B8' }}&gt;赶工 / 跟进 / 资源&lt;/Text&gt;&lt;/Box&gt;&#13;&#10;        &lt;/Box&gt;&#13;&#10;        &lt;Box style={{ background: 'rgba(34,211,238,0.08)', borderRadius: 12, padding: '15px 22px', border: '1px solid rgba(34,211,238,0.3)' }}&gt;&#13;&#10;            &lt;Text style={{ fontSize: 18, color: '#E2E8F0', lineHeight: 1.65 }}&gt;&lt;span style={{ fontWeight: 'bold', color: '#67E8F9' }}&gt;一句话：&lt;/span&gt;进度管理 = 把估算结果&lt;span style={{ fontWeight: 'bold', color: '#67E8F9' }}&gt;排成时间表&lt;/span&gt; + 找到&lt;span style={{ fontWeight: 'bold', color: '#FBBF24' }}&gt;关键路径&lt;/span&gt; + 持续&lt;span style={{ fontWeight: 'bold', color: '#67E8F9' }}&gt;压缩与平衡&lt;/span&gt;。&lt;/Text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2 进度管理&lt;/Text&gt;&#13;&#10;        &lt;Text style={{ fontSize: 15, color: '#94A3B8' }}&gt;26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10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第二章小结：进度管理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609600" y="2886075"/>
            <a:ext cx="2647950" cy="781050"/>
          </a:xfrm>
          <a:prstGeom prst="roundRect">
            <a:avLst>
              <a:gd name="adj" fmla="val 14634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313" name=""/>
          <p:cNvSpPr/>
          <p:nvPr/>
        </p:nvSpPr>
        <p:spPr>
          <a:xfrm rot="0" flipH="0" flipV="0">
            <a:off x="609600" y="2886075"/>
            <a:ext cx="2647950" cy="781050"/>
          </a:xfrm>
          <a:custGeom>
            <a:pathLst>
              <a:path w="278" h="82">
                <a:moveTo>
                  <a:pt x="267" y="0"/>
                </a:moveTo>
                <a:cubicBezTo>
                  <a:pt x="272" y="0"/>
                  <a:pt x="277" y="4"/>
                  <a:pt x="278" y="9"/>
                </a:cubicBezTo>
                <a:cubicBezTo>
                  <a:pt x="276" y="6"/>
                  <a:pt x="273" y="3"/>
                  <a:pt x="269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00100" y="3038475"/>
            <a:ext cx="2266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93C5FD"/>
                </a:solidFill>
                <a:latin typeface="Microsoft YaHei"/>
                <a:ea typeface="Microsoft YaHei"/>
              </a:rPr>
              <a:t xml:space="preserve">WBS → </a:t>
            </a:r>
            <a:r>
              <a:rPr lang="zh-CN" sz="1350" b="1">
                <a:solidFill>
                  <a:srgbClr val="93C5FD"/>
                </a:solidFill>
                <a:latin typeface="Microsoft YaHei"/>
                <a:ea typeface="Microsoft YaHei"/>
              </a:rPr>
              <a:t>活动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00100" y="3305175"/>
            <a:ext cx="22669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分解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定义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排序</a:t>
            </a:r>
            <a:endParaRPr/>
          </a:p>
        </p:txBody>
      </p:sp>
      <p:sp>
        <p:nvSpPr>
          <p:cNvPr id="316" name=""/>
          <p:cNvSpPr/>
          <p:nvPr/>
        </p:nvSpPr>
        <p:spPr>
          <a:xfrm rot="0" flipH="0" flipV="0">
            <a:off x="3390900" y="2886075"/>
            <a:ext cx="2638425" cy="781050"/>
          </a:xfrm>
          <a:prstGeom prst="roundRect">
            <a:avLst>
              <a:gd name="adj" fmla="val 14634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317" name=""/>
          <p:cNvSpPr/>
          <p:nvPr/>
        </p:nvSpPr>
        <p:spPr>
          <a:xfrm rot="0" flipH="0" flipV="0">
            <a:off x="3390900" y="2886075"/>
            <a:ext cx="2638425" cy="781050"/>
          </a:xfrm>
          <a:custGeom>
            <a:pathLst>
              <a:path w="277" h="82">
                <a:moveTo>
                  <a:pt x="266" y="0"/>
                </a:moveTo>
                <a:cubicBezTo>
                  <a:pt x="271" y="0"/>
                  <a:pt x="276" y="4"/>
                  <a:pt x="277" y="9"/>
                </a:cubicBezTo>
                <a:cubicBezTo>
                  <a:pt x="275" y="6"/>
                  <a:pt x="272" y="3"/>
                  <a:pt x="268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5" y="0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3581400" y="3038475"/>
            <a:ext cx="2257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甘特图</a:t>
            </a:r>
            <a:r>
              <a:rPr lang="en-US" sz="1350" b="1">
                <a:solidFill>
                  <a:srgbClr val="67E8F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网络图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3581400" y="3305175"/>
            <a:ext cx="22574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可视化排程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6162675" y="2886075"/>
            <a:ext cx="2647950" cy="781050"/>
          </a:xfrm>
          <a:prstGeom prst="roundRect">
            <a:avLst>
              <a:gd name="adj" fmla="val 14634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321" name=""/>
          <p:cNvSpPr/>
          <p:nvPr/>
        </p:nvSpPr>
        <p:spPr>
          <a:xfrm rot="0" flipH="0" flipV="0">
            <a:off x="6162675" y="2886075"/>
            <a:ext cx="2647950" cy="781050"/>
          </a:xfrm>
          <a:custGeom>
            <a:pathLst>
              <a:path w="278" h="82">
                <a:moveTo>
                  <a:pt x="267" y="0"/>
                </a:moveTo>
                <a:cubicBezTo>
                  <a:pt x="272" y="0"/>
                  <a:pt x="277" y="4"/>
                  <a:pt x="278" y="9"/>
                </a:cubicBezTo>
                <a:cubicBezTo>
                  <a:pt x="276" y="6"/>
                  <a:pt x="273" y="3"/>
                  <a:pt x="269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353175" y="3038475"/>
            <a:ext cx="2266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4B5FD"/>
                </a:solidFill>
                <a:latin typeface="Microsoft YaHei"/>
                <a:ea typeface="Microsoft YaHei"/>
              </a:rPr>
              <a:t xml:space="preserve">CPM </a:t>
            </a:r>
            <a:r>
              <a:rPr lang="zh-CN" sz="1350" b="1">
                <a:solidFill>
                  <a:srgbClr val="C4B5FD"/>
                </a:solidFill>
                <a:latin typeface="Microsoft YaHei"/>
                <a:ea typeface="Microsoft YaHei"/>
              </a:rPr>
              <a:t>关键路径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353175" y="3305175"/>
            <a:ext cx="22669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正推逆推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浮动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8943975" y="2886075"/>
            <a:ext cx="2638425" cy="781050"/>
          </a:xfrm>
          <a:prstGeom prst="roundRect">
            <a:avLst>
              <a:gd name="adj" fmla="val 14634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325" name=""/>
          <p:cNvSpPr/>
          <p:nvPr/>
        </p:nvSpPr>
        <p:spPr>
          <a:xfrm rot="0" flipH="0" flipV="0">
            <a:off x="8943975" y="2886075"/>
            <a:ext cx="2638425" cy="781050"/>
          </a:xfrm>
          <a:custGeom>
            <a:pathLst>
              <a:path w="277" h="82">
                <a:moveTo>
                  <a:pt x="266" y="0"/>
                </a:moveTo>
                <a:cubicBezTo>
                  <a:pt x="271" y="0"/>
                  <a:pt x="276" y="4"/>
                  <a:pt x="277" y="9"/>
                </a:cubicBezTo>
                <a:cubicBezTo>
                  <a:pt x="275" y="6"/>
                  <a:pt x="272" y="3"/>
                  <a:pt x="268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5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9134475" y="3038475"/>
            <a:ext cx="2257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BBF24"/>
                </a:solidFill>
                <a:latin typeface="Microsoft YaHei"/>
                <a:ea typeface="Microsoft YaHei"/>
              </a:rPr>
              <a:t>压缩</a:t>
            </a:r>
            <a:r>
              <a:rPr lang="en-US" sz="1350" b="1">
                <a:solidFill>
                  <a:srgbClr val="FBBF24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 b="1">
                <a:solidFill>
                  <a:srgbClr val="FBBF24"/>
                </a:solidFill>
                <a:latin typeface="Microsoft YaHei"/>
                <a:ea typeface="Microsoft YaHei"/>
              </a:rPr>
              <a:t>平衡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9134475" y="3305175"/>
            <a:ext cx="22574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赶工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跟进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资源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609600" y="3790950"/>
            <a:ext cx="10972800" cy="628650"/>
          </a:xfrm>
          <a:prstGeom prst="roundRect">
            <a:avLst>
              <a:gd name="adj" fmla="val 18182"/>
            </a:avLst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19150" y="3933825"/>
            <a:ext cx="10553700" cy="3429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一句话：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进度管理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把估算结果</a:t>
            </a: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排成时间表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找到</a:t>
            </a:r>
            <a:r>
              <a:rPr lang="zh-CN" sz="1350" b="1">
                <a:solidFill>
                  <a:srgbClr val="FBBF24"/>
                </a:solidFill>
                <a:latin typeface="Microsoft YaHei"/>
                <a:ea typeface="Microsoft YaHei"/>
              </a:rPr>
              <a:t>关键路径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持续</a:t>
            </a: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压缩与平衡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02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进度管理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26 / 45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32" name="" descr="&lt;Slide style={{ width: 1280, height: 720, background: '#0B1220', position: 'relative', overflow: 'hidden' }}&gt;&#13;&#10;    &lt;Image src=&quot;assets/sec_bg.png&quot; style={{ position: 'absolute', top: 0, left: 0, width: 1280, height: 720, objectFit: 'cover', clipPath: 'inset(0 0 11% 0)' }} /&gt;&#13;&#10;    &lt;Box style={{ position: 'absolute', top: 0, left: 0, width: 1280, height: 720, background: 'linear-gradient(180deg, rgba(11,18,32,0.45) 0%, rgba(11,18,32,0.78) 100%)' }} /&gt;&#13;&#10;    &lt;Box style={{ position: 'absolute', left: 96, top: 180 }}&gt;&#13;&#10;        &lt;Text style={{ fontSize: 110, fontWeight: 'bold', color: 'rgba(34,211,238,0.28)' }}&gt;03&lt;/Text&gt;&#13;&#10;        &lt;Text style={{ fontSize: 62, fontWeight: 'bold', color: '#E2E8F0', marginTop: 6 }}&gt;进度监控与挣值&lt;/Text&gt;&#13;&#10;        &lt;Box style={{ width: 90, height: 5, background: 'linear-gradient(90deg, #22D3EE 0%, #3B82F6 100%)', borderRadius: 3, marginTop: 26 }} /&gt;&#13;&#10;        &lt;Text style={{ fontSize: 20, color: '#94A3B8', marginTop: 26, letterSpacing: 2 }}&gt;EVM · 用数据衡量进度，而非感觉&lt;/Text&gt;&#13;&#10;    &lt;/Box&gt;&#13;&#10;    &lt;Box style={{ position: 'absolute', right: 96, bottom: 72, flexDirection: 'row', gap: 12, alignItems: 'center' }}&gt;&#13;&#10;        &lt;Box style={{ width: 8, height: 8, borderRadius: 4, background: '#22D3EE' }} /&gt;        &lt;Box style={{ width: 8, height: 8, borderRadius: 4, background: 'rgba(148,163,184,0.35)' }} /&gt;        &lt;Box style={{ width: 8, height: 8, borderRadius: 4, background: 'rgba(148,163,184,0.35)' }} /&gt;        &lt;Box style={{ width: 8, height: 8, borderRadius: 4, background: 'rgba(148,163,184,0.35)' }} /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334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custGeom>
            <a:pathLst>
              <a:path w="1280" h="720">
                <a:moveTo>
                  <a:pt x="0" y="0"/>
                </a:moveTo>
                <a:lnTo>
                  <a:pt x="1280" y="0"/>
                </a:lnTo>
                <a:lnTo>
                  <a:pt x="1280" y="641"/>
                </a:lnTo>
                <a:lnTo>
                  <a:pt x="0" y="641"/>
                </a:lnTo>
                <a:close/>
              </a:path>
            </a:pathLst>
          </a:custGeom>
          <a:ln/>
        </p:spPr>
      </p:pic>
      <p:sp>
        <p:nvSpPr>
          <p:cNvPr id="3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45000"/>
                </a:srgbClr>
              </a:gs>
              <a:gs pos="100000">
                <a:srgbClr val="0B1220">
                  <a:alpha val="78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914400" y="1714500"/>
            <a:ext cx="4133850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22D3EE">
                    <a:alpha val="28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914400" y="3028950"/>
            <a:ext cx="413385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E2E8F0"/>
                </a:solidFill>
                <a:latin typeface="Microsoft YaHei"/>
                <a:ea typeface="Microsoft YaHei"/>
              </a:rPr>
              <a:t>进度监控与挣值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914400" y="3990975"/>
            <a:ext cx="857250" cy="47625"/>
          </a:xfrm>
          <a:prstGeom prst="roundRect">
            <a:avLst>
              <a:gd name="adj" fmla="val 60000"/>
            </a:avLst>
          </a:prstGeom>
          <a:gradFill>
            <a:gsLst>
              <a:gs pos="0">
                <a:srgbClr val="22D3EE"/>
              </a:gs>
              <a:gs pos="100000">
                <a:srgbClr val="3B82F6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914400" y="4286250"/>
            <a:ext cx="4133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EVM · </a:t>
            </a:r>
            <a:r>
              <a:rPr lang="zh-CN" sz="1500" spc="150">
                <a:solidFill>
                  <a:srgbClr val="94A3B8"/>
                </a:solidFill>
                <a:latin typeface="Microsoft YaHei"/>
                <a:ea typeface="Microsoft YaHei"/>
              </a:rPr>
              <a:t>用数据衡量进度，而非感觉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10629900" y="6096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341" name=""/>
          <p:cNvSpPr/>
          <p:nvPr/>
        </p:nvSpPr>
        <p:spPr>
          <a:xfrm rot="0" flipH="0" flipV="0">
            <a:off x="10820400" y="6096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94A3B8">
              <a:alpha val="35000"/>
            </a:srgbClr>
          </a:solidFill>
          <a:ln/>
        </p:spPr>
        <p:txBody>
          <a:bodyPr/>
          <a:p/>
        </p:txBody>
      </p:sp>
      <p:sp>
        <p:nvSpPr>
          <p:cNvPr id="342" name=""/>
          <p:cNvSpPr/>
          <p:nvPr/>
        </p:nvSpPr>
        <p:spPr>
          <a:xfrm rot="0" flipH="0" flipV="0">
            <a:off x="11010900" y="6096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94A3B8">
              <a:alpha val="35000"/>
            </a:srgbClr>
          </a:solidFill>
          <a:ln/>
        </p:spPr>
        <p:txBody>
          <a:bodyPr/>
          <a:p/>
        </p:txBody>
      </p:sp>
      <p:sp>
        <p:nvSpPr>
          <p:cNvPr id="343" name=""/>
          <p:cNvSpPr/>
          <p:nvPr/>
        </p:nvSpPr>
        <p:spPr>
          <a:xfrm rot="0" flipH="0" flipV="0">
            <a:off x="11201400" y="6096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94A3B8">
              <a:alpha val="35000"/>
            </a:srgbClr>
          </a:solidFill>
          <a:ln/>
        </p:spPr>
        <p:txBody>
          <a:bodyPr/>
          <a:p/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344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进度监控的方法&lt;/Text&gt;&#13;&#10;&#13;&#10;    &lt;/Box&gt;&#13;&#10;    &lt;Box style={{ flex: 1, flexDirection: 'column', justifyContent: 'center', gap: 16 }}&gt;&#13;&#10;&#13;&#10;        &lt;Box style={{ flexDirection: 'row', flexWrap: 'wrap', gap: 14 }}&gt;&#13;&#10;            &lt;Box style={{ width: 545, background: '#111B2E', borderRadius: 12, padding: '16px 20px', borderLeft: '4px solid #3B82F6' }}&gt;&lt;Text style={{ fontSize: 19, fontWeight: 'bold', color: '#93C5FD' }}&gt;里程碑评审&lt;/Text&gt;&lt;Text style={{ fontSize: 16.5, color: '#94A3B8', lineHeight: 1.6, marginTop: 4 }}&gt;在关键节点验收交付物，判断是否继续投入&lt;/Text&gt;&lt;/Box&gt;&#13;&#10;            &lt;Box style={{ width: 545, background: '#111B2E', borderRadius: 12, padding: '16px 20px', borderLeft: '4px solid #22D3EE' }}&gt;&lt;Text style={{ fontSize: 19, fontWeight: 'bold', color: '#67E8F9' }}&gt;燃尽图 / 燃起图&lt;/Text&gt;&lt;Text style={{ fontSize: 16.5, color: '#94A3B8', lineHeight: 1.6, marginTop: 4 }}&gt;敏捷迭代中剩余工作量随时间的下降趋势&lt;/Text&gt;&lt;/Box&gt;&#13;&#10;            &lt;Box style={{ width: 545, background: '#111B2E', borderRadius: 12, padding: '16px 20px', borderLeft: '4px solid #8B5CF6' }}&gt;&lt;Text style={{ fontSize: 19, fontWeight: 'bold', color: '#C4B5FD' }}&gt;挣值管理 EVM&lt;/Text&gt;&lt;Text style={{ fontSize: 16.5, color: '#94A3B8', lineHeight: 1.6, marginTop: 4 }}&gt;把范围、进度、成本统一为货币度量，综合判断偏差&lt;/Text&gt;&lt;/Box&gt;&#13;&#10;            &lt;Box style={{ width: 545, background: '#111B2E', borderRadius: 12, padding: '16px 20px', borderLeft: '4px solid #F59E0B' }}&gt;&lt;Text style={{ fontSize: 19, fontWeight: 'bold', color: '#FBBF24' }}&gt;AI 驱动监控&lt;/Text&gt;&lt;Text style={{ fontSize: 16.5, color: '#94A3B8', lineHeight: 1.6, marginTop: 4 }}&gt;实时遥测 + 风险预测 + 异常驱动的干预模式&lt;/Text&gt;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3 进度监控与挣值&lt;/Text&gt;&#13;&#10;        &lt;Text style={{ fontSize: 15, color: '#94A3B8' }}&gt;28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进度监控的方法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647700" y="2705100"/>
            <a:ext cx="5153025" cy="866775"/>
          </a:xfrm>
          <a:prstGeom prst="roundRect">
            <a:avLst>
              <a:gd name="adj" fmla="val 13187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349" name=""/>
          <p:cNvSpPr/>
          <p:nvPr/>
        </p:nvSpPr>
        <p:spPr>
          <a:xfrm rot="0" flipH="0" flipV="0">
            <a:off x="647700" y="2705100"/>
            <a:ext cx="5153025" cy="866775"/>
          </a:xfrm>
          <a:custGeom>
            <a:pathLst>
              <a:path w="541" h="9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3"/>
                </a:lnTo>
                <a:cubicBezTo>
                  <a:pt x="4" y="87"/>
                  <a:pt x="7" y="90"/>
                  <a:pt x="10" y="91"/>
                </a:cubicBezTo>
                <a:cubicBezTo>
                  <a:pt x="4" y="90"/>
                  <a:pt x="0" y="85"/>
                  <a:pt x="0" y="7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838200" y="2857500"/>
            <a:ext cx="4772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93C5FD"/>
                </a:solidFill>
                <a:latin typeface="Microsoft YaHei"/>
                <a:ea typeface="Microsoft YaHei"/>
              </a:rPr>
              <a:t>里程碑评审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38200" y="3114675"/>
            <a:ext cx="4772025" cy="3048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38">
                <a:solidFill>
                  <a:srgbClr val="94A3B8"/>
                </a:solidFill>
                <a:latin typeface="Microsoft YaHei"/>
                <a:ea typeface="Microsoft YaHei"/>
              </a:rPr>
              <a:t>在关键节点验收交付物，判断是否继续投入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5972175" y="2705100"/>
            <a:ext cx="5153025" cy="866775"/>
          </a:xfrm>
          <a:prstGeom prst="roundRect">
            <a:avLst>
              <a:gd name="adj" fmla="val 13187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353" name=""/>
          <p:cNvSpPr/>
          <p:nvPr/>
        </p:nvSpPr>
        <p:spPr>
          <a:xfrm rot="0" flipH="0" flipV="0">
            <a:off x="5972175" y="2705100"/>
            <a:ext cx="5153025" cy="866775"/>
          </a:xfrm>
          <a:custGeom>
            <a:pathLst>
              <a:path w="541" h="9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3"/>
                </a:lnTo>
                <a:cubicBezTo>
                  <a:pt x="4" y="87"/>
                  <a:pt x="7" y="90"/>
                  <a:pt x="10" y="91"/>
                </a:cubicBezTo>
                <a:cubicBezTo>
                  <a:pt x="4" y="90"/>
                  <a:pt x="0" y="85"/>
                  <a:pt x="0" y="7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6162675" y="2857500"/>
            <a:ext cx="4772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67E8F9"/>
                </a:solidFill>
                <a:latin typeface="Microsoft YaHei"/>
                <a:ea typeface="Microsoft YaHei"/>
              </a:rPr>
              <a:t>燃尽图</a:t>
            </a:r>
            <a:r>
              <a:rPr lang="en-US" sz="1425" b="1">
                <a:solidFill>
                  <a:srgbClr val="67E8F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425" b="1">
                <a:solidFill>
                  <a:srgbClr val="67E8F9"/>
                </a:solidFill>
                <a:latin typeface="Microsoft YaHei"/>
                <a:ea typeface="Microsoft YaHei"/>
              </a:rPr>
              <a:t>燃起图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162675" y="3114675"/>
            <a:ext cx="4772025" cy="3048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38">
                <a:solidFill>
                  <a:srgbClr val="94A3B8"/>
                </a:solidFill>
                <a:latin typeface="Microsoft YaHei"/>
                <a:ea typeface="Microsoft YaHei"/>
              </a:rPr>
              <a:t>敏捷迭代中剩余工作量随时间的下降趋势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647700" y="3705225"/>
            <a:ext cx="5153025" cy="866775"/>
          </a:xfrm>
          <a:prstGeom prst="roundRect">
            <a:avLst>
              <a:gd name="adj" fmla="val 13187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647700" y="3705225"/>
            <a:ext cx="5153025" cy="866775"/>
          </a:xfrm>
          <a:custGeom>
            <a:pathLst>
              <a:path w="541" h="9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3"/>
                </a:lnTo>
                <a:cubicBezTo>
                  <a:pt x="4" y="87"/>
                  <a:pt x="7" y="90"/>
                  <a:pt x="10" y="91"/>
                </a:cubicBezTo>
                <a:cubicBezTo>
                  <a:pt x="4" y="90"/>
                  <a:pt x="0" y="85"/>
                  <a:pt x="0" y="7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38200" y="3857625"/>
            <a:ext cx="4772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4B5FD"/>
                </a:solidFill>
                <a:latin typeface="Microsoft YaHei"/>
                <a:ea typeface="Microsoft YaHei"/>
              </a:rPr>
              <a:t>挣值管理</a:t>
            </a:r>
            <a:r>
              <a:rPr lang="en-US" sz="1425" b="1">
                <a:solidFill>
                  <a:srgbClr val="C4B5FD"/>
                </a:solidFill>
                <a:latin typeface="Microsoft YaHei"/>
                <a:ea typeface="Microsoft YaHei"/>
              </a:rPr>
              <a:t xml:space="preserve"> EVM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838200" y="4114800"/>
            <a:ext cx="4772025" cy="3048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38">
                <a:solidFill>
                  <a:srgbClr val="94A3B8"/>
                </a:solidFill>
                <a:latin typeface="Microsoft YaHei"/>
                <a:ea typeface="Microsoft YaHei"/>
              </a:rPr>
              <a:t>把范围、进度、成本统一为货币度量，综合判断偏差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5972175" y="3705225"/>
            <a:ext cx="5153025" cy="866775"/>
          </a:xfrm>
          <a:prstGeom prst="roundRect">
            <a:avLst>
              <a:gd name="adj" fmla="val 13187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5972175" y="3705225"/>
            <a:ext cx="5153025" cy="866775"/>
          </a:xfrm>
          <a:custGeom>
            <a:pathLst>
              <a:path w="541" h="9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83"/>
                </a:lnTo>
                <a:cubicBezTo>
                  <a:pt x="4" y="87"/>
                  <a:pt x="7" y="90"/>
                  <a:pt x="10" y="91"/>
                </a:cubicBezTo>
                <a:cubicBezTo>
                  <a:pt x="4" y="90"/>
                  <a:pt x="0" y="85"/>
                  <a:pt x="0" y="7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162675" y="3857625"/>
            <a:ext cx="4772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BBF24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425" b="1">
                <a:solidFill>
                  <a:srgbClr val="FBBF24"/>
                </a:solidFill>
                <a:latin typeface="Microsoft YaHei"/>
                <a:ea typeface="Microsoft YaHei"/>
              </a:rPr>
              <a:t>驱动监控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6162675" y="4114800"/>
            <a:ext cx="4772025" cy="3048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38">
                <a:solidFill>
                  <a:srgbClr val="94A3B8"/>
                </a:solidFill>
                <a:latin typeface="Microsoft YaHei"/>
                <a:ea typeface="Microsoft YaHei"/>
              </a:rPr>
              <a:t>实时遥测</a:t>
            </a:r>
            <a:r>
              <a:rPr lang="en-US" sz="1238">
                <a:solidFill>
                  <a:srgbClr val="94A3B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38">
                <a:solidFill>
                  <a:srgbClr val="94A3B8"/>
                </a:solidFill>
                <a:latin typeface="Microsoft YaHei"/>
                <a:ea typeface="Microsoft YaHei"/>
              </a:rPr>
              <a:t>风险预测</a:t>
            </a:r>
            <a:r>
              <a:rPr lang="en-US" sz="1238">
                <a:solidFill>
                  <a:srgbClr val="94A3B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38">
                <a:solidFill>
                  <a:srgbClr val="94A3B8"/>
                </a:solidFill>
                <a:latin typeface="Microsoft YaHei"/>
                <a:ea typeface="Microsoft YaHei"/>
              </a:rPr>
              <a:t>异常驱动的干预模式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03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进度监控与挣值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28 / 45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366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挣值管理：三个基本量&lt;/Text&gt;&#13;&#10;&#13;&#10;    &lt;/Box&gt;&#13;&#10;    &lt;Box style={{ flex: 1, flexDirection: 'column', justifyContent: 'center', gap: 16 }}&gt;&#13;&#10;&#13;&#10;        &lt;Box style={{ flexDirection: 'row', gap: 16, alignItems: 'stretch' }}&gt;&#13;&#10;            &lt;Box style={{ flex: 1, background: '#111B2E', borderRadius: 12, padding: '18px 22px', borderTop: '4px solid #3B82F6' }}&gt;&#13;&#10;                &lt;Text style={{ fontSize: 22, fontWeight: 'bold', color: '#93C5FD' }}&gt;PV 计划价值&lt;/Text&gt;&#13;&#10;                &lt;Text style={{ fontSize: 16.5, color: '#94A3B8', marginTop: 6, lineHeight: 1.6 }}&gt;到当前时点&lt;span style={{ color: '#E2E8F0' }}&gt;计划完成&lt;/span&gt;工作的预算（Planned Value）&lt;/Text&gt;&#13;&#10;            &lt;/Box&gt;&#13;&#10;            &lt;Box style={{ flex: 1, background: '#111B2E', borderRadius: 12, padding: '18px 22px', borderTop: '4px solid #22D3EE' }}&gt;&#13;&#10;                &lt;Text style={{ fontSize: 22, fontWeight: 'bold', color: '#67E8F9' }}&gt;EV 挣值&lt;/Text&gt;&#13;&#10;                &lt;Text style={{ fontSize: 16.5, color: '#94A3B8', marginTop: 6, lineHeight: 1.6 }}&gt;到当前时点&lt;span style={{ color: '#E2E8F0' }}&gt;实际完成&lt;/span&gt;工作的预算（Earned Value）&lt;/Text&gt;&#13;&#10;            &lt;/Box&gt;&#13;&#10;            &lt;Box style={{ flex: 1, background: '#111B2E', borderRadius: 12, padding: '18px 22px', borderTop: '4px solid #8B5CF6' }}&gt;&#13;&#10;                &lt;Text style={{ fontSize: 22, fontWeight: 'bold', color: '#C4B5FD' }}&gt;AC 实际成本&lt;/Text&gt;&#13;&#10;                &lt;Text style={{ fontSize: 16.5, color: '#94A3B8', marginTop: 6, lineHeight: 1.6 }}&gt;到当前时点&lt;span style={{ color: '#E2E8F0' }}&gt;实际花费&lt;/span&gt;的成本（Actual Cost）&lt;/Text&gt;&#13;&#10;            &lt;/Box&gt;&#13;&#10;        &lt;/Box&gt;&#13;&#10;        &lt;Box style={{ background: 'rgba(34,211,238,0.08)', borderRadius: 12, padding: '15px 22px', border: '1px solid rgba(34,211,238,0.3)' }}&gt;&#13;&#10;            &lt;Text style={{ fontSize: 17, color: '#E2E8F0', lineHeight: 1.65 }}&gt;&lt;span style={{ fontWeight: 'bold', color: '#67E8F9' }}&gt;核心思想：&lt;/span&gt;把&lt;span style={{ fontWeight: 'bold', color: '#67E8F9' }}&gt;范围（做了什么）&lt;/span&gt;、&lt;span style={{ fontWeight: 'bold', color: '#67E8F9' }}&gt;进度（该做多少）&lt;/span&gt;、&lt;span style={{ fontWeight: 'bold', color: '#67E8F9' }}&gt;成本（花了多少）&lt;/span&gt;统一换算成货币，才能在同一维度比较偏差。&lt;/Text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3 进度监控与挣值&lt;/Text&gt;&#13;&#10;        &lt;Text style={{ fontSize: 15, color: '#94A3B8' }}&gt;29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368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挣值管理：三个基本量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609600" y="2647950"/>
            <a:ext cx="3552825" cy="1304925"/>
          </a:xfrm>
          <a:prstGeom prst="roundRect">
            <a:avLst>
              <a:gd name="adj" fmla="val 8759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609600" y="2647950"/>
            <a:ext cx="3552825" cy="1304925"/>
          </a:xfrm>
          <a:custGeom>
            <a:pathLst>
              <a:path w="373" h="137">
                <a:moveTo>
                  <a:pt x="362" y="0"/>
                </a:moveTo>
                <a:cubicBezTo>
                  <a:pt x="367" y="0"/>
                  <a:pt x="372" y="4"/>
                  <a:pt x="373" y="10"/>
                </a:cubicBezTo>
                <a:cubicBezTo>
                  <a:pt x="372" y="6"/>
                  <a:pt x="369" y="4"/>
                  <a:pt x="365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1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819150" y="2819400"/>
            <a:ext cx="31337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93C5FD"/>
                </a:solidFill>
                <a:latin typeface="Microsoft YaHei"/>
                <a:ea typeface="Microsoft YaHei"/>
              </a:rPr>
              <a:t xml:space="preserve">PV </a:t>
            </a:r>
            <a:r>
              <a:rPr lang="zh-CN" sz="1650" b="1">
                <a:solidFill>
                  <a:srgbClr val="93C5FD"/>
                </a:solidFill>
                <a:latin typeface="Microsoft YaHei"/>
                <a:ea typeface="Microsoft YaHei"/>
              </a:rPr>
              <a:t>计划价值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19150" y="3133725"/>
            <a:ext cx="31337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38">
                <a:solidFill>
                  <a:srgbClr val="94A3B8"/>
                </a:solidFill>
                <a:latin typeface="Microsoft YaHei"/>
                <a:ea typeface="Microsoft YaHei"/>
              </a:rPr>
              <a:t>到当前时点</a:t>
            </a:r>
            <a:r>
              <a:rPr lang="zh-CN" sz="1238">
                <a:solidFill>
                  <a:srgbClr val="E2E8F0"/>
                </a:solidFill>
                <a:latin typeface="Microsoft YaHei"/>
                <a:ea typeface="Microsoft YaHei"/>
              </a:rPr>
              <a:t>计划完成</a:t>
            </a:r>
            <a:r>
              <a:rPr lang="zh-CN" sz="1238">
                <a:solidFill>
                  <a:srgbClr val="94A3B8"/>
                </a:solidFill>
                <a:latin typeface="Microsoft YaHei"/>
                <a:ea typeface="Microsoft YaHei"/>
              </a:rPr>
              <a:t>工作的预算（</a:t>
            </a:r>
            <a:r>
              <a:rPr lang="en-US" sz="1238">
                <a:solidFill>
                  <a:srgbClr val="94A3B8"/>
                </a:solidFill>
                <a:latin typeface="Microsoft YaHei"/>
                <a:ea typeface="Microsoft YaHei"/>
              </a:rPr>
              <a:t>Planned Value</a:t>
            </a:r>
            <a:r>
              <a:rPr lang="zh-CN" sz="1238">
                <a:solidFill>
                  <a:srgbClr val="94A3B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4314825" y="2647950"/>
            <a:ext cx="3562350" cy="1304925"/>
          </a:xfrm>
          <a:prstGeom prst="roundRect">
            <a:avLst>
              <a:gd name="adj" fmla="val 8759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375" name=""/>
          <p:cNvSpPr/>
          <p:nvPr/>
        </p:nvSpPr>
        <p:spPr>
          <a:xfrm rot="0" flipH="0" flipV="0">
            <a:off x="4314825" y="2647950"/>
            <a:ext cx="3562350" cy="1304925"/>
          </a:xfrm>
          <a:custGeom>
            <a:pathLst>
              <a:path w="374" h="137">
                <a:moveTo>
                  <a:pt x="363" y="0"/>
                </a:moveTo>
                <a:cubicBezTo>
                  <a:pt x="368" y="0"/>
                  <a:pt x="373" y="4"/>
                  <a:pt x="374" y="10"/>
                </a:cubicBezTo>
                <a:cubicBezTo>
                  <a:pt x="373" y="6"/>
                  <a:pt x="370" y="4"/>
                  <a:pt x="366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2" y="0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4524375" y="2819400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67E8F9"/>
                </a:solidFill>
                <a:latin typeface="Microsoft YaHei"/>
                <a:ea typeface="Microsoft YaHei"/>
              </a:rPr>
              <a:t xml:space="preserve">EV </a:t>
            </a:r>
            <a:r>
              <a:rPr lang="zh-CN" sz="1650" b="1">
                <a:solidFill>
                  <a:srgbClr val="67E8F9"/>
                </a:solidFill>
                <a:latin typeface="Microsoft YaHei"/>
                <a:ea typeface="Microsoft YaHei"/>
              </a:rPr>
              <a:t>挣值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4524375" y="3133725"/>
            <a:ext cx="31432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38">
                <a:solidFill>
                  <a:srgbClr val="94A3B8"/>
                </a:solidFill>
                <a:latin typeface="Microsoft YaHei"/>
                <a:ea typeface="Microsoft YaHei"/>
              </a:rPr>
              <a:t>到当前时点</a:t>
            </a:r>
            <a:r>
              <a:rPr lang="zh-CN" sz="1238">
                <a:solidFill>
                  <a:srgbClr val="E2E8F0"/>
                </a:solidFill>
                <a:latin typeface="Microsoft YaHei"/>
                <a:ea typeface="Microsoft YaHei"/>
              </a:rPr>
              <a:t>实际完成</a:t>
            </a:r>
            <a:r>
              <a:rPr lang="zh-CN" sz="1238">
                <a:solidFill>
                  <a:srgbClr val="94A3B8"/>
                </a:solidFill>
                <a:latin typeface="Microsoft YaHei"/>
                <a:ea typeface="Microsoft YaHei"/>
              </a:rPr>
              <a:t>工作的预算（</a:t>
            </a:r>
            <a:r>
              <a:rPr lang="en-US" sz="1238">
                <a:solidFill>
                  <a:srgbClr val="94A3B8"/>
                </a:solidFill>
                <a:latin typeface="Microsoft YaHei"/>
                <a:ea typeface="Microsoft YaHei"/>
              </a:rPr>
              <a:t>Earned Value</a:t>
            </a:r>
            <a:r>
              <a:rPr lang="zh-CN" sz="1238">
                <a:solidFill>
                  <a:srgbClr val="94A3B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8029575" y="2647950"/>
            <a:ext cx="3552825" cy="1304925"/>
          </a:xfrm>
          <a:prstGeom prst="roundRect">
            <a:avLst>
              <a:gd name="adj" fmla="val 8759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379" name=""/>
          <p:cNvSpPr/>
          <p:nvPr/>
        </p:nvSpPr>
        <p:spPr>
          <a:xfrm rot="0" flipH="0" flipV="0">
            <a:off x="8029575" y="2647950"/>
            <a:ext cx="3552825" cy="1304925"/>
          </a:xfrm>
          <a:custGeom>
            <a:pathLst>
              <a:path w="373" h="137">
                <a:moveTo>
                  <a:pt x="362" y="0"/>
                </a:moveTo>
                <a:cubicBezTo>
                  <a:pt x="367" y="0"/>
                  <a:pt x="372" y="4"/>
                  <a:pt x="373" y="10"/>
                </a:cubicBezTo>
                <a:cubicBezTo>
                  <a:pt x="372" y="6"/>
                  <a:pt x="369" y="4"/>
                  <a:pt x="365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61" y="0"/>
                </a:ln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8239125" y="2819400"/>
            <a:ext cx="31337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C4B5FD"/>
                </a:solidFill>
                <a:latin typeface="Microsoft YaHei"/>
                <a:ea typeface="Microsoft YaHei"/>
              </a:rPr>
              <a:t xml:space="preserve">AC </a:t>
            </a:r>
            <a:r>
              <a:rPr lang="zh-CN" sz="1650" b="1">
                <a:solidFill>
                  <a:srgbClr val="C4B5FD"/>
                </a:solidFill>
                <a:latin typeface="Microsoft YaHei"/>
                <a:ea typeface="Microsoft YaHei"/>
              </a:rPr>
              <a:t>实际成本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8239125" y="3133725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38">
                <a:solidFill>
                  <a:srgbClr val="94A3B8"/>
                </a:solidFill>
                <a:latin typeface="Microsoft YaHei"/>
                <a:ea typeface="Microsoft YaHei"/>
              </a:rPr>
              <a:t>到当前时点</a:t>
            </a:r>
            <a:r>
              <a:rPr lang="zh-CN" sz="1238">
                <a:solidFill>
                  <a:srgbClr val="E2E8F0"/>
                </a:solidFill>
                <a:latin typeface="Microsoft YaHei"/>
                <a:ea typeface="Microsoft YaHei"/>
              </a:rPr>
              <a:t>实际花费</a:t>
            </a:r>
            <a:r>
              <a:rPr lang="zh-CN" sz="1238">
                <a:solidFill>
                  <a:srgbClr val="94A3B8"/>
                </a:solidFill>
                <a:latin typeface="Microsoft YaHei"/>
                <a:ea typeface="Microsoft YaHei"/>
              </a:rPr>
              <a:t>的成本（</a:t>
            </a:r>
            <a:r>
              <a:rPr lang="en-US" sz="1238">
                <a:solidFill>
                  <a:srgbClr val="94A3B8"/>
                </a:solidFill>
                <a:latin typeface="Microsoft YaHei"/>
                <a:ea typeface="Microsoft YaHei"/>
              </a:rPr>
              <a:t>Actual Cost</a:t>
            </a:r>
            <a:r>
              <a:rPr lang="zh-CN" sz="1238">
                <a:solidFill>
                  <a:srgbClr val="94A3B8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609600" y="4067175"/>
            <a:ext cx="10972800" cy="609600"/>
          </a:xfrm>
          <a:prstGeom prst="roundRect">
            <a:avLst>
              <a:gd name="adj" fmla="val 18750"/>
            </a:avLst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819150" y="4210050"/>
            <a:ext cx="10553700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 b="1">
                <a:solidFill>
                  <a:srgbClr val="67E8F9"/>
                </a:solidFill>
                <a:latin typeface="Microsoft YaHei"/>
                <a:ea typeface="Microsoft YaHei"/>
              </a:rPr>
              <a:t>核心思想：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把</a:t>
            </a:r>
            <a:r>
              <a:rPr lang="zh-CN" sz="1275" b="1">
                <a:solidFill>
                  <a:srgbClr val="67E8F9"/>
                </a:solidFill>
                <a:latin typeface="Microsoft YaHei"/>
                <a:ea typeface="Microsoft YaHei"/>
              </a:rPr>
              <a:t>范围（做了什么）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、</a:t>
            </a:r>
            <a:r>
              <a:rPr lang="zh-CN" sz="1275" b="1">
                <a:solidFill>
                  <a:srgbClr val="67E8F9"/>
                </a:solidFill>
                <a:latin typeface="Microsoft YaHei"/>
                <a:ea typeface="Microsoft YaHei"/>
              </a:rPr>
              <a:t>进度（该做多少）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、</a:t>
            </a:r>
            <a:r>
              <a:rPr lang="zh-CN" sz="1275" b="1">
                <a:solidFill>
                  <a:srgbClr val="67E8F9"/>
                </a:solidFill>
                <a:latin typeface="Microsoft YaHei"/>
                <a:ea typeface="Microsoft YaHei"/>
              </a:rPr>
              <a:t>成本（花了多少）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统一换算成货币，才能在同一维度比较偏差。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03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进度监控与挣值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29 / 45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98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EVM 偏差与绩效指标&lt;/Text&gt;&#13;&#10;&#13;&#10;    &lt;/Box&gt;&#13;&#10;    &lt;Box style={{ flex: 1, flexDirection: 'column', justifyContent: 'center', gap: 16 }}&gt;&#13;&#10;&#13;&#10;        &lt;Box style={{ flexDirection: 'row', gap: 16 }}&gt;&#13;&#10;            &lt;Box style={{ flex: 1, flexDirection: 'column', gap: 12, justifyContent: 'center' }}&gt;&#13;&#10;                &lt;Box style={{ background: '#111B2E', borderRadius: 10, padding: '13px 18px', borderLeft: '4px solid #3B82F6' }}&gt;&lt;Text style={{ fontSize: 18, color: '#E2E8F0' }}&gt;&lt;span style={{ fontWeight: 'bold', color: '#93C5FD' }}&gt;SV = EV − PV&lt;/span&gt;　进度偏差（&amp;gt;0 超前）&lt;/Text&gt;&lt;/Box&gt;&#13;&#10;                &lt;Box style={{ background: '#111B2E', borderRadius: 10, padding: '13px 18px', borderLeft: '4px solid #22D3EE' }}&gt;&lt;Text style={{ fontSize: 18, color: '#E2E8F0' }}&gt;&lt;span style={{ fontWeight: 'bold', color: '#67E8F9' }}&gt;CV = EV − AC&lt;/span&gt;　成本偏差（&amp;gt;0 节约）&lt;/Text&gt;&lt;/Box&gt;&#13;&#10;                &lt;Box style={{ background: '#111B2E', borderRadius: 10, padding: '13px 18px', borderLeft: '4px solid #8B5CF6' }}&gt;&lt;Text style={{ fontSize: 18, color: '#E2E8F0' }}&gt;&lt;span style={{ fontWeight: 'bold', color: '#C4B5FD' }}&gt;SPI = EV / PV&lt;/span&gt;　进度绩效（&amp;gt;1 超前）&lt;/Text&gt;&lt;/Box&gt;&#13;&#10;                &lt;Box style={{ background: '#111B2E', borderRadius: 10, padding: '13px 18px', borderLeft: '4px solid #F59E0B' }}&gt;&lt;Text style={{ fontSize: 18, color: '#E2E8F0' }}&gt;&lt;span style={{ fontWeight: 'bold', color: '#FBBF24' }}&gt;CPI = EV / AC&lt;/span&gt;　成本绩效（&amp;gt;1 节约）&lt;/Text&gt;&lt;/Box&gt;&#13;&#10;            &lt;/Box&gt;&#13;&#10;            &lt;Box style={{ flex: 1, justifyContent: 'center', alignItems: 'center' }}&gt;&#13;&#10;                &lt;svg width={460} height={340} viewBox='0 0 460 340'&gt;&#13;&#10;                    &lt;line x1='50' y1='290' x2='430' y2='290' stroke='#334155' strokeWidth='2'/&gt;&#13;&#10;                    &lt;line x1='50' y1='290' x2='50' y2='30' stroke='#334155' strokeWidth='2'/&gt;&#13;&#10;                    &lt;path d='M50,260 Q130,200 250,130 T430,40' fill='none' stroke='#3B82F6' strokeWidth='3'/&gt;&#13;&#10;                    &lt;path d='M50,265 Q140,215 250,140 T430,60' fill='none' stroke='#22D3EE' strokeWidth='3'/&gt;&#13;&#10;                    &lt;path d='M50,255 Q130,190 240,120 T420,45' fill='none' stroke='#8B5CF6' strokeWidth='3'/&gt;&#13;&#10;                    &lt;line x1='250' y1='30' x2='250' y2='290' stroke='#F59E0B' strokeWidth='2' strokeDasharray='4'/&gt;&#13;&#10;                    &lt;text x='430' y='45' fill='#3B82F6' fontSize='14'&gt;PV&lt;/text&gt;&#13;&#10;                    &lt;text x='430' y='65' fill='#22D3EE' fontSize='14'&gt;EV&lt;/text&gt;&#13;&#10;                    &lt;text x='430' y='55' fill='#8B5CF6' fontSize='14'&gt;AC&lt;/text&gt;&#13;&#10;                    &lt;text x='250' y='310' textAnchor='middle' fill='#FBBF24' fontSize='13'&gt;当前时点&lt;/text&gt;&#13;&#10;                    &lt;text x='50' y='312' textAnchor='middle' fill='#64748B' fontSize='13'&gt;时间&lt;/text&gt;&#13;&#10;                &lt;/svg&gt;&#13;&#10;            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3 进度监控与挣值&lt;/Text&gt;&#13;&#10;        &lt;Text style={{ fontSize: 15, color: '#94A3B8' }}&gt;30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400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3114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2E8F0"/>
                </a:solidFill>
                <a:latin typeface="Microsoft YaHei"/>
                <a:ea typeface="Microsoft YaHei"/>
              </a:rPr>
              <a:t xml:space="preserve">EVM </a:t>
            </a: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偏差与绩效指标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647700" y="2552700"/>
            <a:ext cx="5410200" cy="457200"/>
          </a:xfrm>
          <a:prstGeom prst="roundRect">
            <a:avLst>
              <a:gd name="adj" fmla="val 2083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403" name=""/>
          <p:cNvSpPr/>
          <p:nvPr/>
        </p:nvSpPr>
        <p:spPr>
          <a:xfrm rot="0" flipH="0" flipV="0">
            <a:off x="647700" y="2552700"/>
            <a:ext cx="5410200" cy="457200"/>
          </a:xfrm>
          <a:custGeom>
            <a:pathLst>
              <a:path w="568" h="4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2"/>
                </a:lnTo>
                <a:cubicBezTo>
                  <a:pt x="4" y="45"/>
                  <a:pt x="6" y="47"/>
                  <a:pt x="9" y="48"/>
                </a:cubicBezTo>
                <a:cubicBezTo>
                  <a:pt x="4" y="47"/>
                  <a:pt x="0" y="43"/>
                  <a:pt x="0" y="3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819150" y="2676525"/>
            <a:ext cx="5029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93C5FD"/>
                </a:solidFill>
                <a:latin typeface="Microsoft YaHei"/>
                <a:ea typeface="Microsoft YaHei"/>
              </a:rPr>
              <a:t>SV = EV − PV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　进度偏差（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&gt;0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超前）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647700" y="3124200"/>
            <a:ext cx="5410200" cy="457200"/>
          </a:xfrm>
          <a:prstGeom prst="roundRect">
            <a:avLst>
              <a:gd name="adj" fmla="val 2083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406" name=""/>
          <p:cNvSpPr/>
          <p:nvPr/>
        </p:nvSpPr>
        <p:spPr>
          <a:xfrm rot="0" flipH="0" flipV="0">
            <a:off x="647700" y="3124200"/>
            <a:ext cx="5410200" cy="457200"/>
          </a:xfrm>
          <a:custGeom>
            <a:pathLst>
              <a:path w="568" h="4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2"/>
                </a:lnTo>
                <a:cubicBezTo>
                  <a:pt x="4" y="45"/>
                  <a:pt x="6" y="47"/>
                  <a:pt x="9" y="48"/>
                </a:cubicBezTo>
                <a:cubicBezTo>
                  <a:pt x="4" y="47"/>
                  <a:pt x="0" y="43"/>
                  <a:pt x="0" y="3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819150" y="3248025"/>
            <a:ext cx="5029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67E8F9"/>
                </a:solidFill>
                <a:latin typeface="Microsoft YaHei"/>
                <a:ea typeface="Microsoft YaHei"/>
              </a:rPr>
              <a:t>CV = EV − AC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　成本偏差（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&gt;0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节约）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647700" y="3695700"/>
            <a:ext cx="5410200" cy="457200"/>
          </a:xfrm>
          <a:prstGeom prst="roundRect">
            <a:avLst>
              <a:gd name="adj" fmla="val 2083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409" name=""/>
          <p:cNvSpPr/>
          <p:nvPr/>
        </p:nvSpPr>
        <p:spPr>
          <a:xfrm rot="0" flipH="0" flipV="0">
            <a:off x="647700" y="3695700"/>
            <a:ext cx="5410200" cy="457200"/>
          </a:xfrm>
          <a:custGeom>
            <a:pathLst>
              <a:path w="568" h="4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2"/>
                </a:lnTo>
                <a:cubicBezTo>
                  <a:pt x="4" y="45"/>
                  <a:pt x="6" y="47"/>
                  <a:pt x="9" y="48"/>
                </a:cubicBezTo>
                <a:cubicBezTo>
                  <a:pt x="4" y="47"/>
                  <a:pt x="0" y="43"/>
                  <a:pt x="0" y="3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819150" y="3819525"/>
            <a:ext cx="5029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4B5FD"/>
                </a:solidFill>
                <a:latin typeface="Microsoft YaHei"/>
                <a:ea typeface="Microsoft YaHei"/>
              </a:rPr>
              <a:t>SPI = EV / PV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　进度绩效（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&gt;1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超前）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647700" y="4267200"/>
            <a:ext cx="5410200" cy="457200"/>
          </a:xfrm>
          <a:prstGeom prst="roundRect">
            <a:avLst>
              <a:gd name="adj" fmla="val 2083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412" name=""/>
          <p:cNvSpPr/>
          <p:nvPr/>
        </p:nvSpPr>
        <p:spPr>
          <a:xfrm rot="0" flipH="0" flipV="0">
            <a:off x="647700" y="4267200"/>
            <a:ext cx="5410200" cy="457200"/>
          </a:xfrm>
          <a:custGeom>
            <a:pathLst>
              <a:path w="568" h="48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42"/>
                </a:lnTo>
                <a:cubicBezTo>
                  <a:pt x="4" y="45"/>
                  <a:pt x="6" y="47"/>
                  <a:pt x="9" y="48"/>
                </a:cubicBezTo>
                <a:cubicBezTo>
                  <a:pt x="4" y="47"/>
                  <a:pt x="0" y="43"/>
                  <a:pt x="0" y="38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819150" y="4391025"/>
            <a:ext cx="5029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BBF24"/>
                </a:solidFill>
                <a:latin typeface="Microsoft YaHei"/>
                <a:ea typeface="Microsoft YaHei"/>
              </a:rPr>
              <a:t>CPI = EV / AC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　成本绩效（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&gt;1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节约）</a:t>
            </a:r>
            <a:endParaRPr/>
          </a:p>
        </p:txBody>
      </p:sp>
      <p:pic>
        <p:nvPicPr>
          <p:cNvPr id="4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86550" y="2019300"/>
            <a:ext cx="4381500" cy="3238500"/>
          </a:xfrm>
          <a:prstGeom prst="rect">
            <a:avLst/>
          </a:prstGeom>
          <a:ln/>
        </p:spPr>
      </p:pic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03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进度监控与挣值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30 / 45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417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EVM 应用：十大课题示例&lt;/Text&gt;&#13;&#10;&#13;&#10;    &lt;/Box&gt;&#13;&#10;    &lt;Box style={{ flex: 1, flexDirection: 'column', justifyContent: 'center', gap: 16 }}&gt;&#13;&#10;&#13;&#10;        &lt;Box style={{ background: '#111B2E', borderRadius: 12, padding: '18px 24px', border: '1px solid rgba(59,130,246,0.3)', marginBottom: 6 }}&gt;&#13;&#10;            &lt;Text style={{ fontSize: 18, color: '#E2E8F0', lineHeight: 1.8 }}&gt;&lt;span style={{ fontWeight: 'bold', color: '#93C5FD' }}&gt;场景：&lt;/span&gt;「产业图谱构建」第 3 周末，预算 30 万元（BAC），计划完成 60%（PV=18 万），实际完成 50%（EV=15 万），实际花费 17 万（AC=17 万）。&lt;/Text&gt;&#13;&#10;        &lt;/Box&gt;&#13;&#10;        &lt;Box style={{ flexDirection: 'row', gap: 14 }}&gt;&#13;&#10;            &lt;Box style={{ flex: 1, background: 'rgba(34,211,238,0.08)', borderRadius: 12, padding: '15px 20px', border: '1px solid rgba(34,211,238,0.3)' }}&gt;&#13;&#10;                &lt;Text style={{ fontSize: 17, color: '#E2E8F0', lineHeight: 1.75 }}&gt;SV = 15−18 = &lt;span style={{ fontWeight: 'bold', color: '#FBBF24' }}&gt;−3 万（进度落后）&lt;/span&gt;&lt;br/&gt;SPI = 15/18 = &lt;span style={{ fontWeight: 'bold', color: '#FBBF24' }}&gt;0.83&lt;/span&gt;&lt;/Text&gt;&#13;&#10;            &lt;/Box&gt;&#13;&#10;            &lt;Box style={{ flex: 1, background: 'rgba(139,92,246,0.08)', borderRadius: 12, padding: '15px 20px', border: '1px solid rgba(139,92,246,0.35)' }}&gt;&#13;&#10;                &lt;Text style={{ fontSize: 17, color: '#E2E8F0', lineHeight: 1.75 }}&gt;CV = 15−17 = &lt;span style={{ fontWeight: 'bold', color: '#FBBF24' }}&gt;−2 万（成本超支）&lt;/span&gt;&lt;br/&gt;CPI = 15/17 = &lt;span style={{ fontWeight: 'bold', color: '#FBBF24' }}&gt;0.88&lt;/span&gt;&lt;/Text&gt;&#13;&#10;            &lt;/Box&gt;&#13;&#10;        &lt;/Box&gt;&#13;&#10;        &lt;Box style={{ background: 'rgba(139,92,246,0.08)', borderRadius: 12, padding: '14px 22px', border: '1px solid rgba(139,92,246,0.35)' }}&gt;&#13;&#10;            &lt;Text style={{ fontSize: 17, color: '#E2E8F0', lineHeight: 1.6 }}&gt;&lt;span style={{ fontWeight: 'bold', color: '#C4B5FD' }}&gt;判断：&lt;/span&gt;进度落后且成本超支，需在关键路径（实体/关系抽取）上&lt;span style={{ fontWeight: 'bold', color: '#FBBF24' }}&gt;赶工或调整范围&lt;/span&gt;。&lt;/Text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3 进度监控与挣值&lt;/Text&gt;&#13;&#10;        &lt;Text style={{ fontSize: 15, color: '#94A3B8' }}&gt;31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419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37623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2E8F0"/>
                </a:solidFill>
                <a:latin typeface="Microsoft YaHei"/>
                <a:ea typeface="Microsoft YaHei"/>
              </a:rPr>
              <a:t xml:space="preserve">EVM </a:t>
            </a: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应用：十大课题示例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609600" y="2143125"/>
            <a:ext cx="10972800" cy="1085850"/>
          </a:xfrm>
          <a:prstGeom prst="roundRect">
            <a:avLst>
              <a:gd name="adj" fmla="val 10526"/>
            </a:avLst>
          </a:prstGeom>
          <a:solidFill>
            <a:srgbClr val="111B2E"/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838200" y="2314575"/>
            <a:ext cx="1051560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350" b="1">
                <a:solidFill>
                  <a:srgbClr val="93C5FD"/>
                </a:solidFill>
                <a:latin typeface="Microsoft YaHei"/>
                <a:ea typeface="Microsoft YaHei"/>
              </a:rPr>
              <a:t>场景：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「产业图谱构建」第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周末，预算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万元（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BAC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），计划完成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60%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（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PV=18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万），实际完成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50%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（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EV=15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万），实际花费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17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万（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AC=17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万）。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609600" y="3438525"/>
            <a:ext cx="5419725" cy="971550"/>
          </a:xfrm>
          <a:prstGeom prst="roundRect">
            <a:avLst>
              <a:gd name="adj" fmla="val 11765"/>
            </a:avLst>
          </a:prstGeom>
          <a:solidFill>
            <a:srgbClr val="22D3EE">
              <a:alpha val="8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800100" y="3581400"/>
            <a:ext cx="5038725" cy="6858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SV = 15−18 = </a:t>
            </a:r>
            <a:r>
              <a:rPr lang="en-US" sz="1275" b="1">
                <a:solidFill>
                  <a:srgbClr val="FBBF24"/>
                </a:solidFill>
                <a:latin typeface="Microsoft YaHei"/>
                <a:ea typeface="Microsoft YaHei"/>
              </a:rPr>
              <a:t xml:space="preserve">−3 </a:t>
            </a:r>
            <a:r>
              <a:rPr lang="zh-CN" sz="1275" b="1">
                <a:solidFill>
                  <a:srgbClr val="FBBF24"/>
                </a:solidFill>
                <a:latin typeface="Microsoft YaHei"/>
                <a:ea typeface="Microsoft YaHei"/>
              </a:rPr>
              <a:t>万（进度落后）</a:t>
            </a:r>
            <a:endParaRPr/>
          </a:p>
          <a:p>
            <a:pPr>
              <a:lnSpc>
                <a:spcPct val="175000"/>
              </a:lnSpc>
            </a:pP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SPI = 15/18 = </a:t>
            </a:r>
            <a:r>
              <a:rPr lang="en-US" sz="1275" b="1">
                <a:solidFill>
                  <a:srgbClr val="FBBF24"/>
                </a:solidFill>
                <a:latin typeface="Microsoft YaHei"/>
                <a:ea typeface="Microsoft YaHei"/>
              </a:rPr>
              <a:t>0.83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6162675" y="3438525"/>
            <a:ext cx="5419725" cy="971550"/>
          </a:xfrm>
          <a:prstGeom prst="roundRect">
            <a:avLst>
              <a:gd name="adj" fmla="val 11765"/>
            </a:avLst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6353175" y="3581400"/>
            <a:ext cx="5038725" cy="6858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CV = 15−17 = </a:t>
            </a:r>
            <a:r>
              <a:rPr lang="en-US" sz="1275" b="1">
                <a:solidFill>
                  <a:srgbClr val="FBBF24"/>
                </a:solidFill>
                <a:latin typeface="Microsoft YaHei"/>
                <a:ea typeface="Microsoft YaHei"/>
              </a:rPr>
              <a:t xml:space="preserve">−2 </a:t>
            </a:r>
            <a:r>
              <a:rPr lang="zh-CN" sz="1275" b="1">
                <a:solidFill>
                  <a:srgbClr val="FBBF24"/>
                </a:solidFill>
                <a:latin typeface="Microsoft YaHei"/>
                <a:ea typeface="Microsoft YaHei"/>
              </a:rPr>
              <a:t>万（成本超支）</a:t>
            </a:r>
            <a:endParaRPr/>
          </a:p>
          <a:p>
            <a:pPr>
              <a:lnSpc>
                <a:spcPct val="175000"/>
              </a:lnSpc>
            </a:pP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CPI = 15/17 = </a:t>
            </a:r>
            <a:r>
              <a:rPr lang="en-US" sz="1275" b="1">
                <a:solidFill>
                  <a:srgbClr val="FBBF24"/>
                </a:solidFill>
                <a:latin typeface="Microsoft YaHei"/>
                <a:ea typeface="Microsoft YaHei"/>
              </a:rPr>
              <a:t>0.88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609600" y="4562475"/>
            <a:ext cx="10972800" cy="581025"/>
          </a:xfrm>
          <a:prstGeom prst="roundRect">
            <a:avLst>
              <a:gd name="adj" fmla="val 19672"/>
            </a:avLst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819150" y="4695825"/>
            <a:ext cx="105537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 b="1">
                <a:solidFill>
                  <a:srgbClr val="C4B5FD"/>
                </a:solidFill>
                <a:latin typeface="Microsoft YaHei"/>
                <a:ea typeface="Microsoft YaHei"/>
              </a:rPr>
              <a:t>判断：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进度落后且成本超支，需在关键路径（实体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>/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关系抽取）上</a:t>
            </a:r>
            <a:r>
              <a:rPr lang="zh-CN" sz="1275" b="1">
                <a:solidFill>
                  <a:srgbClr val="FBBF24"/>
                </a:solidFill>
                <a:latin typeface="Microsoft YaHei"/>
                <a:ea typeface="Microsoft YaHei"/>
              </a:rPr>
              <a:t>赶工或调整范围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03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进度监控与挣值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31 / 45</a:t>
            </a:r>
            <a:endParaRPr/>
          </a:p>
        </p:txBody>
      </p:sp>
    </p:spTree>
  </p:cSld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431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AI 驱动的进度监控&lt;/Text&gt;&#13;&#10;&#13;&#10;    &lt;/Box&gt;&#13;&#10;    &lt;Box style={{ flex: 1, flexDirection: 'column', justifyContent: 'center', gap: 16 }}&gt;&#13;&#10;&#13;&#10;        &lt;Box style={{ flexDirection: 'row', gap: 16, alignItems: 'stretch' }}&gt;&#13;&#10;            &lt;Box style={{ flex: 1, flexDirection: 'column', gap: 12, justifyContent: 'center' }}&gt;&#13;&#10;                &lt;Box style={{ background: '#111B2E', borderRadius: 12, padding: '15px 20px', borderLeft: '4px solid #3B82F6' }}&gt;&lt;Text style={{ fontSize: 18, color: '#E2E8F0', lineHeight: 1.6 }}&gt;&lt;span style={{ fontWeight: 'bold', color: '#93C5FD' }}&gt;实时遥测：&lt;/span&gt;自动采集提交、构建、测试、缺陷数据&lt;/Text&gt;&lt;/Box&gt;&#13;&#10;                &lt;Box style={{ background: '#111B2E', borderRadius: 12, padding: '15px 20px', borderLeft: '4px solid #22D3EE' }}&gt;&lt;Text style={{ fontSize: 18, color: '#E2E8F0', lineHeight: 1.6 }}&gt;&lt;span style={{ fontWeight: 'bold', color: '#67E8F9' }}&gt;风险预测：&lt;/span&gt;模型标记进度偏差、质量劣化趋势&lt;/Text&gt;&lt;/Box&gt;&#13;&#10;                &lt;Box style={{ background: '#111B2E', borderRadius: 12, padding: '15px 20px', borderLeft: '4px solid #8B5CF6' }}&gt;&lt;Text style={{ fontSize: 18, color: '#E2E8F0', lineHeight: 1.6 }}&gt;&lt;span style={{ fontWeight: 'bold', color: '#C4B5FD' }}&gt;异常驱动干预：&lt;/span&gt;PM 只在模型报警时介入，而非盯报表&lt;/Text&gt;&lt;/Box&gt;&#13;&#10;            &lt;/Box&gt;&#13;&#10;            &lt;Box style={{ flex: 1, background: 'rgba(34,211,238,0.07)', borderRadius: 12, padding: '18px 22px', border: '1px solid rgba(34,211,238,0.3)', justifyContent: 'center' }}&gt;&#13;&#10;                &lt;Text style={{ fontSize: 19, fontWeight: 'bold', color: '#67E8F9', marginBottom: 10 }}&gt;管理模式升级&lt;/Text&gt;&#13;&#10;                &lt;Text style={{ fontSize: 18, color: '#E2E8F0', lineHeight: 1.75 }}&gt;从&lt;span style={{ fontWeight: 'bold', color: '#FBBF24' }}&gt;&quot;人工整理数据&quot;&lt;/span&gt;走向&lt;span style={{ fontWeight: 'bold', color: '#67E8F9' }}&gt;&quot;异常驱动的干预模式&quot;&lt;/span&gt;——项目经理的价值从&quot;算数&quot;转向&quot;判断与决策&quot;。&lt;/Text&gt;&#13;&#10;            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3 进度监控与挣值&lt;/Text&gt;&#13;&#10;        &lt;Text style={{ fontSize: 15, color: '#94A3B8' }}&gt;32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433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27241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2E8F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驱动的进度监控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647700" y="2600325"/>
            <a:ext cx="5410200" cy="619125"/>
          </a:xfrm>
          <a:prstGeom prst="roundRect">
            <a:avLst>
              <a:gd name="adj" fmla="val 18462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436" name=""/>
          <p:cNvSpPr/>
          <p:nvPr/>
        </p:nvSpPr>
        <p:spPr>
          <a:xfrm rot="0" flipH="0" flipV="0">
            <a:off x="647700" y="2600325"/>
            <a:ext cx="5410200" cy="619125"/>
          </a:xfrm>
          <a:custGeom>
            <a:pathLst>
              <a:path w="568" h="6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57"/>
                </a:lnTo>
                <a:cubicBezTo>
                  <a:pt x="4" y="61"/>
                  <a:pt x="7" y="64"/>
                  <a:pt x="10" y="65"/>
                </a:cubicBezTo>
                <a:cubicBezTo>
                  <a:pt x="4" y="64"/>
                  <a:pt x="0" y="59"/>
                  <a:pt x="0" y="5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838200" y="2743200"/>
            <a:ext cx="49911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93C5FD"/>
                </a:solidFill>
                <a:latin typeface="Microsoft YaHei"/>
                <a:ea typeface="Microsoft YaHei"/>
              </a:rPr>
              <a:t>实时遥测：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自动采集提交、构建、测试、缺陷数据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647700" y="3333750"/>
            <a:ext cx="5410200" cy="619125"/>
          </a:xfrm>
          <a:prstGeom prst="roundRect">
            <a:avLst>
              <a:gd name="adj" fmla="val 18462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439" name=""/>
          <p:cNvSpPr/>
          <p:nvPr/>
        </p:nvSpPr>
        <p:spPr>
          <a:xfrm rot="0" flipH="0" flipV="0">
            <a:off x="647700" y="3333750"/>
            <a:ext cx="5410200" cy="619125"/>
          </a:xfrm>
          <a:custGeom>
            <a:pathLst>
              <a:path w="568" h="6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57"/>
                </a:lnTo>
                <a:cubicBezTo>
                  <a:pt x="4" y="61"/>
                  <a:pt x="7" y="64"/>
                  <a:pt x="10" y="65"/>
                </a:cubicBezTo>
                <a:cubicBezTo>
                  <a:pt x="4" y="64"/>
                  <a:pt x="0" y="59"/>
                  <a:pt x="0" y="5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838200" y="3476625"/>
            <a:ext cx="49911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风险预测：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模型标记进度偏差、质量劣化趋势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647700" y="4067175"/>
            <a:ext cx="5410200" cy="619125"/>
          </a:xfrm>
          <a:prstGeom prst="roundRect">
            <a:avLst>
              <a:gd name="adj" fmla="val 18462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647700" y="4067175"/>
            <a:ext cx="5410200" cy="619125"/>
          </a:xfrm>
          <a:custGeom>
            <a:pathLst>
              <a:path w="568" h="6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57"/>
                </a:lnTo>
                <a:cubicBezTo>
                  <a:pt x="4" y="61"/>
                  <a:pt x="7" y="64"/>
                  <a:pt x="10" y="65"/>
                </a:cubicBezTo>
                <a:cubicBezTo>
                  <a:pt x="4" y="64"/>
                  <a:pt x="0" y="59"/>
                  <a:pt x="0" y="5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838200" y="4210050"/>
            <a:ext cx="49911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C4B5FD"/>
                </a:solidFill>
                <a:latin typeface="Microsoft YaHei"/>
                <a:ea typeface="Microsoft YaHei"/>
              </a:rPr>
              <a:t>异常驱动干预：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PM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只在模型报警时介入，而非盯报表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6172200" y="2600325"/>
            <a:ext cx="5410200" cy="2085975"/>
          </a:xfrm>
          <a:prstGeom prst="roundRect">
            <a:avLst>
              <a:gd name="adj" fmla="val 5479"/>
            </a:avLst>
          </a:prstGeom>
          <a:solidFill>
            <a:srgbClr val="22D3EE">
              <a:alpha val="7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6381750" y="3124200"/>
            <a:ext cx="4991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67E8F9"/>
                </a:solidFill>
                <a:latin typeface="Microsoft YaHei"/>
                <a:ea typeface="Microsoft YaHei"/>
              </a:rPr>
              <a:t>管理模式升级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6381750" y="3438525"/>
            <a:ext cx="49911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从</a:t>
            </a:r>
            <a:r>
              <a:rPr lang="en-US" sz="1350" b="1">
                <a:solidFill>
                  <a:srgbClr val="FBBF24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FBBF24"/>
                </a:solidFill>
                <a:latin typeface="Microsoft YaHei"/>
                <a:ea typeface="Microsoft YaHei"/>
              </a:rPr>
              <a:t>人工整理数据</a:t>
            </a:r>
            <a:r>
              <a:rPr lang="en-US" sz="1350" b="1">
                <a:solidFill>
                  <a:srgbClr val="FBBF24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走向</a:t>
            </a:r>
            <a:r>
              <a:rPr lang="en-US" sz="1350" b="1">
                <a:solidFill>
                  <a:srgbClr val="67E8F9"/>
                </a:solidFill>
                <a:latin typeface="Microsoft YaHei"/>
                <a:ea typeface="Microsoft YaHei"/>
              </a:rPr>
              <a:t>"</a:t>
            </a: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异常驱动的干预模式</a:t>
            </a:r>
            <a:r>
              <a:rPr lang="en-US" sz="1350" b="1">
                <a:solidFill>
                  <a:srgbClr val="67E8F9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——项目经理的价值从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算数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转向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判断与决策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03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进度监控与挣值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32 / 45</a:t>
            </a:r>
            <a:endParaRPr/>
          </a:p>
        </p:txBody>
      </p:sp>
    </p:spTree>
  </p:cSld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449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第三章小结：进度监控与挣值&lt;/Text&gt;&#13;&#10;&#13;&#10;    &lt;/Box&gt;&#13;&#10;    &lt;Box style={{ flex: 1, flexDirection: 'column', justifyContent: 'center', gap: 16 }}&gt;&#13;&#10;&#13;&#10;        &lt;Box style={{ flexDirection: 'row', gap: 14 }}&gt;&#13;&#10;            &lt;Box style={{ flex: 1, background: '#111B2E', borderRadius: 12, padding: '16px 20px', borderTop: '3px solid #3B82F6' }}&gt;&lt;Text style={{ fontSize: 18, fontWeight: 'bold', color: '#93C5FD', marginBottom: 6 }}&gt;监控方法&lt;/Text&gt;&lt;Text style={{ fontSize: 15.5, color: '#94A3B8' }}&gt;里程碑 / 燃尽图 / EVM / AI&lt;/Text&gt;&lt;/Box&gt;&#13;&#10;            &lt;Box style={{ flex: 1, background: '#111B2E', borderRadius: 12, padding: '16px 20px', borderTop: '3px solid #22D3EE' }}&gt;&lt;Text style={{ fontSize: 18, fontWeight: 'bold', color: '#67E8F9', marginBottom: 6 }}&gt;EVM 三量&lt;/Text&gt;&lt;Text style={{ fontSize: 15.5, color: '#94A3B8' }}&gt;PV / EV / AC&lt;/Text&gt;&lt;/Box&gt;&#13;&#10;            &lt;Box style={{ flex: 1, background: '#111B2E', borderRadius: 12, padding: '16px 20px', borderTop: '3px solid #8B5CF6' }}&gt;&lt;Text style={{ fontSize: 18, fontWeight: 'bold', color: '#C4B5FD', marginBottom: 6 }}&gt;四个指标&lt;/Text&gt;&lt;Text style={{ fontSize: 15.5, color: '#94A3B8' }}&gt;SV / CV / SPI / CPI&lt;/Text&gt;&lt;/Box&gt;&#13;&#10;            &lt;Box style={{ flex: 1, background: '#111B2E', borderRadius: 12, padding: '16px 20px', borderTop: '3px solid #F59E0B' }}&gt;&lt;Text style={{ fontSize: 18, fontWeight: 'bold', color: '#FBBF24', marginBottom: 6 }}&gt;AI 升级&lt;/Text&gt;&lt;Text style={{ fontSize: 15.5, color: '#94A3B8' }}&gt;遥测 + 预测 + 异常干预&lt;/Text&gt;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3 进度监控与挣值&lt;/Text&gt;&#13;&#10;        &lt;Text style={{ fontSize: 15, color: '#94A3B8' }}&gt;33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451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第三章小结：进度监控与挣值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609600" y="3276600"/>
            <a:ext cx="2647950" cy="781050"/>
          </a:xfrm>
          <a:prstGeom prst="roundRect">
            <a:avLst>
              <a:gd name="adj" fmla="val 14634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454" name=""/>
          <p:cNvSpPr/>
          <p:nvPr/>
        </p:nvSpPr>
        <p:spPr>
          <a:xfrm rot="0" flipH="0" flipV="0">
            <a:off x="609600" y="3276600"/>
            <a:ext cx="2647950" cy="781050"/>
          </a:xfrm>
          <a:custGeom>
            <a:pathLst>
              <a:path w="278" h="82">
                <a:moveTo>
                  <a:pt x="267" y="0"/>
                </a:moveTo>
                <a:cubicBezTo>
                  <a:pt x="272" y="0"/>
                  <a:pt x="277" y="4"/>
                  <a:pt x="278" y="9"/>
                </a:cubicBezTo>
                <a:cubicBezTo>
                  <a:pt x="276" y="6"/>
                  <a:pt x="273" y="3"/>
                  <a:pt x="269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800100" y="3429000"/>
            <a:ext cx="2266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93C5FD"/>
                </a:solidFill>
                <a:latin typeface="Microsoft YaHei"/>
                <a:ea typeface="Microsoft YaHei"/>
              </a:rPr>
              <a:t>监控方法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800100" y="3695700"/>
            <a:ext cx="22669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里程碑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燃尽图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 xml:space="preserve"> / EVM / AI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3390900" y="3276600"/>
            <a:ext cx="2638425" cy="781050"/>
          </a:xfrm>
          <a:prstGeom prst="roundRect">
            <a:avLst>
              <a:gd name="adj" fmla="val 14634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458" name=""/>
          <p:cNvSpPr/>
          <p:nvPr/>
        </p:nvSpPr>
        <p:spPr>
          <a:xfrm rot="0" flipH="0" flipV="0">
            <a:off x="3390900" y="3276600"/>
            <a:ext cx="2638425" cy="781050"/>
          </a:xfrm>
          <a:custGeom>
            <a:pathLst>
              <a:path w="277" h="82">
                <a:moveTo>
                  <a:pt x="266" y="0"/>
                </a:moveTo>
                <a:cubicBezTo>
                  <a:pt x="271" y="0"/>
                  <a:pt x="276" y="4"/>
                  <a:pt x="277" y="9"/>
                </a:cubicBezTo>
                <a:cubicBezTo>
                  <a:pt x="275" y="6"/>
                  <a:pt x="272" y="3"/>
                  <a:pt x="268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5" y="0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3581400" y="3429000"/>
            <a:ext cx="2257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67E8F9"/>
                </a:solidFill>
                <a:latin typeface="Microsoft YaHei"/>
                <a:ea typeface="Microsoft YaHei"/>
              </a:rPr>
              <a:t xml:space="preserve">EVM </a:t>
            </a: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三量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3581400" y="3695700"/>
            <a:ext cx="22574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>PV / EV / AC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6162675" y="3276600"/>
            <a:ext cx="2647950" cy="781050"/>
          </a:xfrm>
          <a:prstGeom prst="roundRect">
            <a:avLst>
              <a:gd name="adj" fmla="val 14634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462" name=""/>
          <p:cNvSpPr/>
          <p:nvPr/>
        </p:nvSpPr>
        <p:spPr>
          <a:xfrm rot="0" flipH="0" flipV="0">
            <a:off x="6162675" y="3276600"/>
            <a:ext cx="2647950" cy="781050"/>
          </a:xfrm>
          <a:custGeom>
            <a:pathLst>
              <a:path w="278" h="82">
                <a:moveTo>
                  <a:pt x="267" y="0"/>
                </a:moveTo>
                <a:cubicBezTo>
                  <a:pt x="272" y="0"/>
                  <a:pt x="277" y="4"/>
                  <a:pt x="278" y="9"/>
                </a:cubicBezTo>
                <a:cubicBezTo>
                  <a:pt x="276" y="6"/>
                  <a:pt x="273" y="3"/>
                  <a:pt x="269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6353175" y="3429000"/>
            <a:ext cx="2266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4B5FD"/>
                </a:solidFill>
                <a:latin typeface="Microsoft YaHei"/>
                <a:ea typeface="Microsoft YaHei"/>
              </a:rPr>
              <a:t>四个指标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6353175" y="3695700"/>
            <a:ext cx="226695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>SV / CV / SPI / CPI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8943975" y="3276600"/>
            <a:ext cx="2638425" cy="781050"/>
          </a:xfrm>
          <a:prstGeom prst="roundRect">
            <a:avLst>
              <a:gd name="adj" fmla="val 14634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466" name=""/>
          <p:cNvSpPr/>
          <p:nvPr/>
        </p:nvSpPr>
        <p:spPr>
          <a:xfrm rot="0" flipH="0" flipV="0">
            <a:off x="8943975" y="3276600"/>
            <a:ext cx="2638425" cy="781050"/>
          </a:xfrm>
          <a:custGeom>
            <a:pathLst>
              <a:path w="277" h="82">
                <a:moveTo>
                  <a:pt x="266" y="0"/>
                </a:moveTo>
                <a:cubicBezTo>
                  <a:pt x="271" y="0"/>
                  <a:pt x="276" y="4"/>
                  <a:pt x="277" y="9"/>
                </a:cubicBezTo>
                <a:cubicBezTo>
                  <a:pt x="275" y="6"/>
                  <a:pt x="272" y="3"/>
                  <a:pt x="268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5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9134475" y="3429000"/>
            <a:ext cx="2257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BBF24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350" b="1">
                <a:solidFill>
                  <a:srgbClr val="FBBF24"/>
                </a:solidFill>
                <a:latin typeface="Microsoft YaHei"/>
                <a:ea typeface="Microsoft YaHei"/>
              </a:rPr>
              <a:t>升级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9134475" y="3695700"/>
            <a:ext cx="2257425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遥测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预测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异常干预</a:t>
            </a:r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03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进度监控与挣值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33 / 45</a:t>
            </a:r>
            <a:endParaRPr/>
          </a:p>
        </p:txBody>
      </p:sp>
    </p:spTree>
  </p:cSld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71" name="" descr="&lt;Slide style={{ width: 1280, height: 720, background: '#0B1220', position: 'relative', overflow: 'hidden' }}&gt;&#13;&#10;    &lt;Image src=&quot;assets/sec_bg.png&quot; style={{ position: 'absolute', top: 0, left: 0, width: 1280, height: 720, objectFit: 'cover', clipPath: 'inset(0 0 11% 0)' }} /&gt;&#13;&#10;    &lt;Box style={{ position: 'absolute', top: 0, left: 0, width: 1280, height: 720, background: 'linear-gradient(180deg, rgba(11,18,32,0.45) 0%, rgba(11,18,32,0.78) 100%)' }} /&gt;&#13;&#10;    &lt;Box style={{ position: 'absolute', left: 96, top: 180 }}&gt;&#13;&#10;        &lt;Text style={{ fontSize: 110, fontWeight: 'bold', color: 'rgba(34,211,238,0.28)' }}&gt;04&lt;/Text&gt;&#13;&#10;        &lt;Text style={{ fontSize: 62, fontWeight: 'bold', color: '#E2E8F0', marginTop: 6 }}&gt;十大课题实践&lt;/Text&gt;&#13;&#10;        &lt;Box style={{ width: 90, height: 5, background: 'linear-gradient(90deg, #22D3EE 0%, #3B82F6 100%)', borderRadius: 3, marginTop: 26 }} /&gt;&#13;&#10;        &lt;Text style={{ fontSize: 20, color: '#94A3B8', marginTop: 26, letterSpacing: 2 }}&gt;Practice · 把估算与进度方法落地到真实课题&lt;/Text&gt;&#13;&#10;    &lt;/Box&gt;&#13;&#10;    &lt;Box style={{ position: 'absolute', right: 96, bottom: 72, flexDirection: 'row', gap: 12, alignItems: 'center' }}&gt;&#13;&#10;        &lt;Box style={{ width: 8, height: 8, borderRadius: 4, background: '#22D3EE' }} /&gt;        &lt;Box style={{ width: 8, height: 8, borderRadius: 4, background: 'rgba(148,163,184,0.35)' }} /&gt;        &lt;Box style={{ width: 8, height: 8, borderRadius: 4, background: 'rgba(148,163,184,0.35)' }} /&gt;        &lt;Box style={{ width: 8, height: 8, borderRadius: 4, background: 'rgba(148,163,184,0.35)' }} /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473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custGeom>
            <a:pathLst>
              <a:path w="1280" h="720">
                <a:moveTo>
                  <a:pt x="0" y="0"/>
                </a:moveTo>
                <a:lnTo>
                  <a:pt x="1280" y="0"/>
                </a:lnTo>
                <a:lnTo>
                  <a:pt x="1280" y="641"/>
                </a:lnTo>
                <a:lnTo>
                  <a:pt x="0" y="641"/>
                </a:lnTo>
                <a:close/>
              </a:path>
            </a:pathLst>
          </a:custGeom>
          <a:ln/>
        </p:spPr>
      </p:pic>
      <p:sp>
        <p:nvSpPr>
          <p:cNvPr id="4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45000"/>
                </a:srgbClr>
              </a:gs>
              <a:gs pos="100000">
                <a:srgbClr val="0B1220">
                  <a:alpha val="78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914400" y="1714500"/>
            <a:ext cx="4229100" cy="1257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0" b="1">
                <a:solidFill>
                  <a:srgbClr val="22D3EE">
                    <a:alpha val="28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914400" y="3028950"/>
            <a:ext cx="422910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E2E8F0"/>
                </a:solidFill>
                <a:latin typeface="Microsoft YaHei"/>
                <a:ea typeface="Microsoft YaHei"/>
              </a:rPr>
              <a:t>十大课题实践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914400" y="3990975"/>
            <a:ext cx="857250" cy="47625"/>
          </a:xfrm>
          <a:prstGeom prst="roundRect">
            <a:avLst>
              <a:gd name="adj" fmla="val 60000"/>
            </a:avLst>
          </a:prstGeom>
          <a:gradFill>
            <a:gsLst>
              <a:gs pos="0">
                <a:srgbClr val="22D3EE"/>
              </a:gs>
              <a:gs pos="100000">
                <a:srgbClr val="3B82F6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914400" y="4286250"/>
            <a:ext cx="4229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94A3B8"/>
                </a:solidFill>
                <a:latin typeface="Microsoft YaHei"/>
                <a:ea typeface="Microsoft YaHei"/>
              </a:rPr>
              <a:t xml:space="preserve">Practice · </a:t>
            </a:r>
            <a:r>
              <a:rPr lang="zh-CN" sz="1500" spc="150">
                <a:solidFill>
                  <a:srgbClr val="94A3B8"/>
                </a:solidFill>
                <a:latin typeface="Microsoft YaHei"/>
                <a:ea typeface="Microsoft YaHei"/>
              </a:rPr>
              <a:t>把估算与进度方法落地到真实课题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10629900" y="6096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  <p:txBody>
          <a:bodyPr/>
          <a:p/>
        </p:txBody>
      </p:sp>
      <p:sp>
        <p:nvSpPr>
          <p:cNvPr id="480" name=""/>
          <p:cNvSpPr/>
          <p:nvPr/>
        </p:nvSpPr>
        <p:spPr>
          <a:xfrm rot="0" flipH="0" flipV="0">
            <a:off x="10820400" y="6096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94A3B8">
              <a:alpha val="35000"/>
            </a:srgbClr>
          </a:solidFill>
          <a:ln/>
        </p:spPr>
        <p:txBody>
          <a:bodyPr/>
          <a:p/>
        </p:txBody>
      </p:sp>
      <p:sp>
        <p:nvSpPr>
          <p:cNvPr id="481" name=""/>
          <p:cNvSpPr/>
          <p:nvPr/>
        </p:nvSpPr>
        <p:spPr>
          <a:xfrm rot="0" flipH="0" flipV="0">
            <a:off x="11010900" y="6096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94A3B8">
              <a:alpha val="35000"/>
            </a:srgbClr>
          </a:solidFill>
          <a:ln/>
        </p:spPr>
        <p:txBody>
          <a:bodyPr/>
          <a:p/>
        </p:txBody>
      </p:sp>
      <p:sp>
        <p:nvSpPr>
          <p:cNvPr id="482" name=""/>
          <p:cNvSpPr/>
          <p:nvPr/>
        </p:nvSpPr>
        <p:spPr>
          <a:xfrm rot="0" flipH="0" flipV="0">
            <a:off x="11201400" y="6096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94A3B8">
              <a:alpha val="35000"/>
            </a:srgbClr>
          </a:solidFill>
          <a:ln/>
        </p:spPr>
        <p:txBody>
          <a:bodyPr/>
          <a:p/>
        </p:txBody>
      </p:sp>
    </p:spTree>
  </p:cSld>
</p:sld>
</file>

<file path=ppt/slides/slide3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83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估算与排程的完整流程&lt;/Text&gt;&#13;&#10;&#13;&#10;    &lt;/Box&gt;&#13;&#10;    &lt;Box style={{ flex: 1, flexDirection: 'column', justifyContent: 'center', gap: 16 }}&gt;&#13;&#10;&#13;&#10;        &lt;Box style={{ justifyContent: 'center', alignItems: 'center' }}&gt;&#13;&#10;            &lt;svg width={920} height={300} viewBox='0 0 920 300'&gt;&#13;&#10;                &lt;rect x='20' y='110' width='130' height='70' rx='10' fill='#111B2E' stroke='#3B82F6' strokeWidth='2'/&gt;&lt;text x='85' y='140' textAnchor='middle' fill='#93C5FD' fontSize='16' fontWeight='bold'&gt;拆解 WBS&lt;/text&gt;&lt;text x='85' y='162' textAnchor='middle' fill='#64748B' fontSize='12'&gt;任务清单&lt;/text&gt;&#13;&#10;                &lt;rect x='200' y='110' width='130' height='70' rx='10' fill='#111B2E' stroke='#22D3EE' strokeWidth='2'/&gt;&lt;text x='265' y='140' textAnchor='middle' fill='#67E8F9' fontSize='16' fontWeight='bold'&gt;估算规模&lt;/text&gt;&lt;text x='265' y='162' textAnchor='middle' fill='#64748B' fontSize='12'&gt;FP/故事点&lt;/text&gt;&#13;&#10;                &lt;rect x='380' y='110' width='130' height='70' rx='10' fill='#111B2E' stroke='#8B5CF6' strokeWidth='2'/&gt;&lt;text x='445' y='140' textAnchor='middle' fill='#C4B5FD' fontSize='16' fontWeight='bold'&gt;估算工期&lt;/text&gt;&lt;text x='445' y='162' textAnchor='middle' fill='#64748B' fontSize='12'&gt;三点估算&lt;/text&gt;&#13;&#10;                &lt;rect x='560' y='110' width='130' height='70' rx='10' fill='#111B2E' stroke='#F59E0B' strokeWidth='2'/&gt;&lt;text x='625' y='140' textAnchor='middle' fill='#FBBF24' fontSize='16' fontWeight='bold'&gt;排序排程&lt;/text&gt;&lt;text x='625' y='162' textAnchor='middle' fill='#64748B' fontSize='12'&gt;网络图&lt;/text&gt;&#13;&#10;                &lt;rect x='740' y='110' width='130' height='70' rx='10' fill='#111B2E' stroke='#34D399' strokeWidth='2'/&gt;&lt;text x='805' y='140' textAnchor='middle' fill='#6EE7B7' fontSize='16' fontWeight='bold'&gt;关键路径&lt;/text&gt;&lt;text x='805' y='162' textAnchor='middle' fill='#64748B' fontSize='12'&gt;CPM 分析&lt;/text&gt;&#13;&#10;                &lt;line x1='150' y1='145' x2='198' y2='145' stroke='#64748B' strokeWidth='2'/&gt;&lt;line x1='330' y1='145' x2='378' y2='145' stroke='#64748B' strokeWidth='2'/&gt;&lt;line x1='510' y1='145' x2='558' y2='145' stroke='#64748B' strokeWidth='2'/&gt;&lt;line x1='690' y1='145' x2='738' y2='145' stroke='#64748B' strokeWidth='2'/&gt;&#13;&#10;                &lt;text x='150' y='135' textAnchor='middle' fill='#64748B' fontSize='20'&gt;→&lt;/text&gt;&lt;text x='330' y='135' textAnchor='middle' fill='#64748B' fontSize='20'&gt;→&lt;/text&gt;&lt;text x='510' y='135' textAnchor='middle' fill='#64748B' fontSize='20'&gt;→&lt;/text&gt;&lt;text x='690' y='135' textAnchor='middle' fill='#64748B' fontSize='20'&gt;→&lt;/text&gt;&#13;&#10;                &lt;rect x='290' y='230' width='340' height='52' rx='10' fill='rgba(139,92,246,0.12)' stroke='#8B5CF6' strokeWidth='1.5'/&gt;&lt;text x='460' y='250' textAnchor='middle' fill='#C4B5FD' fontSize='16' fontWeight='bold'&gt;输出：进度基线 + 甘特图 + 关键路径&lt;/text&gt;&lt;text x='460' y='272' textAnchor='middle' fill='#64748B' fontSize='12'&gt;后续用 EVM 持续监控偏差&lt;/text&gt;&#13;&#10;            &lt;/svg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4 十大课题实践&lt;/Text&gt;&#13;&#10;        &lt;Text style={{ fontSize: 15, color: '#94A3B8' }}&gt;35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485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估算与排程的完整流程</a:t>
            </a:r>
            <a:endParaRPr/>
          </a:p>
        </p:txBody>
      </p:sp>
      <p:pic>
        <p:nvPicPr>
          <p:cNvPr id="4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714500" y="2209800"/>
            <a:ext cx="8763000" cy="2857500"/>
          </a:xfrm>
          <a:prstGeom prst="rect">
            <a:avLst/>
          </a:prstGeom>
          <a:ln/>
        </p:spPr>
      </p:pic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1076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十大课题实践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35 / 45</a:t>
            </a:r>
            <a:endParaRPr/>
          </a:p>
        </p:txBody>
      </p:sp>
    </p:spTree>
  </p:cSld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490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案例：产业图谱系统的估算与排程&lt;/Text&gt;&#13;&#10;&#13;&#10;    &lt;/Box&gt;&#13;&#10;    &lt;Box style={{ flex: 1, flexDirection: 'column', justifyContent: 'center', gap: 16 }}&gt;&#13;&#10;&#13;&#10;        &lt;Box style={{ background: '#111B2E', borderRadius: 12, padding: '16px 22px', border: '1px solid rgba(34,211,238,0.3)', marginBottom: 6 }}&gt;&#13;&#10;            &lt;Text style={{ fontSize: 18, color: '#E2E8F0', lineHeight: 1.7 }}&gt;&lt;span style={{ fontWeight: 'bold', color: '#67E8F9' }}&gt;估算：&lt;/span&gt;按功能点估算约 320 FP，团队 5 人，人月生产率 8 FP/人月 → 工作量约 &lt;span style={{ fontWeight: 'bold', color: '#67E8F9' }}&gt;40 人月&lt;/span&gt;，成本约 80 万元（含 GPU 与模型 API）。&lt;/Text&gt;&#13;&#10;        &lt;/Box&gt;&#13;&#10;        &lt;Box style={{ flexDirection: 'row', gap: 14 }}&gt;&#13;&#10;            &lt;Box style={{ flex: 1, background: 'rgba(34,211,238,0.07)', borderRadius: 12, padding: '15px 20px', border: '1px solid rgba(34,211,238,0.3)' }}&gt;&#13;&#10;                &lt;Text style={{ fontSize: 18, fontWeight: 'bold', color: '#67E8F9', marginBottom: 8 }}&gt;关键路径&lt;/Text&gt;&#13;&#10;                &lt;Text style={{ fontSize: 17, color: '#E2E8F0', lineHeight: 1.8 }}&gt;数据采集 → 实体抽取 → 关系抽取 → 图谱构建 → 可视化，总工期 &lt;span style={{ fontWeight: 'bold', color: '#FBBF24' }}&gt;29 天&lt;/span&gt;&lt;/Text&gt;&#13;&#10;            &lt;/Box&gt;&#13;&#10;            &lt;Box style={{ flex: 1, background: 'rgba(139,92,246,0.08)', borderRadius: 12, padding: '15px 20px', border: '1px solid rgba(139,92,246,0.35)' }}&gt;&#13;&#10;                &lt;Text style={{ fontSize: 18, fontWeight: 'bold', color: '#C4B5FD', marginBottom: 8 }}&gt;风险与缓冲&lt;/Text&gt;&#13;&#10;                &lt;Text style={{ fontSize: 17, color: '#E2E8F0', lineHeight: 1.8 }}&gt;数据质量风险高，加 15% 缓冲 → 承诺工期 &lt;span style={{ fontWeight: 'bold', color: '#C4B5FD' }}&gt;约 33 天&lt;/span&gt;&lt;/Text&gt;&#13;&#10;            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4 十大课题实践&lt;/Text&gt;&#13;&#10;        &lt;Text style={{ fontSize: 15, color: '#94A3B8' }}&gt;36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492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案例：产业图谱系统的估算与排程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609600" y="2571750"/>
            <a:ext cx="10972800" cy="657225"/>
          </a:xfrm>
          <a:prstGeom prst="roundRect">
            <a:avLst>
              <a:gd name="adj" fmla="val 17391"/>
            </a:avLst>
          </a:prstGeom>
          <a:solidFill>
            <a:srgbClr val="111B2E"/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819150" y="2724150"/>
            <a:ext cx="105537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估算：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按功能点估算约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320 FP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，团队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人，人月生产率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8 FP/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人月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工作量约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350" b="1">
                <a:solidFill>
                  <a:srgbClr val="67E8F9"/>
                </a:solidFill>
                <a:latin typeface="Microsoft YaHei"/>
                <a:ea typeface="Microsoft YaHei"/>
              </a:rPr>
              <a:t xml:space="preserve">40 </a:t>
            </a: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人月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，成本约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80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万元（含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GPU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与模型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API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609600" y="3438525"/>
            <a:ext cx="5419725" cy="1276350"/>
          </a:xfrm>
          <a:prstGeom prst="roundRect">
            <a:avLst>
              <a:gd name="adj" fmla="val 8955"/>
            </a:avLst>
          </a:prstGeom>
          <a:solidFill>
            <a:srgbClr val="22D3EE">
              <a:alpha val="7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800100" y="3581400"/>
            <a:ext cx="5038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关键路径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800100" y="3867150"/>
            <a:ext cx="5038725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数据采集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实体抽取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关系抽取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图谱构建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可视化，总工期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275" b="1">
                <a:solidFill>
                  <a:srgbClr val="FBBF24"/>
                </a:solidFill>
                <a:latin typeface="Microsoft YaHei"/>
                <a:ea typeface="Microsoft YaHei"/>
              </a:rPr>
              <a:t xml:space="preserve">29 </a:t>
            </a:r>
            <a:r>
              <a:rPr lang="zh-CN" sz="1275" b="1">
                <a:solidFill>
                  <a:srgbClr val="FBBF24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6162675" y="3438525"/>
            <a:ext cx="5419725" cy="1276350"/>
          </a:xfrm>
          <a:prstGeom prst="roundRect">
            <a:avLst>
              <a:gd name="adj" fmla="val 8955"/>
            </a:avLst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6353175" y="3581400"/>
            <a:ext cx="5038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4B5FD"/>
                </a:solidFill>
                <a:latin typeface="Microsoft YaHei"/>
                <a:ea typeface="Microsoft YaHei"/>
              </a:rPr>
              <a:t>风险与缓冲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6353175" y="3867150"/>
            <a:ext cx="5038725" cy="3524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数据质量风险高，加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15%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缓冲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承诺工期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 b="1">
                <a:solidFill>
                  <a:srgbClr val="C4B5FD"/>
                </a:solidFill>
                <a:latin typeface="Microsoft YaHei"/>
                <a:ea typeface="Microsoft YaHei"/>
              </a:rPr>
              <a:t>约</a:t>
            </a:r>
            <a:r>
              <a:rPr lang="en-US" sz="1275" b="1">
                <a:solidFill>
                  <a:srgbClr val="C4B5FD"/>
                </a:solidFill>
                <a:latin typeface="Microsoft YaHei"/>
                <a:ea typeface="Microsoft YaHei"/>
              </a:rPr>
              <a:t xml:space="preserve"> 33 </a:t>
            </a:r>
            <a:r>
              <a:rPr lang="zh-CN" sz="1275" b="1">
                <a:solidFill>
                  <a:srgbClr val="C4B5FD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1076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十大课题实践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36 / 45</a:t>
            </a:r>
            <a:endParaRPr/>
          </a:p>
        </p:txBody>
      </p:sp>
    </p:spTree>
  </p:cSld>
</p:sld>
</file>

<file path=ppt/slides/slide37.xml><?xml version="1.0" encoding="utf-8"?>
<p:sld xmlns:p="http://schemas.openxmlformats.org/presentationml/2006/main" xmlns:a="http://schemas.openxmlformats.org/drawingml/2006/main">
  <p:cSld>
    <p:spTree>
      <p:nvGrpSpPr>
        <p:cNvPr id="504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案例：链式招商系统的估算与排程&lt;/Text&gt;&#13;&#10;&#13;&#10;    &lt;/Box&gt;&#13;&#10;    &lt;Box style={{ flex: 1, flexDirection: 'column', justifyContent: 'center', gap: 16 }}&gt;&#13;&#10;&#13;&#10;        &lt;Box style={{ background: '#111B2E', borderRadius: 12, padding: '16px 22px', border: '1px solid rgba(139,92,246,0.35)', marginBottom: 6 }}&gt;&#13;&#10;            &lt;Text style={{ fontSize: 18, color: '#E2E8F0', lineHeight: 1.7 }}&gt;&lt;span style={{ fontWeight: 'bold', color: '#C4B5FD' }}&gt;估算：&lt;/span&gt;按用户故事点估算 10 个故事共 55 点，团队速率 15 点/迭代 → &lt;span style={{ fontWeight: 'bold', color: '#C4B5FD' }}&gt;4 个迭代&lt;/span&gt;（每个 2 周），工作量约 8 人月。&lt;/Text&gt;&#13;&#10;        &lt;/Box&gt;&#13;&#10;        &lt;Box style={{ flexDirection: 'row', gap: 14 }}&gt;&#13;&#10;            &lt;Box style={{ flex: 1, background: 'rgba(139,92,246,0.08)', borderRadius: 12, padding: '15px 20px', border: '1px solid rgba(139,92,246,0.35)' }}&gt;&#13;&#10;                &lt;Text style={{ fontSize: 18, fontWeight: 'bold', color: '#C4B5FD', marginBottom: 8 }}&gt;迭代排期&lt;/Text&gt;&#13;&#10;                &lt;Text style={{ fontSize: 17, color: '#E2E8F0', lineHeight: 1.8 }}&gt;迭代1 数据与画像 → 迭代2 匹配算法 → 迭代3 推荐界面 → 迭代4 联调上线&lt;/Text&gt;&#13;&#10;            &lt;/Box&gt;&#13;&#10;            &lt;Box style={{ flex: 1, background: 'rgba(34,211,238,0.07)', borderRadius: 12, padding: '15px 20px', border: '1px solid rgba(34,211,238,0.3)' }}&gt;&#13;&#10;                &lt;Text style={{ fontSize: 18, fontWeight: 'bold', color: '#67E8F9', marginBottom: 8 }}&gt;方法对比&lt;/Text&gt;&#13;&#10;                &lt;Text style={{ fontSize: 17, color: '#E2E8F0', lineHeight: 1.8 }}&gt;应用型课题更适合&lt;span style={{ fontWeight: 'bold', color: '#67E8F9' }}&gt;敏捷迭代 + 故事点&lt;/span&gt;，而非传统功能点&lt;/Text&gt;&#13;&#10;            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4 十大课题实践&lt;/Text&gt;&#13;&#10;        &lt;Text style={{ fontSize: 15, color: '#94A3B8' }}&gt;37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506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案例：链式招商系统的估算与排程</a:t>
            </a:r>
            <a:endParaRPr/>
          </a:p>
        </p:txBody>
      </p:sp>
      <p:sp>
        <p:nvSpPr>
          <p:cNvPr id="508" name=""/>
          <p:cNvSpPr/>
          <p:nvPr/>
        </p:nvSpPr>
        <p:spPr>
          <a:xfrm rot="0" flipH="0" flipV="0">
            <a:off x="609600" y="2571750"/>
            <a:ext cx="10972800" cy="657225"/>
          </a:xfrm>
          <a:prstGeom prst="roundRect">
            <a:avLst>
              <a:gd name="adj" fmla="val 17391"/>
            </a:avLst>
          </a:prstGeom>
          <a:solidFill>
            <a:srgbClr val="111B2E"/>
          </a:solidFill>
          <a:ln w="12700">
            <a:solidFill>
              <a:srgbClr val="8B5CF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819150" y="2724150"/>
            <a:ext cx="105537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 b="1">
                <a:solidFill>
                  <a:srgbClr val="C4B5FD"/>
                </a:solidFill>
                <a:latin typeface="Microsoft YaHei"/>
                <a:ea typeface="Microsoft YaHei"/>
              </a:rPr>
              <a:t>估算：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按用户故事点估算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个故事共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55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点，团队速率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15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点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/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迭代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en-US" sz="1350" b="1">
                <a:solidFill>
                  <a:srgbClr val="C4B5FD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350" b="1">
                <a:solidFill>
                  <a:srgbClr val="C4B5FD"/>
                </a:solidFill>
                <a:latin typeface="Microsoft YaHei"/>
                <a:ea typeface="Microsoft YaHei"/>
              </a:rPr>
              <a:t>个迭代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（每个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周），工作量约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人月。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609600" y="3438525"/>
            <a:ext cx="5419725" cy="1276350"/>
          </a:xfrm>
          <a:prstGeom prst="roundRect">
            <a:avLst>
              <a:gd name="adj" fmla="val 8955"/>
            </a:avLst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800100" y="3581400"/>
            <a:ext cx="5038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4B5FD"/>
                </a:solidFill>
                <a:latin typeface="Microsoft YaHei"/>
                <a:ea typeface="Microsoft YaHei"/>
              </a:rPr>
              <a:t>迭代排期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800100" y="3867150"/>
            <a:ext cx="5038725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迭代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1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数据与画像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迭代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匹配算法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迭代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推荐界面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迭代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联调上线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6162675" y="3438525"/>
            <a:ext cx="5419725" cy="1276350"/>
          </a:xfrm>
          <a:prstGeom prst="roundRect">
            <a:avLst>
              <a:gd name="adj" fmla="val 8955"/>
            </a:avLst>
          </a:prstGeom>
          <a:solidFill>
            <a:srgbClr val="22D3EE">
              <a:alpha val="7000"/>
            </a:srgbClr>
          </a:solidFill>
          <a:ln w="12700">
            <a:solidFill>
              <a:srgbClr val="22D3EE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6353175" y="3581400"/>
            <a:ext cx="5038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方法对比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353175" y="3867150"/>
            <a:ext cx="5038725" cy="3524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应用型课题更适合</a:t>
            </a:r>
            <a:r>
              <a:rPr lang="zh-CN" sz="1275" b="1">
                <a:solidFill>
                  <a:srgbClr val="67E8F9"/>
                </a:solidFill>
                <a:latin typeface="Microsoft YaHei"/>
                <a:ea typeface="Microsoft YaHei"/>
              </a:rPr>
              <a:t>敏捷迭代</a:t>
            </a:r>
            <a:r>
              <a:rPr lang="en-US" sz="1275" b="1">
                <a:solidFill>
                  <a:srgbClr val="67E8F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 b="1">
                <a:solidFill>
                  <a:srgbClr val="67E8F9"/>
                </a:solidFill>
                <a:latin typeface="Microsoft YaHei"/>
                <a:ea typeface="Microsoft YaHei"/>
              </a:rPr>
              <a:t>故事点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，而非传统功能点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1076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十大课题实践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37 / 45</a:t>
            </a:r>
            <a:endParaRPr/>
          </a:p>
        </p:txBody>
      </p:sp>
    </p:spTree>
  </p:cSld>
</p:sld>
</file>

<file path=ppt/slides/slide38.xml><?xml version="1.0" encoding="utf-8"?>
<p:sld xmlns:p="http://schemas.openxmlformats.org/presentationml/2006/main" xmlns:a="http://schemas.openxmlformats.org/drawingml/2006/main">
  <p:cSld>
    <p:spTree>
      <p:nvGrpSpPr>
        <p:cNvPr id="518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实践任务：小组估算与排程&lt;/Text&gt;&#13;&#10;&#13;&#10;    &lt;/Box&gt;&#13;&#10;    &lt;Box style={{ flex: 1, flexDirection: 'column', justifyContent: 'center', gap: 16 }}&gt;&#13;&#10;&#13;&#10;        &lt;Box style={{ flexDirection: 'row', flexWrap: 'wrap', gap: 14 }}&gt;&#13;&#10;            &lt;Box style={{ width: 545, background: '#111B2E', borderRadius: 12, padding: '18px 22px', borderTop: '4px solid #3B82F6' }}&gt;&#13;&#10;                &lt;Text style={{ fontSize: 20, fontWeight: 'bold', color: '#93C5FD', marginBottom: 6 }}&gt;任务一　拆解与估算&lt;/Text&gt;&#13;&#10;                &lt;Text style={{ fontSize: 17, color: '#E2E8F0', lineHeight: 1.65 }}&gt;对所选课题做 WBS 拆解，用&lt;span style={{ fontWeight: 'bold', color: '#93C5FD' }}&gt;故事点或功能点&lt;/span&gt;估算各模块规模与工作量&lt;/Text&gt;&#13;&#10;            &lt;/Box&gt;&#13;&#10;            &lt;Box style={{ width: 545, background: '#111B2E', borderRadius: 12, padding: '18px 22px', borderTop: '4px solid #22D3EE' }}&gt;&#13;&#10;                &lt;Text style={{ fontSize: 20, fontWeight: 'bold', color: '#67E8F9', marginBottom: 6 }}&gt;任务二　排程与关键路径&lt;/Text&gt;&#13;&#10;                &lt;Text style={{ fontSize: 17, color: '#E2E8F0', lineHeight: 1.65 }}&gt;绘制&lt;span style={{ fontWeight: 'bold', color: '#67E8F9' }}&gt;甘特图与网络图&lt;/span&gt;，用 CPM 找出关键路径，输出进度基线&lt;/Text&gt;&#13;&#10;            &lt;/Box&gt;&#13;&#10;            &lt;Box style={{ width: 545, background: '#111B2E', borderRadius: 12, padding: '18px 22px', borderTop: '4px solid #8B5CF6' }}&gt;&#13;&#10;                &lt;Text style={{ fontSize: 20, fontWeight: 'bold', color: '#C4B5FD', marginBottom: 6 }}&gt;任务三　成本与缓冲&lt;/Text&gt;&#13;&#10;                &lt;Text style={{ fontSize: 17, color: '#E2E8F0', lineHeight: 1.65 }}&gt;估算&lt;span style={{ fontWeight: 'bold', color: '#C4B5FD' }}&gt;人力 + 算力 + API 成本&lt;/span&gt;，设定风险缓冲区间&lt;/Text&gt;&#13;&#10;            &lt;/Box&gt;&#13;&#10;            &lt;Box style={{ width: 545, background: '#111B2E', borderRadius: 12, padding: '18px 22px', borderTop: '4px solid #F59E0B' }}&gt;&#13;&#10;                &lt;Text style={{ fontSize: 20, fontWeight: 'bold', color: '#FBBF24', marginBottom: 6 }}&gt;任务四　AI 工具&lt;/Text&gt;&#13;&#10;                &lt;Text style={{ fontSize: 17, color: '#E2E8F0', lineHeight: 1.65 }}&gt;尝试用 AI 工具辅助生成 WBS / 甘特图，记录&lt;span style={{ fontWeight: 'bold', color: '#FBBF24' }}&gt;AI 使用台账&lt;/span&gt;&lt;/Text&gt;&#13;&#10;            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4 十大课题实践&lt;/Text&gt;&#13;&#10;        &lt;Text style={{ fontSize: 15, color: '#94A3B8' }}&gt;38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520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实践任务：小组估算与排程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609600" y="2457450"/>
            <a:ext cx="5191125" cy="1314450"/>
          </a:xfrm>
          <a:prstGeom prst="roundRect">
            <a:avLst>
              <a:gd name="adj" fmla="val 8696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523" name=""/>
          <p:cNvSpPr/>
          <p:nvPr/>
        </p:nvSpPr>
        <p:spPr>
          <a:xfrm rot="0" flipH="0" flipV="0">
            <a:off x="609600" y="2457450"/>
            <a:ext cx="5191125" cy="1314450"/>
          </a:xfrm>
          <a:custGeom>
            <a:pathLst>
              <a:path w="545" h="138">
                <a:moveTo>
                  <a:pt x="534" y="0"/>
                </a:moveTo>
                <a:cubicBezTo>
                  <a:pt x="539" y="0"/>
                  <a:pt x="544" y="4"/>
                  <a:pt x="545" y="10"/>
                </a:cubicBezTo>
                <a:cubicBezTo>
                  <a:pt x="544" y="6"/>
                  <a:pt x="541" y="4"/>
                  <a:pt x="537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533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819150" y="2628900"/>
            <a:ext cx="4772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93C5FD"/>
                </a:solidFill>
                <a:latin typeface="Microsoft YaHei"/>
                <a:ea typeface="Microsoft YaHei"/>
              </a:rPr>
              <a:t>任务一　拆解与估算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819150" y="2914650"/>
            <a:ext cx="477202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对所选课题做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WBS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拆解，用</a:t>
            </a:r>
            <a:r>
              <a:rPr lang="zh-CN" sz="1275" b="1">
                <a:solidFill>
                  <a:srgbClr val="93C5FD"/>
                </a:solidFill>
                <a:latin typeface="Microsoft YaHei"/>
                <a:ea typeface="Microsoft YaHei"/>
              </a:rPr>
              <a:t>故事点或功能点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估算各模块规模与工作量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5934075" y="2457450"/>
            <a:ext cx="5191125" cy="1314450"/>
          </a:xfrm>
          <a:prstGeom prst="roundRect">
            <a:avLst>
              <a:gd name="adj" fmla="val 8696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527" name=""/>
          <p:cNvSpPr/>
          <p:nvPr/>
        </p:nvSpPr>
        <p:spPr>
          <a:xfrm rot="0" flipH="0" flipV="0">
            <a:off x="5934075" y="2457450"/>
            <a:ext cx="5191125" cy="1314450"/>
          </a:xfrm>
          <a:custGeom>
            <a:pathLst>
              <a:path w="545" h="138">
                <a:moveTo>
                  <a:pt x="534" y="0"/>
                </a:moveTo>
                <a:cubicBezTo>
                  <a:pt x="539" y="0"/>
                  <a:pt x="544" y="4"/>
                  <a:pt x="545" y="10"/>
                </a:cubicBezTo>
                <a:cubicBezTo>
                  <a:pt x="544" y="6"/>
                  <a:pt x="541" y="4"/>
                  <a:pt x="537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533" y="0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6143625" y="2628900"/>
            <a:ext cx="4772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67E8F9"/>
                </a:solidFill>
                <a:latin typeface="Microsoft YaHei"/>
                <a:ea typeface="Microsoft YaHei"/>
              </a:rPr>
              <a:t>任务二　排程与关键路径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6143625" y="2914650"/>
            <a:ext cx="4772025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绘制</a:t>
            </a:r>
            <a:r>
              <a:rPr lang="zh-CN" sz="1275" b="1">
                <a:solidFill>
                  <a:srgbClr val="67E8F9"/>
                </a:solidFill>
                <a:latin typeface="Microsoft YaHei"/>
                <a:ea typeface="Microsoft YaHei"/>
              </a:rPr>
              <a:t>甘特图与网络图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，用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CPM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找出关键路径，输出进度基线</a:t>
            </a:r>
            <a:endParaRPr/>
          </a:p>
        </p:txBody>
      </p:sp>
      <p:sp>
        <p:nvSpPr>
          <p:cNvPr id="530" name=""/>
          <p:cNvSpPr/>
          <p:nvPr/>
        </p:nvSpPr>
        <p:spPr>
          <a:xfrm rot="0" flipH="0" flipV="0">
            <a:off x="609600" y="3905250"/>
            <a:ext cx="5191125" cy="990600"/>
          </a:xfrm>
          <a:prstGeom prst="roundRect">
            <a:avLst>
              <a:gd name="adj" fmla="val 11538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531" name=""/>
          <p:cNvSpPr/>
          <p:nvPr/>
        </p:nvSpPr>
        <p:spPr>
          <a:xfrm rot="0" flipH="0" flipV="0">
            <a:off x="609600" y="3905250"/>
            <a:ext cx="5191125" cy="990600"/>
          </a:xfrm>
          <a:custGeom>
            <a:pathLst>
              <a:path w="545" h="104">
                <a:moveTo>
                  <a:pt x="534" y="0"/>
                </a:moveTo>
                <a:cubicBezTo>
                  <a:pt x="539" y="0"/>
                  <a:pt x="544" y="4"/>
                  <a:pt x="545" y="10"/>
                </a:cubicBezTo>
                <a:cubicBezTo>
                  <a:pt x="544" y="6"/>
                  <a:pt x="541" y="4"/>
                  <a:pt x="537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533" y="0"/>
                </a:ln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819150" y="4076700"/>
            <a:ext cx="4772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4B5FD"/>
                </a:solidFill>
                <a:latin typeface="Microsoft YaHei"/>
                <a:ea typeface="Microsoft YaHei"/>
              </a:rPr>
              <a:t>任务三　成本与缓冲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819150" y="4362450"/>
            <a:ext cx="4772025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估算</a:t>
            </a:r>
            <a:r>
              <a:rPr lang="zh-CN" sz="1275" b="1">
                <a:solidFill>
                  <a:srgbClr val="C4B5FD"/>
                </a:solidFill>
                <a:latin typeface="Microsoft YaHei"/>
                <a:ea typeface="Microsoft YaHei"/>
              </a:rPr>
              <a:t>人力</a:t>
            </a:r>
            <a:r>
              <a:rPr lang="en-US" sz="1275" b="1">
                <a:solidFill>
                  <a:srgbClr val="C4B5FD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 b="1">
                <a:solidFill>
                  <a:srgbClr val="C4B5FD"/>
                </a:solidFill>
                <a:latin typeface="Microsoft YaHei"/>
                <a:ea typeface="Microsoft YaHei"/>
              </a:rPr>
              <a:t>算力</a:t>
            </a:r>
            <a:r>
              <a:rPr lang="en-US" sz="1275" b="1">
                <a:solidFill>
                  <a:srgbClr val="C4B5FD"/>
                </a:solidFill>
                <a:latin typeface="Microsoft YaHei"/>
                <a:ea typeface="Microsoft YaHei"/>
              </a:rPr>
              <a:t xml:space="preserve"> + API </a:t>
            </a:r>
            <a:r>
              <a:rPr lang="zh-CN" sz="1275" b="1">
                <a:solidFill>
                  <a:srgbClr val="C4B5FD"/>
                </a:solidFill>
                <a:latin typeface="Microsoft YaHei"/>
                <a:ea typeface="Microsoft YaHei"/>
              </a:rPr>
              <a:t>成本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，设定风险缓冲区间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5934075" y="3905250"/>
            <a:ext cx="5191125" cy="990600"/>
          </a:xfrm>
          <a:prstGeom prst="roundRect">
            <a:avLst>
              <a:gd name="adj" fmla="val 11538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535" name=""/>
          <p:cNvSpPr/>
          <p:nvPr/>
        </p:nvSpPr>
        <p:spPr>
          <a:xfrm rot="0" flipH="0" flipV="0">
            <a:off x="5934075" y="3905250"/>
            <a:ext cx="5191125" cy="990600"/>
          </a:xfrm>
          <a:custGeom>
            <a:pathLst>
              <a:path w="545" h="104">
                <a:moveTo>
                  <a:pt x="534" y="0"/>
                </a:moveTo>
                <a:cubicBezTo>
                  <a:pt x="539" y="0"/>
                  <a:pt x="544" y="4"/>
                  <a:pt x="545" y="10"/>
                </a:cubicBezTo>
                <a:cubicBezTo>
                  <a:pt x="544" y="6"/>
                  <a:pt x="541" y="4"/>
                  <a:pt x="537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533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6143625" y="4076700"/>
            <a:ext cx="4772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BBF24"/>
                </a:solidFill>
                <a:latin typeface="Microsoft YaHei"/>
                <a:ea typeface="Microsoft YaHei"/>
              </a:rPr>
              <a:t>任务四　</a:t>
            </a:r>
            <a:r>
              <a:rPr lang="en-US" sz="1500" b="1">
                <a:solidFill>
                  <a:srgbClr val="FBBF24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500" b="1">
                <a:solidFill>
                  <a:srgbClr val="FBBF24"/>
                </a:solidFill>
                <a:latin typeface="Microsoft YaHei"/>
                <a:ea typeface="Microsoft YaHei"/>
              </a:rPr>
              <a:t>工具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6143625" y="4362450"/>
            <a:ext cx="4772025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尝试用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工具辅助生成</a:t>
            </a: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 WBS /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甘特图，记录</a:t>
            </a:r>
            <a:r>
              <a:rPr lang="en-US" sz="1275" b="1">
                <a:solidFill>
                  <a:srgbClr val="FBBF24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75" b="1">
                <a:solidFill>
                  <a:srgbClr val="FBBF24"/>
                </a:solidFill>
                <a:latin typeface="Microsoft YaHei"/>
                <a:ea typeface="Microsoft YaHei"/>
              </a:rPr>
              <a:t>使用台账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1076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十大课题实践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38 / 45</a:t>
            </a:r>
            <a:endParaRPr/>
          </a:p>
        </p:txBody>
      </p:sp>
    </p:spTree>
  </p:cSld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540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估算与排程的常见错误&lt;/Text&gt;&#13;&#10;&#13;&#10;    &lt;/Box&gt;&#13;&#10;    &lt;Box style={{ flex: 1, flexDirection: 'column', justifyContent: 'center', gap: 16 }}&gt;&#13;&#10;&#13;&#10;        &lt;Box style={{ flexDirection: 'row', flexWrap: 'wrap', gap: 14 }}&gt;&#13;&#10;            &lt;Box style={{ width: 545, background: '#111B2E', borderRadius: 12, padding: '15px 20px', borderLeft: '4px solid #F59E0B' }}&gt;&lt;Text style={{ fontSize: 18, fontWeight: 'bold', color: '#FBBF24' }}&gt;① 乐观偏差&lt;/Text&gt;&lt;Text style={{ fontSize: 16, color: '#94A3B8', lineHeight: 1.55, marginTop: 4 }}&gt;只估顺利情况，忽略风险与返工&lt;/Text&gt;&lt;/Box&gt;&#13;&#10;            &lt;Box style={{ width: 545, background: '#111B2E', borderRadius: 12, padding: '15px 20px', borderLeft: '4px solid #F59E0B' }}&gt;&lt;Text style={{ fontSize: 18, fontWeight: 'bold', color: '#FBBF24' }}&gt;② 忽视依赖&lt;/Text&gt;&lt;Text style={{ fontSize: 16, color: '#94A3B8', lineHeight: 1.55, marginTop: 4 }}&gt;漏掉串行依赖，导致计划无法执行&lt;/Text&gt;&lt;/Box&gt;&#13;&#10;            &lt;Box style={{ width: 545, background: '#111B2E', borderRadius: 12, padding: '15px 20px', borderLeft: '4px solid #F59E0B' }}&gt;&lt;Text style={{ fontSize: 18, fontWeight: 'bold', color: '#FBBF24' }}&gt;③ 无缓冲&lt;/Text&gt;&lt;Text style={{ fontSize: 16, color: '#94A3B8', lineHeight: 1.55, marginTop: 4 }}&gt;估算值直接当承诺，无风险预留&lt;/Text&gt;&lt;/Box&gt;&#13;&#10;            &lt;Box style={{ width: 545, background: '#111B2E', borderRadius: 12, padding: '15px 20px', borderLeft: '4px solid #F59E0B' }}&gt;&lt;Text style={{ fontSize: 18, fontWeight: 'bold', color: '#FBBF24' }}&gt;④ 一次性估算&lt;/Text&gt;&lt;Text style={{ fontSize: 16, color: '#94A3B8', lineHeight: 1.55, marginTop: 4 }}&gt;不随需求澄清滚动细化，误差越滚越大&lt;/Text&gt;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4 十大课题实践&lt;/Text&gt;&#13;&#10;        &lt;Text style={{ fontSize: 15, color: '#94A3B8' }}&gt;39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542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估算与排程的常见错误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647700" y="2752725"/>
            <a:ext cx="5153025" cy="819150"/>
          </a:xfrm>
          <a:prstGeom prst="roundRect">
            <a:avLst>
              <a:gd name="adj" fmla="val 1395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545" name=""/>
          <p:cNvSpPr/>
          <p:nvPr/>
        </p:nvSpPr>
        <p:spPr>
          <a:xfrm rot="0" flipH="0" flipV="0">
            <a:off x="647700" y="2752725"/>
            <a:ext cx="5153025" cy="819150"/>
          </a:xfrm>
          <a:custGeom>
            <a:pathLst>
              <a:path w="541" h="8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78"/>
                </a:lnTo>
                <a:cubicBezTo>
                  <a:pt x="4" y="82"/>
                  <a:pt x="7" y="85"/>
                  <a:pt x="10" y="86"/>
                </a:cubicBezTo>
                <a:cubicBezTo>
                  <a:pt x="4" y="85"/>
                  <a:pt x="0" y="80"/>
                  <a:pt x="0" y="7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838200" y="2895600"/>
            <a:ext cx="4772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BBF24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350" b="1">
                <a:solidFill>
                  <a:srgbClr val="FBBF24"/>
                </a:solidFill>
                <a:latin typeface="Microsoft YaHei"/>
                <a:ea typeface="Microsoft YaHei"/>
              </a:rPr>
              <a:t>乐观偏差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838200" y="3143250"/>
            <a:ext cx="477202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只估顺利情况，忽略风险与返工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5972175" y="2752725"/>
            <a:ext cx="5153025" cy="819150"/>
          </a:xfrm>
          <a:prstGeom prst="roundRect">
            <a:avLst>
              <a:gd name="adj" fmla="val 1395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549" name=""/>
          <p:cNvSpPr/>
          <p:nvPr/>
        </p:nvSpPr>
        <p:spPr>
          <a:xfrm rot="0" flipH="0" flipV="0">
            <a:off x="5972175" y="2752725"/>
            <a:ext cx="5153025" cy="819150"/>
          </a:xfrm>
          <a:custGeom>
            <a:pathLst>
              <a:path w="541" h="8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78"/>
                </a:lnTo>
                <a:cubicBezTo>
                  <a:pt x="4" y="82"/>
                  <a:pt x="7" y="85"/>
                  <a:pt x="10" y="86"/>
                </a:cubicBezTo>
                <a:cubicBezTo>
                  <a:pt x="4" y="85"/>
                  <a:pt x="0" y="80"/>
                  <a:pt x="0" y="7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6162675" y="2895600"/>
            <a:ext cx="4772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BBF24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350" b="1">
                <a:solidFill>
                  <a:srgbClr val="FBBF24"/>
                </a:solidFill>
                <a:latin typeface="Microsoft YaHei"/>
                <a:ea typeface="Microsoft YaHei"/>
              </a:rPr>
              <a:t>忽视依赖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6162675" y="3143250"/>
            <a:ext cx="477202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漏掉串行依赖，导致计划无法执行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647700" y="3705225"/>
            <a:ext cx="5153025" cy="819150"/>
          </a:xfrm>
          <a:prstGeom prst="roundRect">
            <a:avLst>
              <a:gd name="adj" fmla="val 1395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553" name=""/>
          <p:cNvSpPr/>
          <p:nvPr/>
        </p:nvSpPr>
        <p:spPr>
          <a:xfrm rot="0" flipH="0" flipV="0">
            <a:off x="647700" y="3705225"/>
            <a:ext cx="5153025" cy="819150"/>
          </a:xfrm>
          <a:custGeom>
            <a:pathLst>
              <a:path w="541" h="8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78"/>
                </a:lnTo>
                <a:cubicBezTo>
                  <a:pt x="4" y="82"/>
                  <a:pt x="7" y="85"/>
                  <a:pt x="10" y="86"/>
                </a:cubicBezTo>
                <a:cubicBezTo>
                  <a:pt x="4" y="85"/>
                  <a:pt x="0" y="80"/>
                  <a:pt x="0" y="7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838200" y="3848100"/>
            <a:ext cx="4772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BBF24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350" b="1">
                <a:solidFill>
                  <a:srgbClr val="FBBF24"/>
                </a:solidFill>
                <a:latin typeface="Microsoft YaHei"/>
                <a:ea typeface="Microsoft YaHei"/>
              </a:rPr>
              <a:t>无缓冲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838200" y="4095750"/>
            <a:ext cx="477202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估算值直接当承诺，无风险预留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5972175" y="3705225"/>
            <a:ext cx="5153025" cy="819150"/>
          </a:xfrm>
          <a:prstGeom prst="roundRect">
            <a:avLst>
              <a:gd name="adj" fmla="val 13953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557" name=""/>
          <p:cNvSpPr/>
          <p:nvPr/>
        </p:nvSpPr>
        <p:spPr>
          <a:xfrm rot="0" flipH="0" flipV="0">
            <a:off x="5972175" y="3705225"/>
            <a:ext cx="5153025" cy="819150"/>
          </a:xfrm>
          <a:custGeom>
            <a:pathLst>
              <a:path w="541" h="86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78"/>
                </a:lnTo>
                <a:cubicBezTo>
                  <a:pt x="4" y="82"/>
                  <a:pt x="7" y="85"/>
                  <a:pt x="10" y="86"/>
                </a:cubicBezTo>
                <a:cubicBezTo>
                  <a:pt x="4" y="85"/>
                  <a:pt x="0" y="80"/>
                  <a:pt x="0" y="74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6162675" y="3848100"/>
            <a:ext cx="4772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BBF24"/>
                </a:solidFill>
                <a:latin typeface="Microsoft YaHei"/>
                <a:ea typeface="Microsoft YaHei"/>
              </a:rPr>
              <a:t xml:space="preserve">④ </a:t>
            </a:r>
            <a:r>
              <a:rPr lang="zh-CN" sz="1350" b="1">
                <a:solidFill>
                  <a:srgbClr val="FBBF24"/>
                </a:solidFill>
                <a:latin typeface="Microsoft YaHei"/>
                <a:ea typeface="Microsoft YaHei"/>
              </a:rPr>
              <a:t>一次性估算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6162675" y="4095750"/>
            <a:ext cx="4772025" cy="2857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不随需求澄清滚动细化，误差越滚越大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1076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十大课题实践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39 / 45</a:t>
            </a:r>
            <a:endParaRPr/>
          </a:p>
        </p:txBody>
      </p:sp>
    </p:spTree>
  </p:cSld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582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估算与进度的 AI 工具链&lt;/Text&gt;&#13;&#10;&#13;&#10;    &lt;/Box&gt;&#13;&#10;    &lt;Box style={{ flex: 1, flexDirection: 'column', justifyContent: 'center', gap: 16 }}&gt;&#13;&#10;&#13;&#10;        &lt;Box style={{ flexDirection: 'row', gap: 16, alignItems: 'stretch' }}&gt;&#13;&#10;            &lt;Box style={{ flex: 1, flexDirection: 'column', gap: 12, justifyContent: 'center' }}&gt;&#13;&#10;                &lt;Box style={{ background: '#111B2E', borderRadius: 12, padding: '14px 20px', borderLeft: '4px solid #3B82F6' }}&gt;&lt;Text style={{ fontSize: 18, color: '#E2E8F0', lineHeight: 1.6 }}&gt;&lt;span style={{ fontWeight: 'bold', color: '#93C5FD' }}&gt;需求 → WBS：&lt;/span&gt;LLM 读需求文档自动生成工作分解&lt;/Text&gt;&lt;/Box&gt;&#13;&#10;                &lt;Box style={{ background: '#111B2E', borderRadius: 12, padding: '14px 20px', borderLeft: '4px solid #22D3EE' }}&gt;&lt;Text style={{ fontSize: 18, color: '#E2E8F0', lineHeight: 1.6 }}&gt;&lt;span style={{ fontWeight: 'bold', color: '#67E8F9' }}&gt;WBS → 甘特图：&lt;/span&gt;AI 排期工具自动生成时间表&lt;/Text&gt;&lt;/Box&gt;&#13;&#10;                &lt;Box style={{ background: '#111B2E', borderRadius: 12, padding: '14px 20px', borderLeft: '4px solid #8B5CF6' }}&gt;&lt;Text style={{ fontSize: 18, color: '#E2E8F0', lineHeight: 1.6 }}&gt;&lt;span style={{ fontWeight: 'bold', color: '#C4B5FD' }}&gt;监控 → 预警：&lt;/span&gt;可观测平台实时遥测 + 异常报警&lt;/Text&gt;&lt;/Box&gt;&#13;&#10;            &lt;/Box&gt;&#13;&#10;            &lt;Box style={{ flex: 1, background: 'rgba(139,92,246,0.08)', borderRadius: 12, padding: '18px 22px', border: '1px solid rgba(139,92,246,0.35)', justifyContent: 'center' }}&gt;&#13;&#10;                &lt;Text style={{ fontSize: 19, fontWeight: 'bold', color: '#C4B5FD', marginBottom: 10 }}&gt;人的角色不可替代&lt;/Text&gt;&#13;&#10;                &lt;Text style={{ fontSize: 17, color: '#E2E8F0', lineHeight: 1.7 }}&gt;AI 负责&lt;span style={{ fontWeight: 'bold', color: '#67E8F9' }}&gt;生成与计算&lt;/span&gt;，人负责&lt;span style={{ fontWeight: 'bold', color: '#FBBF24' }}&gt;判断、承诺与问责&lt;/span&gt;——估算最终是管理决策，不是算法输出。&lt;/Text&gt;&#13;&#10;            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4 十大课题实践&lt;/Text&gt;&#13;&#10;        &lt;Text style={{ fontSize: 15, color: '#94A3B8' }}&gt;40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584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3467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估算与进度的</a:t>
            </a:r>
            <a:r>
              <a:rPr lang="en-US" sz="2550" b="1">
                <a:solidFill>
                  <a:srgbClr val="E2E8F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工具链</a:t>
            </a:r>
            <a:endParaRPr/>
          </a:p>
        </p:txBody>
      </p:sp>
      <p:sp>
        <p:nvSpPr>
          <p:cNvPr id="586" name=""/>
          <p:cNvSpPr/>
          <p:nvPr/>
        </p:nvSpPr>
        <p:spPr>
          <a:xfrm rot="0" flipH="0" flipV="0">
            <a:off x="647700" y="2628900"/>
            <a:ext cx="5410200" cy="600075"/>
          </a:xfrm>
          <a:prstGeom prst="roundRect">
            <a:avLst>
              <a:gd name="adj" fmla="val 19048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587" name=""/>
          <p:cNvSpPr/>
          <p:nvPr/>
        </p:nvSpPr>
        <p:spPr>
          <a:xfrm rot="0" flipH="0" flipV="0">
            <a:off x="647700" y="2628900"/>
            <a:ext cx="5410200" cy="600075"/>
          </a:xfrm>
          <a:custGeom>
            <a:pathLst>
              <a:path w="568" h="63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55"/>
                </a:lnTo>
                <a:cubicBezTo>
                  <a:pt x="4" y="59"/>
                  <a:pt x="7" y="62"/>
                  <a:pt x="10" y="63"/>
                </a:cubicBezTo>
                <a:cubicBezTo>
                  <a:pt x="4" y="62"/>
                  <a:pt x="0" y="57"/>
                  <a:pt x="0" y="51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838200" y="2762250"/>
            <a:ext cx="49911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93C5FD"/>
                </a:solidFill>
                <a:latin typeface="Microsoft YaHei"/>
                <a:ea typeface="Microsoft YaHei"/>
              </a:rPr>
              <a:t>需求</a:t>
            </a:r>
            <a:r>
              <a:rPr lang="en-US" sz="1350" b="1">
                <a:solidFill>
                  <a:srgbClr val="93C5FD"/>
                </a:solidFill>
                <a:latin typeface="Microsoft YaHei"/>
                <a:ea typeface="Microsoft YaHei"/>
              </a:rPr>
              <a:t xml:space="preserve"> → WBS</a:t>
            </a:r>
            <a:r>
              <a:rPr lang="zh-CN" sz="1350" b="1">
                <a:solidFill>
                  <a:srgbClr val="93C5FD"/>
                </a:solidFill>
                <a:latin typeface="Microsoft YaHei"/>
                <a:ea typeface="Microsoft YaHei"/>
              </a:rPr>
              <a:t>：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LLM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读需求文档自动生成工作分解</a:t>
            </a:r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647700" y="3343275"/>
            <a:ext cx="5410200" cy="600075"/>
          </a:xfrm>
          <a:prstGeom prst="roundRect">
            <a:avLst>
              <a:gd name="adj" fmla="val 19048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590" name=""/>
          <p:cNvSpPr/>
          <p:nvPr/>
        </p:nvSpPr>
        <p:spPr>
          <a:xfrm rot="0" flipH="0" flipV="0">
            <a:off x="647700" y="3343275"/>
            <a:ext cx="5410200" cy="600075"/>
          </a:xfrm>
          <a:custGeom>
            <a:pathLst>
              <a:path w="568" h="63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55"/>
                </a:lnTo>
                <a:cubicBezTo>
                  <a:pt x="4" y="59"/>
                  <a:pt x="7" y="62"/>
                  <a:pt x="10" y="63"/>
                </a:cubicBezTo>
                <a:cubicBezTo>
                  <a:pt x="4" y="62"/>
                  <a:pt x="0" y="57"/>
                  <a:pt x="0" y="51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838200" y="3476625"/>
            <a:ext cx="49911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 b="1">
                <a:solidFill>
                  <a:srgbClr val="67E8F9"/>
                </a:solidFill>
                <a:latin typeface="Microsoft YaHei"/>
                <a:ea typeface="Microsoft YaHei"/>
              </a:rPr>
              <a:t xml:space="preserve">WBS → </a:t>
            </a: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甘特图：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排期工具自动生成时间表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647700" y="4057650"/>
            <a:ext cx="5410200" cy="600075"/>
          </a:xfrm>
          <a:prstGeom prst="roundRect">
            <a:avLst>
              <a:gd name="adj" fmla="val 19048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593" name=""/>
          <p:cNvSpPr/>
          <p:nvPr/>
        </p:nvSpPr>
        <p:spPr>
          <a:xfrm rot="0" flipH="0" flipV="0">
            <a:off x="647700" y="4057650"/>
            <a:ext cx="5410200" cy="600075"/>
          </a:xfrm>
          <a:custGeom>
            <a:pathLst>
              <a:path w="568" h="63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55"/>
                </a:lnTo>
                <a:cubicBezTo>
                  <a:pt x="4" y="59"/>
                  <a:pt x="7" y="62"/>
                  <a:pt x="10" y="63"/>
                </a:cubicBezTo>
                <a:cubicBezTo>
                  <a:pt x="4" y="62"/>
                  <a:pt x="0" y="57"/>
                  <a:pt x="0" y="51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838200" y="4191000"/>
            <a:ext cx="49911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C4B5FD"/>
                </a:solidFill>
                <a:latin typeface="Microsoft YaHei"/>
                <a:ea typeface="Microsoft YaHei"/>
              </a:rPr>
              <a:t>监控</a:t>
            </a:r>
            <a:r>
              <a:rPr lang="en-US" sz="1350" b="1">
                <a:solidFill>
                  <a:srgbClr val="C4B5FD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 b="1">
                <a:solidFill>
                  <a:srgbClr val="C4B5FD"/>
                </a:solidFill>
                <a:latin typeface="Microsoft YaHei"/>
                <a:ea typeface="Microsoft YaHei"/>
              </a:rPr>
              <a:t>预警：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可观测平台实时遥测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异常报警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6172200" y="2628900"/>
            <a:ext cx="5410200" cy="2028825"/>
          </a:xfrm>
          <a:prstGeom prst="roundRect">
            <a:avLst>
              <a:gd name="adj" fmla="val 5634"/>
            </a:avLst>
          </a:prstGeom>
          <a:solidFill>
            <a:srgbClr val="8B5CF6">
              <a:alpha val="8000"/>
            </a:srgbClr>
          </a:solidFill>
          <a:ln w="12700">
            <a:solidFill>
              <a:srgbClr val="8B5CF6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6381750" y="3152775"/>
            <a:ext cx="4991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4B5FD"/>
                </a:solidFill>
                <a:latin typeface="Microsoft YaHei"/>
                <a:ea typeface="Microsoft YaHei"/>
              </a:rPr>
              <a:t>人的角色不可替代</a:t>
            </a:r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6381750" y="3467100"/>
            <a:ext cx="49911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75">
                <a:solidFill>
                  <a:srgbClr val="E2E8F0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负责</a:t>
            </a:r>
            <a:r>
              <a:rPr lang="zh-CN" sz="1275" b="1">
                <a:solidFill>
                  <a:srgbClr val="67E8F9"/>
                </a:solidFill>
                <a:latin typeface="Microsoft YaHei"/>
                <a:ea typeface="Microsoft YaHei"/>
              </a:rPr>
              <a:t>生成与计算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，人负责</a:t>
            </a:r>
            <a:r>
              <a:rPr lang="zh-CN" sz="1275" b="1">
                <a:solidFill>
                  <a:srgbClr val="FBBF24"/>
                </a:solidFill>
                <a:latin typeface="Microsoft YaHei"/>
                <a:ea typeface="Microsoft YaHei"/>
              </a:rPr>
              <a:t>判断、承诺与问责</a:t>
            </a:r>
            <a:r>
              <a:rPr lang="zh-CN" sz="1275">
                <a:solidFill>
                  <a:srgbClr val="E2E8F0"/>
                </a:solidFill>
                <a:latin typeface="Microsoft YaHei"/>
                <a:ea typeface="Microsoft YaHei"/>
              </a:rPr>
              <a:t>——估算最终是管理决策，不是算法输出。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1076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十大课题实践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40 / 45</a:t>
            </a:r>
            <a:endParaRPr/>
          </a:p>
        </p:txBody>
      </p:sp>
    </p:spTree>
  </p:cSld>
</p:sld>
</file>

<file path=ppt/slides/slide41.xml><?xml version="1.0" encoding="utf-8"?>
<p:sld xmlns:p="http://schemas.openxmlformats.org/presentationml/2006/main" xmlns:a="http://schemas.openxmlformats.org/drawingml/2006/main">
  <p:cSld>
    <p:spTree>
      <p:nvGrpSpPr>
        <p:cNvPr id="600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本讲要点回顾&lt;/Text&gt;&#13;&#10;&#13;&#10;    &lt;/Box&gt;&#13;&#10;    &lt;Box style={{ flex: 1, flexDirection: 'column', justifyContent: 'center', gap: 16 }}&gt;&#13;&#10;&#13;&#10;        &lt;Box style={{ flexDirection: 'row', gap: 14 }}&gt;&#13;&#10;            &lt;Box style={{ flex: 1, background: '#111B2E', borderRadius: 12, padding: '16px 20px', borderTop: '3px solid #3B82F6' }}&gt;&lt;Text style={{ fontSize: 18, fontWeight: 'bold', color: '#93C5FD', marginBottom: 6 }}&gt;估算&lt;/Text&gt;&lt;Text style={{ fontSize: 15.5, color: '#94A3B8', lineHeight: 1.55 }}&gt;规模→工作量→成本，四方法+COCOMO+AI&lt;/Text&gt;&lt;/Box&gt;&#13;&#10;            &lt;Box style={{ flex: 1, background: '#111B2E', borderRadius: 12, padding: '16px 20px', borderTop: '3px solid #22D3EE' }}&gt;&lt;Text style={{ fontSize: 18, fontWeight: 'bold', color: '#67E8F9', marginBottom: 6 }}&gt;进度&lt;/Text&gt;&lt;Text style={{ fontSize: 15.5, color: '#94A3B8', lineHeight: 1.55 }}&gt;甘特图/网络图/CPM/PERT/压缩&lt;/Text&gt;&lt;/Box&gt;&#13;&#10;            &lt;Box style={{ flex: 1, background: '#111B2E', borderRadius: 12, padding: '16px 20px', borderTop: '3px solid #8B5CF6' }}&gt;&lt;Text style={{ fontSize: 18, fontWeight: 'bold', color: '#C4B5FD', marginBottom: 6 }}&gt;监控&lt;/Text&gt;&lt;Text style={{ fontSize: 15.5, color: '#94A3B8', lineHeight: 1.55 }}&gt;EVM 挣值 + AI 异常驱动&lt;/Text&gt;&lt;/Box&gt;&#13;&#10;            &lt;Box style={{ flex: 1, background: '#111B2E', borderRadius: 12, padding: '16px 20px', borderTop: '3px solid #F59E0B' }}&gt;&lt;Text style={{ fontSize: 18, fontWeight: 'bold', color: '#FBBF24', marginBottom: 6 }}&gt;实践&lt;/Text&gt;&lt;Text style={{ fontSize: 15.5, color: '#94A3B8', lineHeight: 1.55 }}&gt;十大课题估算排程实战&lt;/Text&gt;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4 十大课题实践&lt;/Text&gt;&#13;&#10;        &lt;Text style={{ fontSize: 15, color: '#94A3B8' }}&gt;41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602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1943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本讲要点回顾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609600" y="3095625"/>
            <a:ext cx="2647950" cy="1152525"/>
          </a:xfrm>
          <a:prstGeom prst="roundRect">
            <a:avLst>
              <a:gd name="adj" fmla="val 9917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605" name=""/>
          <p:cNvSpPr/>
          <p:nvPr/>
        </p:nvSpPr>
        <p:spPr>
          <a:xfrm rot="0" flipH="0" flipV="0">
            <a:off x="609600" y="3095625"/>
            <a:ext cx="2647950" cy="1152525"/>
          </a:xfrm>
          <a:custGeom>
            <a:pathLst>
              <a:path w="278" h="121">
                <a:moveTo>
                  <a:pt x="267" y="0"/>
                </a:moveTo>
                <a:cubicBezTo>
                  <a:pt x="272" y="0"/>
                  <a:pt x="277" y="4"/>
                  <a:pt x="278" y="9"/>
                </a:cubicBezTo>
                <a:cubicBezTo>
                  <a:pt x="276" y="6"/>
                  <a:pt x="273" y="3"/>
                  <a:pt x="269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00100" y="3248025"/>
            <a:ext cx="2266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93C5FD"/>
                </a:solidFill>
                <a:latin typeface="Microsoft YaHei"/>
                <a:ea typeface="Microsoft YaHei"/>
              </a:rPr>
              <a:t>估算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800100" y="3514725"/>
            <a:ext cx="22669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规模→工作量→成本，四方法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>+COCOMO+AI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3390900" y="3095625"/>
            <a:ext cx="2638425" cy="1152525"/>
          </a:xfrm>
          <a:prstGeom prst="roundRect">
            <a:avLst>
              <a:gd name="adj" fmla="val 9917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609" name=""/>
          <p:cNvSpPr/>
          <p:nvPr/>
        </p:nvSpPr>
        <p:spPr>
          <a:xfrm rot="0" flipH="0" flipV="0">
            <a:off x="3390900" y="3095625"/>
            <a:ext cx="2638425" cy="1152525"/>
          </a:xfrm>
          <a:custGeom>
            <a:pathLst>
              <a:path w="277" h="121">
                <a:moveTo>
                  <a:pt x="266" y="0"/>
                </a:moveTo>
                <a:cubicBezTo>
                  <a:pt x="271" y="0"/>
                  <a:pt x="276" y="4"/>
                  <a:pt x="277" y="9"/>
                </a:cubicBezTo>
                <a:cubicBezTo>
                  <a:pt x="275" y="6"/>
                  <a:pt x="272" y="3"/>
                  <a:pt x="268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5" y="0"/>
                </a:ln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3581400" y="3248025"/>
            <a:ext cx="2257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67E8F9"/>
                </a:solidFill>
                <a:latin typeface="Microsoft YaHei"/>
                <a:ea typeface="Microsoft YaHei"/>
              </a:rPr>
              <a:t>进度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3581400" y="3514725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甘特图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>/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网络图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>/CPM/PERT/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压缩</a:t>
            </a:r>
            <a:endParaRPr/>
          </a:p>
        </p:txBody>
      </p:sp>
      <p:sp>
        <p:nvSpPr>
          <p:cNvPr id="612" name=""/>
          <p:cNvSpPr/>
          <p:nvPr/>
        </p:nvSpPr>
        <p:spPr>
          <a:xfrm rot="0" flipH="0" flipV="0">
            <a:off x="6162675" y="3095625"/>
            <a:ext cx="2647950" cy="1152525"/>
          </a:xfrm>
          <a:prstGeom prst="roundRect">
            <a:avLst>
              <a:gd name="adj" fmla="val 9917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613" name=""/>
          <p:cNvSpPr/>
          <p:nvPr/>
        </p:nvSpPr>
        <p:spPr>
          <a:xfrm rot="0" flipH="0" flipV="0">
            <a:off x="6162675" y="3095625"/>
            <a:ext cx="2647950" cy="1152525"/>
          </a:xfrm>
          <a:custGeom>
            <a:pathLst>
              <a:path w="278" h="121">
                <a:moveTo>
                  <a:pt x="267" y="0"/>
                </a:moveTo>
                <a:cubicBezTo>
                  <a:pt x="272" y="0"/>
                  <a:pt x="277" y="4"/>
                  <a:pt x="278" y="9"/>
                </a:cubicBezTo>
                <a:cubicBezTo>
                  <a:pt x="276" y="6"/>
                  <a:pt x="273" y="3"/>
                  <a:pt x="269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6353175" y="3248025"/>
            <a:ext cx="2266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4B5FD"/>
                </a:solidFill>
                <a:latin typeface="Microsoft YaHei"/>
                <a:ea typeface="Microsoft YaHei"/>
              </a:rPr>
              <a:t>监控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6353175" y="3514725"/>
            <a:ext cx="2266950" cy="2762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 xml:space="preserve">EVM 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挣值</a:t>
            </a:r>
            <a:r>
              <a:rPr lang="en-US" sz="1163">
                <a:solidFill>
                  <a:srgbClr val="94A3B8"/>
                </a:solidFill>
                <a:latin typeface="Microsoft YaHei"/>
                <a:ea typeface="Microsoft YaHei"/>
              </a:rPr>
              <a:t xml:space="preserve"> + AI </a:t>
            </a: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异常驱动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8943975" y="3095625"/>
            <a:ext cx="2638425" cy="1152525"/>
          </a:xfrm>
          <a:prstGeom prst="roundRect">
            <a:avLst>
              <a:gd name="adj" fmla="val 9917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617" name=""/>
          <p:cNvSpPr/>
          <p:nvPr/>
        </p:nvSpPr>
        <p:spPr>
          <a:xfrm rot="0" flipH="0" flipV="0">
            <a:off x="8943975" y="3095625"/>
            <a:ext cx="2638425" cy="1152525"/>
          </a:xfrm>
          <a:custGeom>
            <a:pathLst>
              <a:path w="277" h="121">
                <a:moveTo>
                  <a:pt x="266" y="0"/>
                </a:moveTo>
                <a:cubicBezTo>
                  <a:pt x="271" y="0"/>
                  <a:pt x="276" y="4"/>
                  <a:pt x="277" y="9"/>
                </a:cubicBezTo>
                <a:cubicBezTo>
                  <a:pt x="275" y="6"/>
                  <a:pt x="272" y="3"/>
                  <a:pt x="268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5" y="0"/>
                </a:lnTo>
                <a:close/>
              </a:path>
            </a:pathLst>
          </a:custGeom>
          <a:solidFill>
            <a:srgbClr val="F59E0B"/>
          </a:solidFill>
          <a:ln/>
        </p:spPr>
        <p:txBody>
          <a:bodyPr/>
          <a:p/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9134475" y="3248025"/>
            <a:ext cx="2257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BBF24"/>
                </a:solidFill>
                <a:latin typeface="Microsoft YaHei"/>
                <a:ea typeface="Microsoft YaHei"/>
              </a:rPr>
              <a:t>实践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9134475" y="3514725"/>
            <a:ext cx="2257425" cy="2762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63">
                <a:solidFill>
                  <a:srgbClr val="94A3B8"/>
                </a:solidFill>
                <a:latin typeface="Microsoft YaHei"/>
                <a:ea typeface="Microsoft YaHei"/>
              </a:rPr>
              <a:t>十大课题估算排程实战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1076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十大课题实践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41 / 45</a:t>
            </a:r>
            <a:endParaRPr/>
          </a:p>
        </p:txBody>
      </p:sp>
    </p:spTree>
  </p:cSld>
</p:sld>
</file>

<file path=ppt/slides/slide42.xml><?xml version="1.0" encoding="utf-8"?>
<p:sld xmlns:p="http://schemas.openxmlformats.org/presentationml/2006/main" xmlns:a="http://schemas.openxmlformats.org/drawingml/2006/main">
  <p:cSld>
    <p:spTree>
      <p:nvGrpSpPr>
        <p:cNvPr id="622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8B5CF6 0%, #22D3EE 100%)', borderRadius: 3, marginRight: 20 }} /&gt;&#13;&#10;        &lt;Text style={{ fontSize: 34, fontWeight: 'bold', color: '#E2E8F0' }}&gt;思考题&lt;/Text&gt;&#13;&#10;&lt;Text style={{ fontSize: 16, color: '#94A3B8', marginLeft: 18 }}&gt;THINK&lt;/Text&gt;&#13;&#10;    &lt;/Box&gt;&#13;&#10;    &lt;Box style={{ flex: 1, flexDirection: 'column', justifyContent: 'center', gap: 18 }}&gt;&#13;&#10;        &lt;Box style={{ background: '#111B2E', borderRadius: 12, padding: '16px 24px', borderLeft: '4px solid #3B82F6' }}&gt;&#13;&#10;            &lt;Text style={{ fontSize: 18, color: '#E2E8F0', lineHeight: 1.65 }}&gt;&lt;span style={{ fontWeight: 'bold', color: '#93C5FD' }}&gt;Q1&lt;/span&gt;　为你的课题选一个模块，分别用「功能点」和「故事点」估算，体会两种方法的适用场景差异。&lt;/Text&gt;&#13;&#10;        &lt;/Box&gt;&#13;&#10;        &lt;Box style={{ background: '#111B2E', borderRadius: 12, padding: '16px 24px', borderLeft: '4px solid #22D3EE' }}&gt;&#13;&#10;            &lt;Text style={{ fontSize: 18, color: '#E2E8F0', lineHeight: 1.65 }}&gt;&lt;span style={{ fontWeight: 'bold', color: '#93C5FD' }}&gt;Q2&lt;/span&gt;　你的项目关键路径在哪里？如果要压缩 20% 工期，你会选择赶工还是快速跟进，代价是什么？&lt;/Text&gt;&#13;&#10;        &lt;/Box&gt;&#13;&#10;        &lt;Box style={{ background: '#111B2E', borderRadius: 12, padding: '16px 24px', borderLeft: '4px solid #8B5CF6' }}&gt;&#13;&#10;            &lt;Text style={{ fontSize: 18, color: '#E2E8F0', lineHeight: 1.65 }}&gt;&lt;span style={{ fontWeight: 'bold', color: '#93C5FD' }}&gt;Q3&lt;/span&gt;　用 EVM 分析：如果 SPI=0.9、CPI=1.1，你的项目处于什么状态？应如何调整？&lt;/Text&gt;&#13;&#10;        &lt;/Box&gt;&#13;&#10;    &lt;/Box&gt;&#13;&#10;    &lt;Box style={{ height: 40, flexDirection: 'row', justifyContent: 'space-between', alignItems: 'center', marginTop: 16 }}&gt;&#13;&#10;        &lt;Text style={{ fontSize: 15, color: '#94A3B8' }}&gt;04 十大课题实践&lt;/Text&gt;&#13;&#10;        &lt;Text style={{ fontSize: 15, color: '#94A3B8' }}&gt;42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624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B5C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9715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思考题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2000250" y="571500"/>
            <a:ext cx="476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THINK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647700" y="2495550"/>
            <a:ext cx="10972800" cy="647700"/>
          </a:xfrm>
          <a:prstGeom prst="roundRect">
            <a:avLst>
              <a:gd name="adj" fmla="val 17647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628" name=""/>
          <p:cNvSpPr/>
          <p:nvPr/>
        </p:nvSpPr>
        <p:spPr>
          <a:xfrm rot="0" flipH="0" flipV="0">
            <a:off x="647700" y="2495550"/>
            <a:ext cx="10972800" cy="647700"/>
          </a:xfrm>
          <a:custGeom>
            <a:pathLst>
              <a:path w="1152" h="6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60"/>
                </a:lnTo>
                <a:cubicBezTo>
                  <a:pt x="4" y="64"/>
                  <a:pt x="7" y="67"/>
                  <a:pt x="10" y="68"/>
                </a:cubicBezTo>
                <a:cubicBezTo>
                  <a:pt x="4" y="67"/>
                  <a:pt x="0" y="62"/>
                  <a:pt x="0" y="5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876300" y="2647950"/>
            <a:ext cx="10477500" cy="3429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350" b="1">
                <a:solidFill>
                  <a:srgbClr val="93C5FD"/>
                </a:solidFill>
                <a:latin typeface="Microsoft YaHei"/>
                <a:ea typeface="Microsoft YaHei"/>
              </a:rPr>
              <a:t>Q1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　为你的课题选一个模块，分别用「功能点」和「故事点」估算，体会两种方法的适用场景差异。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647700" y="3314700"/>
            <a:ext cx="10972800" cy="647700"/>
          </a:xfrm>
          <a:prstGeom prst="roundRect">
            <a:avLst>
              <a:gd name="adj" fmla="val 17647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631" name=""/>
          <p:cNvSpPr/>
          <p:nvPr/>
        </p:nvSpPr>
        <p:spPr>
          <a:xfrm rot="0" flipH="0" flipV="0">
            <a:off x="647700" y="3314700"/>
            <a:ext cx="10972800" cy="647700"/>
          </a:xfrm>
          <a:custGeom>
            <a:pathLst>
              <a:path w="1152" h="6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60"/>
                </a:lnTo>
                <a:cubicBezTo>
                  <a:pt x="4" y="64"/>
                  <a:pt x="7" y="67"/>
                  <a:pt x="10" y="68"/>
                </a:cubicBezTo>
                <a:cubicBezTo>
                  <a:pt x="4" y="67"/>
                  <a:pt x="0" y="62"/>
                  <a:pt x="0" y="5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22D3EE"/>
          </a:solidFill>
          <a:ln/>
        </p:spPr>
        <p:txBody>
          <a:bodyPr/>
          <a:p/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876300" y="3467100"/>
            <a:ext cx="10477500" cy="3429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350" b="1">
                <a:solidFill>
                  <a:srgbClr val="93C5FD"/>
                </a:solidFill>
                <a:latin typeface="Microsoft YaHei"/>
                <a:ea typeface="Microsoft YaHei"/>
              </a:rPr>
              <a:t>Q2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　你的项目关键路径在哪里？如果要压缩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20%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工期，你会选择赶工还是快速跟进，代价是什么？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647700" y="4133850"/>
            <a:ext cx="10972800" cy="647700"/>
          </a:xfrm>
          <a:prstGeom prst="roundRect">
            <a:avLst>
              <a:gd name="adj" fmla="val 17647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634" name=""/>
          <p:cNvSpPr/>
          <p:nvPr/>
        </p:nvSpPr>
        <p:spPr>
          <a:xfrm rot="0" flipH="0" flipV="0">
            <a:off x="647700" y="4133850"/>
            <a:ext cx="10972800" cy="647700"/>
          </a:xfrm>
          <a:custGeom>
            <a:pathLst>
              <a:path w="1152" h="68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60"/>
                </a:lnTo>
                <a:cubicBezTo>
                  <a:pt x="4" y="64"/>
                  <a:pt x="7" y="67"/>
                  <a:pt x="10" y="68"/>
                </a:cubicBezTo>
                <a:cubicBezTo>
                  <a:pt x="4" y="67"/>
                  <a:pt x="0" y="62"/>
                  <a:pt x="0" y="56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8B5CF6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876300" y="4286250"/>
            <a:ext cx="10477500" cy="3429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350" b="1">
                <a:solidFill>
                  <a:srgbClr val="93C5FD"/>
                </a:solidFill>
                <a:latin typeface="Microsoft YaHei"/>
                <a:ea typeface="Microsoft YaHei"/>
              </a:rPr>
              <a:t>Q3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　用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EVM 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分析：如果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 xml:space="preserve"> SPI=0.9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、</a:t>
            </a:r>
            <a:r>
              <a:rPr lang="en-US" sz="1350">
                <a:solidFill>
                  <a:srgbClr val="E2E8F0"/>
                </a:solidFill>
                <a:latin typeface="Microsoft YaHei"/>
                <a:ea typeface="Microsoft YaHei"/>
              </a:rPr>
              <a:t>CPI=1.1</a:t>
            </a:r>
            <a:r>
              <a:rPr lang="zh-CN" sz="1350">
                <a:solidFill>
                  <a:srgbClr val="E2E8F0"/>
                </a:solidFill>
                <a:latin typeface="Microsoft YaHei"/>
                <a:ea typeface="Microsoft YaHei"/>
              </a:rPr>
              <a:t>，你的项目处于什么状态？应如何调整？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1076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十大课题实践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42 / 45</a:t>
            </a:r>
            <a:endParaRPr/>
          </a:p>
        </p:txBody>
      </p:sp>
    </p:spTree>
  </p:cSld>
</p:sld>
</file>

<file path=ppt/slides/slide43.xml><?xml version="1.0" encoding="utf-8"?>
<p:sld xmlns:p="http://schemas.openxmlformats.org/presentationml/2006/main" xmlns:a="http://schemas.openxmlformats.org/drawingml/2006/main">
  <p:cSld>
    <p:spTree>
      <p:nvGrpSpPr>
        <p:cNvPr id="638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8B5CF6 0%, #22D3EE 100%)', borderRadius: 3, marginRight: 20 }} /&gt;&#13;&#10;        &lt;Text style={{ fontSize: 34, fontWeight: 'bold', color: '#E2E8F0' }}&gt;下讲预告&lt;/Text&gt;&#13;&#10;&lt;Text style={{ fontSize: 16, color: '#94A3B8', marginLeft: 18 }}&gt;NEXT&lt;/Text&gt;&#13;&#10;    &lt;/Box&gt;&#13;&#10;    &lt;Box style={{ flex: 1, flexDirection: 'column', justifyContent: 'center', alignItems: 'center', gap: 18 }}&gt;&#13;&#10;        &lt;Box style={{ width: 120, height: 120, borderRadius: 60, background: 'rgba(139,92,246,0.15)', border: '2px solid #8B5CF6', alignItems: 'center', justifyContent: 'center' }}&gt;&#13;&#10;            &lt;Text style={{ fontSize: 40, fontWeight: 'bold', color: '#C4B5FD' }}&gt;▶&lt;/Text&gt;&#13;&#10;        &lt;/Box&gt;&#13;&#10;        &lt;Text style={{ fontSize: 30, fontWeight: 'bold', color: '#E2E8F0', marginTop: 8 }}&gt;产品创新管理&lt;/Text&gt;&#13;&#10;        &lt;Text style={{ fontSize: 19, color: '#94A3B8', textAlign: 'center', lineHeight: 1.7 }}&gt;下一讲：创新的概念、机制、战略、组织、流程与文化，结合十大课题的产品形态（4 大底座 + 6 大应用）&lt;/Text&gt;&#13;&#10;    &lt;/Box&gt;&#13;&#10;    &lt;Box style={{ height: 40, flexDirection: 'row', justifyContent: 'space-between', alignItems: 'center', marginTop: 16 }}&gt;&#13;&#10;        &lt;Text style={{ fontSize: 15, color: '#94A3B8' }}&gt;04 十大课题实践&lt;/Text&gt;&#13;&#10;        &lt;Text style={{ fontSize: 15, color: '#94A3B8' }}&gt;43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640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8B5C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1295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下讲预告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2324100" y="571500"/>
            <a:ext cx="400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NEXT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5524500" y="250507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8B5CF6">
              <a:alpha val="15000"/>
            </a:srgbClr>
          </a:solidFill>
          <a:ln w="25400">
            <a:solidFill>
              <a:srgbClr val="8B5CF6"/>
            </a:solidFill>
            <a:prstDash val="solid"/>
          </a:ln>
        </p:spPr>
        <p:txBody>
          <a:bodyPr/>
          <a:p/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5905500" y="2847975"/>
            <a:ext cx="3810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3000" b="1">
                <a:solidFill>
                  <a:srgbClr val="C4B5FD"/>
                </a:solidFill>
                <a:latin typeface="Microsoft YaHei"/>
                <a:ea typeface="Microsoft YaHei"/>
              </a:rPr>
              <a:t>▶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5238750" y="3895725"/>
            <a:ext cx="1714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E2E8F0"/>
                </a:solidFill>
                <a:latin typeface="Microsoft YaHei"/>
                <a:ea typeface="Microsoft YaHei"/>
              </a:rPr>
              <a:t>产品创新管理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1838325" y="4410075"/>
            <a:ext cx="8524875" cy="371475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425">
                <a:solidFill>
                  <a:srgbClr val="94A3B8"/>
                </a:solidFill>
                <a:latin typeface="Microsoft YaHei"/>
                <a:ea typeface="Microsoft YaHei"/>
              </a:rPr>
              <a:t>下一讲：创新的概念、机制、战略、组织、流程与文化，结合十大课题的产品形态（</a:t>
            </a:r>
            <a:r>
              <a:rPr lang="en-US" sz="1425">
                <a:solidFill>
                  <a:srgbClr val="94A3B8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425">
                <a:solidFill>
                  <a:srgbClr val="94A3B8"/>
                </a:solidFill>
                <a:latin typeface="Microsoft YaHei"/>
                <a:ea typeface="Microsoft YaHei"/>
              </a:rPr>
              <a:t>大底座</a:t>
            </a:r>
            <a:r>
              <a:rPr lang="en-US" sz="1425">
                <a:solidFill>
                  <a:srgbClr val="94A3B8"/>
                </a:solidFill>
                <a:latin typeface="Microsoft YaHei"/>
                <a:ea typeface="Microsoft YaHei"/>
              </a:rPr>
              <a:t xml:space="preserve"> + 6 </a:t>
            </a:r>
            <a:r>
              <a:rPr lang="zh-CN" sz="1425">
                <a:solidFill>
                  <a:srgbClr val="94A3B8"/>
                </a:solidFill>
                <a:latin typeface="Microsoft YaHei"/>
                <a:ea typeface="Microsoft YaHei"/>
              </a:rPr>
              <a:t>大应用）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1076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十大课题实践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43 / 45</a:t>
            </a:r>
            <a:endParaRPr/>
          </a:p>
        </p:txBody>
      </p:sp>
    </p:spTree>
  </p:cSld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49" name="" descr="&lt;Slide style={{ width: 1280, height: 720, background: '#0B1220', position: 'relative', overflow: 'hidden' }}&gt;&#13;&#10;    &lt;Image src=&quot;assets/end_bg.png&quot; style={{ position: 'absolute', top: 0, left: 0, width: 1280, height: 720, objectFit: 'cover', clipPath: 'inset(0 0 11% 0)' }} /&gt;&#13;&#10;    &lt;Box style={{ position: 'absolute', top: 0, left: 0, width: 1280, height: 720, background: 'linear-gradient(180deg, rgba(11,18,32,0.5) 0%, rgba(11,18,32,0.78) 100%)' }} /&gt;&#13;&#10;    &lt;Box style={{ position: 'absolute', left: 0, top: 250, width: 1280, alignItems: 'center' }}&gt;&#13;&#10;        &lt;Text style={{ fontSize: 72, fontWeight: 'bold', color: '#E2E8F0' }}&gt;谢谢！&lt;/Text&gt;&#13;&#10;        &lt;Text style={{ fontSize: 24, color: '#94A3B8', marginTop: 26, letterSpacing: 2 }}&gt;好的估算与计划，是项目成功的一半&lt;/Text&gt;&#13;&#10;        &lt;Box style={{ width: 70, height: 4, background: 'linear-gradient(90deg, #3B82F6 0%, #22D3EE 100%)', borderRadius: 2, marginTop: 34 }} /&gt;&#13;&#10;        &lt;Text style={{ fontSize: 18, color: '#94A3B8', marginTop: 30 }}&gt;邵健 · 浙江大学计算机科学与技术学院 · jshao@zju.edu.cn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pic>
        <p:nvPicPr>
          <p:cNvPr id="651" name=""/>
          <p:cNvPicPr>
            <a:picLocks noChangeAspect="1"/>
          </p:cNvPicPr>
          <p:nvPr/>
        </p:nvPicPr>
        <p:blipFill>
          <a:blip r:embed="rId1"/>
          <a:srcRect l="0" t="7812" r="0" b="7812"/>
          <a:stretch>
            <a:fillRect/>
          </a:stretch>
        </p:blipFill>
        <p:spPr>
          <a:xfrm rot="0" flipH="0" flipV="0">
            <a:off x="0" y="0"/>
            <a:ext cx="12192000" cy="6858000"/>
          </a:xfrm>
          <a:custGeom>
            <a:pathLst>
              <a:path w="1280" h="720">
                <a:moveTo>
                  <a:pt x="0" y="0"/>
                </a:moveTo>
                <a:lnTo>
                  <a:pt x="1280" y="0"/>
                </a:lnTo>
                <a:lnTo>
                  <a:pt x="1280" y="641"/>
                </a:lnTo>
                <a:lnTo>
                  <a:pt x="0" y="641"/>
                </a:lnTo>
                <a:close/>
              </a:path>
            </a:pathLst>
          </a:custGeom>
          <a:ln/>
        </p:spPr>
      </p:pic>
      <p:sp>
        <p:nvSpPr>
          <p:cNvPr id="6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50000"/>
                </a:srgbClr>
              </a:gs>
              <a:gs pos="100000">
                <a:srgbClr val="0B1220">
                  <a:alpha val="78000"/>
                </a:srgbClr>
              </a:gs>
            </a:gsLst>
            <a:lin ang="5400000" scaled="1"/>
          </a:gradFill>
          <a:ln/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5067300" y="2381250"/>
            <a:ext cx="20574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400" b="1">
                <a:solidFill>
                  <a:srgbClr val="E2E8F0"/>
                </a:solidFill>
                <a:latin typeface="Microsoft YaHei"/>
                <a:ea typeface="Microsoft YaHei"/>
              </a:rPr>
              <a:t>谢谢！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4114800" y="3457575"/>
            <a:ext cx="3962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150">
                <a:solidFill>
                  <a:srgbClr val="94A3B8"/>
                </a:solidFill>
                <a:latin typeface="Microsoft YaHei"/>
                <a:ea typeface="Microsoft YaHei"/>
              </a:rPr>
              <a:t>好的估算与计划，是项目成功的一半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5762625" y="4057650"/>
            <a:ext cx="66675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3867150" y="4381500"/>
            <a:ext cx="4467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邵健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浙江大学计算机科学与技术学院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jshao@zju.edu.cn</a:t>
            </a:r>
            <a:endParaRPr/>
          </a:p>
        </p:txBody>
      </p:sp>
    </p:spTree>
  </p:cSld>
</p:sld>
</file>

<file path=ppt/slides/slide45.xml><?xml version="1.0" encoding="utf-8"?>
<p:sld xmlns:p="http://schemas.openxmlformats.org/presentationml/2006/main" xmlns:a="http://schemas.openxmlformats.org/drawingml/2006/main">
  <p:cSld>
    <p:spTree>
      <p:nvGrpSpPr>
        <p:cNvPr id="657" name="" descr="&lt;Slide style={{ width: 1280, height: 720, background: '#0B1220', padding: '20px 64px', display: 'flex', flexDirection: 'column' }}&gt;&#13;&#10;    &lt;Box style={{ flexDirection: 'row', height: 100, alignItems: 'center' }}&gt;&#13;&#10;        &lt;Box style={{ width: 6, height: 44, background: 'linear-gradient(90deg, #3B82F6 0%, #22D3EE 100%)', borderRadius: 3, marginRight: 20 }} /&gt;&#13;&#10;        &lt;Text style={{ fontSize: 34, fontWeight: 'bold', color: '#E2E8F0' }}&gt;附录：术语速查&lt;/Text&gt;&#13;&#10;&#13;&#10;    &lt;/Box&gt;&#13;&#10;    &lt;Box style={{ flex: 1, flexDirection: 'column', justifyContent: 'center', gap: 16 }}&gt;&#13;&#10;&#13;&#10;        &lt;Box style={{ flexDirection: 'row', flexWrap: 'wrap', gap: 12 }}&gt;&#13;&#10;            &lt;Box style={{ width: 350, background: '#111B2E', borderRadius: 10, padding: '13px 18px' }}&gt;&lt;Text style={{ fontSize: 16, color: '#E2E8F0', lineHeight: 1.6 }}&gt;&lt;span style={{ fontWeight: 'bold', color: '#93C5FD' }}&gt;LOC/FP&lt;/span&gt; — 代码行 / 功能点&lt;/Text&gt;&lt;/Box&gt;&#13;&#10;            &lt;Box style={{ width: 350, background: '#111B2E', borderRadius: 10, padding: '13px 18px' }}&gt;&lt;Text style={{ fontSize: 16, color: '#E2E8F0', lineHeight: 1.6 }}&gt;&lt;span style={{ fontWeight: 'bold', color: '#93C5FD' }}&gt;COCOMO&lt;/span&gt; — 构造性成本模型&lt;/Text&gt;&lt;/Box&gt;&#13;&#10;            &lt;Box style={{ width: 350, background: '#111B2E', borderRadius: 10, padding: '13px 18px' }}&gt;&lt;Text style={{ fontSize: 16, color: '#E2E8F0', lineHeight: 1.6 }}&gt;&lt;span style={{ fontWeight: 'bold', color: '#67E8F9' }}&gt;CPM/PERT&lt;/span&gt; — 关键路径 / 三点估算&lt;/Text&gt;&lt;/Box&gt;&#13;&#10;            &lt;Box style={{ width: 350, background: '#111B2E', borderRadius: 10, padding: '13px 18px' }}&gt;&lt;Text style={{ fontSize: 16, color: '#E2E8F0', lineHeight: 1.6 }}&gt;&lt;span style={{ fontWeight: 'bold', color: '#C4B5FD' }}&gt;EVM&lt;/span&gt; — 挣值管理&lt;/Text&gt;&lt;/Box&gt;&#13;&#10;            &lt;Box style={{ width: 350, background: '#111B2E', borderRadius: 10, padding: '13px 18px' }}&gt;&lt;Text style={{ fontSize: 16, color: '#E2E8F0', lineHeight: 1.6 }}&gt;&lt;span style={{ fontWeight: 'bold', color: '#FBBF24' }}&gt;PV/EV/AC&lt;/span&gt; — 计划价值/挣值/实际成本&lt;/Text&gt;&lt;/Box&gt;&#13;&#10;            &lt;Box style={{ width: 350, background: '#111B2E', borderRadius: 10, padding: '13px 18px' }}&gt;&lt;Text style={{ fontSize: 16, color: '#E2E8F0', lineHeight: 1.6 }}&gt;&lt;span style={{ fontWeight: 'bold', color: '#FBBF24' }}&gt;CPI/SPI&lt;/span&gt; — 成本/进度绩效指数&lt;/Text&gt;&lt;/Box&gt;&#13;&#10;        &lt;/Box&gt;&#13;&#10;&#13;&#10;    &lt;/Box&gt;&#13;&#10;    &lt;Box style={{ height: 40, flexDirection: 'row', justifyContent: 'space-between', alignItems: 'center', marginTop: 16 }}&gt;&#13;&#10;        &lt;Text style={{ fontSize: 15, color: '#94A3B8' }}&gt;04 十大课题实践&lt;/Text&gt;&#13;&#10;        &lt;Text style={{ fontSize: 15, color: '#94A3B8' }}&gt;45 / 45&lt;/Text&gt;&#13;&#10;    &lt;/Box&gt;&#13;&#10;&lt;/Slide&gt;&#13;&#10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/>
        </p:txBody>
      </p:sp>
      <p:sp>
        <p:nvSpPr>
          <p:cNvPr id="659" name=""/>
          <p:cNvSpPr/>
          <p:nvPr/>
        </p:nvSpPr>
        <p:spPr>
          <a:xfrm rot="0" flipH="0" flipV="0">
            <a:off x="609600" y="457200"/>
            <a:ext cx="57150" cy="419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22D3EE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857250" y="47625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Microsoft YaHei"/>
                <a:ea typeface="Microsoft YaHei"/>
              </a:rPr>
              <a:t>附录：术语速查</a:t>
            </a:r>
            <a:endParaRPr/>
          </a:p>
        </p:txBody>
      </p:sp>
      <p:sp>
        <p:nvSpPr>
          <p:cNvPr id="661" name=""/>
          <p:cNvSpPr/>
          <p:nvPr/>
        </p:nvSpPr>
        <p:spPr>
          <a:xfrm rot="0" flipH="0" flipV="0">
            <a:off x="609600" y="3038475"/>
            <a:ext cx="3333750" cy="542925"/>
          </a:xfrm>
          <a:prstGeom prst="roundRect">
            <a:avLst>
              <a:gd name="adj" fmla="val 17544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781050" y="3162300"/>
            <a:ext cx="29908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 b="1">
                <a:solidFill>
                  <a:srgbClr val="93C5FD"/>
                </a:solidFill>
                <a:latin typeface="Microsoft YaHei"/>
                <a:ea typeface="Microsoft YaHei"/>
              </a:rPr>
              <a:t>LOC/FP</a:t>
            </a:r>
            <a:r>
              <a:rPr lang="en-US" sz="1200">
                <a:solidFill>
                  <a:srgbClr val="E2E8F0"/>
                </a:solidFill>
                <a:latin typeface="Microsoft YaHei"/>
                <a:ea typeface="Microsoft YaHei"/>
              </a:rPr>
              <a:t xml:space="preserve"> — </a:t>
            </a: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代码行</a:t>
            </a:r>
            <a:r>
              <a:rPr lang="en-US" sz="1200">
                <a:solidFill>
                  <a:srgbClr val="E2E8F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功能点</a:t>
            </a:r>
            <a:endParaRPr/>
          </a:p>
        </p:txBody>
      </p:sp>
      <p:sp>
        <p:nvSpPr>
          <p:cNvPr id="663" name=""/>
          <p:cNvSpPr/>
          <p:nvPr/>
        </p:nvSpPr>
        <p:spPr>
          <a:xfrm rot="0" flipH="0" flipV="0">
            <a:off x="4057650" y="3038475"/>
            <a:ext cx="3333750" cy="542925"/>
          </a:xfrm>
          <a:prstGeom prst="roundRect">
            <a:avLst>
              <a:gd name="adj" fmla="val 17544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4229100" y="3162300"/>
            <a:ext cx="29908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 b="1">
                <a:solidFill>
                  <a:srgbClr val="93C5FD"/>
                </a:solidFill>
                <a:latin typeface="Microsoft YaHei"/>
                <a:ea typeface="Microsoft YaHei"/>
              </a:rPr>
              <a:t>COCOMO</a:t>
            </a:r>
            <a:r>
              <a:rPr lang="en-US" sz="1200">
                <a:solidFill>
                  <a:srgbClr val="E2E8F0"/>
                </a:solidFill>
                <a:latin typeface="Microsoft YaHei"/>
                <a:ea typeface="Microsoft YaHei"/>
              </a:rPr>
              <a:t xml:space="preserve"> — </a:t>
            </a: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构造性成本模型</a:t>
            </a:r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7505700" y="3038475"/>
            <a:ext cx="3333750" cy="542925"/>
          </a:xfrm>
          <a:prstGeom prst="roundRect">
            <a:avLst>
              <a:gd name="adj" fmla="val 17544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7677150" y="3162300"/>
            <a:ext cx="29908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 b="1">
                <a:solidFill>
                  <a:srgbClr val="67E8F9"/>
                </a:solidFill>
                <a:latin typeface="Microsoft YaHei"/>
                <a:ea typeface="Microsoft YaHei"/>
              </a:rPr>
              <a:t>CPM/PERT</a:t>
            </a:r>
            <a:r>
              <a:rPr lang="en-US" sz="1200">
                <a:solidFill>
                  <a:srgbClr val="E2E8F0"/>
                </a:solidFill>
                <a:latin typeface="Microsoft YaHei"/>
                <a:ea typeface="Microsoft YaHei"/>
              </a:rPr>
              <a:t xml:space="preserve"> — </a:t>
            </a: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关键路径</a:t>
            </a:r>
            <a:r>
              <a:rPr lang="en-US" sz="1200">
                <a:solidFill>
                  <a:srgbClr val="E2E8F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三点估算</a:t>
            </a:r>
            <a:endParaRPr/>
          </a:p>
        </p:txBody>
      </p:sp>
      <p:sp>
        <p:nvSpPr>
          <p:cNvPr id="667" name=""/>
          <p:cNvSpPr/>
          <p:nvPr/>
        </p:nvSpPr>
        <p:spPr>
          <a:xfrm rot="0" flipH="0" flipV="0">
            <a:off x="609600" y="3695700"/>
            <a:ext cx="3333750" cy="542925"/>
          </a:xfrm>
          <a:prstGeom prst="roundRect">
            <a:avLst>
              <a:gd name="adj" fmla="val 17544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781050" y="3819525"/>
            <a:ext cx="29908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 b="1">
                <a:solidFill>
                  <a:srgbClr val="C4B5FD"/>
                </a:solidFill>
                <a:latin typeface="Microsoft YaHei"/>
                <a:ea typeface="Microsoft YaHei"/>
              </a:rPr>
              <a:t>EVM</a:t>
            </a:r>
            <a:r>
              <a:rPr lang="en-US" sz="1200">
                <a:solidFill>
                  <a:srgbClr val="E2E8F0"/>
                </a:solidFill>
                <a:latin typeface="Microsoft YaHei"/>
                <a:ea typeface="Microsoft YaHei"/>
              </a:rPr>
              <a:t xml:space="preserve"> — </a:t>
            </a: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挣值管理</a:t>
            </a:r>
            <a:endParaRPr/>
          </a:p>
        </p:txBody>
      </p:sp>
      <p:sp>
        <p:nvSpPr>
          <p:cNvPr id="669" name=""/>
          <p:cNvSpPr/>
          <p:nvPr/>
        </p:nvSpPr>
        <p:spPr>
          <a:xfrm rot="0" flipH="0" flipV="0">
            <a:off x="4057650" y="3695700"/>
            <a:ext cx="3333750" cy="542925"/>
          </a:xfrm>
          <a:prstGeom prst="roundRect">
            <a:avLst>
              <a:gd name="adj" fmla="val 17544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4229100" y="3819525"/>
            <a:ext cx="29908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 b="1">
                <a:solidFill>
                  <a:srgbClr val="FBBF24"/>
                </a:solidFill>
                <a:latin typeface="Microsoft YaHei"/>
                <a:ea typeface="Microsoft YaHei"/>
              </a:rPr>
              <a:t>PV/EV/AC</a:t>
            </a:r>
            <a:r>
              <a:rPr lang="en-US" sz="1200">
                <a:solidFill>
                  <a:srgbClr val="E2E8F0"/>
                </a:solidFill>
                <a:latin typeface="Microsoft YaHei"/>
                <a:ea typeface="Microsoft YaHei"/>
              </a:rPr>
              <a:t xml:space="preserve"> — </a:t>
            </a: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计划价值</a:t>
            </a:r>
            <a:r>
              <a:rPr lang="en-US" sz="1200">
                <a:solidFill>
                  <a:srgbClr val="E2E8F0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挣值</a:t>
            </a:r>
            <a:r>
              <a:rPr lang="en-US" sz="1200">
                <a:solidFill>
                  <a:srgbClr val="E2E8F0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实际成本</a:t>
            </a:r>
            <a:endParaRPr/>
          </a:p>
        </p:txBody>
      </p:sp>
      <p:sp>
        <p:nvSpPr>
          <p:cNvPr id="671" name=""/>
          <p:cNvSpPr/>
          <p:nvPr/>
        </p:nvSpPr>
        <p:spPr>
          <a:xfrm rot="0" flipH="0" flipV="0">
            <a:off x="7505700" y="3695700"/>
            <a:ext cx="3333750" cy="542925"/>
          </a:xfrm>
          <a:prstGeom prst="roundRect">
            <a:avLst>
              <a:gd name="adj" fmla="val 17544"/>
            </a:avLst>
          </a:prstGeom>
          <a:solidFill>
            <a:srgbClr val="111B2E"/>
          </a:solidFill>
          <a:ln/>
        </p:spPr>
        <p:txBody>
          <a:bodyPr/>
          <a:p/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7677150" y="3819525"/>
            <a:ext cx="29908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 b="1">
                <a:solidFill>
                  <a:srgbClr val="FBBF24"/>
                </a:solidFill>
                <a:latin typeface="Microsoft YaHei"/>
                <a:ea typeface="Microsoft YaHei"/>
              </a:rPr>
              <a:t>CPI/SPI</a:t>
            </a:r>
            <a:r>
              <a:rPr lang="en-US" sz="1200">
                <a:solidFill>
                  <a:srgbClr val="E2E8F0"/>
                </a:solidFill>
                <a:latin typeface="Microsoft YaHei"/>
                <a:ea typeface="Microsoft YaHei"/>
              </a:rPr>
              <a:t xml:space="preserve"> — </a:t>
            </a: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成本</a:t>
            </a:r>
            <a:r>
              <a:rPr lang="en-US" sz="1200">
                <a:solidFill>
                  <a:srgbClr val="E2E8F0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E2E8F0"/>
                </a:solidFill>
                <a:latin typeface="Microsoft YaHei"/>
                <a:ea typeface="Microsoft YaHei"/>
              </a:rPr>
              <a:t>进度绩效指数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609600" y="6391275"/>
            <a:ext cx="1076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 xml:space="preserve">04 </a:t>
            </a:r>
            <a:r>
              <a:rPr lang="zh-CN" sz="1125">
                <a:solidFill>
                  <a:srgbClr val="94A3B8"/>
                </a:solidFill>
                <a:latin typeface="Microsoft YaHei"/>
                <a:ea typeface="Microsoft YaHei"/>
              </a:rPr>
              <a:t>十大课题实践</a:t>
            </a:r>
            <a:endParaRPr/>
          </a:p>
        </p:txBody>
      </p:sp>
      <p:sp>
        <p:nvSpPr>
          <p:cNvPr id="674" name="" descr="{&quot;isTemplate&quot;:true,&quot;type&quot;:&quot;text&quot;}"/>
          <p:cNvSpPr txBox="1"/>
          <p:nvPr/>
        </p:nvSpPr>
        <p:spPr>
          <a:xfrm rot="0" flipH="0" flipV="0">
            <a:off x="11096625" y="6391275"/>
            <a:ext cx="485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94A3B8"/>
                </a:solidFill>
                <a:latin typeface="Microsoft YaHei"/>
                <a:ea typeface="Microsoft YaHei"/>
              </a:rPr>
              <a:t>45 / 45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2026-10-18T22:09:35Z</dcterms:created>
  <dcterms:modified xsi:type="dcterms:W3CDTF">2026-10-18T22:09:35Z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{"AIGC":{"Label":"1","ContentProducer":"00119111010856365494821B355","ProduceID":"01a14f35099678109aa02478396e1e82","ReservedCode1":"","ContentPropagator":"00119111010856365494821B355","PropagateID":"01a14f35099678109aa02478396e1e82","ReservedCode2":""}}</vt:lpwstr>
  </property>
</Properties>
</file>