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notesMaster" Target="notesMasters/notesMaster1.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slideLayout" Target="../slideLayouts/slideLayout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svg"/><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svg"/><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background: '#0B1220', position: 'relative', overflow: 'hidden' }}&gt;&#10;    &lt;Image src=&quot;assets/cover_bg.png&quot; style={{ position: 'absolute', top: 0, left: 0, width: 1280, height: 720, objectFit: 'cover', clipPath: 'inset(0 0 11% 0)' }} /&gt;&#10;    &lt;Box style={{ position: 'absolute', top: 0, left: 0, width: 1280, height: 720, background: 'linear-gradient(90deg, rgba(11,18,32,0.88) 0%, rgba(11,18,32,0.55) 55%, rgba(11,18,32,0.15) 100%)' }} /&gt;&#10;    &lt;Box style={{ position: 'absolute', left: 80, top: 160, width: 800 }}&gt;&#10;        &lt;Box style={{ flexDirection: 'row', alignItems: 'center', gap: 14, marginBottom: 28 }}&gt;&#10;            &lt;Box style={{ width: 46, height: 4, background: 'linear-gradient(90deg, #3B82F6 0%, #22D3EE 100%)', borderRadius: 2 }} /&gt;&#10;            &lt;Text style={{ fontSize: 18, color: '#22D3EE', letterSpacing: 6 }}&gt;PROJECT PLANNING &amp;amp; WBS&lt;/Text&gt;&#10;        &lt;/Box&gt;&#10;        &lt;Text style={{ fontSize: 66, fontWeight: 'bold', color: '#E2E8F0', lineHeight: 1.15 }}&gt;项目计划与工作分解&lt;/Text&gt;&#10;        &lt;Text style={{ fontSize: 38, fontWeight: 'bold', marginTop: 18, backgroundImage: 'linear-gradient(135deg, #3B82F6 0%, #22D3EE 100%)', backgroundClip: 'text', color: 'transparent' }}&gt;从课题选题到可执行计划的工程方法&lt;/Text&gt;&#10;        &lt;Text style={{ fontSize: 20, color: '#94A3B8', marginTop: 32, lineHeight: 1.7 }}&gt;第 4 讲 · 项目计划与工作分解　|　十大课题 · 项目章程 · WBS · 关键路径&lt;/Text&gt;&#10;    &lt;/Box&gt;&#10;    &lt;Box style={{ position: 'absolute', left: 80, bottom: 64, flexDirection: 'row', alignItems: 'center', gap: 18 }}&gt;&#10;        &lt;Box style={{ width: 52, height: 52, borderRadius: 26, background: 'linear-gradient(135deg, #3B82F6 0%, #8B5CF6 100%)', justifyContent: 'center', alignItems: 'center' }}&gt;&#10;            &lt;Text style={{ fontSize: 22, fontWeight: 'bold', color: '#FFFFFF' }}&gt;邵&lt;/Text&gt;&#10;        &lt;/Box&gt;&#10;        &lt;Box&gt;&#10;            &lt;Text style={{ fontSize: 20, fontWeight: 'bold', color: '#E2E8F0' }}&gt;邵健 · 浙江大学计算机科学与技术学院&lt;/Text&gt;&#10;            &lt;Text style={{ fontSize: 15, color: '#94A3B8', marginTop: 4 }}&gt;软件工程管理 · 2026 年秋季学期&lt;/Text&gt;&#10;        &lt;/Box&gt;&#10;    &lt;/Box&gt;&#10;&lt;/Slide&gt;&#10;"/>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B1220"/>
          </a:solidFill>
        </p:spPr>
        <p:txBody>
          <a:bodyPr/>
          <a:p>
            <a:endParaRPr sz="2000"/>
          </a:p>
        </p:txBody>
      </p:sp>
      <p:pic>
        <p:nvPicPr>
          <p:cNvPr id="3" name="图片 2"/>
          <p:cNvPicPr>
            <a:picLocks noChangeAspect="1"/>
          </p:cNvPicPr>
          <p:nvPr/>
        </p:nvPicPr>
        <p:blipFill>
          <a:blip r:embed="rId1"/>
          <a:srcRect t="7812" b="7812"/>
          <a:stretch>
            <a:fillRect/>
          </a:stretch>
        </p:blipFill>
        <p:spPr>
          <a:xfrm>
            <a:off x="0" y="0"/>
            <a:ext cx="12192000" cy="6858000"/>
          </a:xfrm>
          <a:custGeom>
            <a:avLst/>
            <a:gdLst/>
            <a:ahLst/>
            <a:cxnLst/>
            <a:pathLst>
              <a:path w="1280" h="720">
                <a:moveTo>
                  <a:pt x="0" y="0"/>
                </a:moveTo>
                <a:lnTo>
                  <a:pt x="1280" y="0"/>
                </a:lnTo>
                <a:lnTo>
                  <a:pt x="1280" y="641"/>
                </a:lnTo>
                <a:lnTo>
                  <a:pt x="0" y="641"/>
                </a:lnTo>
                <a:close/>
              </a:path>
            </a:pathLst>
          </a:custGeom>
        </p:spPr>
      </p:pic>
      <p:sp>
        <p:nvSpPr>
          <p:cNvPr id="4" name="矩形 3"/>
          <p:cNvSpPr/>
          <p:nvPr/>
        </p:nvSpPr>
        <p:spPr>
          <a:xfrm>
            <a:off x="0" y="0"/>
            <a:ext cx="12192000" cy="6858000"/>
          </a:xfrm>
          <a:prstGeom prst="rect">
            <a:avLst/>
          </a:prstGeom>
          <a:gradFill>
            <a:gsLst>
              <a:gs pos="0">
                <a:srgbClr val="0B1220">
                  <a:alpha val="88000"/>
                </a:srgbClr>
              </a:gs>
              <a:gs pos="55000">
                <a:srgbClr val="0B1220">
                  <a:alpha val="55000"/>
                </a:srgbClr>
              </a:gs>
              <a:gs pos="100000">
                <a:srgbClr val="0B1220">
                  <a:alpha val="15000"/>
                </a:srgbClr>
              </a:gs>
            </a:gsLst>
            <a:lin ang="0" scaled="1"/>
          </a:gradFill>
        </p:spPr>
        <p:txBody>
          <a:bodyPr/>
          <a:p>
            <a:endParaRPr sz="2000"/>
          </a:p>
        </p:txBody>
      </p:sp>
      <p:sp>
        <p:nvSpPr>
          <p:cNvPr id="5" name="圆角矩形 4"/>
          <p:cNvSpPr/>
          <p:nvPr/>
        </p:nvSpPr>
        <p:spPr>
          <a:xfrm>
            <a:off x="762000" y="1609725"/>
            <a:ext cx="438150" cy="38100"/>
          </a:xfrm>
          <a:prstGeom prst="roundRect">
            <a:avLst>
              <a:gd name="adj" fmla="val 50000"/>
            </a:avLst>
          </a:prstGeom>
          <a:gradFill>
            <a:gsLst>
              <a:gs pos="0">
                <a:srgbClr val="3B82F6"/>
              </a:gs>
              <a:gs pos="100000">
                <a:srgbClr val="22D3EE"/>
              </a:gs>
            </a:gsLst>
            <a:lin ang="0" scaled="1"/>
          </a:gradFill>
        </p:spPr>
        <p:txBody>
          <a:bodyPr/>
          <a:p>
            <a:endParaRPr sz="2000"/>
          </a:p>
        </p:txBody>
      </p:sp>
      <p:sp>
        <p:nvSpPr>
          <p:cNvPr id="6" name="文本框 5" descr="{&quot;isTemplate&quot;:true,&quot;type&quot;:&quot;text&quot;}"/>
          <p:cNvSpPr txBox="1"/>
          <p:nvPr/>
        </p:nvSpPr>
        <p:spPr>
          <a:xfrm>
            <a:off x="1333500" y="1524000"/>
            <a:ext cx="3581400" cy="209550"/>
          </a:xfrm>
          <a:prstGeom prst="rect">
            <a:avLst/>
          </a:prstGeom>
        </p:spPr>
        <p:txBody>
          <a:bodyPr wrap="none" lIns="0" tIns="0" rIns="0" bIns="0"/>
          <a:p>
            <a:pPr>
              <a:lnSpc>
                <a:spcPct val="100000"/>
              </a:lnSpc>
            </a:pPr>
            <a:r>
              <a:rPr lang="en-US" sz="1400" spc="450">
                <a:solidFill>
                  <a:srgbClr val="22D3EE"/>
                </a:solidFill>
                <a:latin typeface="微软雅黑" panose="020B0503020204020204" charset="-122"/>
                <a:ea typeface="微软雅黑" panose="020B0503020204020204" charset="-122"/>
              </a:rPr>
              <a:t>PROJECT PLANNING &amp; WBS</a:t>
            </a:r>
            <a:endParaRPr lang="en-US" sz="1400" spc="450">
              <a:solidFill>
                <a:srgbClr val="22D3EE"/>
              </a:solidFill>
              <a:latin typeface="微软雅黑" panose="020B0503020204020204" charset="-122"/>
              <a:ea typeface="微软雅黑" panose="020B0503020204020204" charset="-122"/>
            </a:endParaRPr>
          </a:p>
        </p:txBody>
      </p:sp>
      <p:sp>
        <p:nvSpPr>
          <p:cNvPr id="7" name="文本框 6" descr="{&quot;isTemplate&quot;:true,&quot;type&quot;:&quot;text&quot;}"/>
          <p:cNvSpPr txBox="1"/>
          <p:nvPr/>
        </p:nvSpPr>
        <p:spPr>
          <a:xfrm>
            <a:off x="762000" y="2000250"/>
            <a:ext cx="7620000" cy="876300"/>
          </a:xfrm>
          <a:prstGeom prst="rect">
            <a:avLst/>
          </a:prstGeom>
        </p:spPr>
        <p:txBody>
          <a:bodyPr wrap="none" lIns="0" tIns="0" rIns="0" bIns="0"/>
          <a:p>
            <a:pPr>
              <a:lnSpc>
                <a:spcPct val="115000"/>
              </a:lnSpc>
            </a:pPr>
            <a:r>
              <a:rPr lang="zh-CN" sz="5400" b="1">
                <a:solidFill>
                  <a:srgbClr val="E2E8F0"/>
                </a:solidFill>
                <a:latin typeface="微软雅黑" panose="020B0503020204020204" charset="-122"/>
                <a:ea typeface="微软雅黑" panose="020B0503020204020204" charset="-122"/>
              </a:rPr>
              <a:t>项目计划与工作分解</a:t>
            </a:r>
            <a:endParaRPr lang="zh-CN" sz="5400" b="1">
              <a:solidFill>
                <a:srgbClr val="E2E8F0"/>
              </a:solidFill>
              <a:latin typeface="微软雅黑" panose="020B0503020204020204" charset="-122"/>
              <a:ea typeface="微软雅黑" panose="020B0503020204020204" charset="-122"/>
            </a:endParaRPr>
          </a:p>
        </p:txBody>
      </p:sp>
      <p:sp>
        <p:nvSpPr>
          <p:cNvPr id="8" name="文本框 7" descr="{&quot;isTemplate&quot;:true,&quot;type&quot;:&quot;text&quot;}"/>
          <p:cNvSpPr txBox="1"/>
          <p:nvPr/>
        </p:nvSpPr>
        <p:spPr>
          <a:xfrm>
            <a:off x="762000" y="3048000"/>
            <a:ext cx="7620000" cy="438150"/>
          </a:xfrm>
          <a:prstGeom prst="rect">
            <a:avLst/>
          </a:prstGeom>
        </p:spPr>
        <p:txBody>
          <a:bodyPr wrap="none" lIns="0" tIns="0" rIns="0" bIns="0"/>
          <a:p>
            <a:pPr>
              <a:lnSpc>
                <a:spcPct val="100000"/>
              </a:lnSpc>
            </a:pPr>
            <a:r>
              <a:rPr lang="zh-CN" sz="3200" b="1">
                <a:gradFill>
                  <a:gsLst>
                    <a:gs pos="0">
                      <a:srgbClr val="3B82F6"/>
                    </a:gs>
                    <a:gs pos="100000">
                      <a:srgbClr val="22D3EE"/>
                    </a:gs>
                  </a:gsLst>
                  <a:lin ang="2700000" scaled="1"/>
                </a:gradFill>
                <a:latin typeface="微软雅黑" panose="020B0503020204020204" charset="-122"/>
                <a:ea typeface="微软雅黑" panose="020B0503020204020204" charset="-122"/>
              </a:rPr>
              <a:t>从课题选题到可执行计划的工程方法</a:t>
            </a:r>
            <a:endParaRPr lang="zh-CN" sz="3200" b="1">
              <a:gradFill>
                <a:gsLst>
                  <a:gs pos="0">
                    <a:srgbClr val="3B82F6"/>
                  </a:gs>
                  <a:gs pos="100000">
                    <a:srgbClr val="22D3EE"/>
                  </a:gs>
                </a:gsLst>
                <a:lin ang="2700000" scaled="1"/>
              </a:gra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762000" y="3790950"/>
            <a:ext cx="7620000" cy="390525"/>
          </a:xfrm>
          <a:prstGeom prst="rect">
            <a:avLst/>
          </a:prstGeom>
        </p:spPr>
        <p:txBody>
          <a:bodyPr wrap="none" lIns="0" tIns="0" rIns="0" bIns="0"/>
          <a:p>
            <a:pPr>
              <a:lnSpc>
                <a:spcPct val="170000"/>
              </a:lnSpc>
            </a:pPr>
            <a:r>
              <a:rPr lang="zh-CN" sz="1600">
                <a:solidFill>
                  <a:srgbClr val="94A3B8"/>
                </a:solidFill>
                <a:latin typeface="微软雅黑" panose="020B0503020204020204" charset="-122"/>
                <a:ea typeface="微软雅黑" panose="020B0503020204020204" charset="-122"/>
              </a:rPr>
              <a:t>第</a:t>
            </a:r>
            <a:r>
              <a:rPr lang="en-US" sz="1600">
                <a:solidFill>
                  <a:srgbClr val="94A3B8"/>
                </a:solidFill>
                <a:latin typeface="微软雅黑" panose="020B0503020204020204" charset="-122"/>
                <a:ea typeface="微软雅黑" panose="020B0503020204020204" charset="-122"/>
              </a:rPr>
              <a:t> 4 </a:t>
            </a:r>
            <a:r>
              <a:rPr lang="zh-CN" sz="1600">
                <a:solidFill>
                  <a:srgbClr val="94A3B8"/>
                </a:solidFill>
                <a:latin typeface="微软雅黑" panose="020B0503020204020204" charset="-122"/>
                <a:ea typeface="微软雅黑" panose="020B0503020204020204" charset="-122"/>
              </a:rPr>
              <a:t>讲</a:t>
            </a:r>
            <a:r>
              <a:rPr lang="en-US" sz="1600">
                <a:solidFill>
                  <a:srgbClr val="94A3B8"/>
                </a:solidFill>
                <a:latin typeface="微软雅黑" panose="020B0503020204020204" charset="-122"/>
                <a:ea typeface="微软雅黑" panose="020B0503020204020204" charset="-122"/>
              </a:rPr>
              <a:t> · </a:t>
            </a:r>
            <a:r>
              <a:rPr lang="zh-CN" sz="1600">
                <a:solidFill>
                  <a:srgbClr val="94A3B8"/>
                </a:solidFill>
                <a:latin typeface="微软雅黑" panose="020B0503020204020204" charset="-122"/>
                <a:ea typeface="微软雅黑" panose="020B0503020204020204" charset="-122"/>
              </a:rPr>
              <a:t>项目计划与工作分解　</a:t>
            </a:r>
            <a:r>
              <a:rPr lang="en-US" sz="1600">
                <a:solidFill>
                  <a:srgbClr val="94A3B8"/>
                </a:solidFill>
                <a:latin typeface="微软雅黑" panose="020B0503020204020204" charset="-122"/>
                <a:ea typeface="微软雅黑" panose="020B0503020204020204" charset="-122"/>
              </a:rPr>
              <a:t>|</a:t>
            </a:r>
            <a:r>
              <a:rPr lang="zh-CN" sz="1600">
                <a:solidFill>
                  <a:srgbClr val="94A3B8"/>
                </a:solidFill>
                <a:latin typeface="微软雅黑" panose="020B0503020204020204" charset="-122"/>
                <a:ea typeface="微软雅黑" panose="020B0503020204020204" charset="-122"/>
              </a:rPr>
              <a:t>　十大课题</a:t>
            </a:r>
            <a:r>
              <a:rPr lang="en-US" sz="1600">
                <a:solidFill>
                  <a:srgbClr val="94A3B8"/>
                </a:solidFill>
                <a:latin typeface="微软雅黑" panose="020B0503020204020204" charset="-122"/>
                <a:ea typeface="微软雅黑" panose="020B0503020204020204" charset="-122"/>
              </a:rPr>
              <a:t> · </a:t>
            </a:r>
            <a:r>
              <a:rPr lang="zh-CN" sz="1600">
                <a:solidFill>
                  <a:srgbClr val="94A3B8"/>
                </a:solidFill>
                <a:latin typeface="微软雅黑" panose="020B0503020204020204" charset="-122"/>
                <a:ea typeface="微软雅黑" panose="020B0503020204020204" charset="-122"/>
              </a:rPr>
              <a:t>项目章程</a:t>
            </a:r>
            <a:r>
              <a:rPr lang="en-US" sz="1600">
                <a:solidFill>
                  <a:srgbClr val="94A3B8"/>
                </a:solidFill>
                <a:latin typeface="微软雅黑" panose="020B0503020204020204" charset="-122"/>
                <a:ea typeface="微软雅黑" panose="020B0503020204020204" charset="-122"/>
              </a:rPr>
              <a:t> · WBS · </a:t>
            </a:r>
            <a:r>
              <a:rPr lang="zh-CN" sz="1600">
                <a:solidFill>
                  <a:srgbClr val="94A3B8"/>
                </a:solidFill>
                <a:latin typeface="微软雅黑" panose="020B0503020204020204" charset="-122"/>
                <a:ea typeface="微软雅黑" panose="020B0503020204020204" charset="-122"/>
              </a:rPr>
              <a:t>关键路径</a:t>
            </a:r>
            <a:endParaRPr lang="zh-CN" sz="1600">
              <a:solidFill>
                <a:srgbClr val="94A3B8"/>
              </a:solidFill>
              <a:latin typeface="微软雅黑" panose="020B0503020204020204" charset="-122"/>
              <a:ea typeface="微软雅黑" panose="020B0503020204020204" charset="-122"/>
            </a:endParaRPr>
          </a:p>
        </p:txBody>
      </p:sp>
      <p:sp>
        <p:nvSpPr>
          <p:cNvPr id="10" name="圆角矩形 9"/>
          <p:cNvSpPr/>
          <p:nvPr/>
        </p:nvSpPr>
        <p:spPr>
          <a:xfrm>
            <a:off x="762000" y="5753100"/>
            <a:ext cx="495300" cy="495300"/>
          </a:xfrm>
          <a:prstGeom prst="roundRect">
            <a:avLst>
              <a:gd name="adj" fmla="val 50000"/>
            </a:avLst>
          </a:prstGeom>
          <a:gradFill>
            <a:gsLst>
              <a:gs pos="0">
                <a:srgbClr val="3B82F6"/>
              </a:gs>
              <a:gs pos="100000">
                <a:srgbClr val="8B5CF6"/>
              </a:gs>
            </a:gsLst>
            <a:lin ang="2700000" scaled="1"/>
          </a:gradFill>
        </p:spPr>
        <p:txBody>
          <a:bodyPr/>
          <a:p>
            <a:endParaRPr sz="2000"/>
          </a:p>
        </p:txBody>
      </p:sp>
      <p:sp>
        <p:nvSpPr>
          <p:cNvPr id="11" name="文本框 10" descr="{&quot;isTemplate&quot;:true,&quot;type&quot;:&quot;text&quot;}"/>
          <p:cNvSpPr txBox="1"/>
          <p:nvPr/>
        </p:nvSpPr>
        <p:spPr>
          <a:xfrm>
            <a:off x="904875" y="5876925"/>
            <a:ext cx="209550" cy="257175"/>
          </a:xfrm>
          <a:prstGeom prst="rect">
            <a:avLst/>
          </a:prstGeom>
        </p:spPr>
        <p:txBody>
          <a:bodyPr wrap="none" lIns="0" tIns="0" rIns="0" bIns="0"/>
          <a:p>
            <a:pPr>
              <a:lnSpc>
                <a:spcPct val="100000"/>
              </a:lnSpc>
            </a:pPr>
            <a:r>
              <a:rPr lang="zh-CN" b="1">
                <a:solidFill>
                  <a:srgbClr val="FFFFFF"/>
                </a:solidFill>
                <a:latin typeface="微软雅黑" panose="020B0503020204020204" charset="-122"/>
                <a:ea typeface="微软雅黑" panose="020B0503020204020204" charset="-122"/>
              </a:rPr>
              <a:t>邵</a:t>
            </a:r>
            <a:endParaRPr lang="zh-CN" b="1">
              <a:solidFill>
                <a:srgbClr val="FFFFFF"/>
              </a:solidFill>
              <a:latin typeface="微软雅黑" panose="020B0503020204020204" charset="-122"/>
              <a:ea typeface="微软雅黑" panose="020B0503020204020204" charset="-122"/>
            </a:endParaRPr>
          </a:p>
        </p:txBody>
      </p:sp>
      <p:sp>
        <p:nvSpPr>
          <p:cNvPr id="12" name="文本框 11" descr="{&quot;isTemplate&quot;:true,&quot;type&quot;:&quot;text&quot;}"/>
          <p:cNvSpPr txBox="1"/>
          <p:nvPr/>
        </p:nvSpPr>
        <p:spPr>
          <a:xfrm>
            <a:off x="1428750" y="5781675"/>
            <a:ext cx="3248025" cy="228600"/>
          </a:xfrm>
          <a:prstGeom prst="rect">
            <a:avLst/>
          </a:prstGeom>
        </p:spPr>
        <p:txBody>
          <a:bodyPr wrap="none" lIns="0" tIns="0" rIns="0" bIns="0"/>
          <a:p>
            <a:pPr>
              <a:lnSpc>
                <a:spcPct val="100000"/>
              </a:lnSpc>
            </a:pPr>
            <a:r>
              <a:rPr lang="zh-CN" sz="1600" b="1">
                <a:solidFill>
                  <a:srgbClr val="E2E8F0"/>
                </a:solidFill>
                <a:latin typeface="微软雅黑" panose="020B0503020204020204" charset="-122"/>
                <a:ea typeface="微软雅黑" panose="020B0503020204020204" charset="-122"/>
              </a:rPr>
              <a:t>邵健</a:t>
            </a:r>
            <a:r>
              <a:rPr lang="en-US" sz="1600" b="1">
                <a:solidFill>
                  <a:srgbClr val="E2E8F0"/>
                </a:solidFill>
                <a:latin typeface="微软雅黑" panose="020B0503020204020204" charset="-122"/>
                <a:ea typeface="微软雅黑" panose="020B0503020204020204" charset="-122"/>
              </a:rPr>
              <a:t> · </a:t>
            </a:r>
            <a:r>
              <a:rPr lang="zh-CN" sz="1600" b="1">
                <a:solidFill>
                  <a:srgbClr val="E2E8F0"/>
                </a:solidFill>
                <a:latin typeface="微软雅黑" panose="020B0503020204020204" charset="-122"/>
                <a:ea typeface="微软雅黑" panose="020B0503020204020204" charset="-122"/>
              </a:rPr>
              <a:t>浙江大学计算机科学与技术学院</a:t>
            </a:r>
            <a:endParaRPr lang="zh-CN" sz="1600" b="1">
              <a:solidFill>
                <a:srgbClr val="E2E8F0"/>
              </a:solidFill>
              <a:latin typeface="微软雅黑" panose="020B0503020204020204" charset="-122"/>
              <a:ea typeface="微软雅黑" panose="020B0503020204020204" charset="-122"/>
            </a:endParaRPr>
          </a:p>
        </p:txBody>
      </p:sp>
      <p:sp>
        <p:nvSpPr>
          <p:cNvPr id="13" name="文本框 12" descr="{&quot;isTemplate&quot;:true,&quot;type&quot;:&quot;text&quot;}"/>
          <p:cNvSpPr txBox="1"/>
          <p:nvPr/>
        </p:nvSpPr>
        <p:spPr>
          <a:xfrm>
            <a:off x="1428750" y="6048375"/>
            <a:ext cx="3248025" cy="171450"/>
          </a:xfrm>
          <a:prstGeom prst="rect">
            <a:avLst/>
          </a:prstGeom>
        </p:spPr>
        <p:txBody>
          <a:bodyPr wrap="none" lIns="0" tIns="0" rIns="0" bIns="0"/>
          <a:p>
            <a:pPr>
              <a:lnSpc>
                <a:spcPct val="100000"/>
              </a:lnSpc>
            </a:pPr>
            <a:r>
              <a:rPr lang="zh-CN" sz="1200">
                <a:solidFill>
                  <a:srgbClr val="94A3B8"/>
                </a:solidFill>
                <a:latin typeface="微软雅黑" panose="020B0503020204020204" charset="-122"/>
                <a:ea typeface="微软雅黑" panose="020B0503020204020204" charset="-122"/>
              </a:rPr>
              <a:t>软件工程管理</a:t>
            </a:r>
            <a:r>
              <a:rPr lang="en-US" sz="1200">
                <a:solidFill>
                  <a:srgbClr val="94A3B8"/>
                </a:solidFill>
                <a:latin typeface="微软雅黑" panose="020B0503020204020204" charset="-122"/>
                <a:ea typeface="微软雅黑" panose="020B0503020204020204" charset="-122"/>
              </a:rPr>
              <a:t> · 2026 </a:t>
            </a:r>
            <a:r>
              <a:rPr lang="zh-CN" sz="1200">
                <a:solidFill>
                  <a:srgbClr val="94A3B8"/>
                </a:solidFill>
                <a:latin typeface="微软雅黑" panose="020B0503020204020204" charset="-122"/>
                <a:ea typeface="微软雅黑" panose="020B0503020204020204" charset="-122"/>
              </a:rPr>
              <a:t>年秋季学期</a:t>
            </a:r>
            <a:endParaRPr lang="zh-CN" sz="120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71"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目录&lt;/Text&gt;&#13;&#10;        &lt;Text style={{ fontSize: 16, color: '#94A3B8', marginLeft: 18, letterSpacing: 3 }}&gt;CONTENTS&lt;/Text&gt;&#13;&#10;    &lt;/Box&gt;&#13;&#10;    &lt;Box style={{ flex: 1, flexDirection: 'row', flexWrap: 'wrap', gap: 20, alignContent: 'center' }}&gt;&#13;&#10;        &lt;Box style={{ width: 545, background: 'rgba(139,92,246,0.10)', borderRadius: 14, padding: 24, border: '1px solid rgba(139,92,246,0.45)', flexDirection: 'row', gap: 20, alignItems: 'center' }}&gt;&#13;&#10;            &lt;Text style={{ fontSize: 48, fontWeight: 'bold', color: '#8B5CF6' }}&gt;01&lt;/Text&gt;&#13;&#10;            &lt;Box style={{ flex: 1 }}&gt;&#13;&#10;                &lt;Text style={{ fontSize: 23, fontWeight: 'bold', color: '#E2E8F0' }}&gt;十大创新实践课题&lt;/Text&gt;&#13;&#10;                &lt;Text style={{ fontSize: 15.5, color: '#94A3B8', lineHeight: 1.6, marginTop: 6 }}&gt;4 大基础底座 · 6 大业务应用 · 逐题详解&lt;/Text&gt;&#13;&#10;            &lt;/Box&gt;&#13;&#10;            &lt;Text style={{ fontSize: 14, color: '#8B5CF6' }}&gt;P03–16&lt;/Text&gt;&#13;&#10;        &lt;/Box&gt;&#13;&#10;        &lt;Box style={{ width: 545, background: '#111B2E', borderRadius: 14, padding: 24, border: '1px solid rgba(34,211,238,0.3)', flexDirection: 'row', gap: 20, alignItems: 'center' }}&gt;&#13;&#10;            &lt;Text style={{ fontSize: 48, fontWeight: 'bold', color: '#22D3EE' }}&gt;02&lt;/Text&gt;&#13;&#10;            &lt;Box style={{ flex: 1 }}&gt;&#13;&#10;                &lt;Text style={{ fontSize: 23, fontWeight: 'bold', color: '#E2E8F0' }}&gt;项目章程&lt;/Text&gt;&#13;&#10;                &lt;Text style={{ fontSize: 15.5, color: '#94A3B8', lineHeight: 1.6, marginTop: 6 }}&gt;定义与作用 · 关键要素 · 立项授权&lt;/Text&gt;&#13;&#10;            &lt;/Box&gt;&#13;&#10;            &lt;Text style={{ fontSize: 14, color: '#22D3EE' }}&gt;P17–19&lt;/Text&gt;&#13;&#10;        &lt;/Box&gt;&#13;&#10;        &lt;Box style={{ width: 545, background: '#111B2E', borderRadius: 14, padding: 24, border: '1px solid rgba(59,130,246,0.25)', flexDirection: 'row', gap: 20, alignItems: 'center' }}&gt;&#13;&#10;            &lt;Text style={{ fontSize: 48, fontWeight: 'bold', color: '#3B82F6' }}&gt;03&lt;/Text&gt;&#13;&#10;            &lt;Box style={{ flex: 1 }}&gt;&#13;&#10;                &lt;Text style={{ fontSize: 23, fontWeight: 'bold', color: '#E2E8F0' }}&gt;项目计划与工作分解&lt;/Text&gt;&#13;&#10;                &lt;Text style={{ fontSize: 15.5, color: '#94A3B8', lineHeight: 1.6, marginTop: 6 }}&gt;什么是计划 · 制定方法 · 步骤与 CMMI&lt;/Text&gt;&#13;&#10;            &lt;/Box&gt;&#13;&#10;            &lt;Text style={{ fontSize: 14, color: '#3B82F6' }}&gt;P20–42&lt;/Text&gt;&#13;&#10;        &lt;/Box&gt;&#13;&#10;        &lt;Box style={{ width: 545, background: '#111B2E', borderRadius: 14, padding: 24, border: '1px solid rgba(148,163,184,0.3)', flexDirection: 'row', gap: 20, alignItems: 'center' }}&gt;&#13;&#10;            &lt;Text style={{ fontSize: 48, fontWeight: 'bold', color: '#94A3B8' }}&gt;04&lt;/Text&gt;&#13;&#10;            &lt;Box style={{ flex: 1 }}&gt;&#13;&#10;                &lt;Text style={{ fontSize: 23, fontWeight: 'bold', color: '#E2E8F0' }}&gt;选题组队实践&lt;/Text&gt;&#13;&#10;                &lt;Text style={{ fontSize: 15.5, color: '#94A3B8', lineHeight: 1.6, marginTop: 6 }}&gt;选题 · 组队 · 章程 · 计划&lt;/Text&gt;&#13;&#10;            &lt;/Box&gt;&#13;&#10;            &lt;Text style={{ fontSize: 14, color: '#94A3B8' }}&gt;P43–47&lt;/Text&gt;&#13;&#10;        &lt;/Box&gt;&#13;&#10;    &lt;/Box&gt;&#13;&#10;    &lt;Box style={{ height: 40, flexDirection: 'row', justifyContent: 'space-between', alignItems: 'center', marginTop: 16 }}&gt;&#13;&#10;        &lt;Text style={{ fontSize: 14, color: '#94A3B8' }}&gt;软件工程管理 · P4&lt;/Text&gt;&#13;&#10;        &lt;Text style={{ fontSize: 14, color: '#94A3B8' }}&gt;02 / 47&lt;/Text&gt;&#13;&#10;    &lt;/Box&gt;&#13;&#10;&lt;/Slide&gt;&#13;&#10;"/>
        <p:cNvGrpSpPr/>
        <p:nvPr/>
      </p:nvGrpSpPr>
      <p:grpSpPr>
        <a:xfrm>
          <a:off x="0" y="0"/>
          <a:ext cx="0" cy="0"/>
          <a:chOff x="0" y="0"/>
          <a:chExt cx="0" cy="0"/>
        </a:xfrm>
      </p:grpSpPr>
      <p:sp>
        <p:nvSpPr>
          <p:cNvPr id="272" name="矩形 271"/>
          <p:cNvSpPr/>
          <p:nvPr/>
        </p:nvSpPr>
        <p:spPr>
          <a:xfrm>
            <a:off x="0" y="0"/>
            <a:ext cx="12192000" cy="6858000"/>
          </a:xfrm>
          <a:prstGeom prst="rect">
            <a:avLst/>
          </a:prstGeom>
          <a:solidFill>
            <a:srgbClr val="0B1220"/>
          </a:solidFill>
        </p:spPr>
        <p:txBody>
          <a:bodyPr/>
          <a:p>
            <a:endParaRPr sz="2400"/>
          </a:p>
        </p:txBody>
      </p:sp>
      <p:sp>
        <p:nvSpPr>
          <p:cNvPr id="273" name="圆角矩形 272"/>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a:endParaRPr sz="2400"/>
          </a:p>
        </p:txBody>
      </p:sp>
      <p:sp>
        <p:nvSpPr>
          <p:cNvPr id="274" name="文本框 273" descr="{&quot;isTemplate&quot;:true,&quot;type&quot;:&quot;text&quot;}"/>
          <p:cNvSpPr txBox="1"/>
          <p:nvPr/>
        </p:nvSpPr>
        <p:spPr>
          <a:xfrm>
            <a:off x="857250" y="476250"/>
            <a:ext cx="647700" cy="390525"/>
          </a:xfrm>
          <a:prstGeom prst="rect">
            <a:avLst/>
          </a:prstGeom>
        </p:spPr>
        <p:txBody>
          <a:bodyPr wrap="none" lIns="0" tIns="0" rIns="0" bIns="0"/>
          <a:p>
            <a:pPr>
              <a:lnSpc>
                <a:spcPct val="100000"/>
              </a:lnSpc>
            </a:pPr>
            <a:r>
              <a:rPr lang="zh-CN" sz="3200" b="1">
                <a:solidFill>
                  <a:srgbClr val="E2E8F0"/>
                </a:solidFill>
                <a:latin typeface="微软雅黑" panose="020B0503020204020204" charset="-122"/>
                <a:ea typeface="微软雅黑" panose="020B0503020204020204" charset="-122"/>
              </a:rPr>
              <a:t>目录</a:t>
            </a:r>
            <a:endParaRPr lang="zh-CN" sz="3200" b="1">
              <a:solidFill>
                <a:srgbClr val="E2E8F0"/>
              </a:solidFill>
              <a:latin typeface="微软雅黑" panose="020B0503020204020204" charset="-122"/>
              <a:ea typeface="微软雅黑" panose="020B0503020204020204" charset="-122"/>
            </a:endParaRPr>
          </a:p>
        </p:txBody>
      </p:sp>
      <p:sp>
        <p:nvSpPr>
          <p:cNvPr id="275" name="文本框 274" descr="{&quot;isTemplate&quot;:true,&quot;type&quot;:&quot;text&quot;}"/>
          <p:cNvSpPr txBox="1"/>
          <p:nvPr/>
        </p:nvSpPr>
        <p:spPr>
          <a:xfrm>
            <a:off x="1676400" y="571500"/>
            <a:ext cx="1057275" cy="190500"/>
          </a:xfrm>
          <a:prstGeom prst="rect">
            <a:avLst/>
          </a:prstGeom>
        </p:spPr>
        <p:txBody>
          <a:bodyPr wrap="none" lIns="0" tIns="0" rIns="0" bIns="0"/>
          <a:p>
            <a:pPr>
              <a:lnSpc>
                <a:spcPct val="100000"/>
              </a:lnSpc>
            </a:pPr>
            <a:r>
              <a:rPr lang="en-US" sz="1600" spc="225">
                <a:solidFill>
                  <a:srgbClr val="94A3B8"/>
                </a:solidFill>
                <a:latin typeface="微软雅黑" panose="020B0503020204020204" charset="-122"/>
                <a:ea typeface="微软雅黑" panose="020B0503020204020204" charset="-122"/>
              </a:rPr>
              <a:t>CONTENTS</a:t>
            </a:r>
            <a:endParaRPr lang="en-US" sz="1600" spc="225">
              <a:solidFill>
                <a:srgbClr val="94A3B8"/>
              </a:solidFill>
              <a:latin typeface="微软雅黑" panose="020B0503020204020204" charset="-122"/>
              <a:ea typeface="微软雅黑" panose="020B0503020204020204" charset="-122"/>
            </a:endParaRPr>
          </a:p>
        </p:txBody>
      </p:sp>
      <p:sp>
        <p:nvSpPr>
          <p:cNvPr id="276" name="圆角矩形 275"/>
          <p:cNvSpPr/>
          <p:nvPr>
            <p:custDataLst>
              <p:tags r:id="rId1"/>
            </p:custDataLst>
          </p:nvPr>
        </p:nvSpPr>
        <p:spPr>
          <a:xfrm>
            <a:off x="609600" y="1143000"/>
            <a:ext cx="5191125" cy="2400300"/>
          </a:xfrm>
          <a:prstGeom prst="roundRect">
            <a:avLst>
              <a:gd name="adj" fmla="val 5556"/>
            </a:avLst>
          </a:prstGeom>
          <a:solidFill>
            <a:srgbClr val="8B5CF6">
              <a:alpha val="10000"/>
            </a:srgbClr>
          </a:solidFill>
          <a:ln w="12700">
            <a:solidFill>
              <a:srgbClr val="8B5CF6">
                <a:alpha val="45000"/>
              </a:srgbClr>
            </a:solidFill>
            <a:prstDash val="solid"/>
          </a:ln>
        </p:spPr>
        <p:txBody>
          <a:bodyPr/>
          <a:p>
            <a:endParaRPr sz="2400"/>
          </a:p>
        </p:txBody>
      </p:sp>
      <p:sp>
        <p:nvSpPr>
          <p:cNvPr id="277" name="文本框 276" descr="{&quot;isTemplate&quot;:true,&quot;type&quot;:&quot;text&quot;}"/>
          <p:cNvSpPr txBox="1"/>
          <p:nvPr>
            <p:custDataLst>
              <p:tags r:id="rId2"/>
            </p:custDataLst>
          </p:nvPr>
        </p:nvSpPr>
        <p:spPr>
          <a:xfrm>
            <a:off x="838200" y="2066925"/>
            <a:ext cx="571500" cy="552450"/>
          </a:xfrm>
          <a:prstGeom prst="rect">
            <a:avLst/>
          </a:prstGeom>
        </p:spPr>
        <p:txBody>
          <a:bodyPr wrap="none" lIns="0" tIns="0" rIns="0" bIns="0"/>
          <a:p>
            <a:pPr>
              <a:lnSpc>
                <a:spcPct val="100000"/>
              </a:lnSpc>
            </a:pPr>
            <a:r>
              <a:rPr lang="en-US" sz="4400" b="1">
                <a:solidFill>
                  <a:srgbClr val="8B5CF6"/>
                </a:solidFill>
                <a:latin typeface="微软雅黑" panose="020B0503020204020204" charset="-122"/>
                <a:ea typeface="微软雅黑" panose="020B0503020204020204" charset="-122"/>
              </a:rPr>
              <a:t>01</a:t>
            </a:r>
            <a:endParaRPr lang="en-US" sz="4400" b="1">
              <a:solidFill>
                <a:srgbClr val="8B5CF6"/>
              </a:solidFill>
              <a:latin typeface="微软雅黑" panose="020B0503020204020204" charset="-122"/>
              <a:ea typeface="微软雅黑" panose="020B0503020204020204" charset="-122"/>
            </a:endParaRPr>
          </a:p>
        </p:txBody>
      </p:sp>
      <p:sp>
        <p:nvSpPr>
          <p:cNvPr id="278" name="文本框 277" descr="{&quot;isTemplate&quot;:true,&quot;type&quot;:&quot;text&quot;}"/>
          <p:cNvSpPr txBox="1"/>
          <p:nvPr>
            <p:custDataLst>
              <p:tags r:id="rId3"/>
            </p:custDataLst>
          </p:nvPr>
        </p:nvSpPr>
        <p:spPr>
          <a:xfrm>
            <a:off x="1600200" y="2038350"/>
            <a:ext cx="3314700" cy="266700"/>
          </a:xfrm>
          <a:prstGeom prst="rect">
            <a:avLst/>
          </a:prstGeom>
        </p:spPr>
        <p:txBody>
          <a:bodyPr wrap="none" lIns="0" tIns="0" rIns="0" bIns="0"/>
          <a:p>
            <a:pPr>
              <a:lnSpc>
                <a:spcPct val="100000"/>
              </a:lnSpc>
            </a:pPr>
            <a:r>
              <a:rPr lang="zh-CN" sz="2000" b="1">
                <a:solidFill>
                  <a:srgbClr val="E2E8F0"/>
                </a:solidFill>
                <a:latin typeface="微软雅黑" panose="020B0503020204020204" charset="-122"/>
                <a:ea typeface="微软雅黑" panose="020B0503020204020204" charset="-122"/>
              </a:rPr>
              <a:t>十大创新实践课题</a:t>
            </a:r>
            <a:endParaRPr lang="zh-CN" sz="2000" b="1">
              <a:solidFill>
                <a:srgbClr val="E2E8F0"/>
              </a:solidFill>
              <a:latin typeface="微软雅黑" panose="020B0503020204020204" charset="-122"/>
              <a:ea typeface="微软雅黑" panose="020B0503020204020204" charset="-122"/>
            </a:endParaRPr>
          </a:p>
        </p:txBody>
      </p:sp>
      <p:sp>
        <p:nvSpPr>
          <p:cNvPr id="279" name="文本框 278" descr="{&quot;isTemplate&quot;:true,&quot;type&quot;:&quot;text&quot;}"/>
          <p:cNvSpPr txBox="1"/>
          <p:nvPr>
            <p:custDataLst>
              <p:tags r:id="rId4"/>
            </p:custDataLst>
          </p:nvPr>
        </p:nvSpPr>
        <p:spPr>
          <a:xfrm>
            <a:off x="1600200" y="2362200"/>
            <a:ext cx="3314700" cy="285750"/>
          </a:xfrm>
          <a:prstGeom prst="rect">
            <a:avLst/>
          </a:prstGeom>
        </p:spPr>
        <p:txBody>
          <a:bodyPr wrap="none" lIns="0" tIns="0" rIns="0" bIns="0"/>
          <a:p>
            <a:pPr>
              <a:lnSpc>
                <a:spcPct val="160000"/>
              </a:lnSpc>
            </a:pPr>
            <a:r>
              <a:rPr lang="en-US" sz="1400">
                <a:solidFill>
                  <a:srgbClr val="94A3B8"/>
                </a:solidFill>
                <a:latin typeface="微软雅黑" panose="020B0503020204020204" charset="-122"/>
                <a:ea typeface="微软雅黑" panose="020B0503020204020204" charset="-122"/>
              </a:rPr>
              <a:t>4 </a:t>
            </a:r>
            <a:r>
              <a:rPr lang="zh-CN" sz="1400">
                <a:solidFill>
                  <a:srgbClr val="94A3B8"/>
                </a:solidFill>
                <a:latin typeface="微软雅黑" panose="020B0503020204020204" charset="-122"/>
                <a:ea typeface="微软雅黑" panose="020B0503020204020204" charset="-122"/>
              </a:rPr>
              <a:t>大基础底座</a:t>
            </a:r>
            <a:r>
              <a:rPr lang="en-US" sz="1400">
                <a:solidFill>
                  <a:srgbClr val="94A3B8"/>
                </a:solidFill>
                <a:latin typeface="微软雅黑" panose="020B0503020204020204" charset="-122"/>
                <a:ea typeface="微软雅黑" panose="020B0503020204020204" charset="-122"/>
              </a:rPr>
              <a:t> · 6 </a:t>
            </a:r>
            <a:r>
              <a:rPr lang="zh-CN" sz="1400">
                <a:solidFill>
                  <a:srgbClr val="94A3B8"/>
                </a:solidFill>
                <a:latin typeface="微软雅黑" panose="020B0503020204020204" charset="-122"/>
                <a:ea typeface="微软雅黑" panose="020B0503020204020204" charset="-122"/>
              </a:rPr>
              <a:t>大业务应用</a:t>
            </a:r>
            <a:r>
              <a:rPr lang="en-US" sz="1400">
                <a:solidFill>
                  <a:srgbClr val="94A3B8"/>
                </a:solidFill>
                <a:latin typeface="微软雅黑" panose="020B0503020204020204" charset="-122"/>
                <a:ea typeface="微软雅黑" panose="020B0503020204020204" charset="-122"/>
              </a:rPr>
              <a:t> · </a:t>
            </a:r>
            <a:r>
              <a:rPr lang="zh-CN" sz="1400">
                <a:solidFill>
                  <a:srgbClr val="94A3B8"/>
                </a:solidFill>
                <a:latin typeface="微软雅黑" panose="020B0503020204020204" charset="-122"/>
                <a:ea typeface="微软雅黑" panose="020B0503020204020204" charset="-122"/>
              </a:rPr>
              <a:t>逐题详解</a:t>
            </a:r>
            <a:endParaRPr lang="zh-CN" sz="1400">
              <a:solidFill>
                <a:srgbClr val="94A3B8"/>
              </a:solidFill>
              <a:latin typeface="微软雅黑" panose="020B0503020204020204" charset="-122"/>
              <a:ea typeface="微软雅黑" panose="020B0503020204020204" charset="-122"/>
            </a:endParaRPr>
          </a:p>
        </p:txBody>
      </p:sp>
      <p:sp>
        <p:nvSpPr>
          <p:cNvPr id="280" name="文本框 279" descr="{&quot;isTemplate&quot;:true,&quot;type&quot;:&quot;text&quot;}"/>
          <p:cNvSpPr txBox="1"/>
          <p:nvPr>
            <p:custDataLst>
              <p:tags r:id="rId5"/>
            </p:custDataLst>
          </p:nvPr>
        </p:nvSpPr>
        <p:spPr>
          <a:xfrm>
            <a:off x="5105400" y="2266950"/>
            <a:ext cx="466725" cy="161925"/>
          </a:xfrm>
          <a:prstGeom prst="rect">
            <a:avLst/>
          </a:prstGeom>
        </p:spPr>
        <p:txBody>
          <a:bodyPr wrap="none" lIns="0" tIns="0" rIns="0" bIns="0"/>
          <a:p>
            <a:pPr>
              <a:lnSpc>
                <a:spcPct val="100000"/>
              </a:lnSpc>
            </a:pPr>
            <a:r>
              <a:rPr lang="en-US" sz="1400">
                <a:solidFill>
                  <a:srgbClr val="8B5CF6"/>
                </a:solidFill>
                <a:latin typeface="微软雅黑" panose="020B0503020204020204" charset="-122"/>
                <a:ea typeface="微软雅黑" panose="020B0503020204020204" charset="-122"/>
              </a:rPr>
              <a:t>P03–16</a:t>
            </a:r>
            <a:endParaRPr lang="en-US" sz="1400">
              <a:solidFill>
                <a:srgbClr val="8B5CF6"/>
              </a:solidFill>
              <a:latin typeface="微软雅黑" panose="020B0503020204020204" charset="-122"/>
              <a:ea typeface="微软雅黑" panose="020B0503020204020204" charset="-122"/>
            </a:endParaRPr>
          </a:p>
        </p:txBody>
      </p:sp>
      <p:sp>
        <p:nvSpPr>
          <p:cNvPr id="281" name="圆角矩形 280"/>
          <p:cNvSpPr/>
          <p:nvPr>
            <p:custDataLst>
              <p:tags r:id="rId6"/>
            </p:custDataLst>
          </p:nvPr>
        </p:nvSpPr>
        <p:spPr>
          <a:xfrm>
            <a:off x="5991225" y="1143000"/>
            <a:ext cx="5191125" cy="2400300"/>
          </a:xfrm>
          <a:prstGeom prst="roundRect">
            <a:avLst>
              <a:gd name="adj" fmla="val 5556"/>
            </a:avLst>
          </a:prstGeom>
          <a:solidFill>
            <a:srgbClr val="111B2E"/>
          </a:solidFill>
          <a:ln w="12700">
            <a:solidFill>
              <a:srgbClr val="22D3EE">
                <a:alpha val="30000"/>
              </a:srgbClr>
            </a:solidFill>
            <a:prstDash val="solid"/>
          </a:ln>
        </p:spPr>
        <p:txBody>
          <a:bodyPr/>
          <a:p>
            <a:endParaRPr sz="2400"/>
          </a:p>
        </p:txBody>
      </p:sp>
      <p:sp>
        <p:nvSpPr>
          <p:cNvPr id="282" name="文本框 281" descr="{&quot;isTemplate&quot;:true,&quot;type&quot;:&quot;text&quot;}"/>
          <p:cNvSpPr txBox="1"/>
          <p:nvPr>
            <p:custDataLst>
              <p:tags r:id="rId7"/>
            </p:custDataLst>
          </p:nvPr>
        </p:nvSpPr>
        <p:spPr>
          <a:xfrm>
            <a:off x="6219825" y="2066925"/>
            <a:ext cx="571500" cy="552450"/>
          </a:xfrm>
          <a:prstGeom prst="rect">
            <a:avLst/>
          </a:prstGeom>
        </p:spPr>
        <p:txBody>
          <a:bodyPr wrap="none" lIns="0" tIns="0" rIns="0" bIns="0"/>
          <a:p>
            <a:pPr>
              <a:lnSpc>
                <a:spcPct val="100000"/>
              </a:lnSpc>
            </a:pPr>
            <a:r>
              <a:rPr lang="en-US" sz="4400" b="1">
                <a:solidFill>
                  <a:srgbClr val="22D3EE"/>
                </a:solidFill>
                <a:latin typeface="微软雅黑" panose="020B0503020204020204" charset="-122"/>
                <a:ea typeface="微软雅黑" panose="020B0503020204020204" charset="-122"/>
              </a:rPr>
              <a:t>02</a:t>
            </a:r>
            <a:endParaRPr lang="en-US" sz="4400" b="1">
              <a:solidFill>
                <a:srgbClr val="22D3EE"/>
              </a:solidFill>
              <a:latin typeface="微软雅黑" panose="020B0503020204020204" charset="-122"/>
              <a:ea typeface="微软雅黑" panose="020B0503020204020204" charset="-122"/>
            </a:endParaRPr>
          </a:p>
        </p:txBody>
      </p:sp>
      <p:sp>
        <p:nvSpPr>
          <p:cNvPr id="283" name="文本框 282" descr="{&quot;isTemplate&quot;:true,&quot;type&quot;:&quot;text&quot;}"/>
          <p:cNvSpPr txBox="1"/>
          <p:nvPr>
            <p:custDataLst>
              <p:tags r:id="rId8"/>
            </p:custDataLst>
          </p:nvPr>
        </p:nvSpPr>
        <p:spPr>
          <a:xfrm>
            <a:off x="6981825" y="2038350"/>
            <a:ext cx="3314700" cy="266700"/>
          </a:xfrm>
          <a:prstGeom prst="rect">
            <a:avLst/>
          </a:prstGeom>
        </p:spPr>
        <p:txBody>
          <a:bodyPr wrap="none" lIns="0" tIns="0" rIns="0" bIns="0"/>
          <a:p>
            <a:pPr>
              <a:lnSpc>
                <a:spcPct val="100000"/>
              </a:lnSpc>
            </a:pPr>
            <a:r>
              <a:rPr lang="zh-CN" sz="2000" b="1">
                <a:solidFill>
                  <a:srgbClr val="E2E8F0"/>
                </a:solidFill>
                <a:latin typeface="微软雅黑" panose="020B0503020204020204" charset="-122"/>
                <a:ea typeface="微软雅黑" panose="020B0503020204020204" charset="-122"/>
              </a:rPr>
              <a:t>项目章程</a:t>
            </a:r>
            <a:endParaRPr lang="zh-CN" sz="2000" b="1">
              <a:solidFill>
                <a:srgbClr val="E2E8F0"/>
              </a:solidFill>
              <a:latin typeface="微软雅黑" panose="020B0503020204020204" charset="-122"/>
              <a:ea typeface="微软雅黑" panose="020B0503020204020204" charset="-122"/>
            </a:endParaRPr>
          </a:p>
        </p:txBody>
      </p:sp>
      <p:sp>
        <p:nvSpPr>
          <p:cNvPr id="284" name="文本框 283" descr="{&quot;isTemplate&quot;:true,&quot;type&quot;:&quot;text&quot;}"/>
          <p:cNvSpPr txBox="1"/>
          <p:nvPr>
            <p:custDataLst>
              <p:tags r:id="rId9"/>
            </p:custDataLst>
          </p:nvPr>
        </p:nvSpPr>
        <p:spPr>
          <a:xfrm>
            <a:off x="6981825" y="2362200"/>
            <a:ext cx="3314700" cy="285750"/>
          </a:xfrm>
          <a:prstGeom prst="rect">
            <a:avLst/>
          </a:prstGeom>
        </p:spPr>
        <p:txBody>
          <a:bodyPr wrap="none" lIns="0" tIns="0" rIns="0" bIns="0"/>
          <a:p>
            <a:pPr>
              <a:lnSpc>
                <a:spcPct val="160000"/>
              </a:lnSpc>
            </a:pPr>
            <a:r>
              <a:rPr lang="zh-CN" sz="1400">
                <a:solidFill>
                  <a:srgbClr val="94A3B8"/>
                </a:solidFill>
                <a:latin typeface="微软雅黑" panose="020B0503020204020204" charset="-122"/>
                <a:ea typeface="微软雅黑" panose="020B0503020204020204" charset="-122"/>
              </a:rPr>
              <a:t>定义与作用</a:t>
            </a:r>
            <a:r>
              <a:rPr lang="en-US" sz="1400">
                <a:solidFill>
                  <a:srgbClr val="94A3B8"/>
                </a:solidFill>
                <a:latin typeface="微软雅黑" panose="020B0503020204020204" charset="-122"/>
                <a:ea typeface="微软雅黑" panose="020B0503020204020204" charset="-122"/>
              </a:rPr>
              <a:t> · </a:t>
            </a:r>
            <a:r>
              <a:rPr lang="zh-CN" sz="1400">
                <a:solidFill>
                  <a:srgbClr val="94A3B8"/>
                </a:solidFill>
                <a:latin typeface="微软雅黑" panose="020B0503020204020204" charset="-122"/>
                <a:ea typeface="微软雅黑" panose="020B0503020204020204" charset="-122"/>
              </a:rPr>
              <a:t>关键要素</a:t>
            </a:r>
            <a:r>
              <a:rPr lang="en-US" sz="1400">
                <a:solidFill>
                  <a:srgbClr val="94A3B8"/>
                </a:solidFill>
                <a:latin typeface="微软雅黑" panose="020B0503020204020204" charset="-122"/>
                <a:ea typeface="微软雅黑" panose="020B0503020204020204" charset="-122"/>
              </a:rPr>
              <a:t> · </a:t>
            </a:r>
            <a:r>
              <a:rPr lang="zh-CN" sz="1400">
                <a:solidFill>
                  <a:srgbClr val="94A3B8"/>
                </a:solidFill>
                <a:latin typeface="微软雅黑" panose="020B0503020204020204" charset="-122"/>
                <a:ea typeface="微软雅黑" panose="020B0503020204020204" charset="-122"/>
              </a:rPr>
              <a:t>立项授权</a:t>
            </a:r>
            <a:endParaRPr lang="zh-CN" sz="1400">
              <a:solidFill>
                <a:srgbClr val="94A3B8"/>
              </a:solidFill>
              <a:latin typeface="微软雅黑" panose="020B0503020204020204" charset="-122"/>
              <a:ea typeface="微软雅黑" panose="020B0503020204020204" charset="-122"/>
            </a:endParaRPr>
          </a:p>
        </p:txBody>
      </p:sp>
      <p:sp>
        <p:nvSpPr>
          <p:cNvPr id="285" name="文本框 284" descr="{&quot;isTemplate&quot;:true,&quot;type&quot;:&quot;text&quot;}"/>
          <p:cNvSpPr txBox="1"/>
          <p:nvPr>
            <p:custDataLst>
              <p:tags r:id="rId10"/>
            </p:custDataLst>
          </p:nvPr>
        </p:nvSpPr>
        <p:spPr>
          <a:xfrm>
            <a:off x="10487025" y="2266950"/>
            <a:ext cx="466725" cy="161925"/>
          </a:xfrm>
          <a:prstGeom prst="rect">
            <a:avLst/>
          </a:prstGeom>
        </p:spPr>
        <p:txBody>
          <a:bodyPr wrap="none" lIns="0" tIns="0" rIns="0" bIns="0"/>
          <a:p>
            <a:pPr>
              <a:lnSpc>
                <a:spcPct val="100000"/>
              </a:lnSpc>
            </a:pPr>
            <a:r>
              <a:rPr lang="en-US" sz="1400">
                <a:solidFill>
                  <a:srgbClr val="22D3EE"/>
                </a:solidFill>
                <a:latin typeface="微软雅黑" panose="020B0503020204020204" charset="-122"/>
                <a:ea typeface="微软雅黑" panose="020B0503020204020204" charset="-122"/>
              </a:rPr>
              <a:t>P17–19</a:t>
            </a:r>
            <a:endParaRPr lang="en-US" sz="1400">
              <a:solidFill>
                <a:srgbClr val="22D3EE"/>
              </a:solidFill>
              <a:latin typeface="微软雅黑" panose="020B0503020204020204" charset="-122"/>
              <a:ea typeface="微软雅黑" panose="020B0503020204020204" charset="-122"/>
            </a:endParaRPr>
          </a:p>
        </p:txBody>
      </p:sp>
      <p:sp>
        <p:nvSpPr>
          <p:cNvPr id="286" name="圆角矩形 285"/>
          <p:cNvSpPr/>
          <p:nvPr>
            <p:custDataLst>
              <p:tags r:id="rId11"/>
            </p:custDataLst>
          </p:nvPr>
        </p:nvSpPr>
        <p:spPr>
          <a:xfrm>
            <a:off x="609600" y="3733800"/>
            <a:ext cx="5191125" cy="2400300"/>
          </a:xfrm>
          <a:prstGeom prst="roundRect">
            <a:avLst>
              <a:gd name="adj" fmla="val 5556"/>
            </a:avLst>
          </a:prstGeom>
          <a:solidFill>
            <a:srgbClr val="111B2E"/>
          </a:solidFill>
          <a:ln w="12700">
            <a:solidFill>
              <a:srgbClr val="3B82F6">
                <a:alpha val="25000"/>
              </a:srgbClr>
            </a:solidFill>
            <a:prstDash val="solid"/>
          </a:ln>
        </p:spPr>
        <p:txBody>
          <a:bodyPr/>
          <a:p>
            <a:endParaRPr sz="2400"/>
          </a:p>
        </p:txBody>
      </p:sp>
      <p:sp>
        <p:nvSpPr>
          <p:cNvPr id="287" name="文本框 286" descr="{&quot;isTemplate&quot;:true,&quot;type&quot;:&quot;text&quot;}"/>
          <p:cNvSpPr txBox="1"/>
          <p:nvPr>
            <p:custDataLst>
              <p:tags r:id="rId12"/>
            </p:custDataLst>
          </p:nvPr>
        </p:nvSpPr>
        <p:spPr>
          <a:xfrm>
            <a:off x="838200" y="4657725"/>
            <a:ext cx="571500" cy="552450"/>
          </a:xfrm>
          <a:prstGeom prst="rect">
            <a:avLst/>
          </a:prstGeom>
        </p:spPr>
        <p:txBody>
          <a:bodyPr wrap="none" lIns="0" tIns="0" rIns="0" bIns="0"/>
          <a:p>
            <a:pPr>
              <a:lnSpc>
                <a:spcPct val="100000"/>
              </a:lnSpc>
            </a:pPr>
            <a:r>
              <a:rPr lang="en-US" sz="4400" b="1">
                <a:solidFill>
                  <a:srgbClr val="3B82F6"/>
                </a:solidFill>
                <a:latin typeface="微软雅黑" panose="020B0503020204020204" charset="-122"/>
                <a:ea typeface="微软雅黑" panose="020B0503020204020204" charset="-122"/>
              </a:rPr>
              <a:t>03</a:t>
            </a:r>
            <a:endParaRPr lang="en-US" sz="4400" b="1">
              <a:solidFill>
                <a:srgbClr val="3B82F6"/>
              </a:solidFill>
              <a:latin typeface="微软雅黑" panose="020B0503020204020204" charset="-122"/>
              <a:ea typeface="微软雅黑" panose="020B0503020204020204" charset="-122"/>
            </a:endParaRPr>
          </a:p>
        </p:txBody>
      </p:sp>
      <p:sp>
        <p:nvSpPr>
          <p:cNvPr id="288" name="文本框 287" descr="{&quot;isTemplate&quot;:true,&quot;type&quot;:&quot;text&quot;}"/>
          <p:cNvSpPr txBox="1"/>
          <p:nvPr>
            <p:custDataLst>
              <p:tags r:id="rId13"/>
            </p:custDataLst>
          </p:nvPr>
        </p:nvSpPr>
        <p:spPr>
          <a:xfrm>
            <a:off x="1600200" y="4629150"/>
            <a:ext cx="3314700" cy="266700"/>
          </a:xfrm>
          <a:prstGeom prst="rect">
            <a:avLst/>
          </a:prstGeom>
        </p:spPr>
        <p:txBody>
          <a:bodyPr wrap="none" lIns="0" tIns="0" rIns="0" bIns="0"/>
          <a:p>
            <a:pPr>
              <a:lnSpc>
                <a:spcPct val="100000"/>
              </a:lnSpc>
            </a:pPr>
            <a:r>
              <a:rPr lang="zh-CN" sz="2000" b="1">
                <a:solidFill>
                  <a:srgbClr val="E2E8F0"/>
                </a:solidFill>
                <a:latin typeface="微软雅黑" panose="020B0503020204020204" charset="-122"/>
                <a:ea typeface="微软雅黑" panose="020B0503020204020204" charset="-122"/>
              </a:rPr>
              <a:t>项目计划与工作分解</a:t>
            </a:r>
            <a:endParaRPr lang="zh-CN" sz="2000" b="1">
              <a:solidFill>
                <a:srgbClr val="E2E8F0"/>
              </a:solidFill>
              <a:latin typeface="微软雅黑" panose="020B0503020204020204" charset="-122"/>
              <a:ea typeface="微软雅黑" panose="020B0503020204020204" charset="-122"/>
            </a:endParaRPr>
          </a:p>
        </p:txBody>
      </p:sp>
      <p:sp>
        <p:nvSpPr>
          <p:cNvPr id="289" name="文本框 288" descr="{&quot;isTemplate&quot;:true,&quot;type&quot;:&quot;text&quot;}"/>
          <p:cNvSpPr txBox="1"/>
          <p:nvPr>
            <p:custDataLst>
              <p:tags r:id="rId14"/>
            </p:custDataLst>
          </p:nvPr>
        </p:nvSpPr>
        <p:spPr>
          <a:xfrm>
            <a:off x="1600200" y="4953000"/>
            <a:ext cx="3314700" cy="285750"/>
          </a:xfrm>
          <a:prstGeom prst="rect">
            <a:avLst/>
          </a:prstGeom>
        </p:spPr>
        <p:txBody>
          <a:bodyPr wrap="none" lIns="0" tIns="0" rIns="0" bIns="0"/>
          <a:p>
            <a:pPr>
              <a:lnSpc>
                <a:spcPct val="160000"/>
              </a:lnSpc>
            </a:pPr>
            <a:r>
              <a:rPr lang="zh-CN" sz="1400">
                <a:solidFill>
                  <a:srgbClr val="94A3B8"/>
                </a:solidFill>
                <a:latin typeface="微软雅黑" panose="020B0503020204020204" charset="-122"/>
                <a:ea typeface="微软雅黑" panose="020B0503020204020204" charset="-122"/>
              </a:rPr>
              <a:t>什么是计划</a:t>
            </a:r>
            <a:r>
              <a:rPr lang="en-US" sz="1400">
                <a:solidFill>
                  <a:srgbClr val="94A3B8"/>
                </a:solidFill>
                <a:latin typeface="微软雅黑" panose="020B0503020204020204" charset="-122"/>
                <a:ea typeface="微软雅黑" panose="020B0503020204020204" charset="-122"/>
              </a:rPr>
              <a:t> · </a:t>
            </a:r>
            <a:r>
              <a:rPr lang="zh-CN" sz="1400">
                <a:solidFill>
                  <a:srgbClr val="94A3B8"/>
                </a:solidFill>
                <a:latin typeface="微软雅黑" panose="020B0503020204020204" charset="-122"/>
                <a:ea typeface="微软雅黑" panose="020B0503020204020204" charset="-122"/>
              </a:rPr>
              <a:t>制定方法</a:t>
            </a:r>
            <a:r>
              <a:rPr lang="en-US" sz="1400">
                <a:solidFill>
                  <a:srgbClr val="94A3B8"/>
                </a:solidFill>
                <a:latin typeface="微软雅黑" panose="020B0503020204020204" charset="-122"/>
                <a:ea typeface="微软雅黑" panose="020B0503020204020204" charset="-122"/>
              </a:rPr>
              <a:t> · </a:t>
            </a:r>
            <a:r>
              <a:rPr lang="zh-CN" sz="1400">
                <a:solidFill>
                  <a:srgbClr val="94A3B8"/>
                </a:solidFill>
                <a:latin typeface="微软雅黑" panose="020B0503020204020204" charset="-122"/>
                <a:ea typeface="微软雅黑" panose="020B0503020204020204" charset="-122"/>
              </a:rPr>
              <a:t>步骤与</a:t>
            </a:r>
            <a:r>
              <a:rPr lang="en-US" sz="1400">
                <a:solidFill>
                  <a:srgbClr val="94A3B8"/>
                </a:solidFill>
                <a:latin typeface="微软雅黑" panose="020B0503020204020204" charset="-122"/>
                <a:ea typeface="微软雅黑" panose="020B0503020204020204" charset="-122"/>
              </a:rPr>
              <a:t> CMMI</a:t>
            </a:r>
            <a:endParaRPr lang="en-US" sz="1400">
              <a:solidFill>
                <a:srgbClr val="94A3B8"/>
              </a:solidFill>
              <a:latin typeface="微软雅黑" panose="020B0503020204020204" charset="-122"/>
              <a:ea typeface="微软雅黑" panose="020B0503020204020204" charset="-122"/>
            </a:endParaRPr>
          </a:p>
        </p:txBody>
      </p:sp>
      <p:sp>
        <p:nvSpPr>
          <p:cNvPr id="290" name="文本框 289" descr="{&quot;isTemplate&quot;:true,&quot;type&quot;:&quot;text&quot;}"/>
          <p:cNvSpPr txBox="1"/>
          <p:nvPr>
            <p:custDataLst>
              <p:tags r:id="rId15"/>
            </p:custDataLst>
          </p:nvPr>
        </p:nvSpPr>
        <p:spPr>
          <a:xfrm>
            <a:off x="5105400" y="4857750"/>
            <a:ext cx="466725" cy="161925"/>
          </a:xfrm>
          <a:prstGeom prst="rect">
            <a:avLst/>
          </a:prstGeom>
        </p:spPr>
        <p:txBody>
          <a:bodyPr wrap="none" lIns="0" tIns="0" rIns="0" bIns="0"/>
          <a:p>
            <a:pPr>
              <a:lnSpc>
                <a:spcPct val="100000"/>
              </a:lnSpc>
            </a:pPr>
            <a:r>
              <a:rPr lang="en-US" sz="1400">
                <a:solidFill>
                  <a:srgbClr val="3B82F6"/>
                </a:solidFill>
                <a:latin typeface="微软雅黑" panose="020B0503020204020204" charset="-122"/>
                <a:ea typeface="微软雅黑" panose="020B0503020204020204" charset="-122"/>
              </a:rPr>
              <a:t>P20–42</a:t>
            </a:r>
            <a:endParaRPr lang="en-US" sz="1400">
              <a:solidFill>
                <a:srgbClr val="3B82F6"/>
              </a:solidFill>
              <a:latin typeface="微软雅黑" panose="020B0503020204020204" charset="-122"/>
              <a:ea typeface="微软雅黑" panose="020B0503020204020204" charset="-122"/>
            </a:endParaRPr>
          </a:p>
        </p:txBody>
      </p:sp>
      <p:sp>
        <p:nvSpPr>
          <p:cNvPr id="291" name="圆角矩形 290"/>
          <p:cNvSpPr/>
          <p:nvPr>
            <p:custDataLst>
              <p:tags r:id="rId16"/>
            </p:custDataLst>
          </p:nvPr>
        </p:nvSpPr>
        <p:spPr>
          <a:xfrm>
            <a:off x="5991225" y="3733800"/>
            <a:ext cx="5191125" cy="2400300"/>
          </a:xfrm>
          <a:prstGeom prst="roundRect">
            <a:avLst>
              <a:gd name="adj" fmla="val 5556"/>
            </a:avLst>
          </a:prstGeom>
          <a:solidFill>
            <a:srgbClr val="111B2E"/>
          </a:solidFill>
          <a:ln w="12700">
            <a:solidFill>
              <a:srgbClr val="94A3B8">
                <a:alpha val="30000"/>
              </a:srgbClr>
            </a:solidFill>
            <a:prstDash val="solid"/>
          </a:ln>
        </p:spPr>
        <p:txBody>
          <a:bodyPr/>
          <a:p>
            <a:endParaRPr sz="2400"/>
          </a:p>
        </p:txBody>
      </p:sp>
      <p:sp>
        <p:nvSpPr>
          <p:cNvPr id="292" name="文本框 291" descr="{&quot;isTemplate&quot;:true,&quot;type&quot;:&quot;text&quot;}"/>
          <p:cNvSpPr txBox="1"/>
          <p:nvPr>
            <p:custDataLst>
              <p:tags r:id="rId17"/>
            </p:custDataLst>
          </p:nvPr>
        </p:nvSpPr>
        <p:spPr>
          <a:xfrm>
            <a:off x="6219825" y="4657725"/>
            <a:ext cx="571500" cy="552450"/>
          </a:xfrm>
          <a:prstGeom prst="rect">
            <a:avLst/>
          </a:prstGeom>
        </p:spPr>
        <p:txBody>
          <a:bodyPr wrap="none" lIns="0" tIns="0" rIns="0" bIns="0"/>
          <a:p>
            <a:pPr>
              <a:lnSpc>
                <a:spcPct val="100000"/>
              </a:lnSpc>
            </a:pPr>
            <a:r>
              <a:rPr lang="en-US" sz="4400" b="1">
                <a:solidFill>
                  <a:srgbClr val="94A3B8"/>
                </a:solidFill>
                <a:latin typeface="微软雅黑" panose="020B0503020204020204" charset="-122"/>
                <a:ea typeface="微软雅黑" panose="020B0503020204020204" charset="-122"/>
              </a:rPr>
              <a:t>04</a:t>
            </a:r>
            <a:endParaRPr lang="en-US" sz="4400" b="1">
              <a:solidFill>
                <a:srgbClr val="94A3B8"/>
              </a:solidFill>
              <a:latin typeface="微软雅黑" panose="020B0503020204020204" charset="-122"/>
              <a:ea typeface="微软雅黑" panose="020B0503020204020204" charset="-122"/>
            </a:endParaRPr>
          </a:p>
        </p:txBody>
      </p:sp>
      <p:sp>
        <p:nvSpPr>
          <p:cNvPr id="293" name="文本框 292" descr="{&quot;isTemplate&quot;:true,&quot;type&quot;:&quot;text&quot;}"/>
          <p:cNvSpPr txBox="1"/>
          <p:nvPr>
            <p:custDataLst>
              <p:tags r:id="rId18"/>
            </p:custDataLst>
          </p:nvPr>
        </p:nvSpPr>
        <p:spPr>
          <a:xfrm>
            <a:off x="6981825" y="4629150"/>
            <a:ext cx="3314700" cy="266700"/>
          </a:xfrm>
          <a:prstGeom prst="rect">
            <a:avLst/>
          </a:prstGeom>
        </p:spPr>
        <p:txBody>
          <a:bodyPr wrap="none" lIns="0" tIns="0" rIns="0" bIns="0"/>
          <a:p>
            <a:pPr>
              <a:lnSpc>
                <a:spcPct val="100000"/>
              </a:lnSpc>
            </a:pPr>
            <a:r>
              <a:rPr lang="zh-CN" sz="2000" b="1">
                <a:solidFill>
                  <a:srgbClr val="E2E8F0"/>
                </a:solidFill>
                <a:latin typeface="微软雅黑" panose="020B0503020204020204" charset="-122"/>
                <a:ea typeface="微软雅黑" panose="020B0503020204020204" charset="-122"/>
              </a:rPr>
              <a:t>选题组队实践</a:t>
            </a:r>
            <a:endParaRPr lang="zh-CN" sz="2000" b="1">
              <a:solidFill>
                <a:srgbClr val="E2E8F0"/>
              </a:solidFill>
              <a:latin typeface="微软雅黑" panose="020B0503020204020204" charset="-122"/>
              <a:ea typeface="微软雅黑" panose="020B0503020204020204" charset="-122"/>
            </a:endParaRPr>
          </a:p>
        </p:txBody>
      </p:sp>
      <p:sp>
        <p:nvSpPr>
          <p:cNvPr id="294" name="文本框 293" descr="{&quot;isTemplate&quot;:true,&quot;type&quot;:&quot;text&quot;}"/>
          <p:cNvSpPr txBox="1"/>
          <p:nvPr>
            <p:custDataLst>
              <p:tags r:id="rId19"/>
            </p:custDataLst>
          </p:nvPr>
        </p:nvSpPr>
        <p:spPr>
          <a:xfrm>
            <a:off x="6981825" y="4953000"/>
            <a:ext cx="3314700" cy="285750"/>
          </a:xfrm>
          <a:prstGeom prst="rect">
            <a:avLst/>
          </a:prstGeom>
        </p:spPr>
        <p:txBody>
          <a:bodyPr wrap="none" lIns="0" tIns="0" rIns="0" bIns="0"/>
          <a:p>
            <a:pPr>
              <a:lnSpc>
                <a:spcPct val="160000"/>
              </a:lnSpc>
            </a:pPr>
            <a:r>
              <a:rPr lang="zh-CN" sz="1400">
                <a:solidFill>
                  <a:srgbClr val="94A3B8"/>
                </a:solidFill>
                <a:latin typeface="微软雅黑" panose="020B0503020204020204" charset="-122"/>
                <a:ea typeface="微软雅黑" panose="020B0503020204020204" charset="-122"/>
              </a:rPr>
              <a:t>选题</a:t>
            </a:r>
            <a:r>
              <a:rPr lang="en-US" sz="1400">
                <a:solidFill>
                  <a:srgbClr val="94A3B8"/>
                </a:solidFill>
                <a:latin typeface="微软雅黑" panose="020B0503020204020204" charset="-122"/>
                <a:ea typeface="微软雅黑" panose="020B0503020204020204" charset="-122"/>
              </a:rPr>
              <a:t> · </a:t>
            </a:r>
            <a:r>
              <a:rPr lang="zh-CN" sz="1400">
                <a:solidFill>
                  <a:srgbClr val="94A3B8"/>
                </a:solidFill>
                <a:latin typeface="微软雅黑" panose="020B0503020204020204" charset="-122"/>
                <a:ea typeface="微软雅黑" panose="020B0503020204020204" charset="-122"/>
              </a:rPr>
              <a:t>组队</a:t>
            </a:r>
            <a:r>
              <a:rPr lang="en-US" sz="1400">
                <a:solidFill>
                  <a:srgbClr val="94A3B8"/>
                </a:solidFill>
                <a:latin typeface="微软雅黑" panose="020B0503020204020204" charset="-122"/>
                <a:ea typeface="微软雅黑" panose="020B0503020204020204" charset="-122"/>
              </a:rPr>
              <a:t> · </a:t>
            </a:r>
            <a:r>
              <a:rPr lang="zh-CN" sz="1400">
                <a:solidFill>
                  <a:srgbClr val="94A3B8"/>
                </a:solidFill>
                <a:latin typeface="微软雅黑" panose="020B0503020204020204" charset="-122"/>
                <a:ea typeface="微软雅黑" panose="020B0503020204020204" charset="-122"/>
              </a:rPr>
              <a:t>章程</a:t>
            </a:r>
            <a:r>
              <a:rPr lang="en-US" sz="1400">
                <a:solidFill>
                  <a:srgbClr val="94A3B8"/>
                </a:solidFill>
                <a:latin typeface="微软雅黑" panose="020B0503020204020204" charset="-122"/>
                <a:ea typeface="微软雅黑" panose="020B0503020204020204" charset="-122"/>
              </a:rPr>
              <a:t> · </a:t>
            </a:r>
            <a:r>
              <a:rPr lang="zh-CN" sz="1400">
                <a:solidFill>
                  <a:srgbClr val="94A3B8"/>
                </a:solidFill>
                <a:latin typeface="微软雅黑" panose="020B0503020204020204" charset="-122"/>
                <a:ea typeface="微软雅黑" panose="020B0503020204020204" charset="-122"/>
              </a:rPr>
              <a:t>计划</a:t>
            </a:r>
            <a:endParaRPr lang="zh-CN" sz="1400">
              <a:solidFill>
                <a:srgbClr val="94A3B8"/>
              </a:solidFill>
              <a:latin typeface="微软雅黑" panose="020B0503020204020204" charset="-122"/>
              <a:ea typeface="微软雅黑" panose="020B0503020204020204" charset="-122"/>
            </a:endParaRPr>
          </a:p>
        </p:txBody>
      </p:sp>
      <p:sp>
        <p:nvSpPr>
          <p:cNvPr id="295" name="文本框 294" descr="{&quot;isTemplate&quot;:true,&quot;type&quot;:&quot;text&quot;}"/>
          <p:cNvSpPr txBox="1"/>
          <p:nvPr>
            <p:custDataLst>
              <p:tags r:id="rId20"/>
            </p:custDataLst>
          </p:nvPr>
        </p:nvSpPr>
        <p:spPr>
          <a:xfrm>
            <a:off x="10487025" y="4857750"/>
            <a:ext cx="466725" cy="161925"/>
          </a:xfrm>
          <a:prstGeom prst="rect">
            <a:avLst/>
          </a:prstGeom>
        </p:spPr>
        <p:txBody>
          <a:bodyPr wrap="none" lIns="0" tIns="0" rIns="0" bIns="0"/>
          <a:p>
            <a:pPr>
              <a:lnSpc>
                <a:spcPct val="100000"/>
              </a:lnSpc>
            </a:pPr>
            <a:r>
              <a:rPr lang="en-US" sz="1400">
                <a:solidFill>
                  <a:srgbClr val="94A3B8"/>
                </a:solidFill>
                <a:latin typeface="微软雅黑" panose="020B0503020204020204" charset="-122"/>
                <a:ea typeface="微软雅黑" panose="020B0503020204020204" charset="-122"/>
              </a:rPr>
              <a:t>P43–47</a:t>
            </a:r>
            <a:endParaRPr lang="en-US" sz="1400">
              <a:solidFill>
                <a:srgbClr val="94A3B8"/>
              </a:solidFill>
              <a:latin typeface="微软雅黑" panose="020B0503020204020204" charset="-122"/>
              <a:ea typeface="微软雅黑" panose="020B0503020204020204" charset="-122"/>
            </a:endParaRPr>
          </a:p>
        </p:txBody>
      </p:sp>
      <p:sp>
        <p:nvSpPr>
          <p:cNvPr id="296" name="文本框 295" descr="{&quot;isTemplate&quot;:true,&quot;type&quot;:&quot;text&quot;}"/>
          <p:cNvSpPr txBox="1"/>
          <p:nvPr/>
        </p:nvSpPr>
        <p:spPr>
          <a:xfrm>
            <a:off x="609600" y="6400800"/>
            <a:ext cx="1076325" cy="161925"/>
          </a:xfrm>
          <a:prstGeom prst="rect">
            <a:avLst/>
          </a:prstGeom>
        </p:spPr>
        <p:txBody>
          <a:bodyPr wrap="none" lIns="0" tIns="0" rIns="0" bIns="0"/>
          <a:p>
            <a:pPr>
              <a:lnSpc>
                <a:spcPct val="100000"/>
              </a:lnSpc>
            </a:pPr>
            <a:r>
              <a:rPr lang="zh-CN" sz="1400">
                <a:solidFill>
                  <a:srgbClr val="94A3B8"/>
                </a:solidFill>
                <a:latin typeface="微软雅黑" panose="020B0503020204020204" charset="-122"/>
                <a:ea typeface="微软雅黑" panose="020B0503020204020204" charset="-122"/>
              </a:rPr>
              <a:t>软件工程管理</a:t>
            </a:r>
            <a:r>
              <a:rPr lang="en-US" sz="1400">
                <a:solidFill>
                  <a:srgbClr val="94A3B8"/>
                </a:solidFill>
                <a:latin typeface="微软雅黑" panose="020B0503020204020204" charset="-122"/>
                <a:ea typeface="微软雅黑" panose="020B0503020204020204" charset="-122"/>
              </a:rPr>
              <a:t> · P4</a:t>
            </a:r>
            <a:endParaRPr lang="en-US" sz="1400">
              <a:solidFill>
                <a:srgbClr val="94A3B8"/>
              </a:solidFill>
              <a:latin typeface="微软雅黑" panose="020B0503020204020204" charset="-122"/>
              <a:ea typeface="微软雅黑" panose="020B0503020204020204" charset="-122"/>
            </a:endParaRPr>
          </a:p>
        </p:txBody>
      </p:sp>
      <p:sp>
        <p:nvSpPr>
          <p:cNvPr id="297" name="文本框 296"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400">
                <a:solidFill>
                  <a:srgbClr val="94A3B8"/>
                </a:solidFill>
                <a:latin typeface="微软雅黑" panose="020B0503020204020204" charset="-122"/>
                <a:ea typeface="微软雅黑" panose="020B0503020204020204" charset="-122"/>
              </a:rPr>
              <a:t>02 / 47</a:t>
            </a:r>
            <a:endParaRPr lang="en-US" sz="140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52" name="" descr="&lt;Slide style={{ width: 1280, height: 720, background: '#0B1220', position: 'relative', overflow: 'hidden' }}&gt;&#10;    &lt;Image src=&quot;assets/sec_bg.png&quot; style={{ position: 'absolute', top: 0, left: 0, width: 1280, height: 720, objectFit: 'cover', clipPath: 'inset(0 0 11% 0)' }} /&gt;&#10;    &lt;Box style={{ position: 'absolute', top: 0, left: 0, width: 1280, height: 720, background: 'linear-gradient(180deg, rgba(11,18,32,0.45) 0%, rgba(11,18,32,0.75) 100%)' }} /&gt;&#10;    &lt;Box style={{ position: 'absolute', left: 96, top: 180 }}&gt;&#10;        &lt;Text style={{ fontSize: 120, fontWeight: 'bold', color: 'rgba(139,92,246,0.28)' }}&gt;01&lt;/Text&gt;&#10;        &lt;Text style={{ fontSize: 62, fontWeight: 'bold', color: '#E2E8F0', marginTop: 8 }}&gt;十大创新实践课题&lt;/Text&gt;&#10;        &lt;Box style={{ width: 90, height: 5, background: 'linear-gradient(90deg, #8B5CF6 0%, #22D3EE 100%)', borderRadius: 3, marginTop: 26 }} /&gt;&#10;        &lt;Text style={{ fontSize: 20, color: '#94A3B8', marginTop: 26, letterSpacing: 2 }}&gt;产业网链大模型 · 4 大基础底座 + 6 大业务应用&lt;/Text&gt;&#10;    &lt;/Box&gt;&#10;    &lt;Box style={{ position: 'absolute', right: 96, bottom: 72, flexDirection: 'row', gap: 12, alignItems: 'center' }}&gt;&#10;        &lt;Box style={{ width: 8, height: 8, borderRadius: 4, background: '#8B5CF6' }} /&gt;&#10;        &lt;Box style={{ width: 8, height: 8, borderRadius: 4, background: 'rgba(139,92,246,0.35)' }} /&gt;&#10;        &lt;Box style={{ width: 8, height: 8, borderRadius: 4, background: 'rgba(139,92,246,0.35)' }} /&gt;&#10;        &lt;Box style={{ width: 8, height: 8, borderRadius: 4, background: 'rgba(139,92,246,0.35)' }} /&gt;&#10;    &lt;/Box&gt;&#10;&lt;/Slide&gt;&#10;"/>
        <p:cNvGrpSpPr/>
        <p:nvPr/>
      </p:nvGrpSpPr>
      <p:grpSpPr>
        <a:xfrm>
          <a:off x="0" y="0"/>
          <a:ext cx="0" cy="0"/>
          <a:chOff x="0" y="0"/>
          <a:chExt cx="0" cy="0"/>
        </a:xfrm>
      </p:grpSpPr>
      <p:sp>
        <p:nvSpPr>
          <p:cNvPr id="453" name="矩形 452"/>
          <p:cNvSpPr/>
          <p:nvPr/>
        </p:nvSpPr>
        <p:spPr>
          <a:xfrm>
            <a:off x="0" y="0"/>
            <a:ext cx="12192000" cy="6858000"/>
          </a:xfrm>
          <a:prstGeom prst="rect">
            <a:avLst/>
          </a:prstGeom>
          <a:solidFill>
            <a:srgbClr val="0B1220"/>
          </a:solidFill>
        </p:spPr>
        <p:txBody>
          <a:bodyPr/>
          <a:p/>
        </p:txBody>
      </p:sp>
      <p:pic>
        <p:nvPicPr>
          <p:cNvPr id="454" name="图片 453"/>
          <p:cNvPicPr>
            <a:picLocks noChangeAspect="1"/>
          </p:cNvPicPr>
          <p:nvPr/>
        </p:nvPicPr>
        <p:blipFill>
          <a:blip r:embed="rId1"/>
          <a:srcRect t="7812" b="7812"/>
          <a:stretch>
            <a:fillRect/>
          </a:stretch>
        </p:blipFill>
        <p:spPr>
          <a:xfrm>
            <a:off x="0" y="0"/>
            <a:ext cx="12192000" cy="6858000"/>
          </a:xfrm>
          <a:custGeom>
            <a:avLst/>
            <a:gdLst/>
            <a:ahLst/>
            <a:cxnLst/>
            <a:pathLst>
              <a:path w="1280" h="720">
                <a:moveTo>
                  <a:pt x="0" y="0"/>
                </a:moveTo>
                <a:lnTo>
                  <a:pt x="1280" y="0"/>
                </a:lnTo>
                <a:lnTo>
                  <a:pt x="1280" y="641"/>
                </a:lnTo>
                <a:lnTo>
                  <a:pt x="0" y="641"/>
                </a:lnTo>
                <a:close/>
              </a:path>
            </a:pathLst>
          </a:custGeom>
        </p:spPr>
      </p:pic>
      <p:sp>
        <p:nvSpPr>
          <p:cNvPr id="455" name="矩形 454"/>
          <p:cNvSpPr/>
          <p:nvPr/>
        </p:nvSpPr>
        <p:spPr>
          <a:xfrm>
            <a:off x="0" y="0"/>
            <a:ext cx="12192000" cy="6858000"/>
          </a:xfrm>
          <a:prstGeom prst="rect">
            <a:avLst/>
          </a:prstGeom>
          <a:gradFill>
            <a:gsLst>
              <a:gs pos="0">
                <a:srgbClr val="0B1220">
                  <a:alpha val="45000"/>
                </a:srgbClr>
              </a:gs>
              <a:gs pos="100000">
                <a:srgbClr val="0B1220">
                  <a:alpha val="75000"/>
                </a:srgbClr>
              </a:gs>
            </a:gsLst>
            <a:lin ang="5400000" scaled="1"/>
          </a:gradFill>
        </p:spPr>
        <p:txBody>
          <a:bodyPr/>
          <a:p/>
        </p:txBody>
      </p:sp>
      <p:sp>
        <p:nvSpPr>
          <p:cNvPr id="456" name="文本框 455" descr="{&quot;isTemplate&quot;:true,&quot;type&quot;:&quot;text&quot;}"/>
          <p:cNvSpPr txBox="1"/>
          <p:nvPr/>
        </p:nvSpPr>
        <p:spPr>
          <a:xfrm>
            <a:off x="914400" y="1714500"/>
            <a:ext cx="4724400" cy="1371600"/>
          </a:xfrm>
          <a:prstGeom prst="rect">
            <a:avLst/>
          </a:prstGeom>
        </p:spPr>
        <p:txBody>
          <a:bodyPr wrap="none" lIns="0" tIns="0" rIns="0" bIns="0"/>
          <a:p>
            <a:pPr>
              <a:lnSpc>
                <a:spcPct val="100000"/>
              </a:lnSpc>
            </a:pPr>
            <a:r>
              <a:rPr lang="en-US" sz="9000" b="1">
                <a:solidFill>
                  <a:srgbClr val="8B5CF6">
                    <a:alpha val="28000"/>
                  </a:srgbClr>
                </a:solidFill>
                <a:latin typeface="微软雅黑" panose="020B0503020204020204" charset="-122"/>
                <a:ea typeface="微软雅黑" panose="020B0503020204020204" charset="-122"/>
              </a:rPr>
              <a:t>01</a:t>
            </a:r>
            <a:endParaRPr lang="en-US" sz="9000" b="1">
              <a:solidFill>
                <a:srgbClr val="8B5CF6">
                  <a:alpha val="28000"/>
                </a:srgbClr>
              </a:solidFill>
              <a:latin typeface="微软雅黑" panose="020B0503020204020204" charset="-122"/>
              <a:ea typeface="微软雅黑" panose="020B0503020204020204" charset="-122"/>
            </a:endParaRPr>
          </a:p>
        </p:txBody>
      </p:sp>
      <p:sp>
        <p:nvSpPr>
          <p:cNvPr id="457" name="文本框 456" descr="{&quot;isTemplate&quot;:true,&quot;type&quot;:&quot;text&quot;}"/>
          <p:cNvSpPr txBox="1"/>
          <p:nvPr/>
        </p:nvSpPr>
        <p:spPr>
          <a:xfrm>
            <a:off x="914400" y="3162300"/>
            <a:ext cx="4724400" cy="714375"/>
          </a:xfrm>
          <a:prstGeom prst="rect">
            <a:avLst/>
          </a:prstGeom>
        </p:spPr>
        <p:txBody>
          <a:bodyPr wrap="none" lIns="0" tIns="0" rIns="0" bIns="0"/>
          <a:p>
            <a:pPr>
              <a:lnSpc>
                <a:spcPct val="100000"/>
              </a:lnSpc>
            </a:pPr>
            <a:r>
              <a:rPr lang="zh-CN" sz="4650" b="1">
                <a:solidFill>
                  <a:srgbClr val="E2E8F0"/>
                </a:solidFill>
                <a:latin typeface="微软雅黑" panose="020B0503020204020204" charset="-122"/>
                <a:ea typeface="微软雅黑" panose="020B0503020204020204" charset="-122"/>
              </a:rPr>
              <a:t>十大创新实践课题</a:t>
            </a:r>
            <a:endParaRPr lang="zh-CN" sz="4650" b="1">
              <a:solidFill>
                <a:srgbClr val="E2E8F0"/>
              </a:solidFill>
              <a:latin typeface="微软雅黑" panose="020B0503020204020204" charset="-122"/>
              <a:ea typeface="微软雅黑" panose="020B0503020204020204" charset="-122"/>
            </a:endParaRPr>
          </a:p>
        </p:txBody>
      </p:sp>
      <p:sp>
        <p:nvSpPr>
          <p:cNvPr id="458" name="圆角矩形 457"/>
          <p:cNvSpPr/>
          <p:nvPr/>
        </p:nvSpPr>
        <p:spPr>
          <a:xfrm>
            <a:off x="914400" y="4124325"/>
            <a:ext cx="857250" cy="47625"/>
          </a:xfrm>
          <a:prstGeom prst="roundRect">
            <a:avLst>
              <a:gd name="adj" fmla="val 60000"/>
            </a:avLst>
          </a:prstGeom>
          <a:gradFill>
            <a:gsLst>
              <a:gs pos="0">
                <a:srgbClr val="8B5CF6"/>
              </a:gs>
              <a:gs pos="100000">
                <a:srgbClr val="22D3EE"/>
              </a:gs>
            </a:gsLst>
            <a:lin ang="0" scaled="1"/>
          </a:gradFill>
        </p:spPr>
        <p:txBody>
          <a:bodyPr/>
          <a:p/>
        </p:txBody>
      </p:sp>
      <p:sp>
        <p:nvSpPr>
          <p:cNvPr id="459" name="文本框 458" descr="{&quot;isTemplate&quot;:true,&quot;type&quot;:&quot;text&quot;}"/>
          <p:cNvSpPr txBox="1"/>
          <p:nvPr/>
        </p:nvSpPr>
        <p:spPr>
          <a:xfrm>
            <a:off x="914400" y="4419600"/>
            <a:ext cx="4724400" cy="228600"/>
          </a:xfrm>
          <a:prstGeom prst="rect">
            <a:avLst/>
          </a:prstGeom>
        </p:spPr>
        <p:txBody>
          <a:bodyPr wrap="none" lIns="0" tIns="0" rIns="0" bIns="0"/>
          <a:p>
            <a:pPr>
              <a:lnSpc>
                <a:spcPct val="100000"/>
              </a:lnSpc>
            </a:pPr>
            <a:r>
              <a:rPr lang="zh-CN" sz="1500" spc="150">
                <a:solidFill>
                  <a:srgbClr val="94A3B8"/>
                </a:solidFill>
                <a:latin typeface="微软雅黑" panose="020B0503020204020204" charset="-122"/>
                <a:ea typeface="微软雅黑" panose="020B0503020204020204" charset="-122"/>
              </a:rPr>
              <a:t>产业网链大模型</a:t>
            </a:r>
            <a:r>
              <a:rPr lang="en-US" sz="1500" spc="150">
                <a:solidFill>
                  <a:srgbClr val="94A3B8"/>
                </a:solidFill>
                <a:latin typeface="微软雅黑" panose="020B0503020204020204" charset="-122"/>
                <a:ea typeface="微软雅黑" panose="020B0503020204020204" charset="-122"/>
              </a:rPr>
              <a:t> · 4 </a:t>
            </a:r>
            <a:r>
              <a:rPr lang="zh-CN" sz="1500" spc="150">
                <a:solidFill>
                  <a:srgbClr val="94A3B8"/>
                </a:solidFill>
                <a:latin typeface="微软雅黑" panose="020B0503020204020204" charset="-122"/>
                <a:ea typeface="微软雅黑" panose="020B0503020204020204" charset="-122"/>
              </a:rPr>
              <a:t>大基础底座</a:t>
            </a:r>
            <a:r>
              <a:rPr lang="en-US" sz="1500" spc="150">
                <a:solidFill>
                  <a:srgbClr val="94A3B8"/>
                </a:solidFill>
                <a:latin typeface="微软雅黑" panose="020B0503020204020204" charset="-122"/>
                <a:ea typeface="微软雅黑" panose="020B0503020204020204" charset="-122"/>
              </a:rPr>
              <a:t> + 6 </a:t>
            </a:r>
            <a:r>
              <a:rPr lang="zh-CN" sz="1500" spc="150">
                <a:solidFill>
                  <a:srgbClr val="94A3B8"/>
                </a:solidFill>
                <a:latin typeface="微软雅黑" panose="020B0503020204020204" charset="-122"/>
                <a:ea typeface="微软雅黑" panose="020B0503020204020204" charset="-122"/>
              </a:rPr>
              <a:t>大业务应用</a:t>
            </a:r>
            <a:endParaRPr lang="zh-CN" sz="1500" spc="150">
              <a:solidFill>
                <a:srgbClr val="94A3B8"/>
              </a:solidFill>
              <a:latin typeface="微软雅黑" panose="020B0503020204020204" charset="-122"/>
              <a:ea typeface="微软雅黑" panose="020B0503020204020204" charset="-122"/>
            </a:endParaRPr>
          </a:p>
        </p:txBody>
      </p:sp>
      <p:sp>
        <p:nvSpPr>
          <p:cNvPr id="460" name="圆角矩形 459"/>
          <p:cNvSpPr/>
          <p:nvPr/>
        </p:nvSpPr>
        <p:spPr>
          <a:xfrm>
            <a:off x="10629900" y="6096000"/>
            <a:ext cx="76200" cy="76200"/>
          </a:xfrm>
          <a:prstGeom prst="roundRect">
            <a:avLst>
              <a:gd name="adj" fmla="val 50000"/>
            </a:avLst>
          </a:prstGeom>
          <a:solidFill>
            <a:srgbClr val="8B5CF6"/>
          </a:solidFill>
        </p:spPr>
        <p:txBody>
          <a:bodyPr/>
          <a:p/>
        </p:txBody>
      </p:sp>
      <p:sp>
        <p:nvSpPr>
          <p:cNvPr id="461" name="圆角矩形 460"/>
          <p:cNvSpPr/>
          <p:nvPr/>
        </p:nvSpPr>
        <p:spPr>
          <a:xfrm>
            <a:off x="10820400" y="6096000"/>
            <a:ext cx="76200" cy="76200"/>
          </a:xfrm>
          <a:prstGeom prst="roundRect">
            <a:avLst>
              <a:gd name="adj" fmla="val 50000"/>
            </a:avLst>
          </a:prstGeom>
          <a:solidFill>
            <a:srgbClr val="8B5CF6">
              <a:alpha val="35000"/>
            </a:srgbClr>
          </a:solidFill>
        </p:spPr>
        <p:txBody>
          <a:bodyPr/>
          <a:p/>
        </p:txBody>
      </p:sp>
      <p:sp>
        <p:nvSpPr>
          <p:cNvPr id="462" name="圆角矩形 461"/>
          <p:cNvSpPr/>
          <p:nvPr/>
        </p:nvSpPr>
        <p:spPr>
          <a:xfrm>
            <a:off x="11010900" y="6096000"/>
            <a:ext cx="76200" cy="76200"/>
          </a:xfrm>
          <a:prstGeom prst="roundRect">
            <a:avLst>
              <a:gd name="adj" fmla="val 50000"/>
            </a:avLst>
          </a:prstGeom>
          <a:solidFill>
            <a:srgbClr val="8B5CF6">
              <a:alpha val="35000"/>
            </a:srgbClr>
          </a:solidFill>
        </p:spPr>
        <p:txBody>
          <a:bodyPr/>
          <a:p/>
        </p:txBody>
      </p:sp>
      <p:sp>
        <p:nvSpPr>
          <p:cNvPr id="463" name="圆角矩形 462"/>
          <p:cNvSpPr/>
          <p:nvPr/>
        </p:nvSpPr>
        <p:spPr>
          <a:xfrm>
            <a:off x="11201400" y="6096000"/>
            <a:ext cx="76200" cy="76200"/>
          </a:xfrm>
          <a:prstGeom prst="roundRect">
            <a:avLst>
              <a:gd name="adj" fmla="val 50000"/>
            </a:avLst>
          </a:prstGeom>
          <a:solidFill>
            <a:srgbClr val="8B5CF6">
              <a:alpha val="35000"/>
            </a:srgbClr>
          </a:solidFill>
        </p:spPr>
        <p:txBody>
          <a:body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57" name="" descr="&lt;Slide style={{ width: 1280, height: 720, background: '#0B1220', padding: '20px 64px', display: 'flex', flexDirection: 'column' }}&gt;&#10;    &lt;Box style={{ flexDirection: 'row', height: 100, alignItems: 'center' }}&gt;&#10;        &lt;Box style={{ width: 6, height: 44, background: 'linear-gradient(180deg, #8B5CF6 0%, #22D3EE 100%)', borderRadius: 3, marginRight: 20 }} /&gt;&#10;        &lt;Text style={{ fontSize: 34, fontWeight: 'bold', color: '#E2E8F0' }}&gt;课题总览：十大创新实践课题&lt;/Text&gt;&#10;        &lt;Text style={{ fontSize: 15, color: '#94A3B8', marginLeft: 18 }}&gt;产业网链大模型平台 · 分层架构&lt;/Text&gt;&#10;    &lt;/Box&gt;&#10;    &lt;Box style={{ flex: 1, flexDirection: 'column', justifyContent: 'center', gap: 14 }}&gt;&#10;        &lt;Box style={{ background: '#111B2E', borderRadius: 10, padding: '11px 22px', flexDirection: 'row', alignItems: 'center', gap: 12 }}&gt;&#10;            &lt;Box style={{ width: 8, height: 8, borderRadius: 4, background: '#22D3EE' }} /&gt;&#10;            &lt;Text style={{ fontSize: 15, color: '#E2E8F0' }}&gt;平台采用 &lt;span style={{ fontWeight: 'bold', color: '#22D3EE' }}&gt;「底层基础底座 + 上层产业应用」&lt;/span&gt; 分层架构，十大课题独立、完整、可工程化、可协同集成&lt;/Text&gt;&#10;        &lt;/Box&gt;&#10;        &lt;Box style={{ flexDirection: 'row', gap: 14, alignItems: 'stretch' }}&gt;&#10;            &lt;Box style={{ width: 300, background: 'rgba(34,211,238,0.08)', borderRadius: 12, padding: '14px 18px', border: '1px solid rgba(34,211,238,0.35)', justifyContent: 'center' }}&gt;&#10;                &lt;Text style={{ fontSize: 17, fontWeight: 'bold', color: '#67E8F9' }}&gt;底层基础底座&lt;/Text&gt;&#10;                &lt;Text style={{ fontSize: 13.5, color: '#94A3B8', marginTop: 4 }}&gt;四大平台核心支撑系统&lt;/Text&gt;&#10;            &lt;/Box&gt;&#10;            &lt;Box style={{ flex: 1, flexDirection: 'row', flexWrap: 'wrap', gap: 10, alignContent: 'center' }}&gt;&#10;                &lt;Box style={{ width: 200, background: '#111B2E', borderRadius: 10, padding: '10px 14px', border: '1px solid rgba(34,211,238,0.25)' }}&gt;&#10;                    &lt;Text style={{ fontSize: 14, fontWeight: 'bold', color: '#67E8F9' }}&gt;课题 1&lt;/Text&gt;&#10;                    &lt;Text style={{ fontSize: 14, color: '#E2E8F0', marginTop: 3, lineHeight: 1.4 }}&gt;产业图谱智能自动构建&lt;/Text&gt;&#10;                &lt;/Box&gt;&#10;                &lt;Box style={{ width: 200, background: '#111B2E', borderRadius: 10, padding: '10px 14px', border: '1px solid rgba(34,211,238,0.25)' }}&gt;&#10;                    &lt;Text style={{ fontSize: 14, fontWeight: 'bold', color: '#67E8F9' }}&gt;课题 2&lt;/Text&gt;&#10;                    &lt;Text style={{ fontSize: 14, color: '#E2E8F0', marginTop: 3, lineHeight: 1.4 }}&gt;产业智能报告自动生成&lt;/Text&gt;&#10;                &lt;/Box&gt;&#10;                &lt;Box style={{ width: 200, background: '#111B2E', borderRadius: 10, padding: '10px 14px', border: '1px solid rgba(34,211,238,0.25)' }}&gt;&#10;                    &lt;Text style={{ fontSize: 14, fontWeight: 'bold', color: '#67E8F9' }}&gt;课题 3&lt;/Text&gt;&#10;                    &lt;Text style={{ fontSize: 14, color: '#E2E8F0', marginTop: 3, lineHeight: 1.4 }}&gt;产业链态势感知与头条推送&lt;/Text&gt;&#10;                &lt;/Box&gt;&#10;                &lt;Box style={{ width: 200, background: '#111B2E', borderRadius: 10, padding: '10px 14px', border: '1px solid rgba(34,211,238,0.25)' }}&gt;&#10;                    &lt;Text style={{ fontSize: 14, fontWeight: 'bold', color: '#67E8F9' }}&gt;课题 4&lt;/Text&gt;&#10;                    &lt;Text style={{ fontSize: 14, color: '#E2E8F0', marginTop: 3, lineHeight: 1.4 }}&gt;产业百科与产品百科知识库&lt;/Text&gt;&#10;                &lt;/Box&gt;&#10;            &lt;/Box&gt;&#10;        &lt;/Box&gt;&#10;        &lt;Box style={{ flexDirection: 'row', gap: 14, alignItems: 'stretch' }}&gt;&#10;            &lt;Box style={{ width: 300, background: 'rgba(139,92,246,0.10)', borderRadius: 12, padding: '14px 18px', border: '1px solid rgba(139,92,246,0.4)', justifyContent: 'center' }}&gt;&#10;                &lt;Text style={{ fontSize: 17, fontWeight: 'bold', color: '#C4B5FD' }}&gt;上层产业应用&lt;/Text&gt;&#10;                &lt;Text style={{ fontSize: 13.5, color: '#94A3B8', marginTop: 4 }}&gt;六大智能业务场景系统&lt;/Text&gt;&#10;            &lt;/Box&gt;&#10;            &lt;Box style={{ flex: 1, flexDirection: 'row', flexWrap: 'wrap', gap: 10, alignContent: 'center' }}&gt;&#10;                &lt;Box style={{ width: 200, background: '#111B2E', borderRadius: 10, padding: '10px 14px', border: '1px solid rgba(139,92,246,0.3)' }}&gt;&#10;                    &lt;Text style={{ fontSize: 14, fontWeight: 'bold', color: '#C4B5FD' }}&gt;课题 5&lt;/Text&gt;&#10;                    &lt;Text style={{ fontSize: 14, color: '#E2E8F0', marginTop: 3, lineHeight: 1.4 }}&gt;智能产业研究与产业链诊断&lt;/Text&gt;&#10;                &lt;/Box&gt;&#10;                &lt;Box style={{ width: 200, background: '#111B2E', borderRadius: 10, padding: '10px 14px', border: '1px solid rgba(139,92,246,0.3)' }}&gt;&#10;                    &lt;Text style={{ fontSize: 14, fontWeight: 'bold', color: '#C4B5FD' }}&gt;课题 6&lt;/Text&gt;&#10;                    &lt;Text style={{ fontSize: 14, color: '#E2E8F0', marginTop: 3, lineHeight: 1.4 }}&gt;科技情报与前沿技术挖掘&lt;/Text&gt;&#10;                &lt;/Box&gt;&#10;                &lt;Box style={{ width: 200, background: '#111B2E', borderRadius: 10, padding: '10px 14px', border: '1px solid rgba(139,92,246,0.3)' }}&gt;&#10;                    &lt;Text style={{ fontSize: 14, fontWeight: 'bold', color: '#C4B5FD' }}&gt;课题 7&lt;/Text&gt;&#10;                    &lt;Text style={{ fontSize: 14, color: '#E2E8F0', marginTop: 3, lineHeight: 1.4 }}&gt;技术转化智能匹配与产学研对接&lt;/Text&gt;&#10;                &lt;/Box&gt;&#10;                &lt;Box style={{ width: 200, background: '#111B2E', borderRadius: 10, padding: '10px 14px', border: '1px solid rgba(139,92,246,0.3)' }}&gt;&#10;                    &lt;Text style={{ fontSize: 14, fontWeight: 'bold', color: '#C4B5FD' }}&gt;课题 8&lt;/Text&gt;&#10;                    &lt;Text style={{ fontSize: 14, color: '#E2E8F0', marginTop: 3, lineHeight: 1.4 }}&gt;链式智能招商推荐&lt;/Text&gt;&#10;                &lt;/Box&gt;&#10;                &lt;Box style={{ width: 200, background: '#111B2E', borderRadius: 10, padding: '10px 14px', border: '1px solid rgba(139,92,246,0.3)' }}&gt;&#10;                    &lt;Text style={{ fontSize: 14, fontWeight: 'bold', color: '#C4B5FD' }}&gt;课题 9&lt;/Text&gt;&#10;                    &lt;Text style={{ fontSize: 14, color: '#E2E8F0', marginTop: 3, lineHeight: 1.4 }}&gt;产业链供需仿真与风险推演&lt;/Text&gt;&#10;                &lt;/Box&gt;&#10;                &lt;Box style={{ width: 200, background: '#111B2E', borderRadius: 10, padding: '10px 14px', border: '1px solid rgba(139,92,246,0.3)' }}&gt;&#10;                    &lt;Text style={{ fontSize: 14, fontWeight: 'bold', color: '#C4B5FD' }}&gt;课题 10&lt;/Text&gt;&#10;                    &lt;Text style={{ fontSize: 14, color: '#E2E8F0', marginTop: 3, lineHeight: 1.4 }}&gt;产业出海智能服务&lt;/Text&gt;&#10;                &lt;/Box&gt;&#10;            &lt;/Box&gt;&#10;        &lt;/Box&gt;&#10;    &lt;/Box&gt;&#10;    &lt;Box style={{ height: 40, flexDirection: 'row', justifyContent: 'space-between', alignItems: 'center', marginTop: 16 }}&gt;&#10;        &lt;Text style={{ fontSize: 14, color: '#94A3B8' }}&gt;01 十大创新实践课题&lt;/Text&gt;&#10;        &lt;Text style={{ fontSize: 14, color: '#94A3B8' }}&gt;04 / 47&lt;/Text&gt;&#10;    &lt;/Box&gt;&#10;&lt;/Slide&gt;&#10;"/>
        <p:cNvGrpSpPr/>
        <p:nvPr/>
      </p:nvGrpSpPr>
      <p:grpSpPr>
        <a:xfrm>
          <a:off x="0" y="0"/>
          <a:ext cx="0" cy="0"/>
          <a:chOff x="0" y="0"/>
          <a:chExt cx="0" cy="0"/>
        </a:xfrm>
      </p:grpSpPr>
      <p:sp>
        <p:nvSpPr>
          <p:cNvPr id="658" name="矩形 657"/>
          <p:cNvSpPr/>
          <p:nvPr/>
        </p:nvSpPr>
        <p:spPr>
          <a:xfrm>
            <a:off x="0" y="0"/>
            <a:ext cx="12192000" cy="6858000"/>
          </a:xfrm>
          <a:prstGeom prst="rect">
            <a:avLst/>
          </a:prstGeom>
          <a:solidFill>
            <a:srgbClr val="0B1220"/>
          </a:solidFill>
        </p:spPr>
        <p:txBody>
          <a:bodyPr/>
          <a:p>
            <a:endParaRPr sz="2400"/>
          </a:p>
        </p:txBody>
      </p:sp>
      <p:sp>
        <p:nvSpPr>
          <p:cNvPr id="659" name="圆角矩形 658"/>
          <p:cNvSpPr/>
          <p:nvPr/>
        </p:nvSpPr>
        <p:spPr>
          <a:xfrm>
            <a:off x="609600" y="457200"/>
            <a:ext cx="57150" cy="419100"/>
          </a:xfrm>
          <a:prstGeom prst="roundRect">
            <a:avLst>
              <a:gd name="adj" fmla="val 50000"/>
            </a:avLst>
          </a:prstGeom>
          <a:gradFill>
            <a:gsLst>
              <a:gs pos="0">
                <a:srgbClr val="8B5CF6"/>
              </a:gs>
              <a:gs pos="100000">
                <a:srgbClr val="22D3EE"/>
              </a:gs>
            </a:gsLst>
            <a:lin ang="5400000" scaled="1"/>
          </a:gradFill>
        </p:spPr>
        <p:txBody>
          <a:bodyPr/>
          <a:p>
            <a:endParaRPr sz="2400"/>
          </a:p>
        </p:txBody>
      </p:sp>
      <p:sp>
        <p:nvSpPr>
          <p:cNvPr id="660" name="文本框 659" descr="{&quot;isTemplate&quot;:true,&quot;type&quot;:&quot;text&quot;}"/>
          <p:cNvSpPr txBox="1"/>
          <p:nvPr/>
        </p:nvSpPr>
        <p:spPr>
          <a:xfrm>
            <a:off x="857250" y="476250"/>
            <a:ext cx="4210050" cy="390525"/>
          </a:xfrm>
          <a:prstGeom prst="rect">
            <a:avLst/>
          </a:prstGeom>
        </p:spPr>
        <p:txBody>
          <a:bodyPr wrap="none" lIns="0" tIns="0" rIns="0" bIns="0"/>
          <a:p>
            <a:pPr>
              <a:lnSpc>
                <a:spcPct val="100000"/>
              </a:lnSpc>
            </a:pPr>
            <a:r>
              <a:rPr lang="zh-CN" sz="3200" b="1">
                <a:solidFill>
                  <a:srgbClr val="E2E8F0"/>
                </a:solidFill>
                <a:latin typeface="微软雅黑" panose="020B0503020204020204" charset="-122"/>
                <a:ea typeface="微软雅黑" panose="020B0503020204020204" charset="-122"/>
              </a:rPr>
              <a:t>课题总览：十大创新实践课题</a:t>
            </a:r>
            <a:endParaRPr lang="zh-CN" sz="3200" b="1">
              <a:solidFill>
                <a:srgbClr val="E2E8F0"/>
              </a:solidFill>
              <a:latin typeface="微软雅黑" panose="020B0503020204020204" charset="-122"/>
              <a:ea typeface="微软雅黑" panose="020B0503020204020204" charset="-122"/>
            </a:endParaRPr>
          </a:p>
        </p:txBody>
      </p:sp>
      <p:sp>
        <p:nvSpPr>
          <p:cNvPr id="661" name="文本框 660" descr="{&quot;isTemplate&quot;:true,&quot;type&quot;:&quot;text&quot;}"/>
          <p:cNvSpPr txBox="1"/>
          <p:nvPr/>
        </p:nvSpPr>
        <p:spPr>
          <a:xfrm>
            <a:off x="5238750" y="581025"/>
            <a:ext cx="1981200" cy="171450"/>
          </a:xfrm>
          <a:prstGeom prst="rect">
            <a:avLst/>
          </a:prstGeom>
        </p:spPr>
        <p:txBody>
          <a:bodyPr wrap="none" lIns="0" tIns="0" rIns="0" bIns="0"/>
          <a:p>
            <a:pPr>
              <a:lnSpc>
                <a:spcPct val="100000"/>
              </a:lnSpc>
            </a:pPr>
            <a:r>
              <a:rPr lang="zh-CN" sz="1400">
                <a:solidFill>
                  <a:srgbClr val="94A3B8"/>
                </a:solidFill>
                <a:latin typeface="微软雅黑" panose="020B0503020204020204" charset="-122"/>
                <a:ea typeface="微软雅黑" panose="020B0503020204020204" charset="-122"/>
              </a:rPr>
              <a:t>产业网链大模型平台</a:t>
            </a:r>
            <a:r>
              <a:rPr lang="en-US" sz="1400">
                <a:solidFill>
                  <a:srgbClr val="94A3B8"/>
                </a:solidFill>
                <a:latin typeface="微软雅黑" panose="020B0503020204020204" charset="-122"/>
                <a:ea typeface="微软雅黑" panose="020B0503020204020204" charset="-122"/>
              </a:rPr>
              <a:t> · </a:t>
            </a:r>
            <a:r>
              <a:rPr lang="zh-CN" sz="1400">
                <a:solidFill>
                  <a:srgbClr val="94A3B8"/>
                </a:solidFill>
                <a:latin typeface="微软雅黑" panose="020B0503020204020204" charset="-122"/>
                <a:ea typeface="微软雅黑" panose="020B0503020204020204" charset="-122"/>
              </a:rPr>
              <a:t>分层架构</a:t>
            </a:r>
            <a:endParaRPr lang="zh-CN" sz="1400">
              <a:solidFill>
                <a:srgbClr val="94A3B8"/>
              </a:solidFill>
              <a:latin typeface="微软雅黑" panose="020B0503020204020204" charset="-122"/>
              <a:ea typeface="微软雅黑" panose="020B0503020204020204" charset="-122"/>
            </a:endParaRPr>
          </a:p>
        </p:txBody>
      </p:sp>
      <p:sp>
        <p:nvSpPr>
          <p:cNvPr id="662" name="圆角矩形 661"/>
          <p:cNvSpPr/>
          <p:nvPr/>
        </p:nvSpPr>
        <p:spPr>
          <a:xfrm>
            <a:off x="609600" y="2209800"/>
            <a:ext cx="10972800" cy="381000"/>
          </a:xfrm>
          <a:prstGeom prst="roundRect">
            <a:avLst>
              <a:gd name="adj" fmla="val 25000"/>
            </a:avLst>
          </a:prstGeom>
          <a:solidFill>
            <a:srgbClr val="111B2E"/>
          </a:solidFill>
        </p:spPr>
        <p:txBody>
          <a:bodyPr/>
          <a:p>
            <a:endParaRPr sz="2400"/>
          </a:p>
        </p:txBody>
      </p:sp>
      <p:sp>
        <p:nvSpPr>
          <p:cNvPr id="663" name="圆角矩形 662"/>
          <p:cNvSpPr/>
          <p:nvPr/>
        </p:nvSpPr>
        <p:spPr>
          <a:xfrm>
            <a:off x="819150" y="2362200"/>
            <a:ext cx="76200" cy="76200"/>
          </a:xfrm>
          <a:prstGeom prst="roundRect">
            <a:avLst>
              <a:gd name="adj" fmla="val 50000"/>
            </a:avLst>
          </a:prstGeom>
          <a:solidFill>
            <a:srgbClr val="22D3EE"/>
          </a:solidFill>
        </p:spPr>
        <p:txBody>
          <a:bodyPr/>
          <a:p>
            <a:endParaRPr sz="2400"/>
          </a:p>
        </p:txBody>
      </p:sp>
      <p:sp>
        <p:nvSpPr>
          <p:cNvPr id="664" name="文本框 663" descr="{&quot;isTemplate&quot;:true,&quot;type&quot;:&quot;text&quot;}"/>
          <p:cNvSpPr txBox="1"/>
          <p:nvPr/>
        </p:nvSpPr>
        <p:spPr>
          <a:xfrm>
            <a:off x="1009650" y="2314575"/>
            <a:ext cx="6429375" cy="171450"/>
          </a:xfrm>
          <a:prstGeom prst="rect">
            <a:avLst/>
          </a:prstGeom>
        </p:spPr>
        <p:txBody>
          <a:bodyPr wrap="none" lIns="0" tIns="0" rIns="0" bIns="0"/>
          <a:p>
            <a:pPr>
              <a:lnSpc>
                <a:spcPct val="100000"/>
              </a:lnSpc>
            </a:pPr>
            <a:r>
              <a:rPr lang="zh-CN" sz="1400">
                <a:solidFill>
                  <a:srgbClr val="E2E8F0"/>
                </a:solidFill>
                <a:latin typeface="微软雅黑" panose="020B0503020204020204" charset="-122"/>
                <a:ea typeface="微软雅黑" panose="020B0503020204020204" charset="-122"/>
              </a:rPr>
              <a:t>平台采用</a:t>
            </a:r>
            <a:r>
              <a:rPr lang="en-US" sz="1400">
                <a:solidFill>
                  <a:srgbClr val="E2E8F0"/>
                </a:solidFill>
                <a:latin typeface="微软雅黑" panose="020B0503020204020204" charset="-122"/>
                <a:ea typeface="微软雅黑" panose="020B0503020204020204" charset="-122"/>
              </a:rPr>
              <a:t> </a:t>
            </a:r>
            <a:r>
              <a:rPr lang="zh-CN" sz="1400" b="1">
                <a:solidFill>
                  <a:srgbClr val="22D3EE"/>
                </a:solidFill>
                <a:latin typeface="微软雅黑" panose="020B0503020204020204" charset="-122"/>
                <a:ea typeface="微软雅黑" panose="020B0503020204020204" charset="-122"/>
              </a:rPr>
              <a:t>「底层基础底座</a:t>
            </a:r>
            <a:r>
              <a:rPr lang="en-US" sz="1400" b="1">
                <a:solidFill>
                  <a:srgbClr val="22D3EE"/>
                </a:solidFill>
                <a:latin typeface="微软雅黑" panose="020B0503020204020204" charset="-122"/>
                <a:ea typeface="微软雅黑" panose="020B0503020204020204" charset="-122"/>
              </a:rPr>
              <a:t> + </a:t>
            </a:r>
            <a:r>
              <a:rPr lang="zh-CN" sz="1400" b="1">
                <a:solidFill>
                  <a:srgbClr val="22D3EE"/>
                </a:solidFill>
                <a:latin typeface="微软雅黑" panose="020B0503020204020204" charset="-122"/>
                <a:ea typeface="微软雅黑" panose="020B0503020204020204" charset="-122"/>
              </a:rPr>
              <a:t>上层产业应用」</a:t>
            </a:r>
            <a:r>
              <a:rPr lang="en-US" sz="1400">
                <a:solidFill>
                  <a:srgbClr val="E2E8F0"/>
                </a:solidFill>
                <a:latin typeface="微软雅黑" panose="020B0503020204020204" charset="-122"/>
                <a:ea typeface="微软雅黑" panose="020B0503020204020204" charset="-122"/>
              </a:rPr>
              <a:t> </a:t>
            </a:r>
            <a:r>
              <a:rPr lang="zh-CN" sz="1400">
                <a:solidFill>
                  <a:srgbClr val="E2E8F0"/>
                </a:solidFill>
                <a:latin typeface="微软雅黑" panose="020B0503020204020204" charset="-122"/>
                <a:ea typeface="微软雅黑" panose="020B0503020204020204" charset="-122"/>
              </a:rPr>
              <a:t>分层架构，十大课题独立、完整、可工程化、可协同集成</a:t>
            </a:r>
            <a:endParaRPr lang="zh-CN" sz="1400">
              <a:solidFill>
                <a:srgbClr val="E2E8F0"/>
              </a:solidFill>
              <a:latin typeface="微软雅黑" panose="020B0503020204020204" charset="-122"/>
              <a:ea typeface="微软雅黑" panose="020B0503020204020204" charset="-122"/>
            </a:endParaRPr>
          </a:p>
        </p:txBody>
      </p:sp>
      <p:sp>
        <p:nvSpPr>
          <p:cNvPr id="665" name="圆角矩形 664"/>
          <p:cNvSpPr/>
          <p:nvPr/>
        </p:nvSpPr>
        <p:spPr>
          <a:xfrm>
            <a:off x="609600" y="2724150"/>
            <a:ext cx="2857500" cy="666750"/>
          </a:xfrm>
          <a:prstGeom prst="roundRect">
            <a:avLst>
              <a:gd name="adj" fmla="val 17143"/>
            </a:avLst>
          </a:prstGeom>
          <a:solidFill>
            <a:srgbClr val="22D3EE">
              <a:alpha val="8000"/>
            </a:srgbClr>
          </a:solidFill>
          <a:ln w="12700">
            <a:solidFill>
              <a:srgbClr val="22D3EE">
                <a:alpha val="35000"/>
              </a:srgbClr>
            </a:solidFill>
            <a:prstDash val="solid"/>
          </a:ln>
        </p:spPr>
        <p:txBody>
          <a:bodyPr/>
          <a:p>
            <a:endParaRPr sz="2400"/>
          </a:p>
        </p:txBody>
      </p:sp>
      <p:sp>
        <p:nvSpPr>
          <p:cNvPr id="666" name="文本框 665" descr="{&quot;isTemplate&quot;:true,&quot;type&quot;:&quot;text&quot;}"/>
          <p:cNvSpPr txBox="1"/>
          <p:nvPr/>
        </p:nvSpPr>
        <p:spPr>
          <a:xfrm>
            <a:off x="781050" y="2857500"/>
            <a:ext cx="2514600" cy="200025"/>
          </a:xfrm>
          <a:prstGeom prst="rect">
            <a:avLst/>
          </a:prstGeom>
        </p:spPr>
        <p:txBody>
          <a:bodyPr wrap="none" lIns="0" tIns="0" rIns="0" bIns="0"/>
          <a:p>
            <a:pPr>
              <a:lnSpc>
                <a:spcPct val="100000"/>
              </a:lnSpc>
            </a:pPr>
            <a:r>
              <a:rPr lang="zh-CN" sz="1600" b="1">
                <a:solidFill>
                  <a:srgbClr val="67E8F9"/>
                </a:solidFill>
                <a:latin typeface="微软雅黑" panose="020B0503020204020204" charset="-122"/>
                <a:ea typeface="微软雅黑" panose="020B0503020204020204" charset="-122"/>
              </a:rPr>
              <a:t>底层基础底座</a:t>
            </a:r>
            <a:endParaRPr lang="zh-CN" sz="1600" b="1">
              <a:solidFill>
                <a:srgbClr val="67E8F9"/>
              </a:solidFill>
              <a:latin typeface="微软雅黑" panose="020B0503020204020204" charset="-122"/>
              <a:ea typeface="微软雅黑" panose="020B0503020204020204" charset="-122"/>
            </a:endParaRPr>
          </a:p>
        </p:txBody>
      </p:sp>
      <p:sp>
        <p:nvSpPr>
          <p:cNvPr id="667" name="文本框 666" descr="{&quot;isTemplate&quot;:true,&quot;type&quot;:&quot;text&quot;}"/>
          <p:cNvSpPr txBox="1"/>
          <p:nvPr/>
        </p:nvSpPr>
        <p:spPr>
          <a:xfrm>
            <a:off x="781050" y="3095625"/>
            <a:ext cx="2514600" cy="161925"/>
          </a:xfrm>
          <a:prstGeom prst="rect">
            <a:avLst/>
          </a:prstGeom>
        </p:spPr>
        <p:txBody>
          <a:bodyPr wrap="none" lIns="0" tIns="0" rIns="0" bIns="0"/>
          <a:p>
            <a:pPr>
              <a:lnSpc>
                <a:spcPct val="100000"/>
              </a:lnSpc>
            </a:pPr>
            <a:r>
              <a:rPr lang="zh-CN" sz="1400">
                <a:solidFill>
                  <a:srgbClr val="94A3B8"/>
                </a:solidFill>
                <a:latin typeface="微软雅黑" panose="020B0503020204020204" charset="-122"/>
                <a:ea typeface="微软雅黑" panose="020B0503020204020204" charset="-122"/>
              </a:rPr>
              <a:t>四大平台核心支撑系统</a:t>
            </a:r>
            <a:endParaRPr lang="zh-CN" sz="1400">
              <a:solidFill>
                <a:srgbClr val="94A3B8"/>
              </a:solidFill>
              <a:latin typeface="微软雅黑" panose="020B0503020204020204" charset="-122"/>
              <a:ea typeface="微软雅黑" panose="020B0503020204020204" charset="-122"/>
            </a:endParaRPr>
          </a:p>
        </p:txBody>
      </p:sp>
      <p:sp>
        <p:nvSpPr>
          <p:cNvPr id="668" name="圆角矩形 667"/>
          <p:cNvSpPr/>
          <p:nvPr/>
        </p:nvSpPr>
        <p:spPr>
          <a:xfrm>
            <a:off x="3600450" y="2724150"/>
            <a:ext cx="1905000" cy="666750"/>
          </a:xfrm>
          <a:prstGeom prst="roundRect">
            <a:avLst>
              <a:gd name="adj" fmla="val 14286"/>
            </a:avLst>
          </a:prstGeom>
          <a:solidFill>
            <a:srgbClr val="111B2E"/>
          </a:solidFill>
          <a:ln w="12700">
            <a:solidFill>
              <a:srgbClr val="22D3EE">
                <a:alpha val="25000"/>
              </a:srgbClr>
            </a:solidFill>
            <a:prstDash val="solid"/>
          </a:ln>
        </p:spPr>
        <p:txBody>
          <a:bodyPr/>
          <a:p>
            <a:endParaRPr sz="2400"/>
          </a:p>
        </p:txBody>
      </p:sp>
      <p:sp>
        <p:nvSpPr>
          <p:cNvPr id="669" name="文本框 668" descr="{&quot;isTemplate&quot;:true,&quot;type&quot;:&quot;text&quot;}"/>
          <p:cNvSpPr txBox="1"/>
          <p:nvPr/>
        </p:nvSpPr>
        <p:spPr>
          <a:xfrm>
            <a:off x="3733800" y="2819400"/>
            <a:ext cx="1638300" cy="161925"/>
          </a:xfrm>
          <a:prstGeom prst="rect">
            <a:avLst/>
          </a:prstGeom>
        </p:spPr>
        <p:txBody>
          <a:bodyPr wrap="none" lIns="0" tIns="0" rIns="0" bIns="0"/>
          <a:p>
            <a:pPr>
              <a:lnSpc>
                <a:spcPct val="100000"/>
              </a:lnSpc>
            </a:pPr>
            <a:r>
              <a:rPr lang="zh-CN" sz="1400" b="1">
                <a:solidFill>
                  <a:srgbClr val="67E8F9"/>
                </a:solidFill>
                <a:latin typeface="微软雅黑" panose="020B0503020204020204" charset="-122"/>
                <a:ea typeface="微软雅黑" panose="020B0503020204020204" charset="-122"/>
              </a:rPr>
              <a:t>课题</a:t>
            </a:r>
            <a:r>
              <a:rPr lang="en-US" sz="1400" b="1">
                <a:solidFill>
                  <a:srgbClr val="67E8F9"/>
                </a:solidFill>
                <a:latin typeface="微软雅黑" panose="020B0503020204020204" charset="-122"/>
                <a:ea typeface="微软雅黑" panose="020B0503020204020204" charset="-122"/>
              </a:rPr>
              <a:t> 1</a:t>
            </a:r>
            <a:endParaRPr lang="en-US" sz="1400" b="1">
              <a:solidFill>
                <a:srgbClr val="67E8F9"/>
              </a:solidFill>
              <a:latin typeface="微软雅黑" panose="020B0503020204020204" charset="-122"/>
              <a:ea typeface="微软雅黑" panose="020B0503020204020204" charset="-122"/>
            </a:endParaRPr>
          </a:p>
        </p:txBody>
      </p:sp>
      <p:sp>
        <p:nvSpPr>
          <p:cNvPr id="670" name="文本框 669" descr="{&quot;isTemplate&quot;:true,&quot;type&quot;:&quot;text&quot;}"/>
          <p:cNvSpPr txBox="1"/>
          <p:nvPr/>
        </p:nvSpPr>
        <p:spPr>
          <a:xfrm>
            <a:off x="3733800" y="3009900"/>
            <a:ext cx="1638300" cy="228600"/>
          </a:xfrm>
          <a:prstGeom prst="rect">
            <a:avLst/>
          </a:prstGeom>
        </p:spPr>
        <p:txBody>
          <a:bodyPr wrap="none" lIns="0" tIns="0" rIns="0" bIns="0"/>
          <a:p>
            <a:pPr>
              <a:lnSpc>
                <a:spcPct val="140000"/>
              </a:lnSpc>
            </a:pPr>
            <a:r>
              <a:rPr lang="zh-CN" sz="1400">
                <a:solidFill>
                  <a:srgbClr val="E2E8F0"/>
                </a:solidFill>
                <a:latin typeface="微软雅黑" panose="020B0503020204020204" charset="-122"/>
                <a:ea typeface="微软雅黑" panose="020B0503020204020204" charset="-122"/>
              </a:rPr>
              <a:t>产业图谱智能自动构建</a:t>
            </a:r>
            <a:endParaRPr lang="zh-CN" sz="1400">
              <a:solidFill>
                <a:srgbClr val="E2E8F0"/>
              </a:solidFill>
              <a:latin typeface="微软雅黑" panose="020B0503020204020204" charset="-122"/>
              <a:ea typeface="微软雅黑" panose="020B0503020204020204" charset="-122"/>
            </a:endParaRPr>
          </a:p>
        </p:txBody>
      </p:sp>
      <p:sp>
        <p:nvSpPr>
          <p:cNvPr id="671" name="圆角矩形 670"/>
          <p:cNvSpPr/>
          <p:nvPr/>
        </p:nvSpPr>
        <p:spPr>
          <a:xfrm>
            <a:off x="5600700" y="2724150"/>
            <a:ext cx="1905000" cy="666750"/>
          </a:xfrm>
          <a:prstGeom prst="roundRect">
            <a:avLst>
              <a:gd name="adj" fmla="val 14286"/>
            </a:avLst>
          </a:prstGeom>
          <a:solidFill>
            <a:srgbClr val="111B2E"/>
          </a:solidFill>
          <a:ln w="12700">
            <a:solidFill>
              <a:srgbClr val="22D3EE">
                <a:alpha val="25000"/>
              </a:srgbClr>
            </a:solidFill>
            <a:prstDash val="solid"/>
          </a:ln>
        </p:spPr>
        <p:txBody>
          <a:bodyPr/>
          <a:p>
            <a:endParaRPr sz="2400"/>
          </a:p>
        </p:txBody>
      </p:sp>
      <p:sp>
        <p:nvSpPr>
          <p:cNvPr id="672" name="文本框 671" descr="{&quot;isTemplate&quot;:true,&quot;type&quot;:&quot;text&quot;}"/>
          <p:cNvSpPr txBox="1"/>
          <p:nvPr/>
        </p:nvSpPr>
        <p:spPr>
          <a:xfrm>
            <a:off x="5734050" y="2819400"/>
            <a:ext cx="1638300" cy="161925"/>
          </a:xfrm>
          <a:prstGeom prst="rect">
            <a:avLst/>
          </a:prstGeom>
        </p:spPr>
        <p:txBody>
          <a:bodyPr wrap="none" lIns="0" tIns="0" rIns="0" bIns="0"/>
          <a:p>
            <a:pPr>
              <a:lnSpc>
                <a:spcPct val="100000"/>
              </a:lnSpc>
            </a:pPr>
            <a:r>
              <a:rPr lang="zh-CN" sz="1400" b="1">
                <a:solidFill>
                  <a:srgbClr val="67E8F9"/>
                </a:solidFill>
                <a:latin typeface="微软雅黑" panose="020B0503020204020204" charset="-122"/>
                <a:ea typeface="微软雅黑" panose="020B0503020204020204" charset="-122"/>
              </a:rPr>
              <a:t>课题</a:t>
            </a:r>
            <a:r>
              <a:rPr lang="en-US" sz="1400" b="1">
                <a:solidFill>
                  <a:srgbClr val="67E8F9"/>
                </a:solidFill>
                <a:latin typeface="微软雅黑" panose="020B0503020204020204" charset="-122"/>
                <a:ea typeface="微软雅黑" panose="020B0503020204020204" charset="-122"/>
              </a:rPr>
              <a:t> 2</a:t>
            </a:r>
            <a:endParaRPr lang="en-US" sz="1400" b="1">
              <a:solidFill>
                <a:srgbClr val="67E8F9"/>
              </a:solidFill>
              <a:latin typeface="微软雅黑" panose="020B0503020204020204" charset="-122"/>
              <a:ea typeface="微软雅黑" panose="020B0503020204020204" charset="-122"/>
            </a:endParaRPr>
          </a:p>
        </p:txBody>
      </p:sp>
      <p:sp>
        <p:nvSpPr>
          <p:cNvPr id="673" name="文本框 672" descr="{&quot;isTemplate&quot;:true,&quot;type&quot;:&quot;text&quot;}"/>
          <p:cNvSpPr txBox="1"/>
          <p:nvPr/>
        </p:nvSpPr>
        <p:spPr>
          <a:xfrm>
            <a:off x="5734050" y="3009900"/>
            <a:ext cx="1638300" cy="228600"/>
          </a:xfrm>
          <a:prstGeom prst="rect">
            <a:avLst/>
          </a:prstGeom>
        </p:spPr>
        <p:txBody>
          <a:bodyPr wrap="none" lIns="0" tIns="0" rIns="0" bIns="0"/>
          <a:p>
            <a:pPr>
              <a:lnSpc>
                <a:spcPct val="140000"/>
              </a:lnSpc>
            </a:pPr>
            <a:r>
              <a:rPr lang="zh-CN" sz="1400">
                <a:solidFill>
                  <a:srgbClr val="E2E8F0"/>
                </a:solidFill>
                <a:latin typeface="微软雅黑" panose="020B0503020204020204" charset="-122"/>
                <a:ea typeface="微软雅黑" panose="020B0503020204020204" charset="-122"/>
              </a:rPr>
              <a:t>产业智能报告自动生成</a:t>
            </a:r>
            <a:endParaRPr lang="zh-CN" sz="1400">
              <a:solidFill>
                <a:srgbClr val="E2E8F0"/>
              </a:solidFill>
              <a:latin typeface="微软雅黑" panose="020B0503020204020204" charset="-122"/>
              <a:ea typeface="微软雅黑" panose="020B0503020204020204" charset="-122"/>
            </a:endParaRPr>
          </a:p>
        </p:txBody>
      </p:sp>
      <p:sp>
        <p:nvSpPr>
          <p:cNvPr id="674" name="圆角矩形 673"/>
          <p:cNvSpPr/>
          <p:nvPr/>
        </p:nvSpPr>
        <p:spPr>
          <a:xfrm>
            <a:off x="7600950" y="2724150"/>
            <a:ext cx="1905000" cy="666750"/>
          </a:xfrm>
          <a:prstGeom prst="roundRect">
            <a:avLst>
              <a:gd name="adj" fmla="val 14286"/>
            </a:avLst>
          </a:prstGeom>
          <a:solidFill>
            <a:srgbClr val="111B2E"/>
          </a:solidFill>
          <a:ln w="12700">
            <a:solidFill>
              <a:srgbClr val="22D3EE">
                <a:alpha val="25000"/>
              </a:srgbClr>
            </a:solidFill>
            <a:prstDash val="solid"/>
          </a:ln>
        </p:spPr>
        <p:txBody>
          <a:bodyPr/>
          <a:p>
            <a:endParaRPr sz="2400"/>
          </a:p>
        </p:txBody>
      </p:sp>
      <p:sp>
        <p:nvSpPr>
          <p:cNvPr id="675" name="文本框 674" descr="{&quot;isTemplate&quot;:true,&quot;type&quot;:&quot;text&quot;}"/>
          <p:cNvSpPr txBox="1"/>
          <p:nvPr/>
        </p:nvSpPr>
        <p:spPr>
          <a:xfrm>
            <a:off x="7734300" y="2819400"/>
            <a:ext cx="1638300" cy="161925"/>
          </a:xfrm>
          <a:prstGeom prst="rect">
            <a:avLst/>
          </a:prstGeom>
        </p:spPr>
        <p:txBody>
          <a:bodyPr wrap="none" lIns="0" tIns="0" rIns="0" bIns="0"/>
          <a:p>
            <a:pPr>
              <a:lnSpc>
                <a:spcPct val="100000"/>
              </a:lnSpc>
            </a:pPr>
            <a:r>
              <a:rPr lang="zh-CN" sz="1400" b="1">
                <a:solidFill>
                  <a:srgbClr val="67E8F9"/>
                </a:solidFill>
                <a:latin typeface="微软雅黑" panose="020B0503020204020204" charset="-122"/>
                <a:ea typeface="微软雅黑" panose="020B0503020204020204" charset="-122"/>
              </a:rPr>
              <a:t>课题</a:t>
            </a:r>
            <a:r>
              <a:rPr lang="en-US" sz="1400" b="1">
                <a:solidFill>
                  <a:srgbClr val="67E8F9"/>
                </a:solidFill>
                <a:latin typeface="微软雅黑" panose="020B0503020204020204" charset="-122"/>
                <a:ea typeface="微软雅黑" panose="020B0503020204020204" charset="-122"/>
              </a:rPr>
              <a:t> 3</a:t>
            </a:r>
            <a:endParaRPr lang="en-US" sz="1400" b="1">
              <a:solidFill>
                <a:srgbClr val="67E8F9"/>
              </a:solidFill>
              <a:latin typeface="微软雅黑" panose="020B0503020204020204" charset="-122"/>
              <a:ea typeface="微软雅黑" panose="020B0503020204020204" charset="-122"/>
            </a:endParaRPr>
          </a:p>
        </p:txBody>
      </p:sp>
      <p:sp>
        <p:nvSpPr>
          <p:cNvPr id="676" name="文本框 675" descr="{&quot;isTemplate&quot;:true,&quot;type&quot;:&quot;text&quot;}"/>
          <p:cNvSpPr txBox="1"/>
          <p:nvPr/>
        </p:nvSpPr>
        <p:spPr>
          <a:xfrm>
            <a:off x="7734300" y="3009900"/>
            <a:ext cx="1638300" cy="228600"/>
          </a:xfrm>
          <a:prstGeom prst="rect">
            <a:avLst/>
          </a:prstGeom>
        </p:spPr>
        <p:txBody>
          <a:bodyPr wrap="none" lIns="0" tIns="0" rIns="0" bIns="0"/>
          <a:p>
            <a:pPr>
              <a:lnSpc>
                <a:spcPct val="140000"/>
              </a:lnSpc>
            </a:pPr>
            <a:r>
              <a:rPr lang="zh-CN" sz="1400">
                <a:solidFill>
                  <a:srgbClr val="E2E8F0"/>
                </a:solidFill>
                <a:latin typeface="微软雅黑" panose="020B0503020204020204" charset="-122"/>
                <a:ea typeface="微软雅黑" panose="020B0503020204020204" charset="-122"/>
              </a:rPr>
              <a:t>产业链态势感知与头条推送</a:t>
            </a:r>
            <a:endParaRPr lang="zh-CN" sz="1400">
              <a:solidFill>
                <a:srgbClr val="E2E8F0"/>
              </a:solidFill>
              <a:latin typeface="微软雅黑" panose="020B0503020204020204" charset="-122"/>
              <a:ea typeface="微软雅黑" panose="020B0503020204020204" charset="-122"/>
            </a:endParaRPr>
          </a:p>
        </p:txBody>
      </p:sp>
      <p:sp>
        <p:nvSpPr>
          <p:cNvPr id="677" name="圆角矩形 676"/>
          <p:cNvSpPr/>
          <p:nvPr/>
        </p:nvSpPr>
        <p:spPr>
          <a:xfrm>
            <a:off x="9601200" y="2724150"/>
            <a:ext cx="1905000" cy="666750"/>
          </a:xfrm>
          <a:prstGeom prst="roundRect">
            <a:avLst>
              <a:gd name="adj" fmla="val 14286"/>
            </a:avLst>
          </a:prstGeom>
          <a:solidFill>
            <a:srgbClr val="111B2E"/>
          </a:solidFill>
          <a:ln w="12700">
            <a:solidFill>
              <a:srgbClr val="22D3EE">
                <a:alpha val="25000"/>
              </a:srgbClr>
            </a:solidFill>
            <a:prstDash val="solid"/>
          </a:ln>
        </p:spPr>
        <p:txBody>
          <a:bodyPr/>
          <a:p>
            <a:endParaRPr sz="2400"/>
          </a:p>
        </p:txBody>
      </p:sp>
      <p:sp>
        <p:nvSpPr>
          <p:cNvPr id="678" name="文本框 677" descr="{&quot;isTemplate&quot;:true,&quot;type&quot;:&quot;text&quot;}"/>
          <p:cNvSpPr txBox="1"/>
          <p:nvPr/>
        </p:nvSpPr>
        <p:spPr>
          <a:xfrm>
            <a:off x="9734550" y="2819400"/>
            <a:ext cx="1638300" cy="161925"/>
          </a:xfrm>
          <a:prstGeom prst="rect">
            <a:avLst/>
          </a:prstGeom>
        </p:spPr>
        <p:txBody>
          <a:bodyPr wrap="none" lIns="0" tIns="0" rIns="0" bIns="0"/>
          <a:p>
            <a:pPr>
              <a:lnSpc>
                <a:spcPct val="100000"/>
              </a:lnSpc>
            </a:pPr>
            <a:r>
              <a:rPr lang="zh-CN" sz="1400" b="1">
                <a:solidFill>
                  <a:srgbClr val="67E8F9"/>
                </a:solidFill>
                <a:latin typeface="微软雅黑" panose="020B0503020204020204" charset="-122"/>
                <a:ea typeface="微软雅黑" panose="020B0503020204020204" charset="-122"/>
              </a:rPr>
              <a:t>课题</a:t>
            </a:r>
            <a:r>
              <a:rPr lang="en-US" sz="1400" b="1">
                <a:solidFill>
                  <a:srgbClr val="67E8F9"/>
                </a:solidFill>
                <a:latin typeface="微软雅黑" panose="020B0503020204020204" charset="-122"/>
                <a:ea typeface="微软雅黑" panose="020B0503020204020204" charset="-122"/>
              </a:rPr>
              <a:t> 4</a:t>
            </a:r>
            <a:endParaRPr lang="en-US" sz="1400" b="1">
              <a:solidFill>
                <a:srgbClr val="67E8F9"/>
              </a:solidFill>
              <a:latin typeface="微软雅黑" panose="020B0503020204020204" charset="-122"/>
              <a:ea typeface="微软雅黑" panose="020B0503020204020204" charset="-122"/>
            </a:endParaRPr>
          </a:p>
        </p:txBody>
      </p:sp>
      <p:sp>
        <p:nvSpPr>
          <p:cNvPr id="679" name="文本框 678" descr="{&quot;isTemplate&quot;:true,&quot;type&quot;:&quot;text&quot;}"/>
          <p:cNvSpPr txBox="1"/>
          <p:nvPr/>
        </p:nvSpPr>
        <p:spPr>
          <a:xfrm>
            <a:off x="9734550" y="3009900"/>
            <a:ext cx="1638300" cy="228600"/>
          </a:xfrm>
          <a:prstGeom prst="rect">
            <a:avLst/>
          </a:prstGeom>
        </p:spPr>
        <p:txBody>
          <a:bodyPr wrap="none" lIns="0" tIns="0" rIns="0" bIns="0"/>
          <a:p>
            <a:pPr>
              <a:lnSpc>
                <a:spcPct val="140000"/>
              </a:lnSpc>
            </a:pPr>
            <a:r>
              <a:rPr lang="zh-CN" sz="1400">
                <a:solidFill>
                  <a:srgbClr val="E2E8F0"/>
                </a:solidFill>
                <a:latin typeface="微软雅黑" panose="020B0503020204020204" charset="-122"/>
                <a:ea typeface="微软雅黑" panose="020B0503020204020204" charset="-122"/>
              </a:rPr>
              <a:t>产业百科与产品百科知识库</a:t>
            </a:r>
            <a:endParaRPr lang="zh-CN" sz="1400">
              <a:solidFill>
                <a:srgbClr val="E2E8F0"/>
              </a:solidFill>
              <a:latin typeface="微软雅黑" panose="020B0503020204020204" charset="-122"/>
              <a:ea typeface="微软雅黑" panose="020B0503020204020204" charset="-122"/>
            </a:endParaRPr>
          </a:p>
        </p:txBody>
      </p:sp>
      <p:sp>
        <p:nvSpPr>
          <p:cNvPr id="680" name="圆角矩形 679"/>
          <p:cNvSpPr/>
          <p:nvPr/>
        </p:nvSpPr>
        <p:spPr>
          <a:xfrm>
            <a:off x="609600" y="3524250"/>
            <a:ext cx="2857500" cy="1543050"/>
          </a:xfrm>
          <a:prstGeom prst="roundRect">
            <a:avLst>
              <a:gd name="adj" fmla="val 7407"/>
            </a:avLst>
          </a:prstGeom>
          <a:solidFill>
            <a:srgbClr val="8B5CF6">
              <a:alpha val="10000"/>
            </a:srgbClr>
          </a:solidFill>
          <a:ln w="12700">
            <a:solidFill>
              <a:srgbClr val="8B5CF6">
                <a:alpha val="40000"/>
              </a:srgbClr>
            </a:solidFill>
            <a:prstDash val="solid"/>
          </a:ln>
        </p:spPr>
        <p:txBody>
          <a:bodyPr/>
          <a:p>
            <a:endParaRPr sz="2400"/>
          </a:p>
        </p:txBody>
      </p:sp>
      <p:sp>
        <p:nvSpPr>
          <p:cNvPr id="681" name="文本框 680" descr="{&quot;isTemplate&quot;:true,&quot;type&quot;:&quot;text&quot;}"/>
          <p:cNvSpPr txBox="1"/>
          <p:nvPr/>
        </p:nvSpPr>
        <p:spPr>
          <a:xfrm>
            <a:off x="781050" y="4095750"/>
            <a:ext cx="2514600" cy="200025"/>
          </a:xfrm>
          <a:prstGeom prst="rect">
            <a:avLst/>
          </a:prstGeom>
        </p:spPr>
        <p:txBody>
          <a:bodyPr wrap="none" lIns="0" tIns="0" rIns="0" bIns="0"/>
          <a:p>
            <a:pPr>
              <a:lnSpc>
                <a:spcPct val="100000"/>
              </a:lnSpc>
            </a:pPr>
            <a:r>
              <a:rPr lang="zh-CN" sz="1600" b="1">
                <a:solidFill>
                  <a:srgbClr val="C4B5FD"/>
                </a:solidFill>
                <a:latin typeface="微软雅黑" panose="020B0503020204020204" charset="-122"/>
                <a:ea typeface="微软雅黑" panose="020B0503020204020204" charset="-122"/>
              </a:rPr>
              <a:t>上层产业应用</a:t>
            </a:r>
            <a:endParaRPr lang="zh-CN" sz="1600" b="1">
              <a:solidFill>
                <a:srgbClr val="C4B5FD"/>
              </a:solidFill>
              <a:latin typeface="微软雅黑" panose="020B0503020204020204" charset="-122"/>
              <a:ea typeface="微软雅黑" panose="020B0503020204020204" charset="-122"/>
            </a:endParaRPr>
          </a:p>
        </p:txBody>
      </p:sp>
      <p:sp>
        <p:nvSpPr>
          <p:cNvPr id="682" name="文本框 681" descr="{&quot;isTemplate&quot;:true,&quot;type&quot;:&quot;text&quot;}"/>
          <p:cNvSpPr txBox="1"/>
          <p:nvPr/>
        </p:nvSpPr>
        <p:spPr>
          <a:xfrm>
            <a:off x="781050" y="4333875"/>
            <a:ext cx="2514600" cy="161925"/>
          </a:xfrm>
          <a:prstGeom prst="rect">
            <a:avLst/>
          </a:prstGeom>
        </p:spPr>
        <p:txBody>
          <a:bodyPr wrap="none" lIns="0" tIns="0" rIns="0" bIns="0"/>
          <a:p>
            <a:pPr>
              <a:lnSpc>
                <a:spcPct val="100000"/>
              </a:lnSpc>
            </a:pPr>
            <a:r>
              <a:rPr lang="zh-CN" sz="1400">
                <a:solidFill>
                  <a:srgbClr val="94A3B8"/>
                </a:solidFill>
                <a:latin typeface="微软雅黑" panose="020B0503020204020204" charset="-122"/>
                <a:ea typeface="微软雅黑" panose="020B0503020204020204" charset="-122"/>
              </a:rPr>
              <a:t>六大智能业务场景系统</a:t>
            </a:r>
            <a:endParaRPr lang="zh-CN" sz="1400">
              <a:solidFill>
                <a:srgbClr val="94A3B8"/>
              </a:solidFill>
              <a:latin typeface="微软雅黑" panose="020B0503020204020204" charset="-122"/>
              <a:ea typeface="微软雅黑" panose="020B0503020204020204" charset="-122"/>
            </a:endParaRPr>
          </a:p>
        </p:txBody>
      </p:sp>
      <p:sp>
        <p:nvSpPr>
          <p:cNvPr id="683" name="圆角矩形 682"/>
          <p:cNvSpPr/>
          <p:nvPr/>
        </p:nvSpPr>
        <p:spPr>
          <a:xfrm>
            <a:off x="3600450" y="3524250"/>
            <a:ext cx="1905000" cy="838200"/>
          </a:xfrm>
          <a:prstGeom prst="roundRect">
            <a:avLst>
              <a:gd name="adj" fmla="val 11364"/>
            </a:avLst>
          </a:prstGeom>
          <a:solidFill>
            <a:srgbClr val="111B2E"/>
          </a:solidFill>
          <a:ln w="12700">
            <a:solidFill>
              <a:srgbClr val="8B5CF6">
                <a:alpha val="30000"/>
              </a:srgbClr>
            </a:solidFill>
            <a:prstDash val="solid"/>
          </a:ln>
        </p:spPr>
        <p:txBody>
          <a:bodyPr/>
          <a:p>
            <a:endParaRPr sz="2400"/>
          </a:p>
        </p:txBody>
      </p:sp>
      <p:sp>
        <p:nvSpPr>
          <p:cNvPr id="684" name="文本框 683" descr="{&quot;isTemplate&quot;:true,&quot;type&quot;:&quot;text&quot;}"/>
          <p:cNvSpPr txBox="1"/>
          <p:nvPr/>
        </p:nvSpPr>
        <p:spPr>
          <a:xfrm>
            <a:off x="3733800" y="3619500"/>
            <a:ext cx="1638300" cy="161925"/>
          </a:xfrm>
          <a:prstGeom prst="rect">
            <a:avLst/>
          </a:prstGeom>
        </p:spPr>
        <p:txBody>
          <a:bodyPr wrap="none" lIns="0" tIns="0" rIns="0" bIns="0"/>
          <a:p>
            <a:pPr>
              <a:lnSpc>
                <a:spcPct val="100000"/>
              </a:lnSpc>
            </a:pPr>
            <a:r>
              <a:rPr lang="zh-CN" sz="1400" b="1">
                <a:solidFill>
                  <a:srgbClr val="C4B5FD"/>
                </a:solidFill>
                <a:latin typeface="微软雅黑" panose="020B0503020204020204" charset="-122"/>
                <a:ea typeface="微软雅黑" panose="020B0503020204020204" charset="-122"/>
              </a:rPr>
              <a:t>课题</a:t>
            </a:r>
            <a:r>
              <a:rPr lang="en-US" sz="1400" b="1">
                <a:solidFill>
                  <a:srgbClr val="C4B5FD"/>
                </a:solidFill>
                <a:latin typeface="微软雅黑" panose="020B0503020204020204" charset="-122"/>
                <a:ea typeface="微软雅黑" panose="020B0503020204020204" charset="-122"/>
              </a:rPr>
              <a:t> 5</a:t>
            </a:r>
            <a:endParaRPr lang="en-US" sz="1400" b="1">
              <a:solidFill>
                <a:srgbClr val="C4B5FD"/>
              </a:solidFill>
              <a:latin typeface="微软雅黑" panose="020B0503020204020204" charset="-122"/>
              <a:ea typeface="微软雅黑" panose="020B0503020204020204" charset="-122"/>
            </a:endParaRPr>
          </a:p>
        </p:txBody>
      </p:sp>
      <p:sp>
        <p:nvSpPr>
          <p:cNvPr id="685" name="文本框 684" descr="{&quot;isTemplate&quot;:true,&quot;type&quot;:&quot;text&quot;}"/>
          <p:cNvSpPr txBox="1"/>
          <p:nvPr/>
        </p:nvSpPr>
        <p:spPr>
          <a:xfrm>
            <a:off x="3733800" y="3810000"/>
            <a:ext cx="1638300" cy="228600"/>
          </a:xfrm>
          <a:prstGeom prst="rect">
            <a:avLst/>
          </a:prstGeom>
        </p:spPr>
        <p:txBody>
          <a:bodyPr wrap="none" lIns="0" tIns="0" rIns="0" bIns="0"/>
          <a:p>
            <a:pPr>
              <a:lnSpc>
                <a:spcPct val="140000"/>
              </a:lnSpc>
            </a:pPr>
            <a:r>
              <a:rPr lang="zh-CN" sz="1400">
                <a:solidFill>
                  <a:srgbClr val="E2E8F0"/>
                </a:solidFill>
                <a:latin typeface="微软雅黑" panose="020B0503020204020204" charset="-122"/>
                <a:ea typeface="微软雅黑" panose="020B0503020204020204" charset="-122"/>
              </a:rPr>
              <a:t>智能产业研究与产业链诊断</a:t>
            </a:r>
            <a:endParaRPr lang="zh-CN" sz="1400">
              <a:solidFill>
                <a:srgbClr val="E2E8F0"/>
              </a:solidFill>
              <a:latin typeface="微软雅黑" panose="020B0503020204020204" charset="-122"/>
              <a:ea typeface="微软雅黑" panose="020B0503020204020204" charset="-122"/>
            </a:endParaRPr>
          </a:p>
        </p:txBody>
      </p:sp>
      <p:sp>
        <p:nvSpPr>
          <p:cNvPr id="686" name="圆角矩形 685"/>
          <p:cNvSpPr/>
          <p:nvPr/>
        </p:nvSpPr>
        <p:spPr>
          <a:xfrm>
            <a:off x="5600700" y="3524250"/>
            <a:ext cx="1905000" cy="838200"/>
          </a:xfrm>
          <a:prstGeom prst="roundRect">
            <a:avLst>
              <a:gd name="adj" fmla="val 11364"/>
            </a:avLst>
          </a:prstGeom>
          <a:solidFill>
            <a:srgbClr val="111B2E"/>
          </a:solidFill>
          <a:ln w="12700">
            <a:solidFill>
              <a:srgbClr val="8B5CF6">
                <a:alpha val="30000"/>
              </a:srgbClr>
            </a:solidFill>
            <a:prstDash val="solid"/>
          </a:ln>
        </p:spPr>
        <p:txBody>
          <a:bodyPr/>
          <a:p>
            <a:endParaRPr sz="2400"/>
          </a:p>
        </p:txBody>
      </p:sp>
      <p:sp>
        <p:nvSpPr>
          <p:cNvPr id="687" name="文本框 686" descr="{&quot;isTemplate&quot;:true,&quot;type&quot;:&quot;text&quot;}"/>
          <p:cNvSpPr txBox="1"/>
          <p:nvPr/>
        </p:nvSpPr>
        <p:spPr>
          <a:xfrm>
            <a:off x="5734050" y="3619500"/>
            <a:ext cx="1638300" cy="161925"/>
          </a:xfrm>
          <a:prstGeom prst="rect">
            <a:avLst/>
          </a:prstGeom>
        </p:spPr>
        <p:txBody>
          <a:bodyPr wrap="none" lIns="0" tIns="0" rIns="0" bIns="0"/>
          <a:p>
            <a:pPr>
              <a:lnSpc>
                <a:spcPct val="100000"/>
              </a:lnSpc>
            </a:pPr>
            <a:r>
              <a:rPr lang="zh-CN" sz="1400" b="1">
                <a:solidFill>
                  <a:srgbClr val="C4B5FD"/>
                </a:solidFill>
                <a:latin typeface="微软雅黑" panose="020B0503020204020204" charset="-122"/>
                <a:ea typeface="微软雅黑" panose="020B0503020204020204" charset="-122"/>
              </a:rPr>
              <a:t>课题</a:t>
            </a:r>
            <a:r>
              <a:rPr lang="en-US" sz="1400" b="1">
                <a:solidFill>
                  <a:srgbClr val="C4B5FD"/>
                </a:solidFill>
                <a:latin typeface="微软雅黑" panose="020B0503020204020204" charset="-122"/>
                <a:ea typeface="微软雅黑" panose="020B0503020204020204" charset="-122"/>
              </a:rPr>
              <a:t> 6</a:t>
            </a:r>
            <a:endParaRPr lang="en-US" sz="1400" b="1">
              <a:solidFill>
                <a:srgbClr val="C4B5FD"/>
              </a:solidFill>
              <a:latin typeface="微软雅黑" panose="020B0503020204020204" charset="-122"/>
              <a:ea typeface="微软雅黑" panose="020B0503020204020204" charset="-122"/>
            </a:endParaRPr>
          </a:p>
        </p:txBody>
      </p:sp>
      <p:sp>
        <p:nvSpPr>
          <p:cNvPr id="688" name="文本框 687" descr="{&quot;isTemplate&quot;:true,&quot;type&quot;:&quot;text&quot;}"/>
          <p:cNvSpPr txBox="1"/>
          <p:nvPr/>
        </p:nvSpPr>
        <p:spPr>
          <a:xfrm>
            <a:off x="5734050" y="3810000"/>
            <a:ext cx="1638300" cy="228600"/>
          </a:xfrm>
          <a:prstGeom prst="rect">
            <a:avLst/>
          </a:prstGeom>
        </p:spPr>
        <p:txBody>
          <a:bodyPr wrap="none" lIns="0" tIns="0" rIns="0" bIns="0"/>
          <a:p>
            <a:pPr>
              <a:lnSpc>
                <a:spcPct val="140000"/>
              </a:lnSpc>
            </a:pPr>
            <a:r>
              <a:rPr lang="zh-CN" sz="1400">
                <a:solidFill>
                  <a:srgbClr val="E2E8F0"/>
                </a:solidFill>
                <a:latin typeface="微软雅黑" panose="020B0503020204020204" charset="-122"/>
                <a:ea typeface="微软雅黑" panose="020B0503020204020204" charset="-122"/>
              </a:rPr>
              <a:t>科技情报与前沿技术挖掘</a:t>
            </a:r>
            <a:endParaRPr lang="zh-CN" sz="1400">
              <a:solidFill>
                <a:srgbClr val="E2E8F0"/>
              </a:solidFill>
              <a:latin typeface="微软雅黑" panose="020B0503020204020204" charset="-122"/>
              <a:ea typeface="微软雅黑" panose="020B0503020204020204" charset="-122"/>
            </a:endParaRPr>
          </a:p>
        </p:txBody>
      </p:sp>
      <p:sp>
        <p:nvSpPr>
          <p:cNvPr id="689" name="圆角矩形 688"/>
          <p:cNvSpPr/>
          <p:nvPr/>
        </p:nvSpPr>
        <p:spPr>
          <a:xfrm>
            <a:off x="7600950" y="3524250"/>
            <a:ext cx="1905000" cy="838200"/>
          </a:xfrm>
          <a:prstGeom prst="roundRect">
            <a:avLst>
              <a:gd name="adj" fmla="val 11364"/>
            </a:avLst>
          </a:prstGeom>
          <a:solidFill>
            <a:srgbClr val="111B2E"/>
          </a:solidFill>
          <a:ln w="12700">
            <a:solidFill>
              <a:srgbClr val="8B5CF6">
                <a:alpha val="30000"/>
              </a:srgbClr>
            </a:solidFill>
            <a:prstDash val="solid"/>
          </a:ln>
        </p:spPr>
        <p:txBody>
          <a:bodyPr/>
          <a:p>
            <a:endParaRPr sz="2400"/>
          </a:p>
        </p:txBody>
      </p:sp>
      <p:sp>
        <p:nvSpPr>
          <p:cNvPr id="690" name="文本框 689" descr="{&quot;isTemplate&quot;:true,&quot;type&quot;:&quot;text&quot;}"/>
          <p:cNvSpPr txBox="1"/>
          <p:nvPr/>
        </p:nvSpPr>
        <p:spPr>
          <a:xfrm>
            <a:off x="7734300" y="3619500"/>
            <a:ext cx="1638300" cy="161925"/>
          </a:xfrm>
          <a:prstGeom prst="rect">
            <a:avLst/>
          </a:prstGeom>
        </p:spPr>
        <p:txBody>
          <a:bodyPr wrap="none" lIns="0" tIns="0" rIns="0" bIns="0"/>
          <a:p>
            <a:pPr>
              <a:lnSpc>
                <a:spcPct val="100000"/>
              </a:lnSpc>
            </a:pPr>
            <a:r>
              <a:rPr lang="zh-CN" sz="1400" b="1">
                <a:solidFill>
                  <a:srgbClr val="C4B5FD"/>
                </a:solidFill>
                <a:latin typeface="微软雅黑" panose="020B0503020204020204" charset="-122"/>
                <a:ea typeface="微软雅黑" panose="020B0503020204020204" charset="-122"/>
              </a:rPr>
              <a:t>课题</a:t>
            </a:r>
            <a:r>
              <a:rPr lang="en-US" sz="1400" b="1">
                <a:solidFill>
                  <a:srgbClr val="C4B5FD"/>
                </a:solidFill>
                <a:latin typeface="微软雅黑" panose="020B0503020204020204" charset="-122"/>
                <a:ea typeface="微软雅黑" panose="020B0503020204020204" charset="-122"/>
              </a:rPr>
              <a:t> 7</a:t>
            </a:r>
            <a:endParaRPr lang="en-US" sz="1400" b="1">
              <a:solidFill>
                <a:srgbClr val="C4B5FD"/>
              </a:solidFill>
              <a:latin typeface="微软雅黑" panose="020B0503020204020204" charset="-122"/>
              <a:ea typeface="微软雅黑" panose="020B0503020204020204" charset="-122"/>
            </a:endParaRPr>
          </a:p>
        </p:txBody>
      </p:sp>
      <p:sp>
        <p:nvSpPr>
          <p:cNvPr id="691" name="文本框 690" descr="{&quot;isTemplate&quot;:true,&quot;type&quot;:&quot;text&quot;}"/>
          <p:cNvSpPr txBox="1"/>
          <p:nvPr/>
        </p:nvSpPr>
        <p:spPr>
          <a:xfrm>
            <a:off x="7734300" y="3810000"/>
            <a:ext cx="1638300" cy="457200"/>
          </a:xfrm>
          <a:prstGeom prst="rect">
            <a:avLst/>
          </a:prstGeom>
        </p:spPr>
        <p:txBody>
          <a:bodyPr wrap="square" lIns="0" tIns="0" rIns="0" bIns="0">
            <a:noAutofit/>
          </a:bodyPr>
          <a:p>
            <a:pPr>
              <a:lnSpc>
                <a:spcPct val="140000"/>
              </a:lnSpc>
            </a:pPr>
            <a:r>
              <a:rPr lang="zh-CN" sz="1400">
                <a:solidFill>
                  <a:srgbClr val="E2E8F0"/>
                </a:solidFill>
                <a:latin typeface="微软雅黑" panose="020B0503020204020204" charset="-122"/>
                <a:ea typeface="微软雅黑" panose="020B0503020204020204" charset="-122"/>
              </a:rPr>
              <a:t>技术转化智能匹配与产学研对接</a:t>
            </a:r>
            <a:endParaRPr lang="zh-CN" sz="1400">
              <a:solidFill>
                <a:srgbClr val="E2E8F0"/>
              </a:solidFill>
              <a:latin typeface="微软雅黑" panose="020B0503020204020204" charset="-122"/>
              <a:ea typeface="微软雅黑" panose="020B0503020204020204" charset="-122"/>
            </a:endParaRPr>
          </a:p>
        </p:txBody>
      </p:sp>
      <p:sp>
        <p:nvSpPr>
          <p:cNvPr id="692" name="圆角矩形 691"/>
          <p:cNvSpPr/>
          <p:nvPr/>
        </p:nvSpPr>
        <p:spPr>
          <a:xfrm>
            <a:off x="9601200" y="3524250"/>
            <a:ext cx="1905000" cy="838200"/>
          </a:xfrm>
          <a:prstGeom prst="roundRect">
            <a:avLst>
              <a:gd name="adj" fmla="val 11364"/>
            </a:avLst>
          </a:prstGeom>
          <a:solidFill>
            <a:srgbClr val="111B2E"/>
          </a:solidFill>
          <a:ln w="12700">
            <a:solidFill>
              <a:srgbClr val="8B5CF6">
                <a:alpha val="30000"/>
              </a:srgbClr>
            </a:solidFill>
            <a:prstDash val="solid"/>
          </a:ln>
        </p:spPr>
        <p:txBody>
          <a:bodyPr/>
          <a:p>
            <a:endParaRPr sz="2400"/>
          </a:p>
        </p:txBody>
      </p:sp>
      <p:sp>
        <p:nvSpPr>
          <p:cNvPr id="693" name="文本框 692" descr="{&quot;isTemplate&quot;:true,&quot;type&quot;:&quot;text&quot;}"/>
          <p:cNvSpPr txBox="1"/>
          <p:nvPr/>
        </p:nvSpPr>
        <p:spPr>
          <a:xfrm>
            <a:off x="9734550" y="3619500"/>
            <a:ext cx="1638300" cy="161925"/>
          </a:xfrm>
          <a:prstGeom prst="rect">
            <a:avLst/>
          </a:prstGeom>
        </p:spPr>
        <p:txBody>
          <a:bodyPr wrap="none" lIns="0" tIns="0" rIns="0" bIns="0"/>
          <a:p>
            <a:pPr>
              <a:lnSpc>
                <a:spcPct val="100000"/>
              </a:lnSpc>
            </a:pPr>
            <a:r>
              <a:rPr lang="zh-CN" sz="1400" b="1">
                <a:solidFill>
                  <a:srgbClr val="C4B5FD"/>
                </a:solidFill>
                <a:latin typeface="微软雅黑" panose="020B0503020204020204" charset="-122"/>
                <a:ea typeface="微软雅黑" panose="020B0503020204020204" charset="-122"/>
              </a:rPr>
              <a:t>课题</a:t>
            </a:r>
            <a:r>
              <a:rPr lang="en-US" sz="1400" b="1">
                <a:solidFill>
                  <a:srgbClr val="C4B5FD"/>
                </a:solidFill>
                <a:latin typeface="微软雅黑" panose="020B0503020204020204" charset="-122"/>
                <a:ea typeface="微软雅黑" panose="020B0503020204020204" charset="-122"/>
              </a:rPr>
              <a:t> 8</a:t>
            </a:r>
            <a:endParaRPr lang="en-US" sz="1400" b="1">
              <a:solidFill>
                <a:srgbClr val="C4B5FD"/>
              </a:solidFill>
              <a:latin typeface="微软雅黑" panose="020B0503020204020204" charset="-122"/>
              <a:ea typeface="微软雅黑" panose="020B0503020204020204" charset="-122"/>
            </a:endParaRPr>
          </a:p>
        </p:txBody>
      </p:sp>
      <p:sp>
        <p:nvSpPr>
          <p:cNvPr id="694" name="文本框 693" descr="{&quot;isTemplate&quot;:true,&quot;type&quot;:&quot;text&quot;}"/>
          <p:cNvSpPr txBox="1"/>
          <p:nvPr/>
        </p:nvSpPr>
        <p:spPr>
          <a:xfrm>
            <a:off x="9734550" y="3810000"/>
            <a:ext cx="1638300" cy="228600"/>
          </a:xfrm>
          <a:prstGeom prst="rect">
            <a:avLst/>
          </a:prstGeom>
        </p:spPr>
        <p:txBody>
          <a:bodyPr wrap="none" lIns="0" tIns="0" rIns="0" bIns="0"/>
          <a:p>
            <a:pPr>
              <a:lnSpc>
                <a:spcPct val="140000"/>
              </a:lnSpc>
            </a:pPr>
            <a:r>
              <a:rPr lang="zh-CN" sz="1400">
                <a:solidFill>
                  <a:srgbClr val="E2E8F0"/>
                </a:solidFill>
                <a:latin typeface="微软雅黑" panose="020B0503020204020204" charset="-122"/>
                <a:ea typeface="微软雅黑" panose="020B0503020204020204" charset="-122"/>
              </a:rPr>
              <a:t>链式智能招商推荐</a:t>
            </a:r>
            <a:endParaRPr lang="zh-CN" sz="1400">
              <a:solidFill>
                <a:srgbClr val="E2E8F0"/>
              </a:solidFill>
              <a:latin typeface="微软雅黑" panose="020B0503020204020204" charset="-122"/>
              <a:ea typeface="微软雅黑" panose="020B0503020204020204" charset="-122"/>
            </a:endParaRPr>
          </a:p>
        </p:txBody>
      </p:sp>
      <p:sp>
        <p:nvSpPr>
          <p:cNvPr id="695" name="圆角矩形 694"/>
          <p:cNvSpPr/>
          <p:nvPr/>
        </p:nvSpPr>
        <p:spPr>
          <a:xfrm>
            <a:off x="3600450" y="4457700"/>
            <a:ext cx="1905000" cy="609600"/>
          </a:xfrm>
          <a:prstGeom prst="roundRect">
            <a:avLst>
              <a:gd name="adj" fmla="val 15625"/>
            </a:avLst>
          </a:prstGeom>
          <a:solidFill>
            <a:srgbClr val="111B2E"/>
          </a:solidFill>
          <a:ln w="12700">
            <a:solidFill>
              <a:srgbClr val="8B5CF6">
                <a:alpha val="30000"/>
              </a:srgbClr>
            </a:solidFill>
            <a:prstDash val="solid"/>
          </a:ln>
        </p:spPr>
        <p:txBody>
          <a:bodyPr/>
          <a:p>
            <a:endParaRPr sz="2400"/>
          </a:p>
        </p:txBody>
      </p:sp>
      <p:sp>
        <p:nvSpPr>
          <p:cNvPr id="696" name="文本框 695" descr="{&quot;isTemplate&quot;:true,&quot;type&quot;:&quot;text&quot;}"/>
          <p:cNvSpPr txBox="1"/>
          <p:nvPr/>
        </p:nvSpPr>
        <p:spPr>
          <a:xfrm>
            <a:off x="3733800" y="4552950"/>
            <a:ext cx="1638300" cy="161925"/>
          </a:xfrm>
          <a:prstGeom prst="rect">
            <a:avLst/>
          </a:prstGeom>
        </p:spPr>
        <p:txBody>
          <a:bodyPr wrap="none" lIns="0" tIns="0" rIns="0" bIns="0"/>
          <a:p>
            <a:pPr>
              <a:lnSpc>
                <a:spcPct val="100000"/>
              </a:lnSpc>
            </a:pPr>
            <a:r>
              <a:rPr lang="zh-CN" sz="1400" b="1">
                <a:solidFill>
                  <a:srgbClr val="C4B5FD"/>
                </a:solidFill>
                <a:latin typeface="微软雅黑" panose="020B0503020204020204" charset="-122"/>
                <a:ea typeface="微软雅黑" panose="020B0503020204020204" charset="-122"/>
              </a:rPr>
              <a:t>课题</a:t>
            </a:r>
            <a:r>
              <a:rPr lang="en-US" sz="1400" b="1">
                <a:solidFill>
                  <a:srgbClr val="C4B5FD"/>
                </a:solidFill>
                <a:latin typeface="微软雅黑" panose="020B0503020204020204" charset="-122"/>
                <a:ea typeface="微软雅黑" panose="020B0503020204020204" charset="-122"/>
              </a:rPr>
              <a:t> 9</a:t>
            </a:r>
            <a:endParaRPr lang="en-US" sz="1400" b="1">
              <a:solidFill>
                <a:srgbClr val="C4B5FD"/>
              </a:solidFill>
              <a:latin typeface="微软雅黑" panose="020B0503020204020204" charset="-122"/>
              <a:ea typeface="微软雅黑" panose="020B0503020204020204" charset="-122"/>
            </a:endParaRPr>
          </a:p>
        </p:txBody>
      </p:sp>
      <p:sp>
        <p:nvSpPr>
          <p:cNvPr id="697" name="文本框 696" descr="{&quot;isTemplate&quot;:true,&quot;type&quot;:&quot;text&quot;}"/>
          <p:cNvSpPr txBox="1"/>
          <p:nvPr/>
        </p:nvSpPr>
        <p:spPr>
          <a:xfrm>
            <a:off x="3733800" y="4743450"/>
            <a:ext cx="1638300" cy="228600"/>
          </a:xfrm>
          <a:prstGeom prst="rect">
            <a:avLst/>
          </a:prstGeom>
        </p:spPr>
        <p:txBody>
          <a:bodyPr wrap="none" lIns="0" tIns="0" rIns="0" bIns="0"/>
          <a:p>
            <a:pPr>
              <a:lnSpc>
                <a:spcPct val="140000"/>
              </a:lnSpc>
            </a:pPr>
            <a:r>
              <a:rPr lang="zh-CN" sz="1400">
                <a:solidFill>
                  <a:srgbClr val="E2E8F0"/>
                </a:solidFill>
                <a:latin typeface="微软雅黑" panose="020B0503020204020204" charset="-122"/>
                <a:ea typeface="微软雅黑" panose="020B0503020204020204" charset="-122"/>
              </a:rPr>
              <a:t>产业链供需仿真与风险推演</a:t>
            </a:r>
            <a:endParaRPr lang="zh-CN" sz="1400">
              <a:solidFill>
                <a:srgbClr val="E2E8F0"/>
              </a:solidFill>
              <a:latin typeface="微软雅黑" panose="020B0503020204020204" charset="-122"/>
              <a:ea typeface="微软雅黑" panose="020B0503020204020204" charset="-122"/>
            </a:endParaRPr>
          </a:p>
        </p:txBody>
      </p:sp>
      <p:sp>
        <p:nvSpPr>
          <p:cNvPr id="698" name="圆角矩形 697"/>
          <p:cNvSpPr/>
          <p:nvPr/>
        </p:nvSpPr>
        <p:spPr>
          <a:xfrm>
            <a:off x="5600700" y="4457700"/>
            <a:ext cx="1905000" cy="609600"/>
          </a:xfrm>
          <a:prstGeom prst="roundRect">
            <a:avLst>
              <a:gd name="adj" fmla="val 15625"/>
            </a:avLst>
          </a:prstGeom>
          <a:solidFill>
            <a:srgbClr val="111B2E"/>
          </a:solidFill>
          <a:ln w="12700">
            <a:solidFill>
              <a:srgbClr val="8B5CF6">
                <a:alpha val="30000"/>
              </a:srgbClr>
            </a:solidFill>
            <a:prstDash val="solid"/>
          </a:ln>
        </p:spPr>
        <p:txBody>
          <a:bodyPr/>
          <a:p>
            <a:endParaRPr sz="2400"/>
          </a:p>
        </p:txBody>
      </p:sp>
      <p:sp>
        <p:nvSpPr>
          <p:cNvPr id="699" name="文本框 698" descr="{&quot;isTemplate&quot;:true,&quot;type&quot;:&quot;text&quot;}"/>
          <p:cNvSpPr txBox="1"/>
          <p:nvPr/>
        </p:nvSpPr>
        <p:spPr>
          <a:xfrm>
            <a:off x="5734050" y="4552950"/>
            <a:ext cx="1638300" cy="161925"/>
          </a:xfrm>
          <a:prstGeom prst="rect">
            <a:avLst/>
          </a:prstGeom>
        </p:spPr>
        <p:txBody>
          <a:bodyPr wrap="none" lIns="0" tIns="0" rIns="0" bIns="0"/>
          <a:p>
            <a:pPr>
              <a:lnSpc>
                <a:spcPct val="100000"/>
              </a:lnSpc>
            </a:pPr>
            <a:r>
              <a:rPr lang="zh-CN" sz="1400" b="1">
                <a:solidFill>
                  <a:srgbClr val="C4B5FD"/>
                </a:solidFill>
                <a:latin typeface="微软雅黑" panose="020B0503020204020204" charset="-122"/>
                <a:ea typeface="微软雅黑" panose="020B0503020204020204" charset="-122"/>
              </a:rPr>
              <a:t>课题</a:t>
            </a:r>
            <a:r>
              <a:rPr lang="en-US" sz="1400" b="1">
                <a:solidFill>
                  <a:srgbClr val="C4B5FD"/>
                </a:solidFill>
                <a:latin typeface="微软雅黑" panose="020B0503020204020204" charset="-122"/>
                <a:ea typeface="微软雅黑" panose="020B0503020204020204" charset="-122"/>
              </a:rPr>
              <a:t> 10</a:t>
            </a:r>
            <a:endParaRPr lang="en-US" sz="1400" b="1">
              <a:solidFill>
                <a:srgbClr val="C4B5FD"/>
              </a:solidFill>
              <a:latin typeface="微软雅黑" panose="020B0503020204020204" charset="-122"/>
              <a:ea typeface="微软雅黑" panose="020B0503020204020204" charset="-122"/>
            </a:endParaRPr>
          </a:p>
        </p:txBody>
      </p:sp>
      <p:sp>
        <p:nvSpPr>
          <p:cNvPr id="700" name="文本框 699" descr="{&quot;isTemplate&quot;:true,&quot;type&quot;:&quot;text&quot;}"/>
          <p:cNvSpPr txBox="1"/>
          <p:nvPr/>
        </p:nvSpPr>
        <p:spPr>
          <a:xfrm>
            <a:off x="5734050" y="4743450"/>
            <a:ext cx="1638300" cy="228600"/>
          </a:xfrm>
          <a:prstGeom prst="rect">
            <a:avLst/>
          </a:prstGeom>
        </p:spPr>
        <p:txBody>
          <a:bodyPr wrap="none" lIns="0" tIns="0" rIns="0" bIns="0"/>
          <a:p>
            <a:pPr>
              <a:lnSpc>
                <a:spcPct val="140000"/>
              </a:lnSpc>
            </a:pPr>
            <a:r>
              <a:rPr lang="zh-CN" sz="1400">
                <a:solidFill>
                  <a:srgbClr val="E2E8F0"/>
                </a:solidFill>
                <a:latin typeface="微软雅黑" panose="020B0503020204020204" charset="-122"/>
                <a:ea typeface="微软雅黑" panose="020B0503020204020204" charset="-122"/>
              </a:rPr>
              <a:t>产业出海智能服务</a:t>
            </a:r>
            <a:endParaRPr lang="zh-CN" sz="1400">
              <a:solidFill>
                <a:srgbClr val="E2E8F0"/>
              </a:solidFill>
              <a:latin typeface="微软雅黑" panose="020B0503020204020204" charset="-122"/>
              <a:ea typeface="微软雅黑" panose="020B0503020204020204" charset="-122"/>
            </a:endParaRPr>
          </a:p>
        </p:txBody>
      </p:sp>
      <p:sp>
        <p:nvSpPr>
          <p:cNvPr id="701" name="文本框 700"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400">
                <a:solidFill>
                  <a:srgbClr val="94A3B8"/>
                </a:solidFill>
                <a:latin typeface="微软雅黑" panose="020B0503020204020204" charset="-122"/>
                <a:ea typeface="微软雅黑" panose="020B0503020204020204" charset="-122"/>
              </a:rPr>
              <a:t>01 </a:t>
            </a:r>
            <a:r>
              <a:rPr lang="zh-CN" sz="1400">
                <a:solidFill>
                  <a:srgbClr val="94A3B8"/>
                </a:solidFill>
                <a:latin typeface="微软雅黑" panose="020B0503020204020204" charset="-122"/>
                <a:ea typeface="微软雅黑" panose="020B0503020204020204" charset="-122"/>
              </a:rPr>
              <a:t>十大创新实践课题</a:t>
            </a:r>
            <a:endParaRPr lang="zh-CN" sz="1400">
              <a:solidFill>
                <a:srgbClr val="94A3B8"/>
              </a:solidFill>
              <a:latin typeface="微软雅黑" panose="020B0503020204020204" charset="-122"/>
              <a:ea typeface="微软雅黑" panose="020B0503020204020204" charset="-122"/>
            </a:endParaRPr>
          </a:p>
        </p:txBody>
      </p:sp>
      <p:sp>
        <p:nvSpPr>
          <p:cNvPr id="702" name="文本框 701"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400">
                <a:solidFill>
                  <a:srgbClr val="94A3B8"/>
                </a:solidFill>
                <a:latin typeface="微软雅黑" panose="020B0503020204020204" charset="-122"/>
                <a:ea typeface="微软雅黑" panose="020B0503020204020204" charset="-122"/>
              </a:rPr>
              <a:t>04 / 47</a:t>
            </a:r>
            <a:endParaRPr lang="en-US" sz="140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31" name="" descr="&lt;Slide style={{ width: 1280, height: 720, background: '#0B1220', padding: '20px 64px', display: 'flex', flexDirection: 'column' }}&gt;&#10;    &lt;Box style={{ flexDirection: 'row', height: 100, alignItems: 'center' }}&gt;&#10;        &lt;Box style={{ width: 6, height: 44, background: 'linear-gradient(180deg, #8B5CF6 0%, #22D3EE 100%)', borderRadius: 3, marginRight: 20 }} /&gt;&#10;        &lt;Text style={{ fontSize: 34, fontWeight: 'bold', color: '#E2E8F0' }}&gt;通用实践要求与技术栈&lt;/Text&gt;&#10;        &lt;Text style={{ fontSize: 15, color: '#94A3B8', marginLeft: 18 }}&gt;所有课题共同遵循&lt;/Text&gt;&#10;    &lt;/Box&gt;&#10;    &lt;Box style={{ flex: 1, flexDirection: 'row', gap: 30, alignItems: 'center' }}&gt;&#10;        &lt;Box style={{ flex: 1, flexDirection: 'column', gap: 13, justifyContent: 'center' }}&gt;&#10;            &lt;Text style={{ fontSize: 19, fontWeight: 'bold', color: '#22D3EE', marginBottom: 4 }}&gt;通用实践要求&lt;/Text&gt;&#10;            &lt;Box style={{ background: '#111B2E', borderRadius: 12, padding: '14px 20px', borderLeft: '4px solid #3B82F6' }}&gt;&#10;                &lt;Text style={{ fontSize: 15.5, color: '#E2E8F0', lineHeight: 1.6 }}&gt;&lt;span style={{ fontWeight: 'bold', color: '#93C5FD' }}&gt;标准流程：&lt;/span&gt;需求分析 → 概要设计 → 详细设计 → 编码 → 测试 → 部署，全套文档交付&lt;/Text&gt;&#10;            &lt;/Box&gt;&#10;            &lt;Box style={{ background: '#111B2E', borderRadius: 12, padding: '14px 20px', borderLeft: '4px solid #22D3EE' }}&gt;&#10;                &lt;Text style={{ fontSize: 15.5, color: '#E2E8F0', lineHeight: 1.6 }}&gt;&lt;span style={{ fontWeight: 'bold', color: '#67E8F9' }}&gt;必须落地智能能力：&lt;/span&gt;结合大模型应用或知识图谱，禁止纯静态页面&lt;/Text&gt;&#10;            &lt;/Box&gt;&#10;            &lt;Box style={{ background: '#111B2E', borderRadius: 12, padding: '14px 20px', borderLeft: '4px solid #8B5CF6' }}&gt;&#10;                &lt;Text style={{ fontSize: 15.5, color: '#E2E8F0', lineHeight: 1.6 }}&gt;&lt;span style={{ fontWeight: 'bold', color: '#C4B5FD' }}&gt;基于真实产业数据：&lt;/span&gt;依托公开产业、企业、技术、政策数据形成业务闭环&lt;/Text&gt;&#10;            &lt;/Box&gt;&#10;            &lt;Box style={{ background: '#111B2E', borderRadius: 12, padding: '14px 20px', borderLeft: '4px solid #F59E0B' }}&gt;&#10;                &lt;Text style={{ fontSize: 15.5, color: '#E2E8F0', lineHeight: 1.6 }}&gt;&lt;span style={{ fontWeight: 'bold', color: '#FBBF24' }}&gt;成果可演示可复用：&lt;/span&gt;交付完整可用软件系统与标准化工程成果&lt;/Text&gt;&#10;            &lt;/Box&gt;&#10;        &lt;/Box&gt;&#10;        &lt;Box style={{ width: 470, background: 'rgba(139,92,246,0.08)', borderRadius: 14, padding: '24px 28px', border: '1px solid rgba(139,92,246,0.35)', justifyContent: 'center', gap: 12 }}&gt;&#10;            &lt;Text style={{ fontSize: 19, fontWeight: 'bold', color: '#C4B5FD', marginBottom: 4 }}&gt;推荐技术栈&lt;/Text&gt;&#10;            &lt;Text style={{ fontSize: 15.5, color: '#E2E8F0', lineHeight: 1.7 }}&gt;&lt;span style={{ fontWeight: 'bold', color: '#93C5FD' }}&gt;后端：&lt;/span&gt;Python · Java&lt;/Text&gt;&#10;            &lt;Text style={{ fontSize: 15.5, color: '#E2E8F0', lineHeight: 1.7 }}&gt;&lt;span style={{ fontWeight: 'bold', color: '#93C5FD' }}&gt;前端：&lt;/span&gt;Vue · React&lt;/Text&gt;&#10;            &lt;Text style={{ fontSize: 15.5, color: '#E2E8F0', lineHeight: 1.7 }}&gt;&lt;span style={{ fontWeight: 'bold', color: '#67E8F9' }}&gt;智能技术：&lt;/span&gt;大模型 API · 提示词工程 · RAG 检索增强&lt;/Text&gt;&#10;            &lt;Text style={{ fontSize: 15.5, color: '#E2E8F0', lineHeight: 1.7 }}&gt;&lt;span style={{ fontWeight: 'bold', color: '#67E8F9' }}&gt;数据底座：&lt;/span&gt;MySQL · Neo4j 图数据库&lt;/Text&gt;&#10;            &lt;Text style={{ fontSize: 15.5, color: '#E2E8F0', lineHeight: 1.7 }}&gt;&lt;span style={{ fontWeight: 'bold', color: '#C4B5FD' }}&gt;工程管理：&lt;/span&gt;Git · 敏捷开发 · 团队协同&lt;/Text&gt;&#10;        &lt;/Box&gt;&#10;    &lt;/Box&gt;&#10;    &lt;Box style={{ height: 40, flexDirection: 'row', justifyContent: 'space-between', alignItems: 'center', marginTop: 16 }}&gt;&#10;        &lt;Text style={{ fontSize: 14, color: '#94A3B8' }}&gt;01 十大创新实践课题&lt;/Text&gt;&#10;        &lt;Text style={{ fontSize: 14, color: '#94A3B8' }}&gt;05 / 47&lt;/Text&gt;&#10;    &lt;/Box&gt;&#10;&lt;/Slide&gt;&#10;"/>
        <p:cNvGrpSpPr/>
        <p:nvPr/>
      </p:nvGrpSpPr>
      <p:grpSpPr>
        <a:xfrm>
          <a:off x="0" y="0"/>
          <a:ext cx="0" cy="0"/>
          <a:chOff x="0" y="0"/>
          <a:chExt cx="0" cy="0"/>
        </a:xfrm>
      </p:grpSpPr>
      <p:sp>
        <p:nvSpPr>
          <p:cNvPr id="832" name="矩形 831"/>
          <p:cNvSpPr/>
          <p:nvPr/>
        </p:nvSpPr>
        <p:spPr>
          <a:xfrm>
            <a:off x="0" y="0"/>
            <a:ext cx="12192000" cy="6858000"/>
          </a:xfrm>
          <a:prstGeom prst="rect">
            <a:avLst/>
          </a:prstGeom>
          <a:solidFill>
            <a:srgbClr val="0B1220"/>
          </a:solidFill>
        </p:spPr>
        <p:txBody>
          <a:bodyPr/>
          <a:p/>
        </p:txBody>
      </p:sp>
      <p:sp>
        <p:nvSpPr>
          <p:cNvPr id="833" name="圆角矩形 832"/>
          <p:cNvSpPr/>
          <p:nvPr/>
        </p:nvSpPr>
        <p:spPr>
          <a:xfrm>
            <a:off x="609600" y="457200"/>
            <a:ext cx="57150" cy="419100"/>
          </a:xfrm>
          <a:prstGeom prst="roundRect">
            <a:avLst>
              <a:gd name="adj" fmla="val 50000"/>
            </a:avLst>
          </a:prstGeom>
          <a:gradFill>
            <a:gsLst>
              <a:gs pos="0">
                <a:srgbClr val="8B5CF6"/>
              </a:gs>
              <a:gs pos="100000">
                <a:srgbClr val="22D3EE"/>
              </a:gs>
            </a:gsLst>
            <a:lin ang="5400000" scaled="1"/>
          </a:gradFill>
        </p:spPr>
        <p:txBody>
          <a:bodyPr/>
          <a:p/>
        </p:txBody>
      </p:sp>
      <p:sp>
        <p:nvSpPr>
          <p:cNvPr id="834" name="文本框 833" descr="{&quot;isTemplate&quot;:true,&quot;type&quot;:&quot;text&quot;}"/>
          <p:cNvSpPr txBox="1"/>
          <p:nvPr/>
        </p:nvSpPr>
        <p:spPr>
          <a:xfrm>
            <a:off x="857250" y="476250"/>
            <a:ext cx="32385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通用实践要求与技术栈</a:t>
            </a:r>
            <a:endParaRPr lang="zh-CN" sz="2550" b="1">
              <a:solidFill>
                <a:srgbClr val="E2E8F0"/>
              </a:solidFill>
              <a:latin typeface="微软雅黑" panose="020B0503020204020204" charset="-122"/>
              <a:ea typeface="微软雅黑" panose="020B0503020204020204" charset="-122"/>
            </a:endParaRPr>
          </a:p>
        </p:txBody>
      </p:sp>
      <p:sp>
        <p:nvSpPr>
          <p:cNvPr id="835" name="文本框 834" descr="{&quot;isTemplate&quot;:true,&quot;type&quot;:&quot;text&quot;}"/>
          <p:cNvSpPr txBox="1"/>
          <p:nvPr/>
        </p:nvSpPr>
        <p:spPr>
          <a:xfrm>
            <a:off x="4267200" y="581025"/>
            <a:ext cx="1143000" cy="171450"/>
          </a:xfrm>
          <a:prstGeom prst="rect">
            <a:avLst/>
          </a:prstGeom>
        </p:spPr>
        <p:txBody>
          <a:bodyPr wrap="none" lIns="0" tIns="0" rIns="0" bIns="0"/>
          <a:p>
            <a:pPr>
              <a:lnSpc>
                <a:spcPct val="100000"/>
              </a:lnSpc>
            </a:pPr>
            <a:r>
              <a:rPr lang="zh-CN" sz="1125">
                <a:solidFill>
                  <a:srgbClr val="94A3B8"/>
                </a:solidFill>
                <a:latin typeface="微软雅黑" panose="020B0503020204020204" charset="-122"/>
                <a:ea typeface="微软雅黑" panose="020B0503020204020204" charset="-122"/>
              </a:rPr>
              <a:t>所有课题共同遵循</a:t>
            </a:r>
            <a:endParaRPr lang="zh-CN" sz="1125">
              <a:solidFill>
                <a:srgbClr val="94A3B8"/>
              </a:solidFill>
              <a:latin typeface="微软雅黑" panose="020B0503020204020204" charset="-122"/>
              <a:ea typeface="微软雅黑" panose="020B0503020204020204" charset="-122"/>
            </a:endParaRPr>
          </a:p>
        </p:txBody>
      </p:sp>
      <p:sp>
        <p:nvSpPr>
          <p:cNvPr id="836" name="文本框 835" descr="{&quot;isTemplate&quot;:true,&quot;type&quot;:&quot;text&quot;}"/>
          <p:cNvSpPr txBox="1"/>
          <p:nvPr/>
        </p:nvSpPr>
        <p:spPr>
          <a:xfrm>
            <a:off x="609600" y="2162175"/>
            <a:ext cx="6210300" cy="219075"/>
          </a:xfrm>
          <a:prstGeom prst="rect">
            <a:avLst/>
          </a:prstGeom>
        </p:spPr>
        <p:txBody>
          <a:bodyPr wrap="none" lIns="0" tIns="0" rIns="0" bIns="0"/>
          <a:p>
            <a:pPr>
              <a:lnSpc>
                <a:spcPct val="100000"/>
              </a:lnSpc>
            </a:pPr>
            <a:r>
              <a:rPr lang="zh-CN" sz="1425" b="1">
                <a:solidFill>
                  <a:srgbClr val="22D3EE"/>
                </a:solidFill>
                <a:latin typeface="微软雅黑" panose="020B0503020204020204" charset="-122"/>
                <a:ea typeface="微软雅黑" panose="020B0503020204020204" charset="-122"/>
              </a:rPr>
              <a:t>通用实践要求</a:t>
            </a:r>
            <a:endParaRPr lang="zh-CN" sz="1425" b="1">
              <a:solidFill>
                <a:srgbClr val="22D3EE"/>
              </a:solidFill>
              <a:latin typeface="微软雅黑" panose="020B0503020204020204" charset="-122"/>
              <a:ea typeface="微软雅黑" panose="020B0503020204020204" charset="-122"/>
            </a:endParaRPr>
          </a:p>
        </p:txBody>
      </p:sp>
      <p:sp>
        <p:nvSpPr>
          <p:cNvPr id="837" name="圆角矩形 836"/>
          <p:cNvSpPr/>
          <p:nvPr/>
        </p:nvSpPr>
        <p:spPr>
          <a:xfrm>
            <a:off x="647700" y="2543175"/>
            <a:ext cx="6210300" cy="552450"/>
          </a:xfrm>
          <a:prstGeom prst="roundRect">
            <a:avLst>
              <a:gd name="adj" fmla="val 20690"/>
            </a:avLst>
          </a:prstGeom>
          <a:solidFill>
            <a:srgbClr val="111B2E"/>
          </a:solidFill>
        </p:spPr>
        <p:txBody>
          <a:bodyPr/>
          <a:p/>
        </p:txBody>
      </p:sp>
      <p:sp>
        <p:nvSpPr>
          <p:cNvPr id="838" name="任意多边形 837"/>
          <p:cNvSpPr/>
          <p:nvPr/>
        </p:nvSpPr>
        <p:spPr>
          <a:xfrm>
            <a:off x="647700" y="2543175"/>
            <a:ext cx="6210300" cy="552450"/>
          </a:xfrm>
          <a:custGeom>
            <a:avLst/>
            <a:gdLst/>
            <a:ahLst/>
            <a:cxnLst/>
            <a:pathLst>
              <a:path w="652" h="58">
                <a:moveTo>
                  <a:pt x="11" y="0"/>
                </a:moveTo>
                <a:cubicBezTo>
                  <a:pt x="7" y="0"/>
                  <a:pt x="4" y="4"/>
                  <a:pt x="4" y="8"/>
                </a:cubicBezTo>
                <a:lnTo>
                  <a:pt x="4" y="50"/>
                </a:lnTo>
                <a:cubicBezTo>
                  <a:pt x="4" y="54"/>
                  <a:pt x="7" y="57"/>
                  <a:pt x="10" y="58"/>
                </a:cubicBezTo>
                <a:cubicBezTo>
                  <a:pt x="4" y="57"/>
                  <a:pt x="0" y="52"/>
                  <a:pt x="0" y="46"/>
                </a:cubicBezTo>
                <a:lnTo>
                  <a:pt x="0" y="12"/>
                </a:lnTo>
                <a:cubicBezTo>
                  <a:pt x="0" y="6"/>
                  <a:pt x="5" y="0"/>
                  <a:pt x="12" y="0"/>
                </a:cubicBezTo>
                <a:close/>
              </a:path>
            </a:pathLst>
          </a:custGeom>
          <a:solidFill>
            <a:srgbClr val="3B82F6"/>
          </a:solidFill>
        </p:spPr>
        <p:txBody>
          <a:bodyPr/>
          <a:p/>
        </p:txBody>
      </p:sp>
      <p:sp>
        <p:nvSpPr>
          <p:cNvPr id="839" name="文本框 838" descr="{&quot;isTemplate&quot;:true,&quot;type&quot;:&quot;text&quot;}"/>
          <p:cNvSpPr txBox="1"/>
          <p:nvPr/>
        </p:nvSpPr>
        <p:spPr>
          <a:xfrm>
            <a:off x="838200" y="2676525"/>
            <a:ext cx="5791200" cy="285750"/>
          </a:xfrm>
          <a:prstGeom prst="rect">
            <a:avLst/>
          </a:prstGeom>
        </p:spPr>
        <p:txBody>
          <a:bodyPr wrap="none" lIns="0" tIns="0" rIns="0" bIns="0"/>
          <a:p>
            <a:pPr>
              <a:lnSpc>
                <a:spcPct val="160000"/>
              </a:lnSpc>
            </a:pPr>
            <a:r>
              <a:rPr lang="zh-CN" sz="1165" b="1">
                <a:solidFill>
                  <a:srgbClr val="93C5FD"/>
                </a:solidFill>
                <a:latin typeface="微软雅黑" panose="020B0503020204020204" charset="-122"/>
                <a:ea typeface="微软雅黑" panose="020B0503020204020204" charset="-122"/>
              </a:rPr>
              <a:t>标准流程：</a:t>
            </a:r>
            <a:r>
              <a:rPr lang="zh-CN" sz="1165">
                <a:solidFill>
                  <a:srgbClr val="E2E8F0"/>
                </a:solidFill>
                <a:latin typeface="微软雅黑" panose="020B0503020204020204" charset="-122"/>
                <a:ea typeface="微软雅黑" panose="020B0503020204020204" charset="-122"/>
              </a:rPr>
              <a:t>需求分析</a:t>
            </a:r>
            <a:r>
              <a:rPr lang="en-US" sz="1165">
                <a:solidFill>
                  <a:srgbClr val="E2E8F0"/>
                </a:solidFill>
                <a:latin typeface="微软雅黑" panose="020B0503020204020204" charset="-122"/>
                <a:ea typeface="微软雅黑" panose="020B0503020204020204" charset="-122"/>
              </a:rPr>
              <a:t> → </a:t>
            </a:r>
            <a:r>
              <a:rPr lang="zh-CN" sz="1165">
                <a:solidFill>
                  <a:srgbClr val="E2E8F0"/>
                </a:solidFill>
                <a:latin typeface="微软雅黑" panose="020B0503020204020204" charset="-122"/>
                <a:ea typeface="微软雅黑" panose="020B0503020204020204" charset="-122"/>
              </a:rPr>
              <a:t>概要设计</a:t>
            </a:r>
            <a:r>
              <a:rPr lang="en-US" sz="1165">
                <a:solidFill>
                  <a:srgbClr val="E2E8F0"/>
                </a:solidFill>
                <a:latin typeface="微软雅黑" panose="020B0503020204020204" charset="-122"/>
                <a:ea typeface="微软雅黑" panose="020B0503020204020204" charset="-122"/>
              </a:rPr>
              <a:t> → </a:t>
            </a:r>
            <a:r>
              <a:rPr lang="zh-CN" sz="1165">
                <a:solidFill>
                  <a:srgbClr val="E2E8F0"/>
                </a:solidFill>
                <a:latin typeface="微软雅黑" panose="020B0503020204020204" charset="-122"/>
                <a:ea typeface="微软雅黑" panose="020B0503020204020204" charset="-122"/>
              </a:rPr>
              <a:t>详细设计</a:t>
            </a:r>
            <a:r>
              <a:rPr lang="en-US" sz="1165">
                <a:solidFill>
                  <a:srgbClr val="E2E8F0"/>
                </a:solidFill>
                <a:latin typeface="微软雅黑" panose="020B0503020204020204" charset="-122"/>
                <a:ea typeface="微软雅黑" panose="020B0503020204020204" charset="-122"/>
              </a:rPr>
              <a:t> → </a:t>
            </a:r>
            <a:r>
              <a:rPr lang="zh-CN" sz="1165">
                <a:solidFill>
                  <a:srgbClr val="E2E8F0"/>
                </a:solidFill>
                <a:latin typeface="微软雅黑" panose="020B0503020204020204" charset="-122"/>
                <a:ea typeface="微软雅黑" panose="020B0503020204020204" charset="-122"/>
              </a:rPr>
              <a:t>编码</a:t>
            </a:r>
            <a:r>
              <a:rPr lang="en-US" sz="1165">
                <a:solidFill>
                  <a:srgbClr val="E2E8F0"/>
                </a:solidFill>
                <a:latin typeface="微软雅黑" panose="020B0503020204020204" charset="-122"/>
                <a:ea typeface="微软雅黑" panose="020B0503020204020204" charset="-122"/>
              </a:rPr>
              <a:t> → </a:t>
            </a:r>
            <a:r>
              <a:rPr lang="zh-CN" sz="1165">
                <a:solidFill>
                  <a:srgbClr val="E2E8F0"/>
                </a:solidFill>
                <a:latin typeface="微软雅黑" panose="020B0503020204020204" charset="-122"/>
                <a:ea typeface="微软雅黑" panose="020B0503020204020204" charset="-122"/>
              </a:rPr>
              <a:t>测试</a:t>
            </a:r>
            <a:r>
              <a:rPr lang="en-US" sz="1165">
                <a:solidFill>
                  <a:srgbClr val="E2E8F0"/>
                </a:solidFill>
                <a:latin typeface="微软雅黑" panose="020B0503020204020204" charset="-122"/>
                <a:ea typeface="微软雅黑" panose="020B0503020204020204" charset="-122"/>
              </a:rPr>
              <a:t> → </a:t>
            </a:r>
            <a:r>
              <a:rPr lang="zh-CN" sz="1165">
                <a:solidFill>
                  <a:srgbClr val="E2E8F0"/>
                </a:solidFill>
                <a:latin typeface="微软雅黑" panose="020B0503020204020204" charset="-122"/>
                <a:ea typeface="微软雅黑" panose="020B0503020204020204" charset="-122"/>
              </a:rPr>
              <a:t>部署，全套文档交付</a:t>
            </a:r>
            <a:endParaRPr lang="zh-CN" sz="1165">
              <a:solidFill>
                <a:srgbClr val="E2E8F0"/>
              </a:solidFill>
              <a:latin typeface="微软雅黑" panose="020B0503020204020204" charset="-122"/>
              <a:ea typeface="微软雅黑" panose="020B0503020204020204" charset="-122"/>
            </a:endParaRPr>
          </a:p>
        </p:txBody>
      </p:sp>
      <p:sp>
        <p:nvSpPr>
          <p:cNvPr id="840" name="圆角矩形 839"/>
          <p:cNvSpPr/>
          <p:nvPr/>
        </p:nvSpPr>
        <p:spPr>
          <a:xfrm>
            <a:off x="647700" y="3219450"/>
            <a:ext cx="6210300" cy="552450"/>
          </a:xfrm>
          <a:prstGeom prst="roundRect">
            <a:avLst>
              <a:gd name="adj" fmla="val 20690"/>
            </a:avLst>
          </a:prstGeom>
          <a:solidFill>
            <a:srgbClr val="111B2E"/>
          </a:solidFill>
        </p:spPr>
        <p:txBody>
          <a:bodyPr/>
          <a:p/>
        </p:txBody>
      </p:sp>
      <p:sp>
        <p:nvSpPr>
          <p:cNvPr id="841" name="任意多边形 840"/>
          <p:cNvSpPr/>
          <p:nvPr/>
        </p:nvSpPr>
        <p:spPr>
          <a:xfrm>
            <a:off x="647700" y="3219450"/>
            <a:ext cx="6210300" cy="552450"/>
          </a:xfrm>
          <a:custGeom>
            <a:avLst/>
            <a:gdLst/>
            <a:ahLst/>
            <a:cxnLst/>
            <a:pathLst>
              <a:path w="652" h="58">
                <a:moveTo>
                  <a:pt x="11" y="0"/>
                </a:moveTo>
                <a:cubicBezTo>
                  <a:pt x="7" y="0"/>
                  <a:pt x="4" y="4"/>
                  <a:pt x="4" y="8"/>
                </a:cubicBezTo>
                <a:lnTo>
                  <a:pt x="4" y="50"/>
                </a:lnTo>
                <a:cubicBezTo>
                  <a:pt x="4" y="54"/>
                  <a:pt x="7" y="57"/>
                  <a:pt x="10" y="58"/>
                </a:cubicBezTo>
                <a:cubicBezTo>
                  <a:pt x="4" y="57"/>
                  <a:pt x="0" y="52"/>
                  <a:pt x="0" y="46"/>
                </a:cubicBezTo>
                <a:lnTo>
                  <a:pt x="0" y="12"/>
                </a:lnTo>
                <a:cubicBezTo>
                  <a:pt x="0" y="6"/>
                  <a:pt x="5" y="0"/>
                  <a:pt x="12" y="0"/>
                </a:cubicBezTo>
                <a:close/>
              </a:path>
            </a:pathLst>
          </a:custGeom>
          <a:solidFill>
            <a:srgbClr val="22D3EE"/>
          </a:solidFill>
        </p:spPr>
        <p:txBody>
          <a:bodyPr/>
          <a:p/>
        </p:txBody>
      </p:sp>
      <p:sp>
        <p:nvSpPr>
          <p:cNvPr id="842" name="文本框 841" descr="{&quot;isTemplate&quot;:true,&quot;type&quot;:&quot;text&quot;}"/>
          <p:cNvSpPr txBox="1"/>
          <p:nvPr/>
        </p:nvSpPr>
        <p:spPr>
          <a:xfrm>
            <a:off x="838200" y="3352800"/>
            <a:ext cx="5791200" cy="285750"/>
          </a:xfrm>
          <a:prstGeom prst="rect">
            <a:avLst/>
          </a:prstGeom>
        </p:spPr>
        <p:txBody>
          <a:bodyPr wrap="none" lIns="0" tIns="0" rIns="0" bIns="0"/>
          <a:p>
            <a:pPr>
              <a:lnSpc>
                <a:spcPct val="160000"/>
              </a:lnSpc>
            </a:pPr>
            <a:r>
              <a:rPr lang="zh-CN" sz="1165" b="1">
                <a:solidFill>
                  <a:srgbClr val="67E8F9"/>
                </a:solidFill>
                <a:latin typeface="微软雅黑" panose="020B0503020204020204" charset="-122"/>
                <a:ea typeface="微软雅黑" panose="020B0503020204020204" charset="-122"/>
              </a:rPr>
              <a:t>必须落地智能能力：</a:t>
            </a:r>
            <a:r>
              <a:rPr lang="zh-CN" sz="1165">
                <a:solidFill>
                  <a:srgbClr val="E2E8F0"/>
                </a:solidFill>
                <a:latin typeface="微软雅黑" panose="020B0503020204020204" charset="-122"/>
                <a:ea typeface="微软雅黑" panose="020B0503020204020204" charset="-122"/>
              </a:rPr>
              <a:t>结合大模型应用或知识图谱，禁止纯静态页面</a:t>
            </a:r>
            <a:endParaRPr lang="zh-CN" sz="1165">
              <a:solidFill>
                <a:srgbClr val="E2E8F0"/>
              </a:solidFill>
              <a:latin typeface="微软雅黑" panose="020B0503020204020204" charset="-122"/>
              <a:ea typeface="微软雅黑" panose="020B0503020204020204" charset="-122"/>
            </a:endParaRPr>
          </a:p>
        </p:txBody>
      </p:sp>
      <p:sp>
        <p:nvSpPr>
          <p:cNvPr id="843" name="圆角矩形 842"/>
          <p:cNvSpPr/>
          <p:nvPr/>
        </p:nvSpPr>
        <p:spPr>
          <a:xfrm>
            <a:off x="647700" y="3895725"/>
            <a:ext cx="6210300" cy="552450"/>
          </a:xfrm>
          <a:prstGeom prst="roundRect">
            <a:avLst>
              <a:gd name="adj" fmla="val 20690"/>
            </a:avLst>
          </a:prstGeom>
          <a:solidFill>
            <a:srgbClr val="111B2E"/>
          </a:solidFill>
        </p:spPr>
        <p:txBody>
          <a:bodyPr/>
          <a:p/>
        </p:txBody>
      </p:sp>
      <p:sp>
        <p:nvSpPr>
          <p:cNvPr id="844" name="任意多边形 843"/>
          <p:cNvSpPr/>
          <p:nvPr/>
        </p:nvSpPr>
        <p:spPr>
          <a:xfrm>
            <a:off x="647700" y="3895725"/>
            <a:ext cx="6210300" cy="552450"/>
          </a:xfrm>
          <a:custGeom>
            <a:avLst/>
            <a:gdLst/>
            <a:ahLst/>
            <a:cxnLst/>
            <a:pathLst>
              <a:path w="652" h="58">
                <a:moveTo>
                  <a:pt x="11" y="0"/>
                </a:moveTo>
                <a:cubicBezTo>
                  <a:pt x="7" y="0"/>
                  <a:pt x="4" y="4"/>
                  <a:pt x="4" y="8"/>
                </a:cubicBezTo>
                <a:lnTo>
                  <a:pt x="4" y="50"/>
                </a:lnTo>
                <a:cubicBezTo>
                  <a:pt x="4" y="54"/>
                  <a:pt x="7" y="57"/>
                  <a:pt x="10" y="58"/>
                </a:cubicBezTo>
                <a:cubicBezTo>
                  <a:pt x="4" y="57"/>
                  <a:pt x="0" y="52"/>
                  <a:pt x="0" y="46"/>
                </a:cubicBezTo>
                <a:lnTo>
                  <a:pt x="0" y="12"/>
                </a:lnTo>
                <a:cubicBezTo>
                  <a:pt x="0" y="6"/>
                  <a:pt x="5" y="0"/>
                  <a:pt x="12" y="0"/>
                </a:cubicBezTo>
                <a:close/>
              </a:path>
            </a:pathLst>
          </a:custGeom>
          <a:solidFill>
            <a:srgbClr val="8B5CF6"/>
          </a:solidFill>
        </p:spPr>
        <p:txBody>
          <a:bodyPr/>
          <a:p/>
        </p:txBody>
      </p:sp>
      <p:sp>
        <p:nvSpPr>
          <p:cNvPr id="845" name="文本框 844" descr="{&quot;isTemplate&quot;:true,&quot;type&quot;:&quot;text&quot;}"/>
          <p:cNvSpPr txBox="1"/>
          <p:nvPr/>
        </p:nvSpPr>
        <p:spPr>
          <a:xfrm>
            <a:off x="838200" y="4029075"/>
            <a:ext cx="5791200" cy="285750"/>
          </a:xfrm>
          <a:prstGeom prst="rect">
            <a:avLst/>
          </a:prstGeom>
        </p:spPr>
        <p:txBody>
          <a:bodyPr wrap="none" lIns="0" tIns="0" rIns="0" bIns="0"/>
          <a:p>
            <a:pPr>
              <a:lnSpc>
                <a:spcPct val="160000"/>
              </a:lnSpc>
            </a:pPr>
            <a:r>
              <a:rPr lang="zh-CN" sz="1165" b="1">
                <a:solidFill>
                  <a:srgbClr val="C4B5FD"/>
                </a:solidFill>
                <a:latin typeface="微软雅黑" panose="020B0503020204020204" charset="-122"/>
                <a:ea typeface="微软雅黑" panose="020B0503020204020204" charset="-122"/>
              </a:rPr>
              <a:t>基于真实产业数据：</a:t>
            </a:r>
            <a:r>
              <a:rPr lang="zh-CN" sz="1165">
                <a:solidFill>
                  <a:srgbClr val="E2E8F0"/>
                </a:solidFill>
                <a:latin typeface="微软雅黑" panose="020B0503020204020204" charset="-122"/>
                <a:ea typeface="微软雅黑" panose="020B0503020204020204" charset="-122"/>
              </a:rPr>
              <a:t>依托公开产业、企业、技术、政策数据形成业务闭环</a:t>
            </a:r>
            <a:endParaRPr lang="zh-CN" sz="1165">
              <a:solidFill>
                <a:srgbClr val="E2E8F0"/>
              </a:solidFill>
              <a:latin typeface="微软雅黑" panose="020B0503020204020204" charset="-122"/>
              <a:ea typeface="微软雅黑" panose="020B0503020204020204" charset="-122"/>
            </a:endParaRPr>
          </a:p>
        </p:txBody>
      </p:sp>
      <p:sp>
        <p:nvSpPr>
          <p:cNvPr id="846" name="圆角矩形 845"/>
          <p:cNvSpPr/>
          <p:nvPr/>
        </p:nvSpPr>
        <p:spPr>
          <a:xfrm>
            <a:off x="647700" y="4572000"/>
            <a:ext cx="6210300" cy="552450"/>
          </a:xfrm>
          <a:prstGeom prst="roundRect">
            <a:avLst>
              <a:gd name="adj" fmla="val 20690"/>
            </a:avLst>
          </a:prstGeom>
          <a:solidFill>
            <a:srgbClr val="111B2E"/>
          </a:solidFill>
        </p:spPr>
        <p:txBody>
          <a:bodyPr/>
          <a:p/>
        </p:txBody>
      </p:sp>
      <p:sp>
        <p:nvSpPr>
          <p:cNvPr id="847" name="任意多边形 846"/>
          <p:cNvSpPr/>
          <p:nvPr/>
        </p:nvSpPr>
        <p:spPr>
          <a:xfrm>
            <a:off x="647700" y="4572000"/>
            <a:ext cx="6210300" cy="552450"/>
          </a:xfrm>
          <a:custGeom>
            <a:avLst/>
            <a:gdLst/>
            <a:ahLst/>
            <a:cxnLst/>
            <a:pathLst>
              <a:path w="652" h="58">
                <a:moveTo>
                  <a:pt x="11" y="0"/>
                </a:moveTo>
                <a:cubicBezTo>
                  <a:pt x="7" y="0"/>
                  <a:pt x="4" y="4"/>
                  <a:pt x="4" y="8"/>
                </a:cubicBezTo>
                <a:lnTo>
                  <a:pt x="4" y="50"/>
                </a:lnTo>
                <a:cubicBezTo>
                  <a:pt x="4" y="54"/>
                  <a:pt x="7" y="57"/>
                  <a:pt x="10" y="58"/>
                </a:cubicBezTo>
                <a:cubicBezTo>
                  <a:pt x="4" y="57"/>
                  <a:pt x="0" y="52"/>
                  <a:pt x="0" y="46"/>
                </a:cubicBezTo>
                <a:lnTo>
                  <a:pt x="0" y="12"/>
                </a:lnTo>
                <a:cubicBezTo>
                  <a:pt x="0" y="6"/>
                  <a:pt x="5" y="0"/>
                  <a:pt x="12" y="0"/>
                </a:cubicBezTo>
                <a:close/>
              </a:path>
            </a:pathLst>
          </a:custGeom>
          <a:solidFill>
            <a:srgbClr val="F59E0B"/>
          </a:solidFill>
        </p:spPr>
        <p:txBody>
          <a:bodyPr/>
          <a:p/>
        </p:txBody>
      </p:sp>
      <p:sp>
        <p:nvSpPr>
          <p:cNvPr id="848" name="文本框 847" descr="{&quot;isTemplate&quot;:true,&quot;type&quot;:&quot;text&quot;}"/>
          <p:cNvSpPr txBox="1"/>
          <p:nvPr/>
        </p:nvSpPr>
        <p:spPr>
          <a:xfrm>
            <a:off x="838200" y="4705350"/>
            <a:ext cx="5791200" cy="285750"/>
          </a:xfrm>
          <a:prstGeom prst="rect">
            <a:avLst/>
          </a:prstGeom>
        </p:spPr>
        <p:txBody>
          <a:bodyPr wrap="none" lIns="0" tIns="0" rIns="0" bIns="0"/>
          <a:p>
            <a:pPr>
              <a:lnSpc>
                <a:spcPct val="160000"/>
              </a:lnSpc>
            </a:pPr>
            <a:r>
              <a:rPr lang="zh-CN" sz="1165" b="1">
                <a:solidFill>
                  <a:srgbClr val="FBBF24"/>
                </a:solidFill>
                <a:latin typeface="微软雅黑" panose="020B0503020204020204" charset="-122"/>
                <a:ea typeface="微软雅黑" panose="020B0503020204020204" charset="-122"/>
              </a:rPr>
              <a:t>成果可演示可复用：</a:t>
            </a:r>
            <a:r>
              <a:rPr lang="zh-CN" sz="1165">
                <a:solidFill>
                  <a:srgbClr val="E2E8F0"/>
                </a:solidFill>
                <a:latin typeface="微软雅黑" panose="020B0503020204020204" charset="-122"/>
                <a:ea typeface="微软雅黑" panose="020B0503020204020204" charset="-122"/>
              </a:rPr>
              <a:t>交付完整可用软件系统与标准化工程成果</a:t>
            </a:r>
            <a:endParaRPr lang="zh-CN" sz="1165">
              <a:solidFill>
                <a:srgbClr val="E2E8F0"/>
              </a:solidFill>
              <a:latin typeface="微软雅黑" panose="020B0503020204020204" charset="-122"/>
              <a:ea typeface="微软雅黑" panose="020B0503020204020204" charset="-122"/>
            </a:endParaRPr>
          </a:p>
        </p:txBody>
      </p:sp>
      <p:sp>
        <p:nvSpPr>
          <p:cNvPr id="849" name="圆角矩形 848"/>
          <p:cNvSpPr/>
          <p:nvPr/>
        </p:nvSpPr>
        <p:spPr>
          <a:xfrm>
            <a:off x="7105650" y="2238375"/>
            <a:ext cx="4476750" cy="2809875"/>
          </a:xfrm>
          <a:prstGeom prst="roundRect">
            <a:avLst>
              <a:gd name="adj" fmla="val 4746"/>
            </a:avLst>
          </a:prstGeom>
          <a:solidFill>
            <a:srgbClr val="8B5CF6">
              <a:alpha val="8000"/>
            </a:srgbClr>
          </a:solidFill>
          <a:ln w="12700">
            <a:solidFill>
              <a:srgbClr val="8B5CF6">
                <a:alpha val="35000"/>
              </a:srgbClr>
            </a:solidFill>
            <a:prstDash val="solid"/>
          </a:ln>
        </p:spPr>
        <p:txBody>
          <a:bodyPr/>
          <a:p/>
        </p:txBody>
      </p:sp>
      <p:sp>
        <p:nvSpPr>
          <p:cNvPr id="850" name="文本框 849" descr="{&quot;isTemplate&quot;:true,&quot;type&quot;:&quot;text&quot;}"/>
          <p:cNvSpPr txBox="1"/>
          <p:nvPr/>
        </p:nvSpPr>
        <p:spPr>
          <a:xfrm>
            <a:off x="7372350" y="2466975"/>
            <a:ext cx="3943350" cy="219075"/>
          </a:xfrm>
          <a:prstGeom prst="rect">
            <a:avLst/>
          </a:prstGeom>
        </p:spPr>
        <p:txBody>
          <a:bodyPr wrap="none" lIns="0" tIns="0" rIns="0" bIns="0"/>
          <a:p>
            <a:pPr>
              <a:lnSpc>
                <a:spcPct val="100000"/>
              </a:lnSpc>
            </a:pPr>
            <a:r>
              <a:rPr lang="zh-CN" sz="1425" b="1">
                <a:solidFill>
                  <a:srgbClr val="C4B5FD"/>
                </a:solidFill>
                <a:latin typeface="微软雅黑" panose="020B0503020204020204" charset="-122"/>
                <a:ea typeface="微软雅黑" panose="020B0503020204020204" charset="-122"/>
              </a:rPr>
              <a:t>推荐技术栈</a:t>
            </a:r>
            <a:endParaRPr lang="zh-CN" sz="1425" b="1">
              <a:solidFill>
                <a:srgbClr val="C4B5FD"/>
              </a:solidFill>
              <a:latin typeface="微软雅黑" panose="020B0503020204020204" charset="-122"/>
              <a:ea typeface="微软雅黑" panose="020B0503020204020204" charset="-122"/>
            </a:endParaRPr>
          </a:p>
        </p:txBody>
      </p:sp>
      <p:sp>
        <p:nvSpPr>
          <p:cNvPr id="851" name="文本框 850" descr="{&quot;isTemplate&quot;:true,&quot;type&quot;:&quot;text&quot;}"/>
          <p:cNvSpPr txBox="1"/>
          <p:nvPr/>
        </p:nvSpPr>
        <p:spPr>
          <a:xfrm>
            <a:off x="7372350" y="2838450"/>
            <a:ext cx="3943350" cy="304800"/>
          </a:xfrm>
          <a:prstGeom prst="rect">
            <a:avLst/>
          </a:prstGeom>
        </p:spPr>
        <p:txBody>
          <a:bodyPr wrap="none" lIns="0" tIns="0" rIns="0" bIns="0"/>
          <a:p>
            <a:pPr>
              <a:lnSpc>
                <a:spcPct val="170000"/>
              </a:lnSpc>
            </a:pPr>
            <a:r>
              <a:rPr lang="zh-CN" sz="1165" b="1">
                <a:solidFill>
                  <a:srgbClr val="93C5FD"/>
                </a:solidFill>
                <a:latin typeface="微软雅黑" panose="020B0503020204020204" charset="-122"/>
                <a:ea typeface="微软雅黑" panose="020B0503020204020204" charset="-122"/>
              </a:rPr>
              <a:t>后端：</a:t>
            </a:r>
            <a:r>
              <a:rPr lang="en-US" sz="1165">
                <a:solidFill>
                  <a:srgbClr val="E2E8F0"/>
                </a:solidFill>
                <a:latin typeface="微软雅黑" panose="020B0503020204020204" charset="-122"/>
                <a:ea typeface="微软雅黑" panose="020B0503020204020204" charset="-122"/>
              </a:rPr>
              <a:t>Python · Java</a:t>
            </a:r>
            <a:endParaRPr lang="en-US" sz="1165">
              <a:solidFill>
                <a:srgbClr val="E2E8F0"/>
              </a:solidFill>
              <a:latin typeface="微软雅黑" panose="020B0503020204020204" charset="-122"/>
              <a:ea typeface="微软雅黑" panose="020B0503020204020204" charset="-122"/>
            </a:endParaRPr>
          </a:p>
        </p:txBody>
      </p:sp>
      <p:sp>
        <p:nvSpPr>
          <p:cNvPr id="852" name="文本框 851" descr="{&quot;isTemplate&quot;:true,&quot;type&quot;:&quot;text&quot;}"/>
          <p:cNvSpPr txBox="1"/>
          <p:nvPr/>
        </p:nvSpPr>
        <p:spPr>
          <a:xfrm>
            <a:off x="7372350" y="3257550"/>
            <a:ext cx="3943350" cy="304800"/>
          </a:xfrm>
          <a:prstGeom prst="rect">
            <a:avLst/>
          </a:prstGeom>
        </p:spPr>
        <p:txBody>
          <a:bodyPr wrap="none" lIns="0" tIns="0" rIns="0" bIns="0"/>
          <a:p>
            <a:pPr>
              <a:lnSpc>
                <a:spcPct val="170000"/>
              </a:lnSpc>
            </a:pPr>
            <a:r>
              <a:rPr lang="zh-CN" sz="1165" b="1">
                <a:solidFill>
                  <a:srgbClr val="93C5FD"/>
                </a:solidFill>
                <a:latin typeface="微软雅黑" panose="020B0503020204020204" charset="-122"/>
                <a:ea typeface="微软雅黑" panose="020B0503020204020204" charset="-122"/>
              </a:rPr>
              <a:t>前端：</a:t>
            </a:r>
            <a:r>
              <a:rPr lang="en-US" sz="1165">
                <a:solidFill>
                  <a:srgbClr val="E2E8F0"/>
                </a:solidFill>
                <a:latin typeface="微软雅黑" panose="020B0503020204020204" charset="-122"/>
                <a:ea typeface="微软雅黑" panose="020B0503020204020204" charset="-122"/>
              </a:rPr>
              <a:t>Vue · React</a:t>
            </a:r>
            <a:endParaRPr lang="en-US" sz="1165">
              <a:solidFill>
                <a:srgbClr val="E2E8F0"/>
              </a:solidFill>
              <a:latin typeface="微软雅黑" panose="020B0503020204020204" charset="-122"/>
              <a:ea typeface="微软雅黑" panose="020B0503020204020204" charset="-122"/>
            </a:endParaRPr>
          </a:p>
        </p:txBody>
      </p:sp>
      <p:sp>
        <p:nvSpPr>
          <p:cNvPr id="853" name="文本框 852" descr="{&quot;isTemplate&quot;:true,&quot;type&quot;:&quot;text&quot;}"/>
          <p:cNvSpPr txBox="1"/>
          <p:nvPr/>
        </p:nvSpPr>
        <p:spPr>
          <a:xfrm>
            <a:off x="7372350" y="3676650"/>
            <a:ext cx="3943350" cy="304800"/>
          </a:xfrm>
          <a:prstGeom prst="rect">
            <a:avLst/>
          </a:prstGeom>
        </p:spPr>
        <p:txBody>
          <a:bodyPr wrap="none" lIns="0" tIns="0" rIns="0" bIns="0"/>
          <a:p>
            <a:pPr>
              <a:lnSpc>
                <a:spcPct val="170000"/>
              </a:lnSpc>
            </a:pPr>
            <a:r>
              <a:rPr lang="zh-CN" sz="1165" b="1">
                <a:solidFill>
                  <a:srgbClr val="67E8F9"/>
                </a:solidFill>
                <a:latin typeface="微软雅黑" panose="020B0503020204020204" charset="-122"/>
                <a:ea typeface="微软雅黑" panose="020B0503020204020204" charset="-122"/>
              </a:rPr>
              <a:t>智能技术：</a:t>
            </a:r>
            <a:r>
              <a:rPr lang="zh-CN" sz="1165">
                <a:solidFill>
                  <a:srgbClr val="E2E8F0"/>
                </a:solidFill>
                <a:latin typeface="微软雅黑" panose="020B0503020204020204" charset="-122"/>
                <a:ea typeface="微软雅黑" panose="020B0503020204020204" charset="-122"/>
              </a:rPr>
              <a:t>大模型</a:t>
            </a:r>
            <a:r>
              <a:rPr lang="en-US" sz="1165">
                <a:solidFill>
                  <a:srgbClr val="E2E8F0"/>
                </a:solidFill>
                <a:latin typeface="微软雅黑" panose="020B0503020204020204" charset="-122"/>
                <a:ea typeface="微软雅黑" panose="020B0503020204020204" charset="-122"/>
              </a:rPr>
              <a:t> API · </a:t>
            </a:r>
            <a:r>
              <a:rPr lang="zh-CN" sz="1165">
                <a:solidFill>
                  <a:srgbClr val="E2E8F0"/>
                </a:solidFill>
                <a:latin typeface="微软雅黑" panose="020B0503020204020204" charset="-122"/>
                <a:ea typeface="微软雅黑" panose="020B0503020204020204" charset="-122"/>
              </a:rPr>
              <a:t>提示词工程</a:t>
            </a:r>
            <a:r>
              <a:rPr lang="en-US" sz="1165">
                <a:solidFill>
                  <a:srgbClr val="E2E8F0"/>
                </a:solidFill>
                <a:latin typeface="微软雅黑" panose="020B0503020204020204" charset="-122"/>
                <a:ea typeface="微软雅黑" panose="020B0503020204020204" charset="-122"/>
              </a:rPr>
              <a:t> · RAG </a:t>
            </a:r>
            <a:r>
              <a:rPr lang="zh-CN" sz="1165">
                <a:solidFill>
                  <a:srgbClr val="E2E8F0"/>
                </a:solidFill>
                <a:latin typeface="微软雅黑" panose="020B0503020204020204" charset="-122"/>
                <a:ea typeface="微软雅黑" panose="020B0503020204020204" charset="-122"/>
              </a:rPr>
              <a:t>检索增强</a:t>
            </a:r>
            <a:endParaRPr lang="zh-CN" sz="1165">
              <a:solidFill>
                <a:srgbClr val="E2E8F0"/>
              </a:solidFill>
              <a:latin typeface="微软雅黑" panose="020B0503020204020204" charset="-122"/>
              <a:ea typeface="微软雅黑" panose="020B0503020204020204" charset="-122"/>
            </a:endParaRPr>
          </a:p>
        </p:txBody>
      </p:sp>
      <p:sp>
        <p:nvSpPr>
          <p:cNvPr id="854" name="文本框 853" descr="{&quot;isTemplate&quot;:true,&quot;type&quot;:&quot;text&quot;}"/>
          <p:cNvSpPr txBox="1"/>
          <p:nvPr/>
        </p:nvSpPr>
        <p:spPr>
          <a:xfrm>
            <a:off x="7372350" y="4095750"/>
            <a:ext cx="3943350" cy="304800"/>
          </a:xfrm>
          <a:prstGeom prst="rect">
            <a:avLst/>
          </a:prstGeom>
        </p:spPr>
        <p:txBody>
          <a:bodyPr wrap="none" lIns="0" tIns="0" rIns="0" bIns="0"/>
          <a:p>
            <a:pPr>
              <a:lnSpc>
                <a:spcPct val="170000"/>
              </a:lnSpc>
            </a:pPr>
            <a:r>
              <a:rPr lang="zh-CN" sz="1165" b="1">
                <a:solidFill>
                  <a:srgbClr val="67E8F9"/>
                </a:solidFill>
                <a:latin typeface="微软雅黑" panose="020B0503020204020204" charset="-122"/>
                <a:ea typeface="微软雅黑" panose="020B0503020204020204" charset="-122"/>
              </a:rPr>
              <a:t>数据底座：</a:t>
            </a:r>
            <a:r>
              <a:rPr lang="en-US" sz="1165">
                <a:solidFill>
                  <a:srgbClr val="E2E8F0"/>
                </a:solidFill>
                <a:latin typeface="微软雅黑" panose="020B0503020204020204" charset="-122"/>
                <a:ea typeface="微软雅黑" panose="020B0503020204020204" charset="-122"/>
              </a:rPr>
              <a:t>MySQL · Neo4j </a:t>
            </a:r>
            <a:r>
              <a:rPr lang="zh-CN" sz="1165">
                <a:solidFill>
                  <a:srgbClr val="E2E8F0"/>
                </a:solidFill>
                <a:latin typeface="微软雅黑" panose="020B0503020204020204" charset="-122"/>
                <a:ea typeface="微软雅黑" panose="020B0503020204020204" charset="-122"/>
              </a:rPr>
              <a:t>图数据库</a:t>
            </a:r>
            <a:endParaRPr lang="zh-CN" sz="1165">
              <a:solidFill>
                <a:srgbClr val="E2E8F0"/>
              </a:solidFill>
              <a:latin typeface="微软雅黑" panose="020B0503020204020204" charset="-122"/>
              <a:ea typeface="微软雅黑" panose="020B0503020204020204" charset="-122"/>
            </a:endParaRPr>
          </a:p>
        </p:txBody>
      </p:sp>
      <p:sp>
        <p:nvSpPr>
          <p:cNvPr id="855" name="文本框 854" descr="{&quot;isTemplate&quot;:true,&quot;type&quot;:&quot;text&quot;}"/>
          <p:cNvSpPr txBox="1"/>
          <p:nvPr/>
        </p:nvSpPr>
        <p:spPr>
          <a:xfrm>
            <a:off x="7372350" y="4514850"/>
            <a:ext cx="3943350" cy="304800"/>
          </a:xfrm>
          <a:prstGeom prst="rect">
            <a:avLst/>
          </a:prstGeom>
        </p:spPr>
        <p:txBody>
          <a:bodyPr wrap="none" lIns="0" tIns="0" rIns="0" bIns="0"/>
          <a:p>
            <a:pPr>
              <a:lnSpc>
                <a:spcPct val="170000"/>
              </a:lnSpc>
            </a:pPr>
            <a:r>
              <a:rPr lang="zh-CN" sz="1165" b="1">
                <a:solidFill>
                  <a:srgbClr val="C4B5FD"/>
                </a:solidFill>
                <a:latin typeface="微软雅黑" panose="020B0503020204020204" charset="-122"/>
                <a:ea typeface="微软雅黑" panose="020B0503020204020204" charset="-122"/>
              </a:rPr>
              <a:t>工程管理：</a:t>
            </a:r>
            <a:r>
              <a:rPr lang="en-US" sz="1165">
                <a:solidFill>
                  <a:srgbClr val="E2E8F0"/>
                </a:solidFill>
                <a:latin typeface="微软雅黑" panose="020B0503020204020204" charset="-122"/>
                <a:ea typeface="微软雅黑" panose="020B0503020204020204" charset="-122"/>
              </a:rPr>
              <a:t>Git · </a:t>
            </a:r>
            <a:r>
              <a:rPr lang="zh-CN" sz="1165">
                <a:solidFill>
                  <a:srgbClr val="E2E8F0"/>
                </a:solidFill>
                <a:latin typeface="微软雅黑" panose="020B0503020204020204" charset="-122"/>
                <a:ea typeface="微软雅黑" panose="020B0503020204020204" charset="-122"/>
              </a:rPr>
              <a:t>敏捷开发</a:t>
            </a:r>
            <a:r>
              <a:rPr lang="en-US" sz="1165">
                <a:solidFill>
                  <a:srgbClr val="E2E8F0"/>
                </a:solidFill>
                <a:latin typeface="微软雅黑" panose="020B0503020204020204" charset="-122"/>
                <a:ea typeface="微软雅黑" panose="020B0503020204020204" charset="-122"/>
              </a:rPr>
              <a:t> · </a:t>
            </a:r>
            <a:r>
              <a:rPr lang="zh-CN" sz="1165">
                <a:solidFill>
                  <a:srgbClr val="E2E8F0"/>
                </a:solidFill>
                <a:latin typeface="微软雅黑" panose="020B0503020204020204" charset="-122"/>
                <a:ea typeface="微软雅黑" panose="020B0503020204020204" charset="-122"/>
              </a:rPr>
              <a:t>团队协同</a:t>
            </a:r>
            <a:endParaRPr lang="zh-CN" sz="1165">
              <a:solidFill>
                <a:srgbClr val="E2E8F0"/>
              </a:solidFill>
              <a:latin typeface="微软雅黑" panose="020B0503020204020204" charset="-122"/>
              <a:ea typeface="微软雅黑" panose="020B0503020204020204" charset="-122"/>
            </a:endParaRPr>
          </a:p>
        </p:txBody>
      </p:sp>
      <p:sp>
        <p:nvSpPr>
          <p:cNvPr id="856" name="文本框 855"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857" name="文本框 856"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05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58" name="" descr="&lt;Slide style={{ width: 1280, height: 720, background: '#0B1220', padding: '20px 64px', display: 'flex', flexDirection: 'column' }}&gt;&#13;&#10;    &lt;Box style={{ flexDirection: 'row', height: 96, alignItems: 'center' }}&gt;&#13;&#10;        &lt;Box style={{ width: 6, height: 44, background: 'linear-gradient(180deg, #22D3EE 0%, #3B82F6 100%)', borderRadius: 3, marginRight: 20 }} /&gt;&#13;&#10;        &lt;Text style={{ fontSize: 30, fontWeight: 'bold', color: '#E2E8F0' }}&gt;课题 1 · 产业图谱智能自动构建系统&lt;/Text&gt;&#13;&#10;        &lt;Box style={{ marginLeft: 18, background: 'rgba(34,211,238,0.12)', borderRadius: 8, padding: '5px 14px', border: '1px solid rgba(34,211,238,0.4)' }}&gt;&#13;&#10;            &lt;Text style={{ fontSize: 14, color: '#67E8F9' }}&gt;底层基础底座&lt;/Text&gt;&#13;&#10;        &lt;/Box&gt;&#13;&#10;    &lt;/Box&gt;&#13;&#10;    &lt;Box style={{ flex: 1, flexDirection: 'column', gap: 12, justifyContent: 'center' }}&gt;&#13;&#10;        &lt;Box style={{ background: '#111B2E', borderRadius: 12, padding: '14px 24px', borderLeft: '4px solid #22D3EE' }}&gt;&#13;&#10;            &lt;Text style={{ fontSize: 16, color: '#E2E8F0', lineHeight: 1.65 }}&gt;&lt;span style={{ fontWeight: 'bold', color: '#67E8F9' }}&gt;课题定义：&lt;/span&gt;从海量非结构化产业文本中自动抽取产业实体、产品体系、技术要素、企业主体与上下游关系，构建多级标准化产业链知识图谱与可视化产业地图。&lt;/Text&gt;&#13;&#10;        &lt;/Box&gt;&#13;&#10;        &lt;Box style={{ background: 'rgba(34,211,238,0.07)', borderRadius: 10, padding: '12px 24px', border: '1px solid rgba(34,211,238,0.3)' }}&gt;&#13;&#10;            &lt;Text style={{ fontSize: 15.5, color: '#E2E8F0', lineHeight: 1.55 }}&gt;&lt;span style={{ fontWeight: 'bold', color: '#67E8F9' }}&gt;项目目标：&lt;/span&gt;构建全自动、可增量更新、可迭代治理的产业链知识图谱引擎，为上层应用提供统一产业知识底座。&lt;/Text&gt;&#13;&#10;        &lt;/Box&gt;&#13;&#10;        &lt;Box style={{ flexDirection: 'row', flexWrap: 'wrap', gap: 12 }}&gt;&#13;&#10;            &lt;Box style={{ width: 560, background: '#111B2E', borderRadius: 10, padding: '11px 18px' }}&gt;&lt;Text style={{ fontSize: 14.5, color: '#E2E8F0', lineHeight: 1.5 }}&gt;&lt;span style={{ fontWeight: 'bold', color: '#67E8F9' }}&gt;①&lt;/span&gt; 多源产业数据采集、清洗、归一化、去重与结构化&lt;/Text&gt;&lt;/Box&gt;&#13;&#10;            &lt;Box style={{ width: 560, background: '#111B2E', borderRadius: 10, padding: '11px 18px' }}&gt;&lt;Text style={{ fontSize: 14.5, color: '#E2E8F0', lineHeight: 1.5 }}&gt;&lt;span style={{ fontWeight: 'bold', color: '#67E8F9' }}&gt;②&lt;/span&gt; 大模型产业实体抽取、关系抽取、产业链层级自动分类&lt;/Text&gt;&lt;/Box&gt;&#13;&#10;            &lt;Box style={{ width: 560, background: '#111B2E', borderRadius: 10, padding: '11px 18px' }}&gt;&lt;Text style={{ fontSize: 14.5, color: '#E2E8F0', lineHeight: 1.5 }}&gt;&lt;span style={{ fontWeight: 'bold', color: '#67E8F9' }}&gt;③&lt;/span&gt; 实体消歧、知识融合、产业链本体体系搭建&lt;/Text&gt;&lt;/Box&gt;&#13;&#10;            &lt;Box style={{ width: 560, background: '#111B2E', borderRadius: 10, padding: '11px 18px' }}&gt;&lt;Text style={{ fontSize: 14.5, color: '#E2E8F0', lineHeight: 1.5 }}&gt;&lt;span style={{ fontWeight: 'bold', color: '#67E8F9' }}&gt;④&lt;/span&gt; 图谱可视化、产业地图渲染、版本管理与增量更新&lt;/Text&gt;&lt;/Box&gt;&#13;&#10;        &lt;/Box&gt;&#13;&#10;        &lt;Box style={{ flexDirection: 'row', alignItems: 'center', gap: 12, background: 'rgba(139,92,246,0.08)', borderRadius: 10, padding: '11px 22px', border: '1px solid rgba(139,92,246,0.3)' }}&gt;&#13;&#10;            &lt;Text style={{ fontSize: 14, color: '#C4B5FD', fontWeight: 'bold' }}&gt;选题适配&lt;/Text&gt;&#13;&#10;            &lt;Text style={{ fontSize: 14.5, color: '#E2E8F0' }}&gt;适合数据工程、NLP 处理、图数据库、结构化知识建模方向的团队 —— 整套平台的基础性核心课题&lt;/Text&gt;&#13;&#10;        &lt;/Box&gt;&#13;&#10;    &lt;/Box&gt;&#13;&#10;    &lt;Box style={{ height: 40, flexDirection: 'row', justifyContent: 'space-between', alignItems: 'center', marginTop: 12 }}&gt;&#13;&#10;        &lt;Text style={{ fontSize: 14, color: '#94A3B8' }}&gt;01 十大创新实践课题&lt;/Text&gt;&#13;&#10;        &lt;Text style={{ fontSize: 14, color: '#94A3B8' }}&gt;6 / 47&lt;/Text&gt;&#13;&#10;    &lt;/Box&gt;&#13;&#10;&lt;/Slide&gt;&#13;&#10;"/>
        <p:cNvGrpSpPr/>
        <p:nvPr/>
      </p:nvGrpSpPr>
      <p:grpSpPr>
        <a:xfrm>
          <a:off x="0" y="0"/>
          <a:ext cx="0" cy="0"/>
          <a:chOff x="0" y="0"/>
          <a:chExt cx="0" cy="0"/>
        </a:xfrm>
      </p:grpSpPr>
      <p:sp>
        <p:nvSpPr>
          <p:cNvPr id="859" name="矩形 858"/>
          <p:cNvSpPr/>
          <p:nvPr/>
        </p:nvSpPr>
        <p:spPr>
          <a:xfrm>
            <a:off x="0" y="0"/>
            <a:ext cx="12192000" cy="6858000"/>
          </a:xfrm>
          <a:prstGeom prst="rect">
            <a:avLst/>
          </a:prstGeom>
          <a:solidFill>
            <a:srgbClr val="0B1220"/>
          </a:solidFill>
        </p:spPr>
        <p:txBody>
          <a:bodyPr/>
          <a:p/>
        </p:txBody>
      </p:sp>
      <p:sp>
        <p:nvSpPr>
          <p:cNvPr id="860" name="圆角矩形 859"/>
          <p:cNvSpPr/>
          <p:nvPr/>
        </p:nvSpPr>
        <p:spPr>
          <a:xfrm>
            <a:off x="609600" y="438150"/>
            <a:ext cx="57150" cy="419100"/>
          </a:xfrm>
          <a:prstGeom prst="roundRect">
            <a:avLst>
              <a:gd name="adj" fmla="val 50000"/>
            </a:avLst>
          </a:prstGeom>
          <a:gradFill>
            <a:gsLst>
              <a:gs pos="0">
                <a:srgbClr val="22D3EE"/>
              </a:gs>
              <a:gs pos="100000">
                <a:srgbClr val="3B82F6"/>
              </a:gs>
            </a:gsLst>
            <a:lin ang="5400000" scaled="1"/>
          </a:gradFill>
        </p:spPr>
        <p:txBody>
          <a:bodyPr/>
          <a:p/>
        </p:txBody>
      </p:sp>
      <p:sp>
        <p:nvSpPr>
          <p:cNvPr id="861" name="文本框 860" descr="{&quot;isTemplate&quot;:true,&quot;type&quot;:&quot;text&quot;}"/>
          <p:cNvSpPr txBox="1"/>
          <p:nvPr/>
        </p:nvSpPr>
        <p:spPr>
          <a:xfrm>
            <a:off x="857250" y="476250"/>
            <a:ext cx="4562475" cy="342900"/>
          </a:xfrm>
          <a:prstGeom prst="rect">
            <a:avLst/>
          </a:prstGeom>
        </p:spPr>
        <p:txBody>
          <a:bodyPr wrap="none" lIns="0" tIns="0" rIns="0" bIns="0"/>
          <a:p>
            <a:pPr>
              <a:lnSpc>
                <a:spcPct val="100000"/>
              </a:lnSpc>
            </a:pPr>
            <a:r>
              <a:rPr lang="zh-CN" sz="2250" b="1">
                <a:solidFill>
                  <a:srgbClr val="E2E8F0"/>
                </a:solidFill>
                <a:latin typeface="微软雅黑" panose="020B0503020204020204" charset="-122"/>
                <a:ea typeface="微软雅黑" panose="020B0503020204020204" charset="-122"/>
              </a:rPr>
              <a:t>课题</a:t>
            </a:r>
            <a:r>
              <a:rPr lang="en-US" sz="2250" b="1">
                <a:solidFill>
                  <a:srgbClr val="E2E8F0"/>
                </a:solidFill>
                <a:latin typeface="微软雅黑" panose="020B0503020204020204" charset="-122"/>
                <a:ea typeface="微软雅黑" panose="020B0503020204020204" charset="-122"/>
              </a:rPr>
              <a:t> 1 · </a:t>
            </a:r>
            <a:r>
              <a:rPr lang="zh-CN" sz="2250" b="1">
                <a:solidFill>
                  <a:srgbClr val="E2E8F0"/>
                </a:solidFill>
                <a:latin typeface="微软雅黑" panose="020B0503020204020204" charset="-122"/>
                <a:ea typeface="微软雅黑" panose="020B0503020204020204" charset="-122"/>
              </a:rPr>
              <a:t>产业图谱智能自动构建系统</a:t>
            </a:r>
            <a:endParaRPr lang="zh-CN" sz="2250" b="1">
              <a:solidFill>
                <a:srgbClr val="E2E8F0"/>
              </a:solidFill>
              <a:latin typeface="微软雅黑" panose="020B0503020204020204" charset="-122"/>
              <a:ea typeface="微软雅黑" panose="020B0503020204020204" charset="-122"/>
            </a:endParaRPr>
          </a:p>
        </p:txBody>
      </p:sp>
      <p:sp>
        <p:nvSpPr>
          <p:cNvPr id="862" name="圆角矩形 861"/>
          <p:cNvSpPr/>
          <p:nvPr/>
        </p:nvSpPr>
        <p:spPr>
          <a:xfrm>
            <a:off x="5591175" y="523875"/>
            <a:ext cx="1066800" cy="257175"/>
          </a:xfrm>
          <a:prstGeom prst="roundRect">
            <a:avLst>
              <a:gd name="adj" fmla="val 29630"/>
            </a:avLst>
          </a:prstGeom>
          <a:solidFill>
            <a:srgbClr val="22D3EE">
              <a:alpha val="12000"/>
            </a:srgbClr>
          </a:solidFill>
          <a:ln w="12700">
            <a:solidFill>
              <a:srgbClr val="22D3EE">
                <a:alpha val="40000"/>
              </a:srgbClr>
            </a:solidFill>
            <a:prstDash val="solid"/>
          </a:ln>
        </p:spPr>
        <p:txBody>
          <a:bodyPr/>
          <a:p/>
        </p:txBody>
      </p:sp>
      <p:sp>
        <p:nvSpPr>
          <p:cNvPr id="863" name="文本框 862" descr="{&quot;isTemplate&quot;:true,&quot;type&quot;:&quot;text&quot;}"/>
          <p:cNvSpPr txBox="1"/>
          <p:nvPr/>
        </p:nvSpPr>
        <p:spPr>
          <a:xfrm>
            <a:off x="5724525" y="571500"/>
            <a:ext cx="800100" cy="161925"/>
          </a:xfrm>
          <a:prstGeom prst="rect">
            <a:avLst/>
          </a:prstGeom>
        </p:spPr>
        <p:txBody>
          <a:bodyPr wrap="none" lIns="0" tIns="0" rIns="0" bIns="0"/>
          <a:p>
            <a:pPr>
              <a:lnSpc>
                <a:spcPct val="100000"/>
              </a:lnSpc>
            </a:pPr>
            <a:r>
              <a:rPr lang="zh-CN" sz="1050">
                <a:solidFill>
                  <a:srgbClr val="67E8F9"/>
                </a:solidFill>
                <a:latin typeface="微软雅黑" panose="020B0503020204020204" charset="-122"/>
                <a:ea typeface="微软雅黑" panose="020B0503020204020204" charset="-122"/>
              </a:rPr>
              <a:t>底层基础底座</a:t>
            </a:r>
            <a:endParaRPr lang="zh-CN" sz="1050">
              <a:solidFill>
                <a:srgbClr val="67E8F9"/>
              </a:solidFill>
              <a:latin typeface="微软雅黑" panose="020B0503020204020204" charset="-122"/>
              <a:ea typeface="微软雅黑" panose="020B0503020204020204" charset="-122"/>
            </a:endParaRPr>
          </a:p>
        </p:txBody>
      </p:sp>
      <p:sp>
        <p:nvSpPr>
          <p:cNvPr id="864" name="圆角矩形 863"/>
          <p:cNvSpPr/>
          <p:nvPr/>
        </p:nvSpPr>
        <p:spPr>
          <a:xfrm>
            <a:off x="647700" y="2066925"/>
            <a:ext cx="10972800" cy="876300"/>
          </a:xfrm>
          <a:prstGeom prst="roundRect">
            <a:avLst>
              <a:gd name="adj" fmla="val 13043"/>
            </a:avLst>
          </a:prstGeom>
          <a:solidFill>
            <a:srgbClr val="111B2E"/>
          </a:solidFill>
        </p:spPr>
        <p:txBody>
          <a:bodyPr/>
          <a:p/>
        </p:txBody>
      </p:sp>
      <p:sp>
        <p:nvSpPr>
          <p:cNvPr id="865" name="任意多边形 864"/>
          <p:cNvSpPr/>
          <p:nvPr/>
        </p:nvSpPr>
        <p:spPr>
          <a:xfrm>
            <a:off x="647700" y="2066925"/>
            <a:ext cx="10972800" cy="876300"/>
          </a:xfrm>
          <a:custGeom>
            <a:avLst/>
            <a:gdLst/>
            <a:ahLst/>
            <a:cxnLst/>
            <a:pathLst>
              <a:path w="1152" h="92">
                <a:moveTo>
                  <a:pt x="11" y="0"/>
                </a:moveTo>
                <a:cubicBezTo>
                  <a:pt x="7" y="0"/>
                  <a:pt x="4" y="4"/>
                  <a:pt x="4" y="8"/>
                </a:cubicBezTo>
                <a:lnTo>
                  <a:pt x="4" y="84"/>
                </a:lnTo>
                <a:cubicBezTo>
                  <a:pt x="4" y="88"/>
                  <a:pt x="7" y="91"/>
                  <a:pt x="10" y="92"/>
                </a:cubicBezTo>
                <a:cubicBezTo>
                  <a:pt x="4" y="91"/>
                  <a:pt x="0" y="86"/>
                  <a:pt x="0" y="80"/>
                </a:cubicBezTo>
                <a:lnTo>
                  <a:pt x="0" y="12"/>
                </a:lnTo>
                <a:cubicBezTo>
                  <a:pt x="0" y="6"/>
                  <a:pt x="5" y="0"/>
                  <a:pt x="12" y="0"/>
                </a:cubicBezTo>
                <a:close/>
              </a:path>
            </a:pathLst>
          </a:custGeom>
          <a:solidFill>
            <a:srgbClr val="22D3EE"/>
          </a:solidFill>
        </p:spPr>
        <p:txBody>
          <a:bodyPr/>
          <a:p/>
        </p:txBody>
      </p:sp>
      <p:sp>
        <p:nvSpPr>
          <p:cNvPr id="866" name="文本框 865" descr="{&quot;isTemplate&quot;:true,&quot;type&quot;:&quot;text&quot;}"/>
          <p:cNvSpPr txBox="1"/>
          <p:nvPr/>
        </p:nvSpPr>
        <p:spPr>
          <a:xfrm>
            <a:off x="876300" y="2200275"/>
            <a:ext cx="10477500" cy="609600"/>
          </a:xfrm>
          <a:prstGeom prst="rect">
            <a:avLst/>
          </a:prstGeom>
        </p:spPr>
        <p:txBody>
          <a:bodyPr wrap="square" lIns="0" tIns="0" rIns="0" bIns="0">
            <a:normAutofit/>
          </a:bodyPr>
          <a:p>
            <a:pPr>
              <a:lnSpc>
                <a:spcPct val="165000"/>
              </a:lnSpc>
            </a:pPr>
            <a:r>
              <a:rPr lang="zh-CN" sz="1200" b="1">
                <a:solidFill>
                  <a:srgbClr val="67E8F9"/>
                </a:solidFill>
                <a:latin typeface="微软雅黑" panose="020B0503020204020204" charset="-122"/>
                <a:ea typeface="微软雅黑" panose="020B0503020204020204" charset="-122"/>
              </a:rPr>
              <a:t>课题定义：</a:t>
            </a:r>
            <a:r>
              <a:rPr lang="zh-CN" sz="1200">
                <a:solidFill>
                  <a:srgbClr val="E2E8F0"/>
                </a:solidFill>
                <a:latin typeface="微软雅黑" panose="020B0503020204020204" charset="-122"/>
                <a:ea typeface="微软雅黑" panose="020B0503020204020204" charset="-122"/>
              </a:rPr>
              <a:t>从海量非结构化产业文本中自动抽取产业实体、产品体系、技术要素、企业主体与上下游关系，构建多级标准化产业链知识图谱与可视化产业地图。</a:t>
            </a:r>
            <a:endParaRPr lang="zh-CN" sz="1200">
              <a:solidFill>
                <a:srgbClr val="E2E8F0"/>
              </a:solidFill>
              <a:latin typeface="微软雅黑" panose="020B0503020204020204" charset="-122"/>
              <a:ea typeface="微软雅黑" panose="020B0503020204020204" charset="-122"/>
            </a:endParaRPr>
          </a:p>
        </p:txBody>
      </p:sp>
      <p:sp>
        <p:nvSpPr>
          <p:cNvPr id="867" name="圆角矩形 866"/>
          <p:cNvSpPr/>
          <p:nvPr/>
        </p:nvSpPr>
        <p:spPr>
          <a:xfrm>
            <a:off x="609600" y="3057525"/>
            <a:ext cx="10972800" cy="504825"/>
          </a:xfrm>
          <a:prstGeom prst="roundRect">
            <a:avLst>
              <a:gd name="adj" fmla="val 18868"/>
            </a:avLst>
          </a:prstGeom>
          <a:solidFill>
            <a:srgbClr val="22D3EE">
              <a:alpha val="7000"/>
            </a:srgbClr>
          </a:solidFill>
          <a:ln w="12700">
            <a:solidFill>
              <a:srgbClr val="22D3EE">
                <a:alpha val="30000"/>
              </a:srgbClr>
            </a:solidFill>
            <a:prstDash val="solid"/>
          </a:ln>
        </p:spPr>
        <p:txBody>
          <a:bodyPr/>
          <a:p/>
        </p:txBody>
      </p:sp>
      <p:sp>
        <p:nvSpPr>
          <p:cNvPr id="868" name="文本框 867" descr="{&quot;isTemplate&quot;:true,&quot;type&quot;:&quot;text&quot;}"/>
          <p:cNvSpPr txBox="1"/>
          <p:nvPr/>
        </p:nvSpPr>
        <p:spPr>
          <a:xfrm>
            <a:off x="838200" y="3171825"/>
            <a:ext cx="10515600" cy="276225"/>
          </a:xfrm>
          <a:prstGeom prst="rect">
            <a:avLst/>
          </a:prstGeom>
        </p:spPr>
        <p:txBody>
          <a:bodyPr wrap="none" lIns="0" tIns="0" rIns="0" bIns="0"/>
          <a:p>
            <a:pPr>
              <a:lnSpc>
                <a:spcPct val="155000"/>
              </a:lnSpc>
            </a:pPr>
            <a:r>
              <a:rPr lang="zh-CN" sz="1165" b="1">
                <a:solidFill>
                  <a:srgbClr val="67E8F9"/>
                </a:solidFill>
                <a:latin typeface="微软雅黑" panose="020B0503020204020204" charset="-122"/>
                <a:ea typeface="微软雅黑" panose="020B0503020204020204" charset="-122"/>
              </a:rPr>
              <a:t>项目目标：</a:t>
            </a:r>
            <a:r>
              <a:rPr lang="zh-CN" sz="1165">
                <a:solidFill>
                  <a:srgbClr val="E2E8F0"/>
                </a:solidFill>
                <a:latin typeface="微软雅黑" panose="020B0503020204020204" charset="-122"/>
                <a:ea typeface="微软雅黑" panose="020B0503020204020204" charset="-122"/>
              </a:rPr>
              <a:t>构建全自动、可增量更新、可迭代治理的产业链知识图谱引擎，为上层应用提供统一产业知识底座。</a:t>
            </a:r>
            <a:endParaRPr lang="zh-CN" sz="1165">
              <a:solidFill>
                <a:srgbClr val="E2E8F0"/>
              </a:solidFill>
              <a:latin typeface="微软雅黑" panose="020B0503020204020204" charset="-122"/>
              <a:ea typeface="微软雅黑" panose="020B0503020204020204" charset="-122"/>
            </a:endParaRPr>
          </a:p>
        </p:txBody>
      </p:sp>
      <p:sp>
        <p:nvSpPr>
          <p:cNvPr id="869" name="圆角矩形 868"/>
          <p:cNvSpPr/>
          <p:nvPr/>
        </p:nvSpPr>
        <p:spPr>
          <a:xfrm>
            <a:off x="609600" y="3676650"/>
            <a:ext cx="5334000" cy="466725"/>
          </a:xfrm>
          <a:prstGeom prst="roundRect">
            <a:avLst>
              <a:gd name="adj" fmla="val 20408"/>
            </a:avLst>
          </a:prstGeom>
          <a:solidFill>
            <a:srgbClr val="111B2E"/>
          </a:solidFill>
        </p:spPr>
        <p:txBody>
          <a:bodyPr/>
          <a:p/>
        </p:txBody>
      </p:sp>
      <p:sp>
        <p:nvSpPr>
          <p:cNvPr id="870" name="文本框 869" descr="{&quot;isTemplate&quot;:true,&quot;type&quot;:&quot;text&quot;}"/>
          <p:cNvSpPr txBox="1"/>
          <p:nvPr/>
        </p:nvSpPr>
        <p:spPr>
          <a:xfrm>
            <a:off x="781050" y="3781425"/>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①</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多源产业数据采集、清洗、归一化、去重与结构化</a:t>
            </a:r>
            <a:endParaRPr lang="zh-CN" sz="1090">
              <a:solidFill>
                <a:srgbClr val="E2E8F0"/>
              </a:solidFill>
              <a:latin typeface="微软雅黑" panose="020B0503020204020204" charset="-122"/>
              <a:ea typeface="微软雅黑" panose="020B0503020204020204" charset="-122"/>
            </a:endParaRPr>
          </a:p>
        </p:txBody>
      </p:sp>
      <p:sp>
        <p:nvSpPr>
          <p:cNvPr id="871" name="圆角矩形 870"/>
          <p:cNvSpPr/>
          <p:nvPr/>
        </p:nvSpPr>
        <p:spPr>
          <a:xfrm>
            <a:off x="6057900" y="3676650"/>
            <a:ext cx="5334000" cy="466725"/>
          </a:xfrm>
          <a:prstGeom prst="roundRect">
            <a:avLst>
              <a:gd name="adj" fmla="val 20408"/>
            </a:avLst>
          </a:prstGeom>
          <a:solidFill>
            <a:srgbClr val="111B2E"/>
          </a:solidFill>
        </p:spPr>
        <p:txBody>
          <a:bodyPr/>
          <a:p/>
        </p:txBody>
      </p:sp>
      <p:sp>
        <p:nvSpPr>
          <p:cNvPr id="872" name="文本框 871" descr="{&quot;isTemplate&quot;:true,&quot;type&quot;:&quot;text&quot;}"/>
          <p:cNvSpPr txBox="1"/>
          <p:nvPr/>
        </p:nvSpPr>
        <p:spPr>
          <a:xfrm>
            <a:off x="6229350" y="3781425"/>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②</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大模型产业实体抽取、关系抽取、产业链层级自动分类</a:t>
            </a:r>
            <a:endParaRPr lang="zh-CN" sz="1090">
              <a:solidFill>
                <a:srgbClr val="E2E8F0"/>
              </a:solidFill>
              <a:latin typeface="微软雅黑" panose="020B0503020204020204" charset="-122"/>
              <a:ea typeface="微软雅黑" panose="020B0503020204020204" charset="-122"/>
            </a:endParaRPr>
          </a:p>
        </p:txBody>
      </p:sp>
      <p:sp>
        <p:nvSpPr>
          <p:cNvPr id="873" name="圆角矩形 872"/>
          <p:cNvSpPr/>
          <p:nvPr/>
        </p:nvSpPr>
        <p:spPr>
          <a:xfrm>
            <a:off x="609600" y="4257675"/>
            <a:ext cx="5334000" cy="466725"/>
          </a:xfrm>
          <a:prstGeom prst="roundRect">
            <a:avLst>
              <a:gd name="adj" fmla="val 20408"/>
            </a:avLst>
          </a:prstGeom>
          <a:solidFill>
            <a:srgbClr val="111B2E"/>
          </a:solidFill>
        </p:spPr>
        <p:txBody>
          <a:bodyPr/>
          <a:p/>
        </p:txBody>
      </p:sp>
      <p:sp>
        <p:nvSpPr>
          <p:cNvPr id="874" name="文本框 873" descr="{&quot;isTemplate&quot;:true,&quot;type&quot;:&quot;text&quot;}"/>
          <p:cNvSpPr txBox="1"/>
          <p:nvPr/>
        </p:nvSpPr>
        <p:spPr>
          <a:xfrm>
            <a:off x="781050" y="4362450"/>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③</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实体消歧、知识融合、产业链本体体系搭建</a:t>
            </a:r>
            <a:endParaRPr lang="zh-CN" sz="1090">
              <a:solidFill>
                <a:srgbClr val="E2E8F0"/>
              </a:solidFill>
              <a:latin typeface="微软雅黑" panose="020B0503020204020204" charset="-122"/>
              <a:ea typeface="微软雅黑" panose="020B0503020204020204" charset="-122"/>
            </a:endParaRPr>
          </a:p>
        </p:txBody>
      </p:sp>
      <p:sp>
        <p:nvSpPr>
          <p:cNvPr id="875" name="圆角矩形 874"/>
          <p:cNvSpPr/>
          <p:nvPr/>
        </p:nvSpPr>
        <p:spPr>
          <a:xfrm>
            <a:off x="6057900" y="4257675"/>
            <a:ext cx="5334000" cy="466725"/>
          </a:xfrm>
          <a:prstGeom prst="roundRect">
            <a:avLst>
              <a:gd name="adj" fmla="val 20408"/>
            </a:avLst>
          </a:prstGeom>
          <a:solidFill>
            <a:srgbClr val="111B2E"/>
          </a:solidFill>
        </p:spPr>
        <p:txBody>
          <a:bodyPr/>
          <a:p/>
        </p:txBody>
      </p:sp>
      <p:sp>
        <p:nvSpPr>
          <p:cNvPr id="876" name="文本框 875" descr="{&quot;isTemplate&quot;:true,&quot;type&quot;:&quot;text&quot;}"/>
          <p:cNvSpPr txBox="1"/>
          <p:nvPr/>
        </p:nvSpPr>
        <p:spPr>
          <a:xfrm>
            <a:off x="6229350" y="4362450"/>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④</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图谱可视化、产业地图渲染、版本管理与增量更新</a:t>
            </a:r>
            <a:endParaRPr lang="zh-CN" sz="1090">
              <a:solidFill>
                <a:srgbClr val="E2E8F0"/>
              </a:solidFill>
              <a:latin typeface="微软雅黑" panose="020B0503020204020204" charset="-122"/>
              <a:ea typeface="微软雅黑" panose="020B0503020204020204" charset="-122"/>
            </a:endParaRPr>
          </a:p>
        </p:txBody>
      </p:sp>
      <p:sp>
        <p:nvSpPr>
          <p:cNvPr id="877" name="圆角矩形 876"/>
          <p:cNvSpPr/>
          <p:nvPr/>
        </p:nvSpPr>
        <p:spPr>
          <a:xfrm>
            <a:off x="609600" y="4838700"/>
            <a:ext cx="10972800" cy="381000"/>
          </a:xfrm>
          <a:prstGeom prst="roundRect">
            <a:avLst>
              <a:gd name="adj" fmla="val 25000"/>
            </a:avLst>
          </a:prstGeom>
          <a:solidFill>
            <a:srgbClr val="8B5CF6">
              <a:alpha val="8000"/>
            </a:srgbClr>
          </a:solidFill>
          <a:ln w="12700">
            <a:solidFill>
              <a:srgbClr val="8B5CF6">
                <a:alpha val="30000"/>
              </a:srgbClr>
            </a:solidFill>
            <a:prstDash val="solid"/>
          </a:ln>
        </p:spPr>
        <p:txBody>
          <a:bodyPr/>
          <a:p/>
        </p:txBody>
      </p:sp>
      <p:sp>
        <p:nvSpPr>
          <p:cNvPr id="878" name="文本框 877" descr="{&quot;isTemplate&quot;:true,&quot;type&quot;:&quot;text&quot;}"/>
          <p:cNvSpPr txBox="1"/>
          <p:nvPr/>
        </p:nvSpPr>
        <p:spPr>
          <a:xfrm>
            <a:off x="819150" y="4953000"/>
            <a:ext cx="533400" cy="161925"/>
          </a:xfrm>
          <a:prstGeom prst="rect">
            <a:avLst/>
          </a:prstGeom>
        </p:spPr>
        <p:txBody>
          <a:bodyPr wrap="none" lIns="0" tIns="0" rIns="0" bIns="0"/>
          <a:p>
            <a:pPr>
              <a:lnSpc>
                <a:spcPct val="100000"/>
              </a:lnSpc>
            </a:pPr>
            <a:r>
              <a:rPr lang="zh-CN" sz="1050" b="1">
                <a:solidFill>
                  <a:srgbClr val="C4B5FD"/>
                </a:solidFill>
                <a:latin typeface="微软雅黑" panose="020B0503020204020204" charset="-122"/>
                <a:ea typeface="微软雅黑" panose="020B0503020204020204" charset="-122"/>
              </a:rPr>
              <a:t>选题适配</a:t>
            </a:r>
            <a:endParaRPr lang="zh-CN" sz="1050" b="1">
              <a:solidFill>
                <a:srgbClr val="C4B5FD"/>
              </a:solidFill>
              <a:latin typeface="微软雅黑" panose="020B0503020204020204" charset="-122"/>
              <a:ea typeface="微软雅黑" panose="020B0503020204020204" charset="-122"/>
            </a:endParaRPr>
          </a:p>
        </p:txBody>
      </p:sp>
      <p:sp>
        <p:nvSpPr>
          <p:cNvPr id="879" name="文本框 878" descr="{&quot;isTemplate&quot;:true,&quot;type&quot;:&quot;text&quot;}"/>
          <p:cNvSpPr txBox="1"/>
          <p:nvPr/>
        </p:nvSpPr>
        <p:spPr>
          <a:xfrm>
            <a:off x="1466850" y="4943475"/>
            <a:ext cx="6076950"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适合数据工程、</a:t>
            </a:r>
            <a:r>
              <a:rPr lang="en-US" sz="1090">
                <a:solidFill>
                  <a:srgbClr val="E2E8F0"/>
                </a:solidFill>
                <a:latin typeface="微软雅黑" panose="020B0503020204020204" charset="-122"/>
                <a:ea typeface="微软雅黑" panose="020B0503020204020204" charset="-122"/>
              </a:rPr>
              <a:t>NLP </a:t>
            </a:r>
            <a:r>
              <a:rPr lang="zh-CN" sz="1090">
                <a:solidFill>
                  <a:srgbClr val="E2E8F0"/>
                </a:solidFill>
                <a:latin typeface="微软雅黑" panose="020B0503020204020204" charset="-122"/>
                <a:ea typeface="微软雅黑" panose="020B0503020204020204" charset="-122"/>
              </a:rPr>
              <a:t>处理、图数据库、结构化知识建模方向的团队</a:t>
            </a:r>
            <a:r>
              <a:rPr lang="en-US" sz="1090">
                <a:solidFill>
                  <a:srgbClr val="E2E8F0"/>
                </a:solidFill>
                <a:latin typeface="微软雅黑" panose="020B0503020204020204" charset="-122"/>
                <a:ea typeface="微软雅黑" panose="020B0503020204020204" charset="-122"/>
              </a:rPr>
              <a:t> —— </a:t>
            </a:r>
            <a:r>
              <a:rPr lang="zh-CN" sz="1090">
                <a:solidFill>
                  <a:srgbClr val="E2E8F0"/>
                </a:solidFill>
                <a:latin typeface="微软雅黑" panose="020B0503020204020204" charset="-122"/>
                <a:ea typeface="微软雅黑" panose="020B0503020204020204" charset="-122"/>
              </a:rPr>
              <a:t>整套平台的基础性核心课题</a:t>
            </a:r>
            <a:endParaRPr lang="zh-CN" sz="1090">
              <a:solidFill>
                <a:srgbClr val="E2E8F0"/>
              </a:solidFill>
              <a:latin typeface="微软雅黑" panose="020B0503020204020204" charset="-122"/>
              <a:ea typeface="微软雅黑" panose="020B0503020204020204" charset="-122"/>
            </a:endParaRPr>
          </a:p>
        </p:txBody>
      </p:sp>
      <p:sp>
        <p:nvSpPr>
          <p:cNvPr id="880" name="文本框 879"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881" name="文本框 880" descr="{&quot;isTemplate&quot;:true,&quot;type&quot;:&quot;text&quot;}"/>
          <p:cNvSpPr txBox="1"/>
          <p:nvPr/>
        </p:nvSpPr>
        <p:spPr>
          <a:xfrm>
            <a:off x="11210925" y="6400800"/>
            <a:ext cx="3714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6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82" name="" descr="&lt;Slide style={{ width: 1280, height: 720, background: '#0B1220', padding: '20px 64px', display: 'flex', flexDirection: 'column' }}&gt;&#13;&#10;    &lt;Box style={{ flexDirection: 'row', height: 96, alignItems: 'center' }}&gt;&#13;&#10;        &lt;Box style={{ width: 6, height: 44, background: 'linear-gradient(180deg, #22D3EE 0%, #3B82F6 100%)', borderRadius: 3, marginRight: 20 }} /&gt;&#13;&#10;        &lt;Text style={{ fontSize: 30, fontWeight: 'bold', color: '#E2E8F0' }}&gt;课题 2 · 产业智能报告自动生成系统&lt;/Text&gt;&#13;&#10;        &lt;Box style={{ marginLeft: 18, background: 'rgba(34,211,238,0.12)', borderRadius: 8, padding: '5px 14px', border: '1px solid rgba(34,211,238,0.4)' }}&gt;&#13;&#10;            &lt;Text style={{ fontSize: 14, color: '#67E8F9' }}&gt;底层基础底座&lt;/Text&gt;&#13;&#10;        &lt;/Box&gt;&#13;&#10;    &lt;/Box&gt;&#13;&#10;    &lt;Box style={{ flex: 1, flexDirection: 'column', gap: 12, justifyContent: 'center' }}&gt;&#13;&#10;        &lt;Box style={{ background: '#111B2E', borderRadius: 12, padding: '14px 24px', borderLeft: '4px solid #22D3EE' }}&gt;&#13;&#10;            &lt;Text style={{ fontSize: 16, color: '#E2E8F0', lineHeight: 1.65 }}&gt;&lt;span style={{ fontWeight: 'bold', color: '#67E8F9' }}&gt;课题定义：&lt;/span&gt;面向政府智库、产业规划、行业研究场景，构建模板化、结构化、可溯源、可定制的产业报告生成引擎，智能产出产业分析、景气、对标、招商、出海研判等报告。&lt;/Text&gt;&#13;&#10;        &lt;/Box&gt;&#13;&#10;        &lt;Box style={{ background: 'rgba(34,211,238,0.07)', borderRadius: 10, padding: '12px 24px', border: '1px solid rgba(34,211,238,0.3)' }}&gt;&#13;&#10;            &lt;Text style={{ fontSize: 15.5, color: '#E2E8F0', lineHeight: 1.55 }}&gt;&lt;span style={{ fontWeight: 'bold', color: '#67E8F9' }}&gt;项目目标：&lt;/span&gt;解决产业研究文稿效率低、结构不规范、数据联动弱的痛点，实现文稿智能化、标准化、体系化产出。&lt;/Text&gt;&#13;&#10;        &lt;/Box&gt;&#13;&#10;        &lt;Box style={{ flexDirection: 'row', flexWrap: 'wrap', gap: 12 }}&gt;&#13;&#10;            &lt;Box style={{ width: 560, background: '#111B2E', borderRadius: 10, padding: '11px 18px' }}&gt;&lt;Text style={{ fontSize: 14.5, color: '#E2E8F0', lineHeight: 1.5 }}&gt;&lt;span style={{ fontWeight: 'bold', color: '#67E8F9' }}&gt;①&lt;/span&gt; 多类型产业研究报告模板体系设计与管理&lt;/Text&gt;&lt;/Box&gt;&#13;&#10;            &lt;Box style={{ width: 560, background: '#111B2E', borderRadius: 10, padding: '11px 18px' }}&gt;&lt;Text style={{ fontSize: 14.5, color: '#E2E8F0', lineHeight: 1.5 }}&gt;&lt;span style={{ fontWeight: 'bold', color: '#67E8F9' }}&gt;②&lt;/span&gt; 大模型长文本结构化生成、章节逻辑自动组织&lt;/Text&gt;&lt;/Box&gt;&#13;&#10;            &lt;Box style={{ width: 560, background: '#111B2E', borderRadius: 10, padding: '11px 18px' }}&gt;&lt;Text style={{ fontSize: 14.5, color: '#E2E8F0', lineHeight: 1.5 }}&gt;&lt;span style={{ fontWeight: 'bold', color: '#67E8F9' }}&gt;③&lt;/span&gt; 数据自动嵌入、图表生成、观点溯源、幻觉抑制&lt;/Text&gt;&lt;/Box&gt;&#13;&#10;            &lt;Box style={{ width: 560, background: '#111B2E', borderRadius: 10, padding: '11px 18px' }}&gt;&lt;Text style={{ fontSize: 14.5, color: '#E2E8F0', lineHeight: 1.5 }}&gt;&lt;span style={{ fontWeight: 'bold', color: '#67E8F9' }}&gt;④&lt;/span&gt; 公文风格润色、多格式导出、报告版本管理&lt;/Text&gt;&lt;/Box&gt;&#13;&#10;        &lt;/Box&gt;&#13;&#10;        &lt;Box style={{ flexDirection: 'row', alignItems: 'center', gap: 12, background: 'rgba(139,92,246,0.08)', borderRadius: 10, padding: '11px 22px', border: '1px solid rgba(139,92,246,0.3)' }}&gt;&#13;&#10;            &lt;Text style={{ fontSize: 14, color: '#C4B5FD', fontWeight: 'bold' }}&gt;选题适配&lt;/Text&gt;&#13;&#10;            &lt;Text style={{ fontSize: 14.5, color: '#E2E8F0' }}&gt;适合大模型工程、长文本生成、模板引擎、后端架构方向的团队 —— 业务落地性极强&lt;/Text&gt;&#13;&#10;        &lt;/Box&gt;&#13;&#10;    &lt;/Box&gt;&#13;&#10;    &lt;Box style={{ height: 40, flexDirection: 'row', justifyContent: 'space-between', alignItems: 'center', marginTop: 12 }}&gt;&#13;&#10;        &lt;Text style={{ fontSize: 14, color: '#94A3B8' }}&gt;01 十大创新实践课题&lt;/Text&gt;&#13;&#10;        &lt;Text style={{ fontSize: 14, color: '#94A3B8' }}&gt;7 / 47&lt;/Text&gt;&#13;&#10;    &lt;/Box&gt;&#13;&#10;&lt;/Slide&gt;&#13;&#10;"/>
        <p:cNvGrpSpPr/>
        <p:nvPr/>
      </p:nvGrpSpPr>
      <p:grpSpPr>
        <a:xfrm>
          <a:off x="0" y="0"/>
          <a:ext cx="0" cy="0"/>
          <a:chOff x="0" y="0"/>
          <a:chExt cx="0" cy="0"/>
        </a:xfrm>
      </p:grpSpPr>
      <p:sp>
        <p:nvSpPr>
          <p:cNvPr id="883" name="矩形 882"/>
          <p:cNvSpPr/>
          <p:nvPr/>
        </p:nvSpPr>
        <p:spPr>
          <a:xfrm>
            <a:off x="0" y="0"/>
            <a:ext cx="12192000" cy="6858000"/>
          </a:xfrm>
          <a:prstGeom prst="rect">
            <a:avLst/>
          </a:prstGeom>
          <a:solidFill>
            <a:srgbClr val="0B1220"/>
          </a:solidFill>
        </p:spPr>
        <p:txBody>
          <a:bodyPr/>
          <a:p/>
        </p:txBody>
      </p:sp>
      <p:sp>
        <p:nvSpPr>
          <p:cNvPr id="884" name="圆角矩形 883"/>
          <p:cNvSpPr/>
          <p:nvPr/>
        </p:nvSpPr>
        <p:spPr>
          <a:xfrm>
            <a:off x="609600" y="438150"/>
            <a:ext cx="57150" cy="419100"/>
          </a:xfrm>
          <a:prstGeom prst="roundRect">
            <a:avLst>
              <a:gd name="adj" fmla="val 50000"/>
            </a:avLst>
          </a:prstGeom>
          <a:gradFill>
            <a:gsLst>
              <a:gs pos="0">
                <a:srgbClr val="22D3EE"/>
              </a:gs>
              <a:gs pos="100000">
                <a:srgbClr val="3B82F6"/>
              </a:gs>
            </a:gsLst>
            <a:lin ang="5400000" scaled="1"/>
          </a:gradFill>
        </p:spPr>
        <p:txBody>
          <a:bodyPr/>
          <a:p/>
        </p:txBody>
      </p:sp>
      <p:sp>
        <p:nvSpPr>
          <p:cNvPr id="885" name="文本框 884" descr="{&quot;isTemplate&quot;:true,&quot;type&quot;:&quot;text&quot;}"/>
          <p:cNvSpPr txBox="1"/>
          <p:nvPr/>
        </p:nvSpPr>
        <p:spPr>
          <a:xfrm>
            <a:off x="857250" y="476250"/>
            <a:ext cx="4562475" cy="342900"/>
          </a:xfrm>
          <a:prstGeom prst="rect">
            <a:avLst/>
          </a:prstGeom>
        </p:spPr>
        <p:txBody>
          <a:bodyPr wrap="none" lIns="0" tIns="0" rIns="0" bIns="0"/>
          <a:p>
            <a:pPr>
              <a:lnSpc>
                <a:spcPct val="100000"/>
              </a:lnSpc>
            </a:pPr>
            <a:r>
              <a:rPr lang="zh-CN" sz="2250" b="1">
                <a:solidFill>
                  <a:srgbClr val="E2E8F0"/>
                </a:solidFill>
                <a:latin typeface="微软雅黑" panose="020B0503020204020204" charset="-122"/>
                <a:ea typeface="微软雅黑" panose="020B0503020204020204" charset="-122"/>
              </a:rPr>
              <a:t>课题</a:t>
            </a:r>
            <a:r>
              <a:rPr lang="en-US" sz="2250" b="1">
                <a:solidFill>
                  <a:srgbClr val="E2E8F0"/>
                </a:solidFill>
                <a:latin typeface="微软雅黑" panose="020B0503020204020204" charset="-122"/>
                <a:ea typeface="微软雅黑" panose="020B0503020204020204" charset="-122"/>
              </a:rPr>
              <a:t> 2 · </a:t>
            </a:r>
            <a:r>
              <a:rPr lang="zh-CN" sz="2250" b="1">
                <a:solidFill>
                  <a:srgbClr val="E2E8F0"/>
                </a:solidFill>
                <a:latin typeface="微软雅黑" panose="020B0503020204020204" charset="-122"/>
                <a:ea typeface="微软雅黑" panose="020B0503020204020204" charset="-122"/>
              </a:rPr>
              <a:t>产业智能报告自动生成系统</a:t>
            </a:r>
            <a:endParaRPr lang="zh-CN" sz="2250" b="1">
              <a:solidFill>
                <a:srgbClr val="E2E8F0"/>
              </a:solidFill>
              <a:latin typeface="微软雅黑" panose="020B0503020204020204" charset="-122"/>
              <a:ea typeface="微软雅黑" panose="020B0503020204020204" charset="-122"/>
            </a:endParaRPr>
          </a:p>
        </p:txBody>
      </p:sp>
      <p:sp>
        <p:nvSpPr>
          <p:cNvPr id="886" name="圆角矩形 885"/>
          <p:cNvSpPr/>
          <p:nvPr/>
        </p:nvSpPr>
        <p:spPr>
          <a:xfrm>
            <a:off x="5591175" y="523875"/>
            <a:ext cx="1066800" cy="257175"/>
          </a:xfrm>
          <a:prstGeom prst="roundRect">
            <a:avLst>
              <a:gd name="adj" fmla="val 29630"/>
            </a:avLst>
          </a:prstGeom>
          <a:solidFill>
            <a:srgbClr val="22D3EE">
              <a:alpha val="12000"/>
            </a:srgbClr>
          </a:solidFill>
          <a:ln w="12700">
            <a:solidFill>
              <a:srgbClr val="22D3EE">
                <a:alpha val="40000"/>
              </a:srgbClr>
            </a:solidFill>
            <a:prstDash val="solid"/>
          </a:ln>
        </p:spPr>
        <p:txBody>
          <a:bodyPr/>
          <a:p/>
        </p:txBody>
      </p:sp>
      <p:sp>
        <p:nvSpPr>
          <p:cNvPr id="887" name="文本框 886" descr="{&quot;isTemplate&quot;:true,&quot;type&quot;:&quot;text&quot;}"/>
          <p:cNvSpPr txBox="1"/>
          <p:nvPr/>
        </p:nvSpPr>
        <p:spPr>
          <a:xfrm>
            <a:off x="5724525" y="571500"/>
            <a:ext cx="800100" cy="161925"/>
          </a:xfrm>
          <a:prstGeom prst="rect">
            <a:avLst/>
          </a:prstGeom>
        </p:spPr>
        <p:txBody>
          <a:bodyPr wrap="none" lIns="0" tIns="0" rIns="0" bIns="0"/>
          <a:p>
            <a:pPr>
              <a:lnSpc>
                <a:spcPct val="100000"/>
              </a:lnSpc>
            </a:pPr>
            <a:r>
              <a:rPr lang="zh-CN" sz="1050">
                <a:solidFill>
                  <a:srgbClr val="67E8F9"/>
                </a:solidFill>
                <a:latin typeface="微软雅黑" panose="020B0503020204020204" charset="-122"/>
                <a:ea typeface="微软雅黑" panose="020B0503020204020204" charset="-122"/>
              </a:rPr>
              <a:t>底层基础底座</a:t>
            </a:r>
            <a:endParaRPr lang="zh-CN" sz="1050">
              <a:solidFill>
                <a:srgbClr val="67E8F9"/>
              </a:solidFill>
              <a:latin typeface="微软雅黑" panose="020B0503020204020204" charset="-122"/>
              <a:ea typeface="微软雅黑" panose="020B0503020204020204" charset="-122"/>
            </a:endParaRPr>
          </a:p>
        </p:txBody>
      </p:sp>
      <p:sp>
        <p:nvSpPr>
          <p:cNvPr id="888" name="圆角矩形 887"/>
          <p:cNvSpPr/>
          <p:nvPr/>
        </p:nvSpPr>
        <p:spPr>
          <a:xfrm>
            <a:off x="647700" y="2066925"/>
            <a:ext cx="10972800" cy="876300"/>
          </a:xfrm>
          <a:prstGeom prst="roundRect">
            <a:avLst>
              <a:gd name="adj" fmla="val 13043"/>
            </a:avLst>
          </a:prstGeom>
          <a:solidFill>
            <a:srgbClr val="111B2E"/>
          </a:solidFill>
        </p:spPr>
        <p:txBody>
          <a:bodyPr/>
          <a:p/>
        </p:txBody>
      </p:sp>
      <p:sp>
        <p:nvSpPr>
          <p:cNvPr id="889" name="任意多边形 888"/>
          <p:cNvSpPr/>
          <p:nvPr/>
        </p:nvSpPr>
        <p:spPr>
          <a:xfrm>
            <a:off x="647700" y="2066925"/>
            <a:ext cx="10972800" cy="876300"/>
          </a:xfrm>
          <a:custGeom>
            <a:avLst/>
            <a:gdLst/>
            <a:ahLst/>
            <a:cxnLst/>
            <a:pathLst>
              <a:path w="1152" h="92">
                <a:moveTo>
                  <a:pt x="11" y="0"/>
                </a:moveTo>
                <a:cubicBezTo>
                  <a:pt x="7" y="0"/>
                  <a:pt x="4" y="4"/>
                  <a:pt x="4" y="8"/>
                </a:cubicBezTo>
                <a:lnTo>
                  <a:pt x="4" y="84"/>
                </a:lnTo>
                <a:cubicBezTo>
                  <a:pt x="4" y="88"/>
                  <a:pt x="7" y="91"/>
                  <a:pt x="10" y="92"/>
                </a:cubicBezTo>
                <a:cubicBezTo>
                  <a:pt x="4" y="91"/>
                  <a:pt x="0" y="86"/>
                  <a:pt x="0" y="80"/>
                </a:cubicBezTo>
                <a:lnTo>
                  <a:pt x="0" y="12"/>
                </a:lnTo>
                <a:cubicBezTo>
                  <a:pt x="0" y="6"/>
                  <a:pt x="5" y="0"/>
                  <a:pt x="12" y="0"/>
                </a:cubicBezTo>
                <a:close/>
              </a:path>
            </a:pathLst>
          </a:custGeom>
          <a:solidFill>
            <a:srgbClr val="22D3EE"/>
          </a:solidFill>
        </p:spPr>
        <p:txBody>
          <a:bodyPr/>
          <a:p/>
        </p:txBody>
      </p:sp>
      <p:sp>
        <p:nvSpPr>
          <p:cNvPr id="890" name="文本框 889" descr="{&quot;isTemplate&quot;:true,&quot;type&quot;:&quot;text&quot;}"/>
          <p:cNvSpPr txBox="1"/>
          <p:nvPr/>
        </p:nvSpPr>
        <p:spPr>
          <a:xfrm>
            <a:off x="876300" y="2200275"/>
            <a:ext cx="10477500" cy="609600"/>
          </a:xfrm>
          <a:prstGeom prst="rect">
            <a:avLst/>
          </a:prstGeom>
        </p:spPr>
        <p:txBody>
          <a:bodyPr wrap="square" lIns="0" tIns="0" rIns="0" bIns="0">
            <a:normAutofit/>
          </a:bodyPr>
          <a:p>
            <a:pPr>
              <a:lnSpc>
                <a:spcPct val="165000"/>
              </a:lnSpc>
            </a:pPr>
            <a:r>
              <a:rPr lang="zh-CN" sz="1200" b="1">
                <a:solidFill>
                  <a:srgbClr val="67E8F9"/>
                </a:solidFill>
                <a:latin typeface="微软雅黑" panose="020B0503020204020204" charset="-122"/>
                <a:ea typeface="微软雅黑" panose="020B0503020204020204" charset="-122"/>
              </a:rPr>
              <a:t>课题定义：</a:t>
            </a:r>
            <a:r>
              <a:rPr lang="zh-CN" sz="1200">
                <a:solidFill>
                  <a:srgbClr val="E2E8F0"/>
                </a:solidFill>
                <a:latin typeface="微软雅黑" panose="020B0503020204020204" charset="-122"/>
                <a:ea typeface="微软雅黑" panose="020B0503020204020204" charset="-122"/>
              </a:rPr>
              <a:t>面向政府智库、产业规划、行业研究场景，构建模板化、结构化、可溯源、可定制的产业报告生成引擎，智能产出产业分析、景气、对标、招商、出海研判等报告。</a:t>
            </a:r>
            <a:endParaRPr lang="zh-CN" sz="1200">
              <a:solidFill>
                <a:srgbClr val="E2E8F0"/>
              </a:solidFill>
              <a:latin typeface="微软雅黑" panose="020B0503020204020204" charset="-122"/>
              <a:ea typeface="微软雅黑" panose="020B0503020204020204" charset="-122"/>
            </a:endParaRPr>
          </a:p>
        </p:txBody>
      </p:sp>
      <p:sp>
        <p:nvSpPr>
          <p:cNvPr id="891" name="圆角矩形 890"/>
          <p:cNvSpPr/>
          <p:nvPr/>
        </p:nvSpPr>
        <p:spPr>
          <a:xfrm>
            <a:off x="609600" y="3057525"/>
            <a:ext cx="10972800" cy="504825"/>
          </a:xfrm>
          <a:prstGeom prst="roundRect">
            <a:avLst>
              <a:gd name="adj" fmla="val 18868"/>
            </a:avLst>
          </a:prstGeom>
          <a:solidFill>
            <a:srgbClr val="22D3EE">
              <a:alpha val="7000"/>
            </a:srgbClr>
          </a:solidFill>
          <a:ln w="12700">
            <a:solidFill>
              <a:srgbClr val="22D3EE">
                <a:alpha val="30000"/>
              </a:srgbClr>
            </a:solidFill>
            <a:prstDash val="solid"/>
          </a:ln>
        </p:spPr>
        <p:txBody>
          <a:bodyPr/>
          <a:p/>
        </p:txBody>
      </p:sp>
      <p:sp>
        <p:nvSpPr>
          <p:cNvPr id="892" name="文本框 891" descr="{&quot;isTemplate&quot;:true,&quot;type&quot;:&quot;text&quot;}"/>
          <p:cNvSpPr txBox="1"/>
          <p:nvPr/>
        </p:nvSpPr>
        <p:spPr>
          <a:xfrm>
            <a:off x="838200" y="3171825"/>
            <a:ext cx="10515600" cy="276225"/>
          </a:xfrm>
          <a:prstGeom prst="rect">
            <a:avLst/>
          </a:prstGeom>
        </p:spPr>
        <p:txBody>
          <a:bodyPr wrap="none" lIns="0" tIns="0" rIns="0" bIns="0"/>
          <a:p>
            <a:pPr>
              <a:lnSpc>
                <a:spcPct val="155000"/>
              </a:lnSpc>
            </a:pPr>
            <a:r>
              <a:rPr lang="zh-CN" sz="1165" b="1">
                <a:solidFill>
                  <a:srgbClr val="67E8F9"/>
                </a:solidFill>
                <a:latin typeface="微软雅黑" panose="020B0503020204020204" charset="-122"/>
                <a:ea typeface="微软雅黑" panose="020B0503020204020204" charset="-122"/>
              </a:rPr>
              <a:t>项目目标：</a:t>
            </a:r>
            <a:r>
              <a:rPr lang="zh-CN" sz="1165">
                <a:solidFill>
                  <a:srgbClr val="E2E8F0"/>
                </a:solidFill>
                <a:latin typeface="微软雅黑" panose="020B0503020204020204" charset="-122"/>
                <a:ea typeface="微软雅黑" panose="020B0503020204020204" charset="-122"/>
              </a:rPr>
              <a:t>解决产业研究文稿效率低、结构不规范、数据联动弱的痛点，实现文稿智能化、标准化、体系化产出。</a:t>
            </a:r>
            <a:endParaRPr lang="zh-CN" sz="1165">
              <a:solidFill>
                <a:srgbClr val="E2E8F0"/>
              </a:solidFill>
              <a:latin typeface="微软雅黑" panose="020B0503020204020204" charset="-122"/>
              <a:ea typeface="微软雅黑" panose="020B0503020204020204" charset="-122"/>
            </a:endParaRPr>
          </a:p>
        </p:txBody>
      </p:sp>
      <p:sp>
        <p:nvSpPr>
          <p:cNvPr id="893" name="圆角矩形 892"/>
          <p:cNvSpPr/>
          <p:nvPr/>
        </p:nvSpPr>
        <p:spPr>
          <a:xfrm>
            <a:off x="609600" y="3676650"/>
            <a:ext cx="5334000" cy="466725"/>
          </a:xfrm>
          <a:prstGeom prst="roundRect">
            <a:avLst>
              <a:gd name="adj" fmla="val 20408"/>
            </a:avLst>
          </a:prstGeom>
          <a:solidFill>
            <a:srgbClr val="111B2E"/>
          </a:solidFill>
        </p:spPr>
        <p:txBody>
          <a:bodyPr/>
          <a:p/>
        </p:txBody>
      </p:sp>
      <p:sp>
        <p:nvSpPr>
          <p:cNvPr id="894" name="文本框 893" descr="{&quot;isTemplate&quot;:true,&quot;type&quot;:&quot;text&quot;}"/>
          <p:cNvSpPr txBox="1"/>
          <p:nvPr/>
        </p:nvSpPr>
        <p:spPr>
          <a:xfrm>
            <a:off x="781050" y="3781425"/>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①</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多类型产业研究报告模板体系设计与管理</a:t>
            </a:r>
            <a:endParaRPr lang="zh-CN" sz="1090">
              <a:solidFill>
                <a:srgbClr val="E2E8F0"/>
              </a:solidFill>
              <a:latin typeface="微软雅黑" panose="020B0503020204020204" charset="-122"/>
              <a:ea typeface="微软雅黑" panose="020B0503020204020204" charset="-122"/>
            </a:endParaRPr>
          </a:p>
        </p:txBody>
      </p:sp>
      <p:sp>
        <p:nvSpPr>
          <p:cNvPr id="895" name="圆角矩形 894"/>
          <p:cNvSpPr/>
          <p:nvPr/>
        </p:nvSpPr>
        <p:spPr>
          <a:xfrm>
            <a:off x="6057900" y="3676650"/>
            <a:ext cx="5334000" cy="466725"/>
          </a:xfrm>
          <a:prstGeom prst="roundRect">
            <a:avLst>
              <a:gd name="adj" fmla="val 20408"/>
            </a:avLst>
          </a:prstGeom>
          <a:solidFill>
            <a:srgbClr val="111B2E"/>
          </a:solidFill>
        </p:spPr>
        <p:txBody>
          <a:bodyPr/>
          <a:p/>
        </p:txBody>
      </p:sp>
      <p:sp>
        <p:nvSpPr>
          <p:cNvPr id="896" name="文本框 895" descr="{&quot;isTemplate&quot;:true,&quot;type&quot;:&quot;text&quot;}"/>
          <p:cNvSpPr txBox="1"/>
          <p:nvPr/>
        </p:nvSpPr>
        <p:spPr>
          <a:xfrm>
            <a:off x="6229350" y="3781425"/>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②</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大模型长文本结构化生成、章节逻辑自动组织</a:t>
            </a:r>
            <a:endParaRPr lang="zh-CN" sz="1090">
              <a:solidFill>
                <a:srgbClr val="E2E8F0"/>
              </a:solidFill>
              <a:latin typeface="微软雅黑" panose="020B0503020204020204" charset="-122"/>
              <a:ea typeface="微软雅黑" panose="020B0503020204020204" charset="-122"/>
            </a:endParaRPr>
          </a:p>
        </p:txBody>
      </p:sp>
      <p:sp>
        <p:nvSpPr>
          <p:cNvPr id="897" name="圆角矩形 896"/>
          <p:cNvSpPr/>
          <p:nvPr/>
        </p:nvSpPr>
        <p:spPr>
          <a:xfrm>
            <a:off x="609600" y="4257675"/>
            <a:ext cx="5334000" cy="466725"/>
          </a:xfrm>
          <a:prstGeom prst="roundRect">
            <a:avLst>
              <a:gd name="adj" fmla="val 20408"/>
            </a:avLst>
          </a:prstGeom>
          <a:solidFill>
            <a:srgbClr val="111B2E"/>
          </a:solidFill>
        </p:spPr>
        <p:txBody>
          <a:bodyPr/>
          <a:p/>
        </p:txBody>
      </p:sp>
      <p:sp>
        <p:nvSpPr>
          <p:cNvPr id="898" name="文本框 897" descr="{&quot;isTemplate&quot;:true,&quot;type&quot;:&quot;text&quot;}"/>
          <p:cNvSpPr txBox="1"/>
          <p:nvPr/>
        </p:nvSpPr>
        <p:spPr>
          <a:xfrm>
            <a:off x="781050" y="4362450"/>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③</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数据自动嵌入、图表生成、观点溯源、幻觉抑制</a:t>
            </a:r>
            <a:endParaRPr lang="zh-CN" sz="1090">
              <a:solidFill>
                <a:srgbClr val="E2E8F0"/>
              </a:solidFill>
              <a:latin typeface="微软雅黑" panose="020B0503020204020204" charset="-122"/>
              <a:ea typeface="微软雅黑" panose="020B0503020204020204" charset="-122"/>
            </a:endParaRPr>
          </a:p>
        </p:txBody>
      </p:sp>
      <p:sp>
        <p:nvSpPr>
          <p:cNvPr id="899" name="圆角矩形 898"/>
          <p:cNvSpPr/>
          <p:nvPr/>
        </p:nvSpPr>
        <p:spPr>
          <a:xfrm>
            <a:off x="6057900" y="4257675"/>
            <a:ext cx="5334000" cy="466725"/>
          </a:xfrm>
          <a:prstGeom prst="roundRect">
            <a:avLst>
              <a:gd name="adj" fmla="val 20408"/>
            </a:avLst>
          </a:prstGeom>
          <a:solidFill>
            <a:srgbClr val="111B2E"/>
          </a:solidFill>
        </p:spPr>
        <p:txBody>
          <a:bodyPr/>
          <a:p/>
        </p:txBody>
      </p:sp>
      <p:sp>
        <p:nvSpPr>
          <p:cNvPr id="900" name="文本框 899" descr="{&quot;isTemplate&quot;:true,&quot;type&quot;:&quot;text&quot;}"/>
          <p:cNvSpPr txBox="1"/>
          <p:nvPr/>
        </p:nvSpPr>
        <p:spPr>
          <a:xfrm>
            <a:off x="6229350" y="4362450"/>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④</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公文风格润色、多格式导出、报告版本管理</a:t>
            </a:r>
            <a:endParaRPr lang="zh-CN" sz="1090">
              <a:solidFill>
                <a:srgbClr val="E2E8F0"/>
              </a:solidFill>
              <a:latin typeface="微软雅黑" panose="020B0503020204020204" charset="-122"/>
              <a:ea typeface="微软雅黑" panose="020B0503020204020204" charset="-122"/>
            </a:endParaRPr>
          </a:p>
        </p:txBody>
      </p:sp>
      <p:sp>
        <p:nvSpPr>
          <p:cNvPr id="901" name="圆角矩形 900"/>
          <p:cNvSpPr/>
          <p:nvPr/>
        </p:nvSpPr>
        <p:spPr>
          <a:xfrm>
            <a:off x="609600" y="4838700"/>
            <a:ext cx="10972800" cy="381000"/>
          </a:xfrm>
          <a:prstGeom prst="roundRect">
            <a:avLst>
              <a:gd name="adj" fmla="val 25000"/>
            </a:avLst>
          </a:prstGeom>
          <a:solidFill>
            <a:srgbClr val="8B5CF6">
              <a:alpha val="8000"/>
            </a:srgbClr>
          </a:solidFill>
          <a:ln w="12700">
            <a:solidFill>
              <a:srgbClr val="8B5CF6">
                <a:alpha val="30000"/>
              </a:srgbClr>
            </a:solidFill>
            <a:prstDash val="solid"/>
          </a:ln>
        </p:spPr>
        <p:txBody>
          <a:bodyPr/>
          <a:p/>
        </p:txBody>
      </p:sp>
      <p:sp>
        <p:nvSpPr>
          <p:cNvPr id="902" name="文本框 901" descr="{&quot;isTemplate&quot;:true,&quot;type&quot;:&quot;text&quot;}"/>
          <p:cNvSpPr txBox="1"/>
          <p:nvPr/>
        </p:nvSpPr>
        <p:spPr>
          <a:xfrm>
            <a:off x="819150" y="4953000"/>
            <a:ext cx="533400" cy="161925"/>
          </a:xfrm>
          <a:prstGeom prst="rect">
            <a:avLst/>
          </a:prstGeom>
        </p:spPr>
        <p:txBody>
          <a:bodyPr wrap="none" lIns="0" tIns="0" rIns="0" bIns="0"/>
          <a:p>
            <a:pPr>
              <a:lnSpc>
                <a:spcPct val="100000"/>
              </a:lnSpc>
            </a:pPr>
            <a:r>
              <a:rPr lang="zh-CN" sz="1050" b="1">
                <a:solidFill>
                  <a:srgbClr val="C4B5FD"/>
                </a:solidFill>
                <a:latin typeface="微软雅黑" panose="020B0503020204020204" charset="-122"/>
                <a:ea typeface="微软雅黑" panose="020B0503020204020204" charset="-122"/>
              </a:rPr>
              <a:t>选题适配</a:t>
            </a:r>
            <a:endParaRPr lang="zh-CN" sz="1050" b="1">
              <a:solidFill>
                <a:srgbClr val="C4B5FD"/>
              </a:solidFill>
              <a:latin typeface="微软雅黑" panose="020B0503020204020204" charset="-122"/>
              <a:ea typeface="微软雅黑" panose="020B0503020204020204" charset="-122"/>
            </a:endParaRPr>
          </a:p>
        </p:txBody>
      </p:sp>
      <p:sp>
        <p:nvSpPr>
          <p:cNvPr id="903" name="文本框 902" descr="{&quot;isTemplate&quot;:true,&quot;type&quot;:&quot;text&quot;}"/>
          <p:cNvSpPr txBox="1"/>
          <p:nvPr/>
        </p:nvSpPr>
        <p:spPr>
          <a:xfrm>
            <a:off x="1466850" y="4943475"/>
            <a:ext cx="5219700"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适合大模型工程、长文本生成、模板引擎、后端架构方向的团队</a:t>
            </a:r>
            <a:r>
              <a:rPr lang="en-US" sz="1090">
                <a:solidFill>
                  <a:srgbClr val="E2E8F0"/>
                </a:solidFill>
                <a:latin typeface="微软雅黑" panose="020B0503020204020204" charset="-122"/>
                <a:ea typeface="微软雅黑" panose="020B0503020204020204" charset="-122"/>
              </a:rPr>
              <a:t> —— </a:t>
            </a:r>
            <a:r>
              <a:rPr lang="zh-CN" sz="1090">
                <a:solidFill>
                  <a:srgbClr val="E2E8F0"/>
                </a:solidFill>
                <a:latin typeface="微软雅黑" panose="020B0503020204020204" charset="-122"/>
                <a:ea typeface="微软雅黑" panose="020B0503020204020204" charset="-122"/>
              </a:rPr>
              <a:t>业务落地性极强</a:t>
            </a:r>
            <a:endParaRPr lang="zh-CN" sz="1090">
              <a:solidFill>
                <a:srgbClr val="E2E8F0"/>
              </a:solidFill>
              <a:latin typeface="微软雅黑" panose="020B0503020204020204" charset="-122"/>
              <a:ea typeface="微软雅黑" panose="020B0503020204020204" charset="-122"/>
            </a:endParaRPr>
          </a:p>
        </p:txBody>
      </p:sp>
      <p:sp>
        <p:nvSpPr>
          <p:cNvPr id="904" name="文本框 903"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905" name="文本框 904" descr="{&quot;isTemplate&quot;:true,&quot;type&quot;:&quot;text&quot;}"/>
          <p:cNvSpPr txBox="1"/>
          <p:nvPr/>
        </p:nvSpPr>
        <p:spPr>
          <a:xfrm>
            <a:off x="11210925" y="6400800"/>
            <a:ext cx="3714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7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906" name="" descr="&lt;Slide style={{ width: 1280, height: 720, background: '#0B1220', padding: '20px 64px', display: 'flex', flexDirection: 'column' }}&gt;&#13;&#10;    &lt;Box style={{ flexDirection: 'row', height: 96, alignItems: 'center' }}&gt;&#13;&#10;        &lt;Box style={{ width: 6, height: 44, background: 'linear-gradient(180deg, #22D3EE 0%, #3B82F6 100%)', borderRadius: 3, marginRight: 20 }} /&gt;&#13;&#10;        &lt;Text style={{ fontSize: 30, fontWeight: 'bold', color: '#E2E8F0' }}&gt;课题 3 · 产业链态势感知与头条推送系统&lt;/Text&gt;&#13;&#10;        &lt;Box style={{ marginLeft: 18, background: 'rgba(34,211,238,0.12)', borderRadius: 8, padding: '5px 14px', border: '1px solid rgba(34,211,238,0.4)' }}&gt;&#13;&#10;            &lt;Text style={{ fontSize: 14, color: '#67E8F9' }}&gt;底层基础底座&lt;/Text&gt;&#13;&#10;        &lt;/Box&gt;&#13;&#10;    &lt;/Box&gt;&#13;&#10;    &lt;Box style={{ flex: 1, flexDirection: 'column', gap: 12, justifyContent: 'center' }}&gt;&#13;&#10;        &lt;Box style={{ background: '#111B2E', borderRadius: 12, padding: '14px 24px', borderLeft: '4px solid #22D3EE' }}&gt;&#13;&#10;            &lt;Text style={{ fontSize: 16, color: '#E2E8F0', lineHeight: 1.65 }}&gt;&lt;span style={{ fontWeight: 'bold', color: '#67E8F9' }}&gt;课题定义：&lt;/span&gt;面向全产业链的全天候动态感知、事件智能识别、热点自动研判、风险异动预警、产业头条自动汇编的智能监测平台。&lt;/Text&gt;&#13;&#10;        &lt;/Box&gt;&#13;&#10;        &lt;Box style={{ background: 'rgba(34,211,238,0.07)', borderRadius: 10, padding: '12px 24px', border: '1px solid rgba(34,211,238,0.3)' }}&gt;&#13;&#10;            &lt;Text style={{ fontSize: 15.5, color: '#E2E8F0', lineHeight: 1.55 }}&gt;&lt;span style={{ fontWeight: 'bold', color: '#67E8F9' }}&gt;项目目标：&lt;/span&gt;实现全网产业信号自动化采集、智能化解析、结构化沉淀，形成常态化产业动态情报与风险预警能力。&lt;/Text&gt;&#13;&#10;        &lt;/Box&gt;&#13;&#10;        &lt;Box style={{ flexDirection: 'row', flexWrap: 'wrap', gap: 12 }}&gt;&#13;&#10;            &lt;Box style={{ width: 560, background: '#111B2E', borderRadius: 10, padding: '11px 18px' }}&gt;&lt;Text style={{ fontSize: 14.5, color: '#E2E8F0', lineHeight: 1.5 }}&gt;&lt;span style={{ fontWeight: 'bold', color: '#67E8F9' }}&gt;①&lt;/span&gt; 政策、企业、项目、投融资、技术、市场多源动态实时采集&lt;/Text&gt;&lt;/Box&gt;&#13;&#10;            &lt;Box style={{ width: 560, background: '#111B2E', borderRadius: 10, padding: '11px 18px' }}&gt;&lt;Text style={{ fontSize: 14.5, color: '#E2E8F0', lineHeight: 1.5 }}&gt;&lt;span style={{ fontWeight: 'bold', color: '#67E8F9' }}&gt;②&lt;/span&gt; 大模型事件分类、重要度打分、产业链节点自动关联&lt;/Text&gt;&lt;/Box&gt;&#13;&#10;            &lt;Box style={{ width: 560, background: '#111B2E', borderRadius: 10, padding: '11px 18px' }}&gt;&lt;Text style={{ fontSize: 14.5, color: '#E2E8F0', lineHeight: 1.5 }}&gt;&lt;span style={{ fontWeight: 'bold', color: '#67E8F9' }}&gt;③&lt;/span&gt; 产业热点排行、每日 / 每周产业头条自动汇编与摘要&lt;/Text&gt;&lt;/Box&gt;&#13;&#10;            &lt;Box style={{ width: 560, background: '#111B2E', borderRadius: 10, padding: '11px 18px' }}&gt;&lt;Text style={{ fontSize: 14.5, color: '#E2E8F0', lineHeight: 1.5 }}&gt;&lt;span style={{ fontWeight: 'bold', color: '#67E8F9' }}&gt;④&lt;/span&gt; 产业异动识别、风险预警、态势回溯可视化展示&lt;/Text&gt;&lt;/Box&gt;&#13;&#10;        &lt;/Box&gt;&#13;&#10;        &lt;Box style={{ flexDirection: 'row', alignItems: 'center', gap: 12, background: 'rgba(139,92,246,0.08)', borderRadius: 10, padding: '11px 22px', border: '1px solid rgba(139,92,246,0.3)' }}&gt;&#13;&#10;            &lt;Text style={{ fontSize: 14, color: '#C4B5FD', fontWeight: 'bold' }}&gt;选题适配&lt;/Text&gt;&#13;&#10;            &lt;Text style={{ fontSize: 14.5, color: '#E2E8F0' }}&gt;适合数据流开发、爬虫工程、实时系统、内容智能分类方向的团队&lt;/Text&gt;&#13;&#10;        &lt;/Box&gt;&#13;&#10;    &lt;/Box&gt;&#13;&#10;    &lt;Box style={{ height: 40, flexDirection: 'row', justifyContent: 'space-between', alignItems: 'center', marginTop: 12 }}&gt;&#13;&#10;        &lt;Text style={{ fontSize: 14, color: '#94A3B8' }}&gt;01 十大创新实践课题&lt;/Text&gt;&#13;&#10;        &lt;Text style={{ fontSize: 14, color: '#94A3B8' }}&gt;8 / 47&lt;/Text&gt;&#13;&#10;    &lt;/Box&gt;&#13;&#10;&lt;/Slide&gt;&#13;&#10;"/>
        <p:cNvGrpSpPr/>
        <p:nvPr/>
      </p:nvGrpSpPr>
      <p:grpSpPr>
        <a:xfrm>
          <a:off x="0" y="0"/>
          <a:ext cx="0" cy="0"/>
          <a:chOff x="0" y="0"/>
          <a:chExt cx="0" cy="0"/>
        </a:xfrm>
      </p:grpSpPr>
      <p:sp>
        <p:nvSpPr>
          <p:cNvPr id="907" name="矩形 906"/>
          <p:cNvSpPr/>
          <p:nvPr/>
        </p:nvSpPr>
        <p:spPr>
          <a:xfrm>
            <a:off x="0" y="0"/>
            <a:ext cx="12192000" cy="6858000"/>
          </a:xfrm>
          <a:prstGeom prst="rect">
            <a:avLst/>
          </a:prstGeom>
          <a:solidFill>
            <a:srgbClr val="0B1220"/>
          </a:solidFill>
        </p:spPr>
        <p:txBody>
          <a:bodyPr/>
          <a:p/>
        </p:txBody>
      </p:sp>
      <p:sp>
        <p:nvSpPr>
          <p:cNvPr id="908" name="圆角矩形 907"/>
          <p:cNvSpPr/>
          <p:nvPr/>
        </p:nvSpPr>
        <p:spPr>
          <a:xfrm>
            <a:off x="609600" y="438150"/>
            <a:ext cx="57150" cy="419100"/>
          </a:xfrm>
          <a:prstGeom prst="roundRect">
            <a:avLst>
              <a:gd name="adj" fmla="val 50000"/>
            </a:avLst>
          </a:prstGeom>
          <a:gradFill>
            <a:gsLst>
              <a:gs pos="0">
                <a:srgbClr val="22D3EE"/>
              </a:gs>
              <a:gs pos="100000">
                <a:srgbClr val="3B82F6"/>
              </a:gs>
            </a:gsLst>
            <a:lin ang="5400000" scaled="1"/>
          </a:gradFill>
        </p:spPr>
        <p:txBody>
          <a:bodyPr/>
          <a:p/>
        </p:txBody>
      </p:sp>
      <p:sp>
        <p:nvSpPr>
          <p:cNvPr id="909" name="文本框 908" descr="{&quot;isTemplate&quot;:true,&quot;type&quot;:&quot;text&quot;}"/>
          <p:cNvSpPr txBox="1"/>
          <p:nvPr/>
        </p:nvSpPr>
        <p:spPr>
          <a:xfrm>
            <a:off x="857250" y="476250"/>
            <a:ext cx="5133975" cy="342900"/>
          </a:xfrm>
          <a:prstGeom prst="rect">
            <a:avLst/>
          </a:prstGeom>
        </p:spPr>
        <p:txBody>
          <a:bodyPr wrap="none" lIns="0" tIns="0" rIns="0" bIns="0"/>
          <a:p>
            <a:pPr>
              <a:lnSpc>
                <a:spcPct val="100000"/>
              </a:lnSpc>
            </a:pPr>
            <a:r>
              <a:rPr lang="zh-CN" sz="2250" b="1">
                <a:solidFill>
                  <a:srgbClr val="E2E8F0"/>
                </a:solidFill>
                <a:latin typeface="微软雅黑" panose="020B0503020204020204" charset="-122"/>
                <a:ea typeface="微软雅黑" panose="020B0503020204020204" charset="-122"/>
              </a:rPr>
              <a:t>课题</a:t>
            </a:r>
            <a:r>
              <a:rPr lang="en-US" sz="2250" b="1">
                <a:solidFill>
                  <a:srgbClr val="E2E8F0"/>
                </a:solidFill>
                <a:latin typeface="微软雅黑" panose="020B0503020204020204" charset="-122"/>
                <a:ea typeface="微软雅黑" panose="020B0503020204020204" charset="-122"/>
              </a:rPr>
              <a:t> 3 · </a:t>
            </a:r>
            <a:r>
              <a:rPr lang="zh-CN" sz="2250" b="1">
                <a:solidFill>
                  <a:srgbClr val="E2E8F0"/>
                </a:solidFill>
                <a:latin typeface="微软雅黑" panose="020B0503020204020204" charset="-122"/>
                <a:ea typeface="微软雅黑" panose="020B0503020204020204" charset="-122"/>
              </a:rPr>
              <a:t>产业链态势感知与头条推送系统</a:t>
            </a:r>
            <a:endParaRPr lang="zh-CN" sz="2250" b="1">
              <a:solidFill>
                <a:srgbClr val="E2E8F0"/>
              </a:solidFill>
              <a:latin typeface="微软雅黑" panose="020B0503020204020204" charset="-122"/>
              <a:ea typeface="微软雅黑" panose="020B0503020204020204" charset="-122"/>
            </a:endParaRPr>
          </a:p>
        </p:txBody>
      </p:sp>
      <p:sp>
        <p:nvSpPr>
          <p:cNvPr id="910" name="圆角矩形 909"/>
          <p:cNvSpPr/>
          <p:nvPr/>
        </p:nvSpPr>
        <p:spPr>
          <a:xfrm>
            <a:off x="6162675" y="523875"/>
            <a:ext cx="1066800" cy="257175"/>
          </a:xfrm>
          <a:prstGeom prst="roundRect">
            <a:avLst>
              <a:gd name="adj" fmla="val 29630"/>
            </a:avLst>
          </a:prstGeom>
          <a:solidFill>
            <a:srgbClr val="22D3EE">
              <a:alpha val="12000"/>
            </a:srgbClr>
          </a:solidFill>
          <a:ln w="12700">
            <a:solidFill>
              <a:srgbClr val="22D3EE">
                <a:alpha val="40000"/>
              </a:srgbClr>
            </a:solidFill>
            <a:prstDash val="solid"/>
          </a:ln>
        </p:spPr>
        <p:txBody>
          <a:bodyPr/>
          <a:p/>
        </p:txBody>
      </p:sp>
      <p:sp>
        <p:nvSpPr>
          <p:cNvPr id="911" name="文本框 910" descr="{&quot;isTemplate&quot;:true,&quot;type&quot;:&quot;text&quot;}"/>
          <p:cNvSpPr txBox="1"/>
          <p:nvPr/>
        </p:nvSpPr>
        <p:spPr>
          <a:xfrm>
            <a:off x="6296025" y="571500"/>
            <a:ext cx="800100" cy="161925"/>
          </a:xfrm>
          <a:prstGeom prst="rect">
            <a:avLst/>
          </a:prstGeom>
        </p:spPr>
        <p:txBody>
          <a:bodyPr wrap="none" lIns="0" tIns="0" rIns="0" bIns="0"/>
          <a:p>
            <a:pPr>
              <a:lnSpc>
                <a:spcPct val="100000"/>
              </a:lnSpc>
            </a:pPr>
            <a:r>
              <a:rPr lang="zh-CN" sz="1050">
                <a:solidFill>
                  <a:srgbClr val="67E8F9"/>
                </a:solidFill>
                <a:latin typeface="微软雅黑" panose="020B0503020204020204" charset="-122"/>
                <a:ea typeface="微软雅黑" panose="020B0503020204020204" charset="-122"/>
              </a:rPr>
              <a:t>底层基础底座</a:t>
            </a:r>
            <a:endParaRPr lang="zh-CN" sz="1050">
              <a:solidFill>
                <a:srgbClr val="67E8F9"/>
              </a:solidFill>
              <a:latin typeface="微软雅黑" panose="020B0503020204020204" charset="-122"/>
              <a:ea typeface="微软雅黑" panose="020B0503020204020204" charset="-122"/>
            </a:endParaRPr>
          </a:p>
        </p:txBody>
      </p:sp>
      <p:sp>
        <p:nvSpPr>
          <p:cNvPr id="912" name="圆角矩形 911"/>
          <p:cNvSpPr/>
          <p:nvPr/>
        </p:nvSpPr>
        <p:spPr>
          <a:xfrm>
            <a:off x="647700" y="2219325"/>
            <a:ext cx="10972800" cy="571500"/>
          </a:xfrm>
          <a:prstGeom prst="roundRect">
            <a:avLst>
              <a:gd name="adj" fmla="val 20000"/>
            </a:avLst>
          </a:prstGeom>
          <a:solidFill>
            <a:srgbClr val="111B2E"/>
          </a:solidFill>
        </p:spPr>
        <p:txBody>
          <a:bodyPr/>
          <a:p/>
        </p:txBody>
      </p:sp>
      <p:sp>
        <p:nvSpPr>
          <p:cNvPr id="913" name="任意多边形 912"/>
          <p:cNvSpPr/>
          <p:nvPr/>
        </p:nvSpPr>
        <p:spPr>
          <a:xfrm>
            <a:off x="647700" y="2219325"/>
            <a:ext cx="10972800" cy="571500"/>
          </a:xfrm>
          <a:custGeom>
            <a:avLst/>
            <a:gdLst/>
            <a:ahLst/>
            <a:cxnLst/>
            <a:pathLst>
              <a:path w="1152" h="60">
                <a:moveTo>
                  <a:pt x="11" y="0"/>
                </a:moveTo>
                <a:cubicBezTo>
                  <a:pt x="7" y="0"/>
                  <a:pt x="4" y="4"/>
                  <a:pt x="4" y="8"/>
                </a:cubicBezTo>
                <a:lnTo>
                  <a:pt x="4" y="52"/>
                </a:lnTo>
                <a:cubicBezTo>
                  <a:pt x="4" y="56"/>
                  <a:pt x="7" y="59"/>
                  <a:pt x="10" y="60"/>
                </a:cubicBezTo>
                <a:cubicBezTo>
                  <a:pt x="4" y="59"/>
                  <a:pt x="0" y="54"/>
                  <a:pt x="0" y="48"/>
                </a:cubicBezTo>
                <a:lnTo>
                  <a:pt x="0" y="12"/>
                </a:lnTo>
                <a:cubicBezTo>
                  <a:pt x="0" y="6"/>
                  <a:pt x="5" y="0"/>
                  <a:pt x="12" y="0"/>
                </a:cubicBezTo>
                <a:close/>
              </a:path>
            </a:pathLst>
          </a:custGeom>
          <a:solidFill>
            <a:srgbClr val="22D3EE"/>
          </a:solidFill>
        </p:spPr>
        <p:txBody>
          <a:bodyPr/>
          <a:p/>
        </p:txBody>
      </p:sp>
      <p:sp>
        <p:nvSpPr>
          <p:cNvPr id="914" name="文本框 913" descr="{&quot;isTemplate&quot;:true,&quot;type&quot;:&quot;text&quot;}"/>
          <p:cNvSpPr txBox="1"/>
          <p:nvPr/>
        </p:nvSpPr>
        <p:spPr>
          <a:xfrm>
            <a:off x="876300" y="2352675"/>
            <a:ext cx="10477500" cy="304800"/>
          </a:xfrm>
          <a:prstGeom prst="rect">
            <a:avLst/>
          </a:prstGeom>
        </p:spPr>
        <p:txBody>
          <a:bodyPr wrap="none" lIns="0" tIns="0" rIns="0" bIns="0"/>
          <a:p>
            <a:pPr>
              <a:lnSpc>
                <a:spcPct val="165000"/>
              </a:lnSpc>
            </a:pPr>
            <a:r>
              <a:rPr lang="zh-CN" sz="1200" b="1">
                <a:solidFill>
                  <a:srgbClr val="67E8F9"/>
                </a:solidFill>
                <a:latin typeface="微软雅黑" panose="020B0503020204020204" charset="-122"/>
                <a:ea typeface="微软雅黑" panose="020B0503020204020204" charset="-122"/>
              </a:rPr>
              <a:t>课题定义：</a:t>
            </a:r>
            <a:r>
              <a:rPr lang="zh-CN" sz="1200">
                <a:solidFill>
                  <a:srgbClr val="E2E8F0"/>
                </a:solidFill>
                <a:latin typeface="微软雅黑" panose="020B0503020204020204" charset="-122"/>
                <a:ea typeface="微软雅黑" panose="020B0503020204020204" charset="-122"/>
              </a:rPr>
              <a:t>面向全产业链的全天候动态感知、事件智能识别、热点自动研判、风险异动预警、产业头条自动汇编的智能监测平台。</a:t>
            </a:r>
            <a:endParaRPr lang="zh-CN" sz="1200">
              <a:solidFill>
                <a:srgbClr val="E2E8F0"/>
              </a:solidFill>
              <a:latin typeface="微软雅黑" panose="020B0503020204020204" charset="-122"/>
              <a:ea typeface="微软雅黑" panose="020B0503020204020204" charset="-122"/>
            </a:endParaRPr>
          </a:p>
        </p:txBody>
      </p:sp>
      <p:sp>
        <p:nvSpPr>
          <p:cNvPr id="915" name="圆角矩形 914"/>
          <p:cNvSpPr/>
          <p:nvPr/>
        </p:nvSpPr>
        <p:spPr>
          <a:xfrm>
            <a:off x="609600" y="2905125"/>
            <a:ext cx="10972800" cy="504825"/>
          </a:xfrm>
          <a:prstGeom prst="roundRect">
            <a:avLst>
              <a:gd name="adj" fmla="val 18868"/>
            </a:avLst>
          </a:prstGeom>
          <a:solidFill>
            <a:srgbClr val="22D3EE">
              <a:alpha val="7000"/>
            </a:srgbClr>
          </a:solidFill>
          <a:ln w="12700">
            <a:solidFill>
              <a:srgbClr val="22D3EE">
                <a:alpha val="30000"/>
              </a:srgbClr>
            </a:solidFill>
            <a:prstDash val="solid"/>
          </a:ln>
        </p:spPr>
        <p:txBody>
          <a:bodyPr/>
          <a:p/>
        </p:txBody>
      </p:sp>
      <p:sp>
        <p:nvSpPr>
          <p:cNvPr id="916" name="文本框 915" descr="{&quot;isTemplate&quot;:true,&quot;type&quot;:&quot;text&quot;}"/>
          <p:cNvSpPr txBox="1"/>
          <p:nvPr/>
        </p:nvSpPr>
        <p:spPr>
          <a:xfrm>
            <a:off x="838200" y="3019425"/>
            <a:ext cx="10515600" cy="276225"/>
          </a:xfrm>
          <a:prstGeom prst="rect">
            <a:avLst/>
          </a:prstGeom>
        </p:spPr>
        <p:txBody>
          <a:bodyPr wrap="none" lIns="0" tIns="0" rIns="0" bIns="0"/>
          <a:p>
            <a:pPr>
              <a:lnSpc>
                <a:spcPct val="155000"/>
              </a:lnSpc>
            </a:pPr>
            <a:r>
              <a:rPr lang="zh-CN" sz="1165" b="1">
                <a:solidFill>
                  <a:srgbClr val="67E8F9"/>
                </a:solidFill>
                <a:latin typeface="微软雅黑" panose="020B0503020204020204" charset="-122"/>
                <a:ea typeface="微软雅黑" panose="020B0503020204020204" charset="-122"/>
              </a:rPr>
              <a:t>项目目标：</a:t>
            </a:r>
            <a:r>
              <a:rPr lang="zh-CN" sz="1165">
                <a:solidFill>
                  <a:srgbClr val="E2E8F0"/>
                </a:solidFill>
                <a:latin typeface="微软雅黑" panose="020B0503020204020204" charset="-122"/>
                <a:ea typeface="微软雅黑" panose="020B0503020204020204" charset="-122"/>
              </a:rPr>
              <a:t>实现全网产业信号自动化采集、智能化解析、结构化沉淀，形成常态化产业动态情报与风险预警能力。</a:t>
            </a:r>
            <a:endParaRPr lang="zh-CN" sz="1165">
              <a:solidFill>
                <a:srgbClr val="E2E8F0"/>
              </a:solidFill>
              <a:latin typeface="微软雅黑" panose="020B0503020204020204" charset="-122"/>
              <a:ea typeface="微软雅黑" panose="020B0503020204020204" charset="-122"/>
            </a:endParaRPr>
          </a:p>
        </p:txBody>
      </p:sp>
      <p:sp>
        <p:nvSpPr>
          <p:cNvPr id="917" name="圆角矩形 916"/>
          <p:cNvSpPr/>
          <p:nvPr/>
        </p:nvSpPr>
        <p:spPr>
          <a:xfrm>
            <a:off x="609600" y="3524250"/>
            <a:ext cx="5334000" cy="466725"/>
          </a:xfrm>
          <a:prstGeom prst="roundRect">
            <a:avLst>
              <a:gd name="adj" fmla="val 20408"/>
            </a:avLst>
          </a:prstGeom>
          <a:solidFill>
            <a:srgbClr val="111B2E"/>
          </a:solidFill>
        </p:spPr>
        <p:txBody>
          <a:bodyPr/>
          <a:p/>
        </p:txBody>
      </p:sp>
      <p:sp>
        <p:nvSpPr>
          <p:cNvPr id="918" name="文本框 917" descr="{&quot;isTemplate&quot;:true,&quot;type&quot;:&quot;text&quot;}"/>
          <p:cNvSpPr txBox="1"/>
          <p:nvPr/>
        </p:nvSpPr>
        <p:spPr>
          <a:xfrm>
            <a:off x="781050" y="3629025"/>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①</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政策、企业、项目、投融资、技术、市场多源动态实时采集</a:t>
            </a:r>
            <a:endParaRPr lang="zh-CN" sz="1090">
              <a:solidFill>
                <a:srgbClr val="E2E8F0"/>
              </a:solidFill>
              <a:latin typeface="微软雅黑" panose="020B0503020204020204" charset="-122"/>
              <a:ea typeface="微软雅黑" panose="020B0503020204020204" charset="-122"/>
            </a:endParaRPr>
          </a:p>
        </p:txBody>
      </p:sp>
      <p:sp>
        <p:nvSpPr>
          <p:cNvPr id="919" name="圆角矩形 918"/>
          <p:cNvSpPr/>
          <p:nvPr/>
        </p:nvSpPr>
        <p:spPr>
          <a:xfrm>
            <a:off x="6057900" y="3524250"/>
            <a:ext cx="5334000" cy="466725"/>
          </a:xfrm>
          <a:prstGeom prst="roundRect">
            <a:avLst>
              <a:gd name="adj" fmla="val 20408"/>
            </a:avLst>
          </a:prstGeom>
          <a:solidFill>
            <a:srgbClr val="111B2E"/>
          </a:solidFill>
        </p:spPr>
        <p:txBody>
          <a:bodyPr/>
          <a:p/>
        </p:txBody>
      </p:sp>
      <p:sp>
        <p:nvSpPr>
          <p:cNvPr id="920" name="文本框 919" descr="{&quot;isTemplate&quot;:true,&quot;type&quot;:&quot;text&quot;}"/>
          <p:cNvSpPr txBox="1"/>
          <p:nvPr/>
        </p:nvSpPr>
        <p:spPr>
          <a:xfrm>
            <a:off x="6229350" y="3629025"/>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②</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大模型事件分类、重要度打分、产业链节点自动关联</a:t>
            </a:r>
            <a:endParaRPr lang="zh-CN" sz="1090">
              <a:solidFill>
                <a:srgbClr val="E2E8F0"/>
              </a:solidFill>
              <a:latin typeface="微软雅黑" panose="020B0503020204020204" charset="-122"/>
              <a:ea typeface="微软雅黑" panose="020B0503020204020204" charset="-122"/>
            </a:endParaRPr>
          </a:p>
        </p:txBody>
      </p:sp>
      <p:sp>
        <p:nvSpPr>
          <p:cNvPr id="921" name="圆角矩形 920"/>
          <p:cNvSpPr/>
          <p:nvPr/>
        </p:nvSpPr>
        <p:spPr>
          <a:xfrm>
            <a:off x="609600" y="4105275"/>
            <a:ext cx="5334000" cy="466725"/>
          </a:xfrm>
          <a:prstGeom prst="roundRect">
            <a:avLst>
              <a:gd name="adj" fmla="val 20408"/>
            </a:avLst>
          </a:prstGeom>
          <a:solidFill>
            <a:srgbClr val="111B2E"/>
          </a:solidFill>
        </p:spPr>
        <p:txBody>
          <a:bodyPr/>
          <a:p/>
        </p:txBody>
      </p:sp>
      <p:sp>
        <p:nvSpPr>
          <p:cNvPr id="922" name="文本框 921" descr="{&quot;isTemplate&quot;:true,&quot;type&quot;:&quot;text&quot;}"/>
          <p:cNvSpPr txBox="1"/>
          <p:nvPr/>
        </p:nvSpPr>
        <p:spPr>
          <a:xfrm>
            <a:off x="781050" y="4210050"/>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③</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产业热点排行、每日</a:t>
            </a:r>
            <a:r>
              <a:rPr lang="en-US" sz="1090">
                <a:solidFill>
                  <a:srgbClr val="E2E8F0"/>
                </a:solidFill>
                <a:latin typeface="微软雅黑" panose="020B0503020204020204" charset="-122"/>
                <a:ea typeface="微软雅黑" panose="020B0503020204020204" charset="-122"/>
              </a:rPr>
              <a:t> / </a:t>
            </a:r>
            <a:r>
              <a:rPr lang="zh-CN" sz="1090">
                <a:solidFill>
                  <a:srgbClr val="E2E8F0"/>
                </a:solidFill>
                <a:latin typeface="微软雅黑" panose="020B0503020204020204" charset="-122"/>
                <a:ea typeface="微软雅黑" panose="020B0503020204020204" charset="-122"/>
              </a:rPr>
              <a:t>每周产业头条自动汇编与摘要</a:t>
            </a:r>
            <a:endParaRPr lang="zh-CN" sz="1090">
              <a:solidFill>
                <a:srgbClr val="E2E8F0"/>
              </a:solidFill>
              <a:latin typeface="微软雅黑" panose="020B0503020204020204" charset="-122"/>
              <a:ea typeface="微软雅黑" panose="020B0503020204020204" charset="-122"/>
            </a:endParaRPr>
          </a:p>
        </p:txBody>
      </p:sp>
      <p:sp>
        <p:nvSpPr>
          <p:cNvPr id="923" name="圆角矩形 922"/>
          <p:cNvSpPr/>
          <p:nvPr/>
        </p:nvSpPr>
        <p:spPr>
          <a:xfrm>
            <a:off x="6057900" y="4105275"/>
            <a:ext cx="5334000" cy="466725"/>
          </a:xfrm>
          <a:prstGeom prst="roundRect">
            <a:avLst>
              <a:gd name="adj" fmla="val 20408"/>
            </a:avLst>
          </a:prstGeom>
          <a:solidFill>
            <a:srgbClr val="111B2E"/>
          </a:solidFill>
        </p:spPr>
        <p:txBody>
          <a:bodyPr/>
          <a:p/>
        </p:txBody>
      </p:sp>
      <p:sp>
        <p:nvSpPr>
          <p:cNvPr id="924" name="文本框 923" descr="{&quot;isTemplate&quot;:true,&quot;type&quot;:&quot;text&quot;}"/>
          <p:cNvSpPr txBox="1"/>
          <p:nvPr/>
        </p:nvSpPr>
        <p:spPr>
          <a:xfrm>
            <a:off x="6229350" y="4210050"/>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④</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产业异动识别、风险预警、态势回溯可视化展示</a:t>
            </a:r>
            <a:endParaRPr lang="zh-CN" sz="1090">
              <a:solidFill>
                <a:srgbClr val="E2E8F0"/>
              </a:solidFill>
              <a:latin typeface="微软雅黑" panose="020B0503020204020204" charset="-122"/>
              <a:ea typeface="微软雅黑" panose="020B0503020204020204" charset="-122"/>
            </a:endParaRPr>
          </a:p>
        </p:txBody>
      </p:sp>
      <p:sp>
        <p:nvSpPr>
          <p:cNvPr id="925" name="圆角矩形 924"/>
          <p:cNvSpPr/>
          <p:nvPr/>
        </p:nvSpPr>
        <p:spPr>
          <a:xfrm>
            <a:off x="609600" y="4686300"/>
            <a:ext cx="10972800" cy="381000"/>
          </a:xfrm>
          <a:prstGeom prst="roundRect">
            <a:avLst>
              <a:gd name="adj" fmla="val 25000"/>
            </a:avLst>
          </a:prstGeom>
          <a:solidFill>
            <a:srgbClr val="8B5CF6">
              <a:alpha val="8000"/>
            </a:srgbClr>
          </a:solidFill>
          <a:ln w="12700">
            <a:solidFill>
              <a:srgbClr val="8B5CF6">
                <a:alpha val="30000"/>
              </a:srgbClr>
            </a:solidFill>
            <a:prstDash val="solid"/>
          </a:ln>
        </p:spPr>
        <p:txBody>
          <a:bodyPr/>
          <a:p/>
        </p:txBody>
      </p:sp>
      <p:sp>
        <p:nvSpPr>
          <p:cNvPr id="926" name="文本框 925" descr="{&quot;isTemplate&quot;:true,&quot;type&quot;:&quot;text&quot;}"/>
          <p:cNvSpPr txBox="1"/>
          <p:nvPr/>
        </p:nvSpPr>
        <p:spPr>
          <a:xfrm>
            <a:off x="819150" y="4800600"/>
            <a:ext cx="533400" cy="161925"/>
          </a:xfrm>
          <a:prstGeom prst="rect">
            <a:avLst/>
          </a:prstGeom>
        </p:spPr>
        <p:txBody>
          <a:bodyPr wrap="none" lIns="0" tIns="0" rIns="0" bIns="0"/>
          <a:p>
            <a:pPr>
              <a:lnSpc>
                <a:spcPct val="100000"/>
              </a:lnSpc>
            </a:pPr>
            <a:r>
              <a:rPr lang="zh-CN" sz="1050" b="1">
                <a:solidFill>
                  <a:srgbClr val="C4B5FD"/>
                </a:solidFill>
                <a:latin typeface="微软雅黑" panose="020B0503020204020204" charset="-122"/>
                <a:ea typeface="微软雅黑" panose="020B0503020204020204" charset="-122"/>
              </a:rPr>
              <a:t>选题适配</a:t>
            </a:r>
            <a:endParaRPr lang="zh-CN" sz="1050" b="1">
              <a:solidFill>
                <a:srgbClr val="C4B5FD"/>
              </a:solidFill>
              <a:latin typeface="微软雅黑" panose="020B0503020204020204" charset="-122"/>
              <a:ea typeface="微软雅黑" panose="020B0503020204020204" charset="-122"/>
            </a:endParaRPr>
          </a:p>
        </p:txBody>
      </p:sp>
      <p:sp>
        <p:nvSpPr>
          <p:cNvPr id="927" name="文本框 926" descr="{&quot;isTemplate&quot;:true,&quot;type&quot;:&quot;text&quot;}"/>
          <p:cNvSpPr txBox="1"/>
          <p:nvPr/>
        </p:nvSpPr>
        <p:spPr>
          <a:xfrm>
            <a:off x="1466850" y="4791075"/>
            <a:ext cx="4010025"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适合数据流开发、爬虫工程、实时系统、内容智能分类方向的团队</a:t>
            </a:r>
            <a:endParaRPr lang="zh-CN" sz="1090">
              <a:solidFill>
                <a:srgbClr val="E2E8F0"/>
              </a:solidFill>
              <a:latin typeface="微软雅黑" panose="020B0503020204020204" charset="-122"/>
              <a:ea typeface="微软雅黑" panose="020B0503020204020204" charset="-122"/>
            </a:endParaRPr>
          </a:p>
        </p:txBody>
      </p:sp>
      <p:sp>
        <p:nvSpPr>
          <p:cNvPr id="928" name="文本框 927"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929" name="文本框 928" descr="{&quot;isTemplate&quot;:true,&quot;type&quot;:&quot;text&quot;}"/>
          <p:cNvSpPr txBox="1"/>
          <p:nvPr/>
        </p:nvSpPr>
        <p:spPr>
          <a:xfrm>
            <a:off x="11210925" y="6400800"/>
            <a:ext cx="3714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8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930" name="" descr="&lt;Slide style={{ width: 1280, height: 720, background: '#0B1220', padding: '20px 64px', display: 'flex', flexDirection: 'column' }}&gt;&#13;&#10;    &lt;Box style={{ flexDirection: 'row', height: 96, alignItems: 'center' }}&gt;&#13;&#10;        &lt;Box style={{ width: 6, height: 44, background: 'linear-gradient(180deg, #22D3EE 0%, #3B82F6 100%)', borderRadius: 3, marginRight: 20 }} /&gt;&#13;&#10;        &lt;Text style={{ fontSize: 30, fontWeight: 'bold', color: '#E2E8F0' }}&gt;课题 4 · 产业百科与产品百科知识库系统&lt;/Text&gt;&#13;&#10;        &lt;Box style={{ marginLeft: 18, background: 'rgba(34,211,238,0.12)', borderRadius: 8, padding: '5px 14px', border: '1px solid rgba(34,211,238,0.4)' }}&gt;&#13;&#10;            &lt;Text style={{ fontSize: 14, color: '#67E8F9' }}&gt;底层基础底座&lt;/Text&gt;&#13;&#10;        &lt;/Box&gt;&#13;&#10;    &lt;/Box&gt;&#13;&#10;    &lt;Box style={{ flex: 1, flexDirection: 'column', gap: 12, justifyContent: 'center' }}&gt;&#13;&#10;        &lt;Box style={{ background: '#111B2E', borderRadius: 12, padding: '14px 24px', borderLeft: '4px solid #22D3EE' }}&gt;&#13;&#10;            &lt;Text style={{ fontSize: 16, color: '#E2E8F0', lineHeight: 1.65 }}&gt;&lt;span style={{ fontWeight: 'bold', color: '#67E8F9' }}&gt;课题定义：&lt;/span&gt;搭建统一规范的产业百科、产品百科、技术术语知识库，实现全平台产业名词、产品定义、技术概念、行业口径的标准化治理，并基于 RAG 提供产业智能问答。&lt;/Text&gt;&#13;&#10;        &lt;/Box&gt;&#13;&#10;        &lt;Box style={{ background: 'rgba(34,211,238,0.07)', borderRadius: 10, padding: '12px 24px', border: '1px solid rgba(34,211,238,0.3)' }}&gt;&#13;&#10;            &lt;Text style={{ fontSize: 15.5, color: '#E2E8F0', lineHeight: 1.55 }}&gt;&lt;span style={{ fontWeight: 'bold', color: '#67E8F9' }}&gt;项目目标：&lt;/span&gt;解决产业术语混乱、定义不统一、知识碎片化问题，构建产业领域标准化知识服务底座。&lt;/Text&gt;&#13;&#10;        &lt;/Box&gt;&#13;&#10;        &lt;Box style={{ flexDirection: 'row', flexWrap: 'wrap', gap: 12 }}&gt;&#13;&#10;            &lt;Box style={{ width: 560, background: '#111B2E', borderRadius: 10, padding: '11px 18px' }}&gt;&lt;Text style={{ fontSize: 14.5, color: '#E2E8F0', lineHeight: 1.5 }}&gt;&lt;span style={{ fontWeight: 'bold', color: '#67E8F9' }}&gt;①&lt;/span&gt; 产业词条、产品词条、技术词条的结构化入库与管理&lt;/Text&gt;&lt;/Box&gt;&#13;&#10;            &lt;Box style={{ width: 560, background: '#111B2E', borderRadius: 10, padding: '11px 18px' }}&gt;&lt;Text style={{ fontSize: 14.5, color: '#E2E8F0', lineHeight: 1.5 }}&gt;&lt;span style={{ fontWeight: 'bold', color: '#67E8F9' }}&gt;②&lt;/span&gt; 大模型辅助词条编撰、纠错、迭代更新&lt;/Text&gt;&lt;/Box&gt;&#13;&#10;            &lt;Box style={{ width: 560, background: '#111B2E', borderRadius: 10, padding: '11px 18px' }}&gt;&lt;Text style={{ fontSize: 14.5, color: '#E2E8F0', lineHeight: 1.5 }}&gt;&lt;span style={{ fontWeight: 'bold', color: '#67E8F9' }}&gt;③&lt;/span&gt; 术语归一、同义词映射、行业口径标准化治理&lt;/Text&gt;&lt;/Box&gt;&#13;&#10;            &lt;Box style={{ width: 560, background: '#111B2E', borderRadius: 10, padding: '11px 18px' }}&gt;&lt;Text style={{ fontSize: 14.5, color: '#E2E8F0', lineHeight: 1.5 }}&gt;&lt;span style={{ fontWeight: 'bold', color: '#67E8F9' }}&gt;④&lt;/span&gt; 基于检索增强（RAG）的产业领域智能问答系统&lt;/Text&gt;&lt;/Box&gt;&#13;&#10;        &lt;/Box&gt;&#13;&#10;        &lt;Box style={{ flexDirection: 'row', alignItems: 'center', gap: 12, background: 'rgba(139,92,246,0.08)', borderRadius: 10, padding: '11px 22px', border: '1px solid rgba(139,92,246,0.3)' }}&gt;&#13;&#10;            &lt;Text style={{ fontSize: 14, color: '#C4B5FD', fontWeight: 'bold' }}&gt;选题适配&lt;/Text&gt;&#13;&#10;            &lt;Text style={{ fontSize: 14.5, color: '#E2E8F0' }}&gt;难度适中、应用广泛，适合知识库工程、RAG 问答、内容管理系统方向的团队&lt;/Text&gt;&#13;&#10;        &lt;/Box&gt;&#13;&#10;    &lt;/Box&gt;&#13;&#10;    &lt;Box style={{ height: 40, flexDirection: 'row', justifyContent: 'space-between', alignItems: 'center', marginTop: 12 }}&gt;&#13;&#10;        &lt;Text style={{ fontSize: 14, color: '#94A3B8' }}&gt;01 十大创新实践课题&lt;/Text&gt;&#13;&#10;        &lt;Text style={{ fontSize: 14, color: '#94A3B8' }}&gt;9 / 47&lt;/Text&gt;&#13;&#10;    &lt;/Box&gt;&#13;&#10;&lt;/Slide&gt;&#13;&#10;"/>
        <p:cNvGrpSpPr/>
        <p:nvPr/>
      </p:nvGrpSpPr>
      <p:grpSpPr>
        <a:xfrm>
          <a:off x="0" y="0"/>
          <a:ext cx="0" cy="0"/>
          <a:chOff x="0" y="0"/>
          <a:chExt cx="0" cy="0"/>
        </a:xfrm>
      </p:grpSpPr>
      <p:sp>
        <p:nvSpPr>
          <p:cNvPr id="931" name="矩形 930"/>
          <p:cNvSpPr/>
          <p:nvPr/>
        </p:nvSpPr>
        <p:spPr>
          <a:xfrm>
            <a:off x="0" y="0"/>
            <a:ext cx="12192000" cy="6858000"/>
          </a:xfrm>
          <a:prstGeom prst="rect">
            <a:avLst/>
          </a:prstGeom>
          <a:solidFill>
            <a:srgbClr val="0B1220"/>
          </a:solidFill>
        </p:spPr>
        <p:txBody>
          <a:bodyPr/>
          <a:p/>
        </p:txBody>
      </p:sp>
      <p:sp>
        <p:nvSpPr>
          <p:cNvPr id="932" name="圆角矩形 931"/>
          <p:cNvSpPr/>
          <p:nvPr/>
        </p:nvSpPr>
        <p:spPr>
          <a:xfrm>
            <a:off x="609600" y="438150"/>
            <a:ext cx="57150" cy="419100"/>
          </a:xfrm>
          <a:prstGeom prst="roundRect">
            <a:avLst>
              <a:gd name="adj" fmla="val 50000"/>
            </a:avLst>
          </a:prstGeom>
          <a:gradFill>
            <a:gsLst>
              <a:gs pos="0">
                <a:srgbClr val="22D3EE"/>
              </a:gs>
              <a:gs pos="100000">
                <a:srgbClr val="3B82F6"/>
              </a:gs>
            </a:gsLst>
            <a:lin ang="5400000" scaled="1"/>
          </a:gradFill>
        </p:spPr>
        <p:txBody>
          <a:bodyPr/>
          <a:p/>
        </p:txBody>
      </p:sp>
      <p:sp>
        <p:nvSpPr>
          <p:cNvPr id="933" name="文本框 932" descr="{&quot;isTemplate&quot;:true,&quot;type&quot;:&quot;text&quot;}"/>
          <p:cNvSpPr txBox="1"/>
          <p:nvPr/>
        </p:nvSpPr>
        <p:spPr>
          <a:xfrm>
            <a:off x="857250" y="476250"/>
            <a:ext cx="5133975" cy="342900"/>
          </a:xfrm>
          <a:prstGeom prst="rect">
            <a:avLst/>
          </a:prstGeom>
        </p:spPr>
        <p:txBody>
          <a:bodyPr wrap="none" lIns="0" tIns="0" rIns="0" bIns="0"/>
          <a:p>
            <a:pPr>
              <a:lnSpc>
                <a:spcPct val="100000"/>
              </a:lnSpc>
            </a:pPr>
            <a:r>
              <a:rPr lang="zh-CN" sz="2250" b="1">
                <a:solidFill>
                  <a:srgbClr val="E2E8F0"/>
                </a:solidFill>
                <a:latin typeface="微软雅黑" panose="020B0503020204020204" charset="-122"/>
                <a:ea typeface="微软雅黑" panose="020B0503020204020204" charset="-122"/>
              </a:rPr>
              <a:t>课题</a:t>
            </a:r>
            <a:r>
              <a:rPr lang="en-US" sz="2250" b="1">
                <a:solidFill>
                  <a:srgbClr val="E2E8F0"/>
                </a:solidFill>
                <a:latin typeface="微软雅黑" panose="020B0503020204020204" charset="-122"/>
                <a:ea typeface="微软雅黑" panose="020B0503020204020204" charset="-122"/>
              </a:rPr>
              <a:t> 4 · </a:t>
            </a:r>
            <a:r>
              <a:rPr lang="zh-CN" sz="2250" b="1">
                <a:solidFill>
                  <a:srgbClr val="E2E8F0"/>
                </a:solidFill>
                <a:latin typeface="微软雅黑" panose="020B0503020204020204" charset="-122"/>
                <a:ea typeface="微软雅黑" panose="020B0503020204020204" charset="-122"/>
              </a:rPr>
              <a:t>产业百科与产品百科知识库系统</a:t>
            </a:r>
            <a:endParaRPr lang="zh-CN" sz="2250" b="1">
              <a:solidFill>
                <a:srgbClr val="E2E8F0"/>
              </a:solidFill>
              <a:latin typeface="微软雅黑" panose="020B0503020204020204" charset="-122"/>
              <a:ea typeface="微软雅黑" panose="020B0503020204020204" charset="-122"/>
            </a:endParaRPr>
          </a:p>
        </p:txBody>
      </p:sp>
      <p:sp>
        <p:nvSpPr>
          <p:cNvPr id="934" name="圆角矩形 933"/>
          <p:cNvSpPr/>
          <p:nvPr/>
        </p:nvSpPr>
        <p:spPr>
          <a:xfrm>
            <a:off x="6162675" y="523875"/>
            <a:ext cx="1066800" cy="257175"/>
          </a:xfrm>
          <a:prstGeom prst="roundRect">
            <a:avLst>
              <a:gd name="adj" fmla="val 29630"/>
            </a:avLst>
          </a:prstGeom>
          <a:solidFill>
            <a:srgbClr val="22D3EE">
              <a:alpha val="12000"/>
            </a:srgbClr>
          </a:solidFill>
          <a:ln w="12700">
            <a:solidFill>
              <a:srgbClr val="22D3EE">
                <a:alpha val="40000"/>
              </a:srgbClr>
            </a:solidFill>
            <a:prstDash val="solid"/>
          </a:ln>
        </p:spPr>
        <p:txBody>
          <a:bodyPr/>
          <a:p/>
        </p:txBody>
      </p:sp>
      <p:sp>
        <p:nvSpPr>
          <p:cNvPr id="935" name="文本框 934" descr="{&quot;isTemplate&quot;:true,&quot;type&quot;:&quot;text&quot;}"/>
          <p:cNvSpPr txBox="1"/>
          <p:nvPr/>
        </p:nvSpPr>
        <p:spPr>
          <a:xfrm>
            <a:off x="6296025" y="571500"/>
            <a:ext cx="800100" cy="161925"/>
          </a:xfrm>
          <a:prstGeom prst="rect">
            <a:avLst/>
          </a:prstGeom>
        </p:spPr>
        <p:txBody>
          <a:bodyPr wrap="none" lIns="0" tIns="0" rIns="0" bIns="0"/>
          <a:p>
            <a:pPr>
              <a:lnSpc>
                <a:spcPct val="100000"/>
              </a:lnSpc>
            </a:pPr>
            <a:r>
              <a:rPr lang="zh-CN" sz="1050">
                <a:solidFill>
                  <a:srgbClr val="67E8F9"/>
                </a:solidFill>
                <a:latin typeface="微软雅黑" panose="020B0503020204020204" charset="-122"/>
                <a:ea typeface="微软雅黑" panose="020B0503020204020204" charset="-122"/>
              </a:rPr>
              <a:t>底层基础底座</a:t>
            </a:r>
            <a:endParaRPr lang="zh-CN" sz="1050">
              <a:solidFill>
                <a:srgbClr val="67E8F9"/>
              </a:solidFill>
              <a:latin typeface="微软雅黑" panose="020B0503020204020204" charset="-122"/>
              <a:ea typeface="微软雅黑" panose="020B0503020204020204" charset="-122"/>
            </a:endParaRPr>
          </a:p>
        </p:txBody>
      </p:sp>
      <p:sp>
        <p:nvSpPr>
          <p:cNvPr id="936" name="圆角矩形 935"/>
          <p:cNvSpPr/>
          <p:nvPr/>
        </p:nvSpPr>
        <p:spPr>
          <a:xfrm>
            <a:off x="647700" y="2066925"/>
            <a:ext cx="10972800" cy="876300"/>
          </a:xfrm>
          <a:prstGeom prst="roundRect">
            <a:avLst>
              <a:gd name="adj" fmla="val 13043"/>
            </a:avLst>
          </a:prstGeom>
          <a:solidFill>
            <a:srgbClr val="111B2E"/>
          </a:solidFill>
        </p:spPr>
        <p:txBody>
          <a:bodyPr/>
          <a:p/>
        </p:txBody>
      </p:sp>
      <p:sp>
        <p:nvSpPr>
          <p:cNvPr id="937" name="任意多边形 936"/>
          <p:cNvSpPr/>
          <p:nvPr/>
        </p:nvSpPr>
        <p:spPr>
          <a:xfrm>
            <a:off x="647700" y="2066925"/>
            <a:ext cx="10972800" cy="876300"/>
          </a:xfrm>
          <a:custGeom>
            <a:avLst/>
            <a:gdLst/>
            <a:ahLst/>
            <a:cxnLst/>
            <a:pathLst>
              <a:path w="1152" h="92">
                <a:moveTo>
                  <a:pt x="11" y="0"/>
                </a:moveTo>
                <a:cubicBezTo>
                  <a:pt x="7" y="0"/>
                  <a:pt x="4" y="4"/>
                  <a:pt x="4" y="8"/>
                </a:cubicBezTo>
                <a:lnTo>
                  <a:pt x="4" y="84"/>
                </a:lnTo>
                <a:cubicBezTo>
                  <a:pt x="4" y="88"/>
                  <a:pt x="7" y="91"/>
                  <a:pt x="10" y="92"/>
                </a:cubicBezTo>
                <a:cubicBezTo>
                  <a:pt x="4" y="91"/>
                  <a:pt x="0" y="86"/>
                  <a:pt x="0" y="80"/>
                </a:cubicBezTo>
                <a:lnTo>
                  <a:pt x="0" y="12"/>
                </a:lnTo>
                <a:cubicBezTo>
                  <a:pt x="0" y="6"/>
                  <a:pt x="5" y="0"/>
                  <a:pt x="12" y="0"/>
                </a:cubicBezTo>
                <a:close/>
              </a:path>
            </a:pathLst>
          </a:custGeom>
          <a:solidFill>
            <a:srgbClr val="22D3EE"/>
          </a:solidFill>
        </p:spPr>
        <p:txBody>
          <a:bodyPr/>
          <a:p/>
        </p:txBody>
      </p:sp>
      <p:sp>
        <p:nvSpPr>
          <p:cNvPr id="938" name="文本框 937" descr="{&quot;isTemplate&quot;:true,&quot;type&quot;:&quot;text&quot;}"/>
          <p:cNvSpPr txBox="1"/>
          <p:nvPr/>
        </p:nvSpPr>
        <p:spPr>
          <a:xfrm>
            <a:off x="876300" y="2200275"/>
            <a:ext cx="10477500" cy="609600"/>
          </a:xfrm>
          <a:prstGeom prst="rect">
            <a:avLst/>
          </a:prstGeom>
        </p:spPr>
        <p:txBody>
          <a:bodyPr wrap="square" lIns="0" tIns="0" rIns="0" bIns="0">
            <a:normAutofit/>
          </a:bodyPr>
          <a:p>
            <a:pPr>
              <a:lnSpc>
                <a:spcPct val="165000"/>
              </a:lnSpc>
            </a:pPr>
            <a:r>
              <a:rPr lang="zh-CN" sz="1200" b="1">
                <a:solidFill>
                  <a:srgbClr val="67E8F9"/>
                </a:solidFill>
                <a:latin typeface="微软雅黑" panose="020B0503020204020204" charset="-122"/>
                <a:ea typeface="微软雅黑" panose="020B0503020204020204" charset="-122"/>
              </a:rPr>
              <a:t>课题定义：</a:t>
            </a:r>
            <a:r>
              <a:rPr lang="zh-CN" sz="1200">
                <a:solidFill>
                  <a:srgbClr val="E2E8F0"/>
                </a:solidFill>
                <a:latin typeface="微软雅黑" panose="020B0503020204020204" charset="-122"/>
                <a:ea typeface="微软雅黑" panose="020B0503020204020204" charset="-122"/>
              </a:rPr>
              <a:t>搭建统一规范的产业百科、产品百科、技术术语知识库，实现全平台产业名词、产品定义、技术概念、行业口径的标准化治理，并基于</a:t>
            </a:r>
            <a:r>
              <a:rPr lang="en-US" sz="1200">
                <a:solidFill>
                  <a:srgbClr val="E2E8F0"/>
                </a:solidFill>
                <a:latin typeface="微软雅黑" panose="020B0503020204020204" charset="-122"/>
                <a:ea typeface="微软雅黑" panose="020B0503020204020204" charset="-122"/>
              </a:rPr>
              <a:t> RAG </a:t>
            </a:r>
            <a:r>
              <a:rPr lang="zh-CN" sz="1200">
                <a:solidFill>
                  <a:srgbClr val="E2E8F0"/>
                </a:solidFill>
                <a:latin typeface="微软雅黑" panose="020B0503020204020204" charset="-122"/>
                <a:ea typeface="微软雅黑" panose="020B0503020204020204" charset="-122"/>
              </a:rPr>
              <a:t>提供产业智能问答。</a:t>
            </a:r>
            <a:endParaRPr lang="zh-CN" sz="1200">
              <a:solidFill>
                <a:srgbClr val="E2E8F0"/>
              </a:solidFill>
              <a:latin typeface="微软雅黑" panose="020B0503020204020204" charset="-122"/>
              <a:ea typeface="微软雅黑" panose="020B0503020204020204" charset="-122"/>
            </a:endParaRPr>
          </a:p>
        </p:txBody>
      </p:sp>
      <p:sp>
        <p:nvSpPr>
          <p:cNvPr id="939" name="圆角矩形 938"/>
          <p:cNvSpPr/>
          <p:nvPr/>
        </p:nvSpPr>
        <p:spPr>
          <a:xfrm>
            <a:off x="609600" y="3057525"/>
            <a:ext cx="10972800" cy="504825"/>
          </a:xfrm>
          <a:prstGeom prst="roundRect">
            <a:avLst>
              <a:gd name="adj" fmla="val 18868"/>
            </a:avLst>
          </a:prstGeom>
          <a:solidFill>
            <a:srgbClr val="22D3EE">
              <a:alpha val="7000"/>
            </a:srgbClr>
          </a:solidFill>
          <a:ln w="12700">
            <a:solidFill>
              <a:srgbClr val="22D3EE">
                <a:alpha val="30000"/>
              </a:srgbClr>
            </a:solidFill>
            <a:prstDash val="solid"/>
          </a:ln>
        </p:spPr>
        <p:txBody>
          <a:bodyPr/>
          <a:p/>
        </p:txBody>
      </p:sp>
      <p:sp>
        <p:nvSpPr>
          <p:cNvPr id="940" name="文本框 939" descr="{&quot;isTemplate&quot;:true,&quot;type&quot;:&quot;text&quot;}"/>
          <p:cNvSpPr txBox="1"/>
          <p:nvPr/>
        </p:nvSpPr>
        <p:spPr>
          <a:xfrm>
            <a:off x="838200" y="3171825"/>
            <a:ext cx="10515600" cy="276225"/>
          </a:xfrm>
          <a:prstGeom prst="rect">
            <a:avLst/>
          </a:prstGeom>
        </p:spPr>
        <p:txBody>
          <a:bodyPr wrap="none" lIns="0" tIns="0" rIns="0" bIns="0"/>
          <a:p>
            <a:pPr>
              <a:lnSpc>
                <a:spcPct val="155000"/>
              </a:lnSpc>
            </a:pPr>
            <a:r>
              <a:rPr lang="zh-CN" sz="1165" b="1">
                <a:solidFill>
                  <a:srgbClr val="67E8F9"/>
                </a:solidFill>
                <a:latin typeface="微软雅黑" panose="020B0503020204020204" charset="-122"/>
                <a:ea typeface="微软雅黑" panose="020B0503020204020204" charset="-122"/>
              </a:rPr>
              <a:t>项目目标：</a:t>
            </a:r>
            <a:r>
              <a:rPr lang="zh-CN" sz="1165">
                <a:solidFill>
                  <a:srgbClr val="E2E8F0"/>
                </a:solidFill>
                <a:latin typeface="微软雅黑" panose="020B0503020204020204" charset="-122"/>
                <a:ea typeface="微软雅黑" panose="020B0503020204020204" charset="-122"/>
              </a:rPr>
              <a:t>解决产业术语混乱、定义不统一、知识碎片化问题，构建产业领域标准化知识服务底座。</a:t>
            </a:r>
            <a:endParaRPr lang="zh-CN" sz="1165">
              <a:solidFill>
                <a:srgbClr val="E2E8F0"/>
              </a:solidFill>
              <a:latin typeface="微软雅黑" panose="020B0503020204020204" charset="-122"/>
              <a:ea typeface="微软雅黑" panose="020B0503020204020204" charset="-122"/>
            </a:endParaRPr>
          </a:p>
        </p:txBody>
      </p:sp>
      <p:sp>
        <p:nvSpPr>
          <p:cNvPr id="941" name="圆角矩形 940"/>
          <p:cNvSpPr/>
          <p:nvPr/>
        </p:nvSpPr>
        <p:spPr>
          <a:xfrm>
            <a:off x="609600" y="3676650"/>
            <a:ext cx="5334000" cy="466725"/>
          </a:xfrm>
          <a:prstGeom prst="roundRect">
            <a:avLst>
              <a:gd name="adj" fmla="val 20408"/>
            </a:avLst>
          </a:prstGeom>
          <a:solidFill>
            <a:srgbClr val="111B2E"/>
          </a:solidFill>
        </p:spPr>
        <p:txBody>
          <a:bodyPr/>
          <a:p/>
        </p:txBody>
      </p:sp>
      <p:sp>
        <p:nvSpPr>
          <p:cNvPr id="942" name="文本框 941" descr="{&quot;isTemplate&quot;:true,&quot;type&quot;:&quot;text&quot;}"/>
          <p:cNvSpPr txBox="1"/>
          <p:nvPr/>
        </p:nvSpPr>
        <p:spPr>
          <a:xfrm>
            <a:off x="781050" y="3781425"/>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①</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产业词条、产品词条、技术词条的结构化入库与管理</a:t>
            </a:r>
            <a:endParaRPr lang="zh-CN" sz="1090">
              <a:solidFill>
                <a:srgbClr val="E2E8F0"/>
              </a:solidFill>
              <a:latin typeface="微软雅黑" panose="020B0503020204020204" charset="-122"/>
              <a:ea typeface="微软雅黑" panose="020B0503020204020204" charset="-122"/>
            </a:endParaRPr>
          </a:p>
        </p:txBody>
      </p:sp>
      <p:sp>
        <p:nvSpPr>
          <p:cNvPr id="943" name="圆角矩形 942"/>
          <p:cNvSpPr/>
          <p:nvPr/>
        </p:nvSpPr>
        <p:spPr>
          <a:xfrm>
            <a:off x="6057900" y="3676650"/>
            <a:ext cx="5334000" cy="466725"/>
          </a:xfrm>
          <a:prstGeom prst="roundRect">
            <a:avLst>
              <a:gd name="adj" fmla="val 20408"/>
            </a:avLst>
          </a:prstGeom>
          <a:solidFill>
            <a:srgbClr val="111B2E"/>
          </a:solidFill>
        </p:spPr>
        <p:txBody>
          <a:bodyPr/>
          <a:p/>
        </p:txBody>
      </p:sp>
      <p:sp>
        <p:nvSpPr>
          <p:cNvPr id="944" name="文本框 943" descr="{&quot;isTemplate&quot;:true,&quot;type&quot;:&quot;text&quot;}"/>
          <p:cNvSpPr txBox="1"/>
          <p:nvPr/>
        </p:nvSpPr>
        <p:spPr>
          <a:xfrm>
            <a:off x="6229350" y="3781425"/>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②</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大模型辅助词条编撰、纠错、迭代更新</a:t>
            </a:r>
            <a:endParaRPr lang="zh-CN" sz="1090">
              <a:solidFill>
                <a:srgbClr val="E2E8F0"/>
              </a:solidFill>
              <a:latin typeface="微软雅黑" panose="020B0503020204020204" charset="-122"/>
              <a:ea typeface="微软雅黑" panose="020B0503020204020204" charset="-122"/>
            </a:endParaRPr>
          </a:p>
        </p:txBody>
      </p:sp>
      <p:sp>
        <p:nvSpPr>
          <p:cNvPr id="945" name="圆角矩形 944"/>
          <p:cNvSpPr/>
          <p:nvPr/>
        </p:nvSpPr>
        <p:spPr>
          <a:xfrm>
            <a:off x="609600" y="4257675"/>
            <a:ext cx="5334000" cy="466725"/>
          </a:xfrm>
          <a:prstGeom prst="roundRect">
            <a:avLst>
              <a:gd name="adj" fmla="val 20408"/>
            </a:avLst>
          </a:prstGeom>
          <a:solidFill>
            <a:srgbClr val="111B2E"/>
          </a:solidFill>
        </p:spPr>
        <p:txBody>
          <a:bodyPr/>
          <a:p/>
        </p:txBody>
      </p:sp>
      <p:sp>
        <p:nvSpPr>
          <p:cNvPr id="946" name="文本框 945" descr="{&quot;isTemplate&quot;:true,&quot;type&quot;:&quot;text&quot;}"/>
          <p:cNvSpPr txBox="1"/>
          <p:nvPr/>
        </p:nvSpPr>
        <p:spPr>
          <a:xfrm>
            <a:off x="781050" y="4362450"/>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③</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术语归一、同义词映射、行业口径标准化治理</a:t>
            </a:r>
            <a:endParaRPr lang="zh-CN" sz="1090">
              <a:solidFill>
                <a:srgbClr val="E2E8F0"/>
              </a:solidFill>
              <a:latin typeface="微软雅黑" panose="020B0503020204020204" charset="-122"/>
              <a:ea typeface="微软雅黑" panose="020B0503020204020204" charset="-122"/>
            </a:endParaRPr>
          </a:p>
        </p:txBody>
      </p:sp>
      <p:sp>
        <p:nvSpPr>
          <p:cNvPr id="947" name="圆角矩形 946"/>
          <p:cNvSpPr/>
          <p:nvPr/>
        </p:nvSpPr>
        <p:spPr>
          <a:xfrm>
            <a:off x="6057900" y="4257675"/>
            <a:ext cx="5334000" cy="466725"/>
          </a:xfrm>
          <a:prstGeom prst="roundRect">
            <a:avLst>
              <a:gd name="adj" fmla="val 20408"/>
            </a:avLst>
          </a:prstGeom>
          <a:solidFill>
            <a:srgbClr val="111B2E"/>
          </a:solidFill>
        </p:spPr>
        <p:txBody>
          <a:bodyPr/>
          <a:p/>
        </p:txBody>
      </p:sp>
      <p:sp>
        <p:nvSpPr>
          <p:cNvPr id="948" name="文本框 947" descr="{&quot;isTemplate&quot;:true,&quot;type&quot;:&quot;text&quot;}"/>
          <p:cNvSpPr txBox="1"/>
          <p:nvPr/>
        </p:nvSpPr>
        <p:spPr>
          <a:xfrm>
            <a:off x="6229350" y="4362450"/>
            <a:ext cx="4991100" cy="257175"/>
          </a:xfrm>
          <a:prstGeom prst="rect">
            <a:avLst/>
          </a:prstGeom>
        </p:spPr>
        <p:txBody>
          <a:bodyPr wrap="none" lIns="0" tIns="0" rIns="0" bIns="0"/>
          <a:p>
            <a:pPr>
              <a:lnSpc>
                <a:spcPct val="150000"/>
              </a:lnSpc>
            </a:pPr>
            <a:r>
              <a:rPr sz="1090" b="1">
                <a:solidFill>
                  <a:srgbClr val="67E8F9"/>
                </a:solidFill>
                <a:latin typeface="微软雅黑" panose="020B0503020204020204" charset="-122"/>
                <a:ea typeface="微软雅黑" panose="020B0503020204020204" charset="-122"/>
              </a:rPr>
              <a:t>④</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基于检索增强（</a:t>
            </a:r>
            <a:r>
              <a:rPr lang="en-US" sz="1090">
                <a:solidFill>
                  <a:srgbClr val="E2E8F0"/>
                </a:solidFill>
                <a:latin typeface="微软雅黑" panose="020B0503020204020204" charset="-122"/>
                <a:ea typeface="微软雅黑" panose="020B0503020204020204" charset="-122"/>
              </a:rPr>
              <a:t>RAG</a:t>
            </a:r>
            <a:r>
              <a:rPr lang="zh-CN" sz="1090">
                <a:solidFill>
                  <a:srgbClr val="E2E8F0"/>
                </a:solidFill>
                <a:latin typeface="微软雅黑" panose="020B0503020204020204" charset="-122"/>
                <a:ea typeface="微软雅黑" panose="020B0503020204020204" charset="-122"/>
              </a:rPr>
              <a:t>）的产业领域智能问答系统</a:t>
            </a:r>
            <a:endParaRPr lang="zh-CN" sz="1090">
              <a:solidFill>
                <a:srgbClr val="E2E8F0"/>
              </a:solidFill>
              <a:latin typeface="微软雅黑" panose="020B0503020204020204" charset="-122"/>
              <a:ea typeface="微软雅黑" panose="020B0503020204020204" charset="-122"/>
            </a:endParaRPr>
          </a:p>
        </p:txBody>
      </p:sp>
      <p:sp>
        <p:nvSpPr>
          <p:cNvPr id="949" name="圆角矩形 948"/>
          <p:cNvSpPr/>
          <p:nvPr/>
        </p:nvSpPr>
        <p:spPr>
          <a:xfrm>
            <a:off x="609600" y="4838700"/>
            <a:ext cx="10972800" cy="381000"/>
          </a:xfrm>
          <a:prstGeom prst="roundRect">
            <a:avLst>
              <a:gd name="adj" fmla="val 25000"/>
            </a:avLst>
          </a:prstGeom>
          <a:solidFill>
            <a:srgbClr val="8B5CF6">
              <a:alpha val="8000"/>
            </a:srgbClr>
          </a:solidFill>
          <a:ln w="12700">
            <a:solidFill>
              <a:srgbClr val="8B5CF6">
                <a:alpha val="30000"/>
              </a:srgbClr>
            </a:solidFill>
            <a:prstDash val="solid"/>
          </a:ln>
        </p:spPr>
        <p:txBody>
          <a:bodyPr/>
          <a:p/>
        </p:txBody>
      </p:sp>
      <p:sp>
        <p:nvSpPr>
          <p:cNvPr id="950" name="文本框 949" descr="{&quot;isTemplate&quot;:true,&quot;type&quot;:&quot;text&quot;}"/>
          <p:cNvSpPr txBox="1"/>
          <p:nvPr/>
        </p:nvSpPr>
        <p:spPr>
          <a:xfrm>
            <a:off x="819150" y="4953000"/>
            <a:ext cx="533400" cy="161925"/>
          </a:xfrm>
          <a:prstGeom prst="rect">
            <a:avLst/>
          </a:prstGeom>
        </p:spPr>
        <p:txBody>
          <a:bodyPr wrap="none" lIns="0" tIns="0" rIns="0" bIns="0"/>
          <a:p>
            <a:pPr>
              <a:lnSpc>
                <a:spcPct val="100000"/>
              </a:lnSpc>
            </a:pPr>
            <a:r>
              <a:rPr lang="zh-CN" sz="1050" b="1">
                <a:solidFill>
                  <a:srgbClr val="C4B5FD"/>
                </a:solidFill>
                <a:latin typeface="微软雅黑" panose="020B0503020204020204" charset="-122"/>
                <a:ea typeface="微软雅黑" panose="020B0503020204020204" charset="-122"/>
              </a:rPr>
              <a:t>选题适配</a:t>
            </a:r>
            <a:endParaRPr lang="zh-CN" sz="1050" b="1">
              <a:solidFill>
                <a:srgbClr val="C4B5FD"/>
              </a:solidFill>
              <a:latin typeface="微软雅黑" panose="020B0503020204020204" charset="-122"/>
              <a:ea typeface="微软雅黑" panose="020B0503020204020204" charset="-122"/>
            </a:endParaRPr>
          </a:p>
        </p:txBody>
      </p:sp>
      <p:sp>
        <p:nvSpPr>
          <p:cNvPr id="951" name="文本框 950" descr="{&quot;isTemplate&quot;:true,&quot;type&quot;:&quot;text&quot;}"/>
          <p:cNvSpPr txBox="1"/>
          <p:nvPr/>
        </p:nvSpPr>
        <p:spPr>
          <a:xfrm>
            <a:off x="1466850" y="4943475"/>
            <a:ext cx="4752975"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难度适中、应用广泛，适合知识库工程、</a:t>
            </a:r>
            <a:r>
              <a:rPr lang="en-US" sz="1090">
                <a:solidFill>
                  <a:srgbClr val="E2E8F0"/>
                </a:solidFill>
                <a:latin typeface="微软雅黑" panose="020B0503020204020204" charset="-122"/>
                <a:ea typeface="微软雅黑" panose="020B0503020204020204" charset="-122"/>
              </a:rPr>
              <a:t>RAG </a:t>
            </a:r>
            <a:r>
              <a:rPr lang="zh-CN" sz="1090">
                <a:solidFill>
                  <a:srgbClr val="E2E8F0"/>
                </a:solidFill>
                <a:latin typeface="微软雅黑" panose="020B0503020204020204" charset="-122"/>
                <a:ea typeface="微软雅黑" panose="020B0503020204020204" charset="-122"/>
              </a:rPr>
              <a:t>问答、内容管理系统方向的团队</a:t>
            </a:r>
            <a:endParaRPr lang="zh-CN" sz="1090">
              <a:solidFill>
                <a:srgbClr val="E2E8F0"/>
              </a:solidFill>
              <a:latin typeface="微软雅黑" panose="020B0503020204020204" charset="-122"/>
              <a:ea typeface="微软雅黑" panose="020B0503020204020204" charset="-122"/>
            </a:endParaRPr>
          </a:p>
        </p:txBody>
      </p:sp>
      <p:sp>
        <p:nvSpPr>
          <p:cNvPr id="952" name="文本框 951"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953" name="文本框 952" descr="{&quot;isTemplate&quot;:true,&quot;type&quot;:&quot;text&quot;}"/>
          <p:cNvSpPr txBox="1"/>
          <p:nvPr/>
        </p:nvSpPr>
        <p:spPr>
          <a:xfrm>
            <a:off x="11210925" y="6400800"/>
            <a:ext cx="3714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9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 name="" descr="&lt;Slide style={{ width: 1280, height: 720, background: '#0B1220', padding: '20px 64px', display: 'flex', flexDirection: 'column' }}&gt;&#13;&#10;    &lt;Box style={{ flexDirection: 'row', height: 96, alignItems: 'center' }}&gt;&#13;&#10;        &lt;Box style={{ width: 6, height: 44, background: 'linear-gradient(180deg, #8B5CF6 0%, #22D3EE 100%)', borderRadius: 3, marginRight: 20 }} /&gt;&#13;&#10;        &lt;Text style={{ fontSize: 30, fontWeight: 'bold', color: '#E2E8F0' }}&gt;课题 5 · 智能产业研究与产业链诊断系统&lt;/Text&gt;&#13;&#10;        &lt;Box style={{ marginLeft: 18, background: 'rgba(139,92,246,0.14)', borderRadius: 8, padding: '5px 14px', border: '1px solid rgba(139,92,246,0.45)' }}&gt;&#13;&#10;            &lt;Text style={{ fontSize: 14, color: '#C4B5FD' }}&gt;上层产业应用&lt;/Text&gt;&#13;&#10;        &lt;/Box&gt;&#13;&#10;    &lt;/Box&gt;&#13;&#10;    &lt;Box style={{ flex: 1, flexDirection: 'column', gap: 12, justifyContent: 'center' }}&gt;&#13;&#10;        &lt;Box style={{ background: '#111B2E', borderRadius: 12, padding: '14px 24px', borderLeft: '4px solid #8B5CF6' }}&gt;&#13;&#10;            &lt;Text style={{ fontSize: 16, color: '#E2E8F0', lineHeight: 1.65 }}&gt;&lt;span style={{ fontWeight: 'bold', color: '#C4B5FD' }}&gt;课题定义：&lt;/span&gt;基于产业知识图谱与大模型推理能力，实现产业链短板诊断、强弱链识别、断点卡点分析、区域产业对标、景气研判、赛道机会挖掘，形成智能决策分析系统。&lt;/Text&gt;&#13;&#10;        &lt;/Box&gt;&#13;&#10;        &lt;Box style={{ background: 'rgba(139,92,246,0.07)', borderRadius: 10, padding: '12px 24px', border: '1px solid rgba(139,92,246,0.3)' }}&gt;&#13;&#10;            &lt;Text style={{ fontSize: 15.5, color: '#E2E8F0', lineHeight: 1.55 }}&gt;&lt;span style={{ fontWeight: 'bold', color: '#C4B5FD' }}&gt;项目目标：&lt;/span&gt;将传统人工产业研究转化为自动化、量化化、智能化的产业链研判能力，支撑区域产业规划与政策制定。&lt;/Text&gt;&#13;&#10;        &lt;/Box&gt;&#13;&#10;        &lt;Box style={{ flexDirection: 'row', flexWrap: 'wrap', gap: 12 }}&gt;&#13;&#10;            &lt;Box style={{ width: 560, background: '#111B2E', borderRadius: 10, padding: '11px 18px' }}&gt;&lt;Text style={{ fontSize: 14.5, color: '#E2E8F0', lineHeight: 1.5 }}&gt;&lt;span style={{ fontWeight: 'bold', color: '#C4B5FD' }}&gt;①&lt;/span&gt; 产业链薄弱环节、关键断点、供给卡点智能识别&lt;/Text&gt;&lt;/Box&gt;&#13;&#10;            &lt;Box style={{ width: 560, background: '#111B2E', borderRadius: 10, padding: '11px 18px' }}&gt;&lt;Text style={{ fontSize: 14.5, color: '#E2E8F0', lineHeight: 1.5 }}&gt;&lt;span style={{ fontWeight: 'bold', color: '#C4B5FD' }}&gt;②&lt;/span&gt; 跨区域产业结构对标、指标差异分析、优势短板对比&lt;/Text&gt;&lt;/Box&gt;&#13;&#10;            &lt;Box style={{ width: 560, background: '#111B2E', borderRadius: 10, padding: '11px 18px' }}&gt;&lt;Text style={{ fontSize: 14.5, color: '#E2E8F0', lineHeight: 1.5 }}&gt;&lt;span style={{ fontWeight: 'bold', color: '#C4B5FD' }}&gt;③&lt;/span&gt; 产业景气度量化评估、冷热赛道智能研判&lt;/Text&gt;&lt;/Box&gt;&#13;&#10;            &lt;Box style={{ width: 560, background: '#111B2E', borderRadius: 10, padding: '11px 18px' }}&gt;&lt;Text style={{ fontSize: 14.5, color: '#E2E8F0', lineHeight: 1.5 }}&gt;&lt;span style={{ fontWeight: 'bold', color: '#C4B5FD' }}&gt;④&lt;/span&gt; 产业链诊断报告、产业优化建议自动生成&lt;/Text&gt;&lt;/Box&gt;&#13;&#10;        &lt;/Box&gt;&#13;&#10;        &lt;Box style={{ flexDirection: 'row', alignItems: 'center', gap: 12, background: 'rgba(139,92,246,0.08)', borderRadius: 10, padding: '11px 22px', border: '1px solid rgba(139,92,246,0.3)' }}&gt;&#13;&#10;            &lt;Text style={{ fontSize: 14, color: '#C4B5FD', fontWeight: 'bold' }}&gt;选题适配&lt;/Text&gt;&#13;&#10;            &lt;Text style={{ fontSize: 14.5, color: '#E2E8F0' }}&gt;产业场景深厚、可视化效果强，适合业务系统开发、数据可视化、智能分析方向的团队&lt;/Text&gt;&#13;&#10;        &lt;/Box&gt;&#13;&#10;    &lt;/Box&gt;&#13;&#10;    &lt;Box style={{ height: 40, flexDirection: 'row', justifyContent: 'space-between', alignItems: 'center', marginTop: 12 }}&gt;&#13;&#10;        &lt;Text style={{ fontSize: 14, color: '#94A3B8' }}&gt;01 十大创新实践课题&lt;/Text&gt;&#13;&#10;        &lt;Text style={{ fontSize: 14, color: '#94A3B8' }}&gt;10 / 47&lt;/Text&gt;&#13;&#10;    &lt;/Box&gt;&#13;&#10;&lt;/Slide&gt;&#13;&#10;"/>
        <p:cNvGrpSpPr/>
        <p:nvPr/>
      </p:nvGrpSpPr>
      <p:grpSpPr>
        <a:xfrm>
          <a:off x="0" y="0"/>
          <a:ext cx="0" cy="0"/>
          <a:chOff x="0" y="0"/>
          <a:chExt cx="0" cy="0"/>
        </a:xfrm>
      </p:grpSpPr>
      <p:sp>
        <p:nvSpPr>
          <p:cNvPr id="15" name="矩形 14"/>
          <p:cNvSpPr/>
          <p:nvPr/>
        </p:nvSpPr>
        <p:spPr>
          <a:xfrm>
            <a:off x="0" y="0"/>
            <a:ext cx="12192000" cy="6858000"/>
          </a:xfrm>
          <a:prstGeom prst="rect">
            <a:avLst/>
          </a:prstGeom>
          <a:solidFill>
            <a:srgbClr val="0B1220"/>
          </a:solidFill>
        </p:spPr>
        <p:txBody>
          <a:bodyPr/>
          <a:p/>
        </p:txBody>
      </p:sp>
      <p:sp>
        <p:nvSpPr>
          <p:cNvPr id="16" name="圆角矩形 15"/>
          <p:cNvSpPr/>
          <p:nvPr/>
        </p:nvSpPr>
        <p:spPr>
          <a:xfrm>
            <a:off x="609600" y="438150"/>
            <a:ext cx="57150" cy="419100"/>
          </a:xfrm>
          <a:prstGeom prst="roundRect">
            <a:avLst>
              <a:gd name="adj" fmla="val 50000"/>
            </a:avLst>
          </a:prstGeom>
          <a:gradFill>
            <a:gsLst>
              <a:gs pos="0">
                <a:srgbClr val="8B5CF6"/>
              </a:gs>
              <a:gs pos="100000">
                <a:srgbClr val="22D3EE"/>
              </a:gs>
            </a:gsLst>
            <a:lin ang="5400000" scaled="1"/>
          </a:gradFill>
        </p:spPr>
        <p:txBody>
          <a:bodyPr/>
          <a:p/>
        </p:txBody>
      </p:sp>
      <p:sp>
        <p:nvSpPr>
          <p:cNvPr id="17" name="文本框 16" descr="{&quot;isTemplate&quot;:true,&quot;type&quot;:&quot;text&quot;}"/>
          <p:cNvSpPr txBox="1"/>
          <p:nvPr/>
        </p:nvSpPr>
        <p:spPr>
          <a:xfrm>
            <a:off x="857250" y="476250"/>
            <a:ext cx="5133975" cy="342900"/>
          </a:xfrm>
          <a:prstGeom prst="rect">
            <a:avLst/>
          </a:prstGeom>
        </p:spPr>
        <p:txBody>
          <a:bodyPr wrap="none" lIns="0" tIns="0" rIns="0" bIns="0"/>
          <a:p>
            <a:pPr>
              <a:lnSpc>
                <a:spcPct val="100000"/>
              </a:lnSpc>
            </a:pPr>
            <a:r>
              <a:rPr lang="zh-CN" sz="2250" b="1">
                <a:solidFill>
                  <a:srgbClr val="E2E8F0"/>
                </a:solidFill>
                <a:latin typeface="微软雅黑" panose="020B0503020204020204" charset="-122"/>
                <a:ea typeface="微软雅黑" panose="020B0503020204020204" charset="-122"/>
              </a:rPr>
              <a:t>课题</a:t>
            </a:r>
            <a:r>
              <a:rPr lang="en-US" sz="2250" b="1">
                <a:solidFill>
                  <a:srgbClr val="E2E8F0"/>
                </a:solidFill>
                <a:latin typeface="微软雅黑" panose="020B0503020204020204" charset="-122"/>
                <a:ea typeface="微软雅黑" panose="020B0503020204020204" charset="-122"/>
              </a:rPr>
              <a:t> 5 · </a:t>
            </a:r>
            <a:r>
              <a:rPr lang="zh-CN" sz="2250" b="1">
                <a:solidFill>
                  <a:srgbClr val="E2E8F0"/>
                </a:solidFill>
                <a:latin typeface="微软雅黑" panose="020B0503020204020204" charset="-122"/>
                <a:ea typeface="微软雅黑" panose="020B0503020204020204" charset="-122"/>
              </a:rPr>
              <a:t>智能产业研究与产业链诊断系统</a:t>
            </a:r>
            <a:endParaRPr lang="zh-CN" sz="2250" b="1">
              <a:solidFill>
                <a:srgbClr val="E2E8F0"/>
              </a:solidFill>
              <a:latin typeface="微软雅黑" panose="020B0503020204020204" charset="-122"/>
              <a:ea typeface="微软雅黑" panose="020B0503020204020204" charset="-122"/>
            </a:endParaRPr>
          </a:p>
        </p:txBody>
      </p:sp>
      <p:sp>
        <p:nvSpPr>
          <p:cNvPr id="18" name="圆角矩形 17"/>
          <p:cNvSpPr/>
          <p:nvPr/>
        </p:nvSpPr>
        <p:spPr>
          <a:xfrm>
            <a:off x="6162675" y="523875"/>
            <a:ext cx="1066800" cy="257175"/>
          </a:xfrm>
          <a:prstGeom prst="roundRect">
            <a:avLst>
              <a:gd name="adj" fmla="val 29630"/>
            </a:avLst>
          </a:prstGeom>
          <a:solidFill>
            <a:srgbClr val="8B5CF6">
              <a:alpha val="14000"/>
            </a:srgbClr>
          </a:solidFill>
          <a:ln w="12700">
            <a:solidFill>
              <a:srgbClr val="8B5CF6">
                <a:alpha val="45000"/>
              </a:srgbClr>
            </a:solidFill>
            <a:prstDash val="solid"/>
          </a:ln>
        </p:spPr>
        <p:txBody>
          <a:bodyPr/>
          <a:p/>
        </p:txBody>
      </p:sp>
      <p:sp>
        <p:nvSpPr>
          <p:cNvPr id="19" name="文本框 18" descr="{&quot;isTemplate&quot;:true,&quot;type&quot;:&quot;text&quot;}"/>
          <p:cNvSpPr txBox="1"/>
          <p:nvPr/>
        </p:nvSpPr>
        <p:spPr>
          <a:xfrm>
            <a:off x="6296025" y="571500"/>
            <a:ext cx="800100" cy="161925"/>
          </a:xfrm>
          <a:prstGeom prst="rect">
            <a:avLst/>
          </a:prstGeom>
        </p:spPr>
        <p:txBody>
          <a:bodyPr wrap="none" lIns="0" tIns="0" rIns="0" bIns="0"/>
          <a:p>
            <a:pPr>
              <a:lnSpc>
                <a:spcPct val="100000"/>
              </a:lnSpc>
            </a:pPr>
            <a:r>
              <a:rPr lang="zh-CN" sz="1050">
                <a:solidFill>
                  <a:srgbClr val="C4B5FD"/>
                </a:solidFill>
                <a:latin typeface="微软雅黑" panose="020B0503020204020204" charset="-122"/>
                <a:ea typeface="微软雅黑" panose="020B0503020204020204" charset="-122"/>
              </a:rPr>
              <a:t>上层产业应用</a:t>
            </a:r>
            <a:endParaRPr lang="zh-CN" sz="1050">
              <a:solidFill>
                <a:srgbClr val="C4B5FD"/>
              </a:solidFill>
              <a:latin typeface="微软雅黑" panose="020B0503020204020204" charset="-122"/>
              <a:ea typeface="微软雅黑" panose="020B0503020204020204" charset="-122"/>
            </a:endParaRPr>
          </a:p>
        </p:txBody>
      </p:sp>
      <p:sp>
        <p:nvSpPr>
          <p:cNvPr id="20" name="圆角矩形 19"/>
          <p:cNvSpPr/>
          <p:nvPr/>
        </p:nvSpPr>
        <p:spPr>
          <a:xfrm>
            <a:off x="647700" y="2066925"/>
            <a:ext cx="10972800" cy="876300"/>
          </a:xfrm>
          <a:prstGeom prst="roundRect">
            <a:avLst>
              <a:gd name="adj" fmla="val 13043"/>
            </a:avLst>
          </a:prstGeom>
          <a:solidFill>
            <a:srgbClr val="111B2E"/>
          </a:solidFill>
        </p:spPr>
        <p:txBody>
          <a:bodyPr/>
          <a:p/>
        </p:txBody>
      </p:sp>
      <p:sp>
        <p:nvSpPr>
          <p:cNvPr id="21" name="任意多边形 20"/>
          <p:cNvSpPr/>
          <p:nvPr/>
        </p:nvSpPr>
        <p:spPr>
          <a:xfrm>
            <a:off x="647700" y="2066925"/>
            <a:ext cx="10972800" cy="876300"/>
          </a:xfrm>
          <a:custGeom>
            <a:avLst/>
            <a:gdLst/>
            <a:ahLst/>
            <a:cxnLst/>
            <a:pathLst>
              <a:path w="1152" h="92">
                <a:moveTo>
                  <a:pt x="11" y="0"/>
                </a:moveTo>
                <a:cubicBezTo>
                  <a:pt x="7" y="0"/>
                  <a:pt x="4" y="4"/>
                  <a:pt x="4" y="8"/>
                </a:cubicBezTo>
                <a:lnTo>
                  <a:pt x="4" y="84"/>
                </a:lnTo>
                <a:cubicBezTo>
                  <a:pt x="4" y="88"/>
                  <a:pt x="7" y="91"/>
                  <a:pt x="10" y="92"/>
                </a:cubicBezTo>
                <a:cubicBezTo>
                  <a:pt x="4" y="91"/>
                  <a:pt x="0" y="86"/>
                  <a:pt x="0" y="80"/>
                </a:cubicBezTo>
                <a:lnTo>
                  <a:pt x="0" y="12"/>
                </a:lnTo>
                <a:cubicBezTo>
                  <a:pt x="0" y="6"/>
                  <a:pt x="5" y="0"/>
                  <a:pt x="12" y="0"/>
                </a:cubicBezTo>
                <a:close/>
              </a:path>
            </a:pathLst>
          </a:custGeom>
          <a:solidFill>
            <a:srgbClr val="8B5CF6"/>
          </a:solidFill>
        </p:spPr>
        <p:txBody>
          <a:bodyPr/>
          <a:p/>
        </p:txBody>
      </p:sp>
      <p:sp>
        <p:nvSpPr>
          <p:cNvPr id="22" name="文本框 21" descr="{&quot;isTemplate&quot;:true,&quot;type&quot;:&quot;text&quot;}"/>
          <p:cNvSpPr txBox="1"/>
          <p:nvPr/>
        </p:nvSpPr>
        <p:spPr>
          <a:xfrm>
            <a:off x="876300" y="2200275"/>
            <a:ext cx="10477500" cy="609600"/>
          </a:xfrm>
          <a:prstGeom prst="rect">
            <a:avLst/>
          </a:prstGeom>
        </p:spPr>
        <p:txBody>
          <a:bodyPr wrap="square" lIns="0" tIns="0" rIns="0" bIns="0">
            <a:normAutofit/>
          </a:bodyPr>
          <a:p>
            <a:pPr>
              <a:lnSpc>
                <a:spcPct val="165000"/>
              </a:lnSpc>
            </a:pPr>
            <a:r>
              <a:rPr lang="zh-CN" sz="1200" b="1">
                <a:solidFill>
                  <a:srgbClr val="C4B5FD"/>
                </a:solidFill>
                <a:latin typeface="微软雅黑" panose="020B0503020204020204" charset="-122"/>
                <a:ea typeface="微软雅黑" panose="020B0503020204020204" charset="-122"/>
              </a:rPr>
              <a:t>课题定义：</a:t>
            </a:r>
            <a:r>
              <a:rPr lang="zh-CN" sz="1200">
                <a:solidFill>
                  <a:srgbClr val="E2E8F0"/>
                </a:solidFill>
                <a:latin typeface="微软雅黑" panose="020B0503020204020204" charset="-122"/>
                <a:ea typeface="微软雅黑" panose="020B0503020204020204" charset="-122"/>
              </a:rPr>
              <a:t>基于产业知识图谱与大模型推理能力，实现产业链短板诊断、强弱链识别、断点卡点分析、区域产业对标、景气研判、赛道机会挖掘，形成智能决策分析系统。</a:t>
            </a:r>
            <a:endParaRPr lang="zh-CN" sz="1200">
              <a:solidFill>
                <a:srgbClr val="E2E8F0"/>
              </a:solidFill>
              <a:latin typeface="微软雅黑" panose="020B0503020204020204" charset="-122"/>
              <a:ea typeface="微软雅黑" panose="020B0503020204020204" charset="-122"/>
            </a:endParaRPr>
          </a:p>
        </p:txBody>
      </p:sp>
      <p:sp>
        <p:nvSpPr>
          <p:cNvPr id="23" name="圆角矩形 22"/>
          <p:cNvSpPr/>
          <p:nvPr/>
        </p:nvSpPr>
        <p:spPr>
          <a:xfrm>
            <a:off x="609600" y="3057525"/>
            <a:ext cx="10972800" cy="504825"/>
          </a:xfrm>
          <a:prstGeom prst="roundRect">
            <a:avLst>
              <a:gd name="adj" fmla="val 18868"/>
            </a:avLst>
          </a:prstGeom>
          <a:solidFill>
            <a:srgbClr val="8B5CF6">
              <a:alpha val="7000"/>
            </a:srgbClr>
          </a:solidFill>
          <a:ln w="12700">
            <a:solidFill>
              <a:srgbClr val="8B5CF6">
                <a:alpha val="30000"/>
              </a:srgbClr>
            </a:solidFill>
            <a:prstDash val="solid"/>
          </a:ln>
        </p:spPr>
        <p:txBody>
          <a:bodyPr/>
          <a:p/>
        </p:txBody>
      </p:sp>
      <p:sp>
        <p:nvSpPr>
          <p:cNvPr id="24" name="文本框 23" descr="{&quot;isTemplate&quot;:true,&quot;type&quot;:&quot;text&quot;}"/>
          <p:cNvSpPr txBox="1"/>
          <p:nvPr/>
        </p:nvSpPr>
        <p:spPr>
          <a:xfrm>
            <a:off x="838200" y="3171825"/>
            <a:ext cx="10515600" cy="276225"/>
          </a:xfrm>
          <a:prstGeom prst="rect">
            <a:avLst/>
          </a:prstGeom>
        </p:spPr>
        <p:txBody>
          <a:bodyPr wrap="none" lIns="0" tIns="0" rIns="0" bIns="0"/>
          <a:p>
            <a:pPr>
              <a:lnSpc>
                <a:spcPct val="155000"/>
              </a:lnSpc>
            </a:pPr>
            <a:r>
              <a:rPr lang="zh-CN" sz="1165" b="1">
                <a:solidFill>
                  <a:srgbClr val="C4B5FD"/>
                </a:solidFill>
                <a:latin typeface="微软雅黑" panose="020B0503020204020204" charset="-122"/>
                <a:ea typeface="微软雅黑" panose="020B0503020204020204" charset="-122"/>
              </a:rPr>
              <a:t>项目目标：</a:t>
            </a:r>
            <a:r>
              <a:rPr lang="zh-CN" sz="1165">
                <a:solidFill>
                  <a:srgbClr val="E2E8F0"/>
                </a:solidFill>
                <a:latin typeface="微软雅黑" panose="020B0503020204020204" charset="-122"/>
                <a:ea typeface="微软雅黑" panose="020B0503020204020204" charset="-122"/>
              </a:rPr>
              <a:t>将传统人工产业研究转化为自动化、量化化、智能化的产业链研判能力，支撑区域产业规划与政策制定。</a:t>
            </a:r>
            <a:endParaRPr lang="zh-CN" sz="1165">
              <a:solidFill>
                <a:srgbClr val="E2E8F0"/>
              </a:solidFill>
              <a:latin typeface="微软雅黑" panose="020B0503020204020204" charset="-122"/>
              <a:ea typeface="微软雅黑" panose="020B0503020204020204" charset="-122"/>
            </a:endParaRPr>
          </a:p>
        </p:txBody>
      </p:sp>
      <p:sp>
        <p:nvSpPr>
          <p:cNvPr id="25" name="圆角矩形 24"/>
          <p:cNvSpPr/>
          <p:nvPr/>
        </p:nvSpPr>
        <p:spPr>
          <a:xfrm>
            <a:off x="609600" y="3676650"/>
            <a:ext cx="5334000" cy="466725"/>
          </a:xfrm>
          <a:prstGeom prst="roundRect">
            <a:avLst>
              <a:gd name="adj" fmla="val 20408"/>
            </a:avLst>
          </a:prstGeom>
          <a:solidFill>
            <a:srgbClr val="111B2E"/>
          </a:solidFill>
        </p:spPr>
        <p:txBody>
          <a:bodyPr/>
          <a:p/>
        </p:txBody>
      </p:sp>
      <p:sp>
        <p:nvSpPr>
          <p:cNvPr id="26" name="文本框 25" descr="{&quot;isTemplate&quot;:true,&quot;type&quot;:&quot;text&quot;}"/>
          <p:cNvSpPr txBox="1"/>
          <p:nvPr/>
        </p:nvSpPr>
        <p:spPr>
          <a:xfrm>
            <a:off x="781050" y="37814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①</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产业链薄弱环节、关键断点、供给卡点智能识别</a:t>
            </a:r>
            <a:endParaRPr lang="zh-CN" sz="1090">
              <a:solidFill>
                <a:srgbClr val="E2E8F0"/>
              </a:solidFill>
              <a:latin typeface="微软雅黑" panose="020B0503020204020204" charset="-122"/>
              <a:ea typeface="微软雅黑" panose="020B0503020204020204" charset="-122"/>
            </a:endParaRPr>
          </a:p>
        </p:txBody>
      </p:sp>
      <p:sp>
        <p:nvSpPr>
          <p:cNvPr id="27" name="圆角矩形 26"/>
          <p:cNvSpPr/>
          <p:nvPr/>
        </p:nvSpPr>
        <p:spPr>
          <a:xfrm>
            <a:off x="6057900" y="3676650"/>
            <a:ext cx="5334000" cy="466725"/>
          </a:xfrm>
          <a:prstGeom prst="roundRect">
            <a:avLst>
              <a:gd name="adj" fmla="val 20408"/>
            </a:avLst>
          </a:prstGeom>
          <a:solidFill>
            <a:srgbClr val="111B2E"/>
          </a:solidFill>
        </p:spPr>
        <p:txBody>
          <a:bodyPr/>
          <a:p/>
        </p:txBody>
      </p:sp>
      <p:sp>
        <p:nvSpPr>
          <p:cNvPr id="28" name="文本框 27" descr="{&quot;isTemplate&quot;:true,&quot;type&quot;:&quot;text&quot;}"/>
          <p:cNvSpPr txBox="1"/>
          <p:nvPr/>
        </p:nvSpPr>
        <p:spPr>
          <a:xfrm>
            <a:off x="6229350" y="37814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②</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跨区域产业结构对标、指标差异分析、优势短板对比</a:t>
            </a:r>
            <a:endParaRPr lang="zh-CN" sz="1090">
              <a:solidFill>
                <a:srgbClr val="E2E8F0"/>
              </a:solidFill>
              <a:latin typeface="微软雅黑" panose="020B0503020204020204" charset="-122"/>
              <a:ea typeface="微软雅黑" panose="020B0503020204020204" charset="-122"/>
            </a:endParaRPr>
          </a:p>
        </p:txBody>
      </p:sp>
      <p:sp>
        <p:nvSpPr>
          <p:cNvPr id="29" name="圆角矩形 28"/>
          <p:cNvSpPr/>
          <p:nvPr/>
        </p:nvSpPr>
        <p:spPr>
          <a:xfrm>
            <a:off x="609600" y="4257675"/>
            <a:ext cx="5334000" cy="466725"/>
          </a:xfrm>
          <a:prstGeom prst="roundRect">
            <a:avLst>
              <a:gd name="adj" fmla="val 20408"/>
            </a:avLst>
          </a:prstGeom>
          <a:solidFill>
            <a:srgbClr val="111B2E"/>
          </a:solidFill>
        </p:spPr>
        <p:txBody>
          <a:bodyPr/>
          <a:p/>
        </p:txBody>
      </p:sp>
      <p:sp>
        <p:nvSpPr>
          <p:cNvPr id="30" name="文本框 29" descr="{&quot;isTemplate&quot;:true,&quot;type&quot;:&quot;text&quot;}"/>
          <p:cNvSpPr txBox="1"/>
          <p:nvPr/>
        </p:nvSpPr>
        <p:spPr>
          <a:xfrm>
            <a:off x="781050" y="43624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③</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产业景气度量化评估、冷热赛道智能研判</a:t>
            </a:r>
            <a:endParaRPr lang="zh-CN" sz="1090">
              <a:solidFill>
                <a:srgbClr val="E2E8F0"/>
              </a:solidFill>
              <a:latin typeface="微软雅黑" panose="020B0503020204020204" charset="-122"/>
              <a:ea typeface="微软雅黑" panose="020B0503020204020204" charset="-122"/>
            </a:endParaRPr>
          </a:p>
        </p:txBody>
      </p:sp>
      <p:sp>
        <p:nvSpPr>
          <p:cNvPr id="31" name="圆角矩形 30"/>
          <p:cNvSpPr/>
          <p:nvPr/>
        </p:nvSpPr>
        <p:spPr>
          <a:xfrm>
            <a:off x="6057900" y="4257675"/>
            <a:ext cx="5334000" cy="466725"/>
          </a:xfrm>
          <a:prstGeom prst="roundRect">
            <a:avLst>
              <a:gd name="adj" fmla="val 20408"/>
            </a:avLst>
          </a:prstGeom>
          <a:solidFill>
            <a:srgbClr val="111B2E"/>
          </a:solidFill>
        </p:spPr>
        <p:txBody>
          <a:bodyPr/>
          <a:p/>
        </p:txBody>
      </p:sp>
      <p:sp>
        <p:nvSpPr>
          <p:cNvPr id="32" name="文本框 31" descr="{&quot;isTemplate&quot;:true,&quot;type&quot;:&quot;text&quot;}"/>
          <p:cNvSpPr txBox="1"/>
          <p:nvPr/>
        </p:nvSpPr>
        <p:spPr>
          <a:xfrm>
            <a:off x="6229350" y="43624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④</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产业链诊断报告、产业优化建议自动生成</a:t>
            </a:r>
            <a:endParaRPr lang="zh-CN" sz="1090">
              <a:solidFill>
                <a:srgbClr val="E2E8F0"/>
              </a:solidFill>
              <a:latin typeface="微软雅黑" panose="020B0503020204020204" charset="-122"/>
              <a:ea typeface="微软雅黑" panose="020B0503020204020204" charset="-122"/>
            </a:endParaRPr>
          </a:p>
        </p:txBody>
      </p:sp>
      <p:sp>
        <p:nvSpPr>
          <p:cNvPr id="33" name="圆角矩形 32"/>
          <p:cNvSpPr/>
          <p:nvPr/>
        </p:nvSpPr>
        <p:spPr>
          <a:xfrm>
            <a:off x="609600" y="4838700"/>
            <a:ext cx="10972800" cy="381000"/>
          </a:xfrm>
          <a:prstGeom prst="roundRect">
            <a:avLst>
              <a:gd name="adj" fmla="val 25000"/>
            </a:avLst>
          </a:prstGeom>
          <a:solidFill>
            <a:srgbClr val="8B5CF6">
              <a:alpha val="8000"/>
            </a:srgbClr>
          </a:solidFill>
          <a:ln w="12700">
            <a:solidFill>
              <a:srgbClr val="8B5CF6">
                <a:alpha val="30000"/>
              </a:srgbClr>
            </a:solidFill>
            <a:prstDash val="solid"/>
          </a:ln>
        </p:spPr>
        <p:txBody>
          <a:bodyPr/>
          <a:p/>
        </p:txBody>
      </p:sp>
      <p:sp>
        <p:nvSpPr>
          <p:cNvPr id="34" name="文本框 33" descr="{&quot;isTemplate&quot;:true,&quot;type&quot;:&quot;text&quot;}"/>
          <p:cNvSpPr txBox="1"/>
          <p:nvPr/>
        </p:nvSpPr>
        <p:spPr>
          <a:xfrm>
            <a:off x="819150" y="4953000"/>
            <a:ext cx="533400" cy="161925"/>
          </a:xfrm>
          <a:prstGeom prst="rect">
            <a:avLst/>
          </a:prstGeom>
        </p:spPr>
        <p:txBody>
          <a:bodyPr wrap="none" lIns="0" tIns="0" rIns="0" bIns="0"/>
          <a:p>
            <a:pPr>
              <a:lnSpc>
                <a:spcPct val="100000"/>
              </a:lnSpc>
            </a:pPr>
            <a:r>
              <a:rPr lang="zh-CN" sz="1050" b="1">
                <a:solidFill>
                  <a:srgbClr val="C4B5FD"/>
                </a:solidFill>
                <a:latin typeface="微软雅黑" panose="020B0503020204020204" charset="-122"/>
                <a:ea typeface="微软雅黑" panose="020B0503020204020204" charset="-122"/>
              </a:rPr>
              <a:t>选题适配</a:t>
            </a:r>
            <a:endParaRPr lang="zh-CN" sz="1050" b="1">
              <a:solidFill>
                <a:srgbClr val="C4B5FD"/>
              </a:solidFill>
              <a:latin typeface="微软雅黑" panose="020B0503020204020204" charset="-122"/>
              <a:ea typeface="微软雅黑" panose="020B0503020204020204" charset="-122"/>
            </a:endParaRPr>
          </a:p>
        </p:txBody>
      </p:sp>
      <p:sp>
        <p:nvSpPr>
          <p:cNvPr id="35" name="文本框 34" descr="{&quot;isTemplate&quot;:true,&quot;type&quot;:&quot;text&quot;}"/>
          <p:cNvSpPr txBox="1"/>
          <p:nvPr/>
        </p:nvSpPr>
        <p:spPr>
          <a:xfrm>
            <a:off x="1466850" y="4943475"/>
            <a:ext cx="5248275"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产业场景深厚、可视化效果强，适合业务系统开发、数据可视化、智能分析方向的团队</a:t>
            </a:r>
            <a:endParaRPr lang="zh-CN" sz="1090">
              <a:solidFill>
                <a:srgbClr val="E2E8F0"/>
              </a:solidFill>
              <a:latin typeface="微软雅黑" panose="020B0503020204020204" charset="-122"/>
              <a:ea typeface="微软雅黑" panose="020B0503020204020204" charset="-122"/>
            </a:endParaRPr>
          </a:p>
        </p:txBody>
      </p:sp>
      <p:sp>
        <p:nvSpPr>
          <p:cNvPr id="36" name="文本框 35"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37" name="文本框 36"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10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8" name="" descr="&lt;Slide style={{ width: 1280, height: 720, background: '#0B1220', padding: '20px 64px', display: 'flex', flexDirection: 'column' }}&gt;&#13;&#10;    &lt;Box style={{ flexDirection: 'row', height: 96, alignItems: 'center' }}&gt;&#13;&#10;        &lt;Box style={{ width: 6, height: 44, background: 'linear-gradient(180deg, #8B5CF6 0%, #22D3EE 100%)', borderRadius: 3, marginRight: 20 }} /&gt;&#13;&#10;        &lt;Text style={{ fontSize: 30, fontWeight: 'bold', color: '#E2E8F0' }}&gt;课题 6 · 科技情报与前沿技术挖掘系统&lt;/Text&gt;&#13;&#10;        &lt;Box style={{ marginLeft: 18, background: 'rgba(139,92,246,0.14)', borderRadius: 8, padding: '5px 14px', border: '1px solid rgba(139,92,246,0.45)' }}&gt;&#13;&#10;            &lt;Text style={{ fontSize: 14, color: '#C4B5FD' }}&gt;上层产业应用&lt;/Text&gt;&#13;&#10;        &lt;/Box&gt;&#13;&#10;    &lt;/Box&gt;&#13;&#10;    &lt;Box style={{ flex: 1, flexDirection: 'column', gap: 12, justifyContent: 'center' }}&gt;&#13;&#10;        &lt;Box style={{ background: '#111B2E', borderRadius: 12, padding: '14px 24px', borderLeft: '4px solid #8B5CF6' }}&gt;&#13;&#10;            &lt;Text style={{ fontSize: 16, color: '#E2E8F0', lineHeight: 1.65 }}&gt;&lt;span style={{ fontWeight: 'bold', color: '#C4B5FD' }}&gt;课题定义：&lt;/span&gt;依托专利、论文、行业白皮书、技术动态等数据，智能梳理技术路线、追踪技术迭代、识别前沿方向、预警颠覆性技术、分析企业竞争格局，构建科技情报研判平台。&lt;/Text&gt;&#13;&#10;        &lt;/Box&gt;&#13;&#10;        &lt;Box style={{ background: 'rgba(139,92,246,0.07)', borderRadius: 10, padding: '12px 24px', border: '1px solid rgba(139,92,246,0.3)' }}&gt;&#13;&#10;            &lt;Text style={{ fontSize: 15.5, color: '#E2E8F0', lineHeight: 1.55 }}&gt;&lt;span style={{ fontWeight: 'bold', color: '#C4B5FD' }}&gt;项目目标：&lt;/span&gt;实现产业前沿技术可监测、可追踪、可预判，服务科技创新管理与技术布局决策。&lt;/Text&gt;&#13;&#10;        &lt;/Box&gt;&#13;&#10;        &lt;Box style={{ flexDirection: 'row', flexWrap: 'wrap', gap: 12 }}&gt;&#13;&#10;            &lt;Box style={{ width: 560, background: '#111B2E', borderRadius: 10, padding: '11px 18px' }}&gt;&lt;Text style={{ fontSize: 14.5, color: '#E2E8F0', lineHeight: 1.5 }}&gt;&lt;span style={{ fontWeight: 'bold', color: '#C4B5FD' }}&gt;①&lt;/span&gt; 专利、文献、技术资料的结构化解析与标签化处理&lt;/Text&gt;&lt;/Box&gt;&#13;&#10;            &lt;Box style={{ width: 560, background: '#111B2E', borderRadius: 10, padding: '11px 18px' }}&gt;&lt;Text style={{ fontSize: 14.5, color: '#E2E8F0', lineHeight: 1.5 }}&gt;&lt;span style={{ fontWeight: 'bold', color: '#C4B5FD' }}&gt;②&lt;/span&gt; 技术路线图谱自动构建、技术代际演进分析&lt;/Text&gt;&lt;/Box&gt;&#13;&#10;            &lt;Box style={{ width: 560, background: '#111B2E', borderRadius: 10, padding: '11px 18px' }}&gt;&lt;Text style={{ fontSize: 14.5, color: '#E2E8F0', lineHeight: 1.5 }}&gt;&lt;span style={{ fontWeight: 'bold', color: '#C4B5FD' }}&gt;③&lt;/span&gt; 前沿热点挖掘、新兴技术信号捕捉、技术趋势预警&lt;/Text&gt;&lt;/Box&gt;&#13;&#10;            &lt;Box style={{ width: 560, background: '#111B2E', borderRadius: 10, padding: '11px 18px' }}&gt;&lt;Text style={{ fontSize: 14.5, color: '#E2E8F0', lineHeight: 1.5 }}&gt;&lt;span style={{ fontWeight: 'bold', color: '#C4B5FD' }}&gt;④&lt;/span&gt; 企业专利壁垒、技术竞争力、赛道竞争格局分析&lt;/Text&gt;&lt;/Box&gt;&#13;&#10;        &lt;/Box&gt;&#13;&#10;        &lt;Box style={{ flexDirection: 'row', alignItems: 'center', gap: 12, background: 'rgba(139,92,246,0.08)', borderRadius: 10, padding: '11px 22px', border: '1px solid rgba(139,92,246,0.3)' }}&gt;&#13;&#10;            &lt;Text style={{ fontSize: 14, color: '#C4B5FD', fontWeight: 'bold' }}&gt;选题适配&lt;/Text&gt;&#13;&#10;            &lt;Text style={{ fontSize: 14.5, color: '#E2E8F0' }}&gt;适合文本挖掘、情报分析、技术图谱构建方向的团队&lt;/Text&gt;&#13;&#10;        &lt;/Box&gt;&#13;&#10;    &lt;/Box&gt;&#13;&#10;    &lt;Box style={{ height: 40, flexDirection: 'row', justifyContent: 'space-between', alignItems: 'center', marginTop: 12 }}&gt;&#13;&#10;        &lt;Text style={{ fontSize: 14, color: '#94A3B8' }}&gt;01 十大创新实践课题&lt;/Text&gt;&#13;&#10;        &lt;Text style={{ fontSize: 14, color: '#94A3B8' }}&gt;11 / 47&lt;/Text&gt;&#13;&#10;    &lt;/Box&gt;&#13;&#10;&lt;/Slide&gt;&#13;&#10;"/>
        <p:cNvGrpSpPr/>
        <p:nvPr/>
      </p:nvGrpSpPr>
      <p:grpSpPr>
        <a:xfrm>
          <a:off x="0" y="0"/>
          <a:ext cx="0" cy="0"/>
          <a:chOff x="0" y="0"/>
          <a:chExt cx="0" cy="0"/>
        </a:xfrm>
      </p:grpSpPr>
      <p:sp>
        <p:nvSpPr>
          <p:cNvPr id="39" name="矩形 38"/>
          <p:cNvSpPr/>
          <p:nvPr/>
        </p:nvSpPr>
        <p:spPr>
          <a:xfrm>
            <a:off x="0" y="0"/>
            <a:ext cx="12192000" cy="6858000"/>
          </a:xfrm>
          <a:prstGeom prst="rect">
            <a:avLst/>
          </a:prstGeom>
          <a:solidFill>
            <a:srgbClr val="0B1220"/>
          </a:solidFill>
        </p:spPr>
        <p:txBody>
          <a:bodyPr/>
          <a:p/>
        </p:txBody>
      </p:sp>
      <p:sp>
        <p:nvSpPr>
          <p:cNvPr id="40" name="圆角矩形 39"/>
          <p:cNvSpPr/>
          <p:nvPr/>
        </p:nvSpPr>
        <p:spPr>
          <a:xfrm>
            <a:off x="609600" y="438150"/>
            <a:ext cx="57150" cy="419100"/>
          </a:xfrm>
          <a:prstGeom prst="roundRect">
            <a:avLst>
              <a:gd name="adj" fmla="val 50000"/>
            </a:avLst>
          </a:prstGeom>
          <a:gradFill>
            <a:gsLst>
              <a:gs pos="0">
                <a:srgbClr val="8B5CF6"/>
              </a:gs>
              <a:gs pos="100000">
                <a:srgbClr val="22D3EE"/>
              </a:gs>
            </a:gsLst>
            <a:lin ang="5400000" scaled="1"/>
          </a:gradFill>
        </p:spPr>
        <p:txBody>
          <a:bodyPr/>
          <a:p/>
        </p:txBody>
      </p:sp>
      <p:sp>
        <p:nvSpPr>
          <p:cNvPr id="41" name="文本框 40" descr="{&quot;isTemplate&quot;:true,&quot;type&quot;:&quot;text&quot;}"/>
          <p:cNvSpPr txBox="1"/>
          <p:nvPr/>
        </p:nvSpPr>
        <p:spPr>
          <a:xfrm>
            <a:off x="857250" y="476250"/>
            <a:ext cx="4848225" cy="342900"/>
          </a:xfrm>
          <a:prstGeom prst="rect">
            <a:avLst/>
          </a:prstGeom>
        </p:spPr>
        <p:txBody>
          <a:bodyPr wrap="none" lIns="0" tIns="0" rIns="0" bIns="0"/>
          <a:p>
            <a:pPr>
              <a:lnSpc>
                <a:spcPct val="100000"/>
              </a:lnSpc>
            </a:pPr>
            <a:r>
              <a:rPr lang="zh-CN" sz="2250" b="1">
                <a:solidFill>
                  <a:srgbClr val="E2E8F0"/>
                </a:solidFill>
                <a:latin typeface="微软雅黑" panose="020B0503020204020204" charset="-122"/>
                <a:ea typeface="微软雅黑" panose="020B0503020204020204" charset="-122"/>
              </a:rPr>
              <a:t>课题</a:t>
            </a:r>
            <a:r>
              <a:rPr lang="en-US" sz="2250" b="1">
                <a:solidFill>
                  <a:srgbClr val="E2E8F0"/>
                </a:solidFill>
                <a:latin typeface="微软雅黑" panose="020B0503020204020204" charset="-122"/>
                <a:ea typeface="微软雅黑" panose="020B0503020204020204" charset="-122"/>
              </a:rPr>
              <a:t> 6 · </a:t>
            </a:r>
            <a:r>
              <a:rPr lang="zh-CN" sz="2250" b="1">
                <a:solidFill>
                  <a:srgbClr val="E2E8F0"/>
                </a:solidFill>
                <a:latin typeface="微软雅黑" panose="020B0503020204020204" charset="-122"/>
                <a:ea typeface="微软雅黑" panose="020B0503020204020204" charset="-122"/>
              </a:rPr>
              <a:t>科技情报与前沿技术挖掘系统</a:t>
            </a:r>
            <a:endParaRPr lang="zh-CN" sz="2250" b="1">
              <a:solidFill>
                <a:srgbClr val="E2E8F0"/>
              </a:solidFill>
              <a:latin typeface="微软雅黑" panose="020B0503020204020204" charset="-122"/>
              <a:ea typeface="微软雅黑" panose="020B0503020204020204" charset="-122"/>
            </a:endParaRPr>
          </a:p>
        </p:txBody>
      </p:sp>
      <p:sp>
        <p:nvSpPr>
          <p:cNvPr id="42" name="圆角矩形 41"/>
          <p:cNvSpPr/>
          <p:nvPr/>
        </p:nvSpPr>
        <p:spPr>
          <a:xfrm>
            <a:off x="5876925" y="523875"/>
            <a:ext cx="1066800" cy="257175"/>
          </a:xfrm>
          <a:prstGeom prst="roundRect">
            <a:avLst>
              <a:gd name="adj" fmla="val 29630"/>
            </a:avLst>
          </a:prstGeom>
          <a:solidFill>
            <a:srgbClr val="8B5CF6">
              <a:alpha val="14000"/>
            </a:srgbClr>
          </a:solidFill>
          <a:ln w="12700">
            <a:solidFill>
              <a:srgbClr val="8B5CF6">
                <a:alpha val="45000"/>
              </a:srgbClr>
            </a:solidFill>
            <a:prstDash val="solid"/>
          </a:ln>
        </p:spPr>
        <p:txBody>
          <a:bodyPr/>
          <a:p/>
        </p:txBody>
      </p:sp>
      <p:sp>
        <p:nvSpPr>
          <p:cNvPr id="43" name="文本框 42" descr="{&quot;isTemplate&quot;:true,&quot;type&quot;:&quot;text&quot;}"/>
          <p:cNvSpPr txBox="1"/>
          <p:nvPr/>
        </p:nvSpPr>
        <p:spPr>
          <a:xfrm>
            <a:off x="6010275" y="571500"/>
            <a:ext cx="800100" cy="161925"/>
          </a:xfrm>
          <a:prstGeom prst="rect">
            <a:avLst/>
          </a:prstGeom>
        </p:spPr>
        <p:txBody>
          <a:bodyPr wrap="none" lIns="0" tIns="0" rIns="0" bIns="0"/>
          <a:p>
            <a:pPr>
              <a:lnSpc>
                <a:spcPct val="100000"/>
              </a:lnSpc>
            </a:pPr>
            <a:r>
              <a:rPr lang="zh-CN" sz="1050">
                <a:solidFill>
                  <a:srgbClr val="C4B5FD"/>
                </a:solidFill>
                <a:latin typeface="微软雅黑" panose="020B0503020204020204" charset="-122"/>
                <a:ea typeface="微软雅黑" panose="020B0503020204020204" charset="-122"/>
              </a:rPr>
              <a:t>上层产业应用</a:t>
            </a:r>
            <a:endParaRPr lang="zh-CN" sz="1050">
              <a:solidFill>
                <a:srgbClr val="C4B5FD"/>
              </a:solidFill>
              <a:latin typeface="微软雅黑" panose="020B0503020204020204" charset="-122"/>
              <a:ea typeface="微软雅黑" panose="020B0503020204020204" charset="-122"/>
            </a:endParaRPr>
          </a:p>
        </p:txBody>
      </p:sp>
      <p:sp>
        <p:nvSpPr>
          <p:cNvPr id="44" name="圆角矩形 43"/>
          <p:cNvSpPr/>
          <p:nvPr/>
        </p:nvSpPr>
        <p:spPr>
          <a:xfrm>
            <a:off x="647700" y="2066925"/>
            <a:ext cx="10972800" cy="876300"/>
          </a:xfrm>
          <a:prstGeom prst="roundRect">
            <a:avLst>
              <a:gd name="adj" fmla="val 13043"/>
            </a:avLst>
          </a:prstGeom>
          <a:solidFill>
            <a:srgbClr val="111B2E"/>
          </a:solidFill>
        </p:spPr>
        <p:txBody>
          <a:bodyPr/>
          <a:p/>
        </p:txBody>
      </p:sp>
      <p:sp>
        <p:nvSpPr>
          <p:cNvPr id="45" name="任意多边形 44"/>
          <p:cNvSpPr/>
          <p:nvPr/>
        </p:nvSpPr>
        <p:spPr>
          <a:xfrm>
            <a:off x="647700" y="2066925"/>
            <a:ext cx="10972800" cy="876300"/>
          </a:xfrm>
          <a:custGeom>
            <a:avLst/>
            <a:gdLst/>
            <a:ahLst/>
            <a:cxnLst/>
            <a:pathLst>
              <a:path w="1152" h="92">
                <a:moveTo>
                  <a:pt x="11" y="0"/>
                </a:moveTo>
                <a:cubicBezTo>
                  <a:pt x="7" y="0"/>
                  <a:pt x="4" y="4"/>
                  <a:pt x="4" y="8"/>
                </a:cubicBezTo>
                <a:lnTo>
                  <a:pt x="4" y="84"/>
                </a:lnTo>
                <a:cubicBezTo>
                  <a:pt x="4" y="88"/>
                  <a:pt x="7" y="91"/>
                  <a:pt x="10" y="92"/>
                </a:cubicBezTo>
                <a:cubicBezTo>
                  <a:pt x="4" y="91"/>
                  <a:pt x="0" y="86"/>
                  <a:pt x="0" y="80"/>
                </a:cubicBezTo>
                <a:lnTo>
                  <a:pt x="0" y="12"/>
                </a:lnTo>
                <a:cubicBezTo>
                  <a:pt x="0" y="6"/>
                  <a:pt x="5" y="0"/>
                  <a:pt x="12" y="0"/>
                </a:cubicBezTo>
                <a:close/>
              </a:path>
            </a:pathLst>
          </a:custGeom>
          <a:solidFill>
            <a:srgbClr val="8B5CF6"/>
          </a:solidFill>
        </p:spPr>
        <p:txBody>
          <a:bodyPr/>
          <a:p/>
        </p:txBody>
      </p:sp>
      <p:sp>
        <p:nvSpPr>
          <p:cNvPr id="46" name="文本框 45" descr="{&quot;isTemplate&quot;:true,&quot;type&quot;:&quot;text&quot;}"/>
          <p:cNvSpPr txBox="1"/>
          <p:nvPr/>
        </p:nvSpPr>
        <p:spPr>
          <a:xfrm>
            <a:off x="876300" y="2200275"/>
            <a:ext cx="10477500" cy="609600"/>
          </a:xfrm>
          <a:prstGeom prst="rect">
            <a:avLst/>
          </a:prstGeom>
        </p:spPr>
        <p:txBody>
          <a:bodyPr wrap="square" lIns="0" tIns="0" rIns="0" bIns="0">
            <a:normAutofit/>
          </a:bodyPr>
          <a:p>
            <a:pPr>
              <a:lnSpc>
                <a:spcPct val="165000"/>
              </a:lnSpc>
            </a:pPr>
            <a:r>
              <a:rPr lang="zh-CN" sz="1200" b="1">
                <a:solidFill>
                  <a:srgbClr val="C4B5FD"/>
                </a:solidFill>
                <a:latin typeface="微软雅黑" panose="020B0503020204020204" charset="-122"/>
                <a:ea typeface="微软雅黑" panose="020B0503020204020204" charset="-122"/>
              </a:rPr>
              <a:t>课题定义：</a:t>
            </a:r>
            <a:r>
              <a:rPr lang="zh-CN" sz="1200">
                <a:solidFill>
                  <a:srgbClr val="E2E8F0"/>
                </a:solidFill>
                <a:latin typeface="微软雅黑" panose="020B0503020204020204" charset="-122"/>
                <a:ea typeface="微软雅黑" panose="020B0503020204020204" charset="-122"/>
              </a:rPr>
              <a:t>依托专利、论文、行业白皮书、技术动态等数据，智能梳理技术路线、追踪技术迭代、识别前沿方向、预警颠覆性技术、分析企业竞争格局，构建科技情报研判平台。</a:t>
            </a:r>
            <a:endParaRPr lang="zh-CN" sz="1200">
              <a:solidFill>
                <a:srgbClr val="E2E8F0"/>
              </a:solidFill>
              <a:latin typeface="微软雅黑" panose="020B0503020204020204" charset="-122"/>
              <a:ea typeface="微软雅黑" panose="020B0503020204020204" charset="-122"/>
            </a:endParaRPr>
          </a:p>
        </p:txBody>
      </p:sp>
      <p:sp>
        <p:nvSpPr>
          <p:cNvPr id="47" name="圆角矩形 46"/>
          <p:cNvSpPr/>
          <p:nvPr/>
        </p:nvSpPr>
        <p:spPr>
          <a:xfrm>
            <a:off x="609600" y="3057525"/>
            <a:ext cx="10972800" cy="504825"/>
          </a:xfrm>
          <a:prstGeom prst="roundRect">
            <a:avLst>
              <a:gd name="adj" fmla="val 18868"/>
            </a:avLst>
          </a:prstGeom>
          <a:solidFill>
            <a:srgbClr val="8B5CF6">
              <a:alpha val="7000"/>
            </a:srgbClr>
          </a:solidFill>
          <a:ln w="12700">
            <a:solidFill>
              <a:srgbClr val="8B5CF6">
                <a:alpha val="30000"/>
              </a:srgbClr>
            </a:solidFill>
            <a:prstDash val="solid"/>
          </a:ln>
        </p:spPr>
        <p:txBody>
          <a:bodyPr/>
          <a:p/>
        </p:txBody>
      </p:sp>
      <p:sp>
        <p:nvSpPr>
          <p:cNvPr id="48" name="文本框 47" descr="{&quot;isTemplate&quot;:true,&quot;type&quot;:&quot;text&quot;}"/>
          <p:cNvSpPr txBox="1"/>
          <p:nvPr/>
        </p:nvSpPr>
        <p:spPr>
          <a:xfrm>
            <a:off x="838200" y="3171825"/>
            <a:ext cx="10515600" cy="276225"/>
          </a:xfrm>
          <a:prstGeom prst="rect">
            <a:avLst/>
          </a:prstGeom>
        </p:spPr>
        <p:txBody>
          <a:bodyPr wrap="none" lIns="0" tIns="0" rIns="0" bIns="0"/>
          <a:p>
            <a:pPr>
              <a:lnSpc>
                <a:spcPct val="155000"/>
              </a:lnSpc>
            </a:pPr>
            <a:r>
              <a:rPr lang="zh-CN" sz="1165" b="1">
                <a:solidFill>
                  <a:srgbClr val="C4B5FD"/>
                </a:solidFill>
                <a:latin typeface="微软雅黑" panose="020B0503020204020204" charset="-122"/>
                <a:ea typeface="微软雅黑" panose="020B0503020204020204" charset="-122"/>
              </a:rPr>
              <a:t>项目目标：</a:t>
            </a:r>
            <a:r>
              <a:rPr lang="zh-CN" sz="1165">
                <a:solidFill>
                  <a:srgbClr val="E2E8F0"/>
                </a:solidFill>
                <a:latin typeface="微软雅黑" panose="020B0503020204020204" charset="-122"/>
                <a:ea typeface="微软雅黑" panose="020B0503020204020204" charset="-122"/>
              </a:rPr>
              <a:t>实现产业前沿技术可监测、可追踪、可预判，服务科技创新管理与技术布局决策。</a:t>
            </a:r>
            <a:endParaRPr lang="zh-CN" sz="1165">
              <a:solidFill>
                <a:srgbClr val="E2E8F0"/>
              </a:solidFill>
              <a:latin typeface="微软雅黑" panose="020B0503020204020204" charset="-122"/>
              <a:ea typeface="微软雅黑" panose="020B0503020204020204" charset="-122"/>
            </a:endParaRPr>
          </a:p>
        </p:txBody>
      </p:sp>
      <p:sp>
        <p:nvSpPr>
          <p:cNvPr id="49" name="圆角矩形 48"/>
          <p:cNvSpPr/>
          <p:nvPr/>
        </p:nvSpPr>
        <p:spPr>
          <a:xfrm>
            <a:off x="609600" y="3676650"/>
            <a:ext cx="5334000" cy="466725"/>
          </a:xfrm>
          <a:prstGeom prst="roundRect">
            <a:avLst>
              <a:gd name="adj" fmla="val 20408"/>
            </a:avLst>
          </a:prstGeom>
          <a:solidFill>
            <a:srgbClr val="111B2E"/>
          </a:solidFill>
        </p:spPr>
        <p:txBody>
          <a:bodyPr/>
          <a:p/>
        </p:txBody>
      </p:sp>
      <p:sp>
        <p:nvSpPr>
          <p:cNvPr id="50" name="文本框 49" descr="{&quot;isTemplate&quot;:true,&quot;type&quot;:&quot;text&quot;}"/>
          <p:cNvSpPr txBox="1"/>
          <p:nvPr/>
        </p:nvSpPr>
        <p:spPr>
          <a:xfrm>
            <a:off x="781050" y="37814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①</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专利、文献、技术资料的结构化解析与标签化处理</a:t>
            </a:r>
            <a:endParaRPr lang="zh-CN" sz="1090">
              <a:solidFill>
                <a:srgbClr val="E2E8F0"/>
              </a:solidFill>
              <a:latin typeface="微软雅黑" panose="020B0503020204020204" charset="-122"/>
              <a:ea typeface="微软雅黑" panose="020B0503020204020204" charset="-122"/>
            </a:endParaRPr>
          </a:p>
        </p:txBody>
      </p:sp>
      <p:sp>
        <p:nvSpPr>
          <p:cNvPr id="51" name="圆角矩形 50"/>
          <p:cNvSpPr/>
          <p:nvPr/>
        </p:nvSpPr>
        <p:spPr>
          <a:xfrm>
            <a:off x="6057900" y="3676650"/>
            <a:ext cx="5334000" cy="466725"/>
          </a:xfrm>
          <a:prstGeom prst="roundRect">
            <a:avLst>
              <a:gd name="adj" fmla="val 20408"/>
            </a:avLst>
          </a:prstGeom>
          <a:solidFill>
            <a:srgbClr val="111B2E"/>
          </a:solidFill>
        </p:spPr>
        <p:txBody>
          <a:bodyPr/>
          <a:p/>
        </p:txBody>
      </p:sp>
      <p:sp>
        <p:nvSpPr>
          <p:cNvPr id="52" name="文本框 51" descr="{&quot;isTemplate&quot;:true,&quot;type&quot;:&quot;text&quot;}"/>
          <p:cNvSpPr txBox="1"/>
          <p:nvPr/>
        </p:nvSpPr>
        <p:spPr>
          <a:xfrm>
            <a:off x="6229350" y="37814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②</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技术路线图谱自动构建、技术代际演进分析</a:t>
            </a:r>
            <a:endParaRPr lang="zh-CN" sz="1090">
              <a:solidFill>
                <a:srgbClr val="E2E8F0"/>
              </a:solidFill>
              <a:latin typeface="微软雅黑" panose="020B0503020204020204" charset="-122"/>
              <a:ea typeface="微软雅黑" panose="020B0503020204020204" charset="-122"/>
            </a:endParaRPr>
          </a:p>
        </p:txBody>
      </p:sp>
      <p:sp>
        <p:nvSpPr>
          <p:cNvPr id="53" name="圆角矩形 52"/>
          <p:cNvSpPr/>
          <p:nvPr/>
        </p:nvSpPr>
        <p:spPr>
          <a:xfrm>
            <a:off x="609600" y="4257675"/>
            <a:ext cx="5334000" cy="466725"/>
          </a:xfrm>
          <a:prstGeom prst="roundRect">
            <a:avLst>
              <a:gd name="adj" fmla="val 20408"/>
            </a:avLst>
          </a:prstGeom>
          <a:solidFill>
            <a:srgbClr val="111B2E"/>
          </a:solidFill>
        </p:spPr>
        <p:txBody>
          <a:bodyPr/>
          <a:p/>
        </p:txBody>
      </p:sp>
      <p:sp>
        <p:nvSpPr>
          <p:cNvPr id="54" name="文本框 53" descr="{&quot;isTemplate&quot;:true,&quot;type&quot;:&quot;text&quot;}"/>
          <p:cNvSpPr txBox="1"/>
          <p:nvPr/>
        </p:nvSpPr>
        <p:spPr>
          <a:xfrm>
            <a:off x="781050" y="43624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③</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前沿热点挖掘、新兴技术信号捕捉、技术趋势预警</a:t>
            </a:r>
            <a:endParaRPr lang="zh-CN" sz="1090">
              <a:solidFill>
                <a:srgbClr val="E2E8F0"/>
              </a:solidFill>
              <a:latin typeface="微软雅黑" panose="020B0503020204020204" charset="-122"/>
              <a:ea typeface="微软雅黑" panose="020B0503020204020204" charset="-122"/>
            </a:endParaRPr>
          </a:p>
        </p:txBody>
      </p:sp>
      <p:sp>
        <p:nvSpPr>
          <p:cNvPr id="55" name="圆角矩形 54"/>
          <p:cNvSpPr/>
          <p:nvPr/>
        </p:nvSpPr>
        <p:spPr>
          <a:xfrm>
            <a:off x="6057900" y="4257675"/>
            <a:ext cx="5334000" cy="466725"/>
          </a:xfrm>
          <a:prstGeom prst="roundRect">
            <a:avLst>
              <a:gd name="adj" fmla="val 20408"/>
            </a:avLst>
          </a:prstGeom>
          <a:solidFill>
            <a:srgbClr val="111B2E"/>
          </a:solidFill>
        </p:spPr>
        <p:txBody>
          <a:bodyPr/>
          <a:p/>
        </p:txBody>
      </p:sp>
      <p:sp>
        <p:nvSpPr>
          <p:cNvPr id="56" name="文本框 55" descr="{&quot;isTemplate&quot;:true,&quot;type&quot;:&quot;text&quot;}"/>
          <p:cNvSpPr txBox="1"/>
          <p:nvPr/>
        </p:nvSpPr>
        <p:spPr>
          <a:xfrm>
            <a:off x="6229350" y="43624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④</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企业专利壁垒、技术竞争力、赛道竞争格局分析</a:t>
            </a:r>
            <a:endParaRPr lang="zh-CN" sz="1090">
              <a:solidFill>
                <a:srgbClr val="E2E8F0"/>
              </a:solidFill>
              <a:latin typeface="微软雅黑" panose="020B0503020204020204" charset="-122"/>
              <a:ea typeface="微软雅黑" panose="020B0503020204020204" charset="-122"/>
            </a:endParaRPr>
          </a:p>
        </p:txBody>
      </p:sp>
      <p:sp>
        <p:nvSpPr>
          <p:cNvPr id="57" name="圆角矩形 56"/>
          <p:cNvSpPr/>
          <p:nvPr/>
        </p:nvSpPr>
        <p:spPr>
          <a:xfrm>
            <a:off x="609600" y="4838700"/>
            <a:ext cx="10972800" cy="381000"/>
          </a:xfrm>
          <a:prstGeom prst="roundRect">
            <a:avLst>
              <a:gd name="adj" fmla="val 25000"/>
            </a:avLst>
          </a:prstGeom>
          <a:solidFill>
            <a:srgbClr val="8B5CF6">
              <a:alpha val="8000"/>
            </a:srgbClr>
          </a:solidFill>
          <a:ln w="12700">
            <a:solidFill>
              <a:srgbClr val="8B5CF6">
                <a:alpha val="30000"/>
              </a:srgbClr>
            </a:solidFill>
            <a:prstDash val="solid"/>
          </a:ln>
        </p:spPr>
        <p:txBody>
          <a:bodyPr/>
          <a:p/>
        </p:txBody>
      </p:sp>
      <p:sp>
        <p:nvSpPr>
          <p:cNvPr id="58" name="文本框 57" descr="{&quot;isTemplate&quot;:true,&quot;type&quot;:&quot;text&quot;}"/>
          <p:cNvSpPr txBox="1"/>
          <p:nvPr/>
        </p:nvSpPr>
        <p:spPr>
          <a:xfrm>
            <a:off x="819150" y="4953000"/>
            <a:ext cx="533400" cy="161925"/>
          </a:xfrm>
          <a:prstGeom prst="rect">
            <a:avLst/>
          </a:prstGeom>
        </p:spPr>
        <p:txBody>
          <a:bodyPr wrap="none" lIns="0" tIns="0" rIns="0" bIns="0"/>
          <a:p>
            <a:pPr>
              <a:lnSpc>
                <a:spcPct val="100000"/>
              </a:lnSpc>
            </a:pPr>
            <a:r>
              <a:rPr lang="zh-CN" sz="1050" b="1">
                <a:solidFill>
                  <a:srgbClr val="C4B5FD"/>
                </a:solidFill>
                <a:latin typeface="微软雅黑" panose="020B0503020204020204" charset="-122"/>
                <a:ea typeface="微软雅黑" panose="020B0503020204020204" charset="-122"/>
              </a:rPr>
              <a:t>选题适配</a:t>
            </a:r>
            <a:endParaRPr lang="zh-CN" sz="1050" b="1">
              <a:solidFill>
                <a:srgbClr val="C4B5FD"/>
              </a:solidFill>
              <a:latin typeface="微软雅黑" panose="020B0503020204020204" charset="-122"/>
              <a:ea typeface="微软雅黑" panose="020B0503020204020204" charset="-122"/>
            </a:endParaRPr>
          </a:p>
        </p:txBody>
      </p:sp>
      <p:sp>
        <p:nvSpPr>
          <p:cNvPr id="59" name="文本框 58" descr="{&quot;isTemplate&quot;:true,&quot;type&quot;:&quot;text&quot;}"/>
          <p:cNvSpPr txBox="1"/>
          <p:nvPr/>
        </p:nvSpPr>
        <p:spPr>
          <a:xfrm>
            <a:off x="1466850" y="4943475"/>
            <a:ext cx="3181350"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适合文本挖掘、情报分析、技术图谱构建方向的团队</a:t>
            </a:r>
            <a:endParaRPr lang="zh-CN" sz="1090">
              <a:solidFill>
                <a:srgbClr val="E2E8F0"/>
              </a:solidFill>
              <a:latin typeface="微软雅黑" panose="020B0503020204020204" charset="-122"/>
              <a:ea typeface="微软雅黑" panose="020B0503020204020204" charset="-122"/>
            </a:endParaRPr>
          </a:p>
        </p:txBody>
      </p:sp>
      <p:sp>
        <p:nvSpPr>
          <p:cNvPr id="60" name="文本框 59"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61" name="文本框 60"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11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2" name="" descr="&lt;Slide style={{ width: 1280, height: 720, background: '#0B1220', padding: '20px 64px', display: 'flex', flexDirection: 'column' }}&gt;&#13;&#10;    &lt;Box style={{ flexDirection: 'row', height: 96, alignItems: 'center' }}&gt;&#13;&#10;        &lt;Box style={{ width: 6, height: 44, background: 'linear-gradient(180deg, #8B5CF6 0%, #22D3EE 100%)', borderRadius: 3, marginRight: 20 }} /&gt;&#13;&#10;        &lt;Text style={{ fontSize: 30, fontWeight: 'bold', color: '#E2E8F0' }}&gt;课题 7 · 技术转化智能匹配与产学研对接&lt;/Text&gt;&#13;&#10;        &lt;Box style={{ marginLeft: 18, background: 'rgba(139,92,246,0.14)', borderRadius: 8, padding: '5px 14px', border: '1px solid rgba(139,92,246,0.45)' }}&gt;&#13;&#10;            &lt;Text style={{ fontSize: 14, color: '#C4B5FD' }}&gt;上层产业应用&lt;/Text&gt;&#13;&#10;        &lt;/Box&gt;&#13;&#10;    &lt;/Box&gt;&#13;&#10;    &lt;Box style={{ flex: 1, flexDirection: 'column', gap: 12, justifyContent: 'center' }}&gt;&#13;&#10;        &lt;Box style={{ background: '#111B2E', borderRadius: 12, padding: '14px 24px', borderLeft: '4px solid #8B5CF6' }}&gt;&#13;&#10;            &lt;Text style={{ fontSize: 16, color: '#E2E8F0', lineHeight: 1.65 }}&gt;&lt;span style={{ fontWeight: 'bold', color: '#C4B5FD' }}&gt;课题定义：&lt;/span&gt;面向高校科研成果转化、企业技术攻关需求，搭建科研成果与产业需求智能匹配、技术成熟度评估、产学研合作智能推荐的对接服务平台。&lt;/Text&gt;&#13;&#10;        &lt;/Box&gt;&#13;&#10;        &lt;Box style={{ background: 'rgba(139,92,246,0.07)', borderRadius: 10, padding: '12px 24px', border: '1px solid rgba(139,92,246,0.3)' }}&gt;&#13;&#10;            &lt;Text style={{ fontSize: 15.5, color: '#E2E8F0', lineHeight: 1.55 }}&gt;&lt;span style={{ fontWeight: 'bold', color: '#C4B5FD' }}&gt;项目目标：&lt;/span&gt;破解科研成果闲置、技术供需错配、产学研对接效率低的产业痛点。&lt;/Text&gt;&#13;&#10;        &lt;/Box&gt;&#13;&#10;        &lt;Box style={{ flexDirection: 'row', flexWrap: 'wrap', gap: 12 }}&gt;&#13;&#10;            &lt;Box style={{ width: 560, background: '#111B2E', borderRadius: 10, padding: '11px 18px' }}&gt;&lt;Text style={{ fontSize: 14.5, color: '#E2E8F0', lineHeight: 1.5 }}&gt;&lt;span style={{ fontWeight: 'bold', color: '#C4B5FD' }}&gt;①&lt;/span&gt; 科研成果结构化入库、标签化、体系化管理&lt;/Text&gt;&lt;/Box&gt;&#13;&#10;            &lt;Box style={{ width: 560, background: '#111B2E', borderRadius: 10, padding: '11px 18px' }}&gt;&lt;Text style={{ fontSize: 14.5, color: '#E2E8F0', lineHeight: 1.5 }}&gt;&lt;span style={{ fontWeight: 'bold', color: '#C4B5FD' }}&gt;②&lt;/span&gt; 企业技术需求智能解析、痛点抽取、需求标签构建&lt;/Text&gt;&lt;/Box&gt;&#13;&#10;            &lt;Box style={{ width: 560, background: '#111B2E', borderRadius: 10, padding: '11px 18px' }}&gt;&lt;Text style={{ fontSize: 14.5, color: '#E2E8F0', lineHeight: 1.5 }}&gt;&lt;span style={{ fontWeight: 'bold', color: '#C4B5FD' }}&gt;③&lt;/span&gt; 大模型智能匹配算法、供需适配度量化打分&lt;/Text&gt;&lt;/Box&gt;&#13;&#10;            &lt;Box style={{ width: 560, background: '#111B2E', borderRadius: 10, padding: '11px 18px' }}&gt;&lt;Text style={{ fontSize: 14.5, color: '#E2E8F0', lineHeight: 1.5 }}&gt;&lt;span style={{ fontWeight: 'bold', color: '#C4B5FD' }}&gt;④&lt;/span&gt; 技术转化风险评估、产学研合作方案智能推荐&lt;/Text&gt;&lt;/Box&gt;&#13;&#10;        &lt;/Box&gt;&#13;&#10;        &lt;Box style={{ flexDirection: 'row', alignItems: 'center', gap: 12, background: 'rgba(139,92,246,0.08)', borderRadius: 10, padding: '11px 22px', border: '1px solid rgba(139,92,246,0.3)' }}&gt;&#13;&#10;            &lt;Text style={{ fontSize: 14, color: '#C4B5FD', fontWeight: 'bold' }}&gt;选题适配&lt;/Text&gt;&#13;&#10;            &lt;Text style={{ fontSize: 14.5, color: '#E2E8F0' }}&gt;业务逻辑清晰、落地价值高，适合推荐系统、智能匹配、业务中台方向的团队&lt;/Text&gt;&#13;&#10;        &lt;/Box&gt;&#13;&#10;    &lt;/Box&gt;&#13;&#10;    &lt;Box style={{ height: 40, flexDirection: 'row', justifyContent: 'space-between', alignItems: 'center', marginTop: 12 }}&gt;&#13;&#10;        &lt;Text style={{ fontSize: 14, color: '#94A3B8' }}&gt;01 十大创新实践课题&lt;/Text&gt;&#13;&#10;        &lt;Text style={{ fontSize: 14, color: '#94A3B8' }}&gt;12 / 47&lt;/Text&gt;&#13;&#10;    &lt;/Box&gt;&#13;&#10;&lt;/Slide&gt;&#13;&#10;"/>
        <p:cNvGrpSpPr/>
        <p:nvPr/>
      </p:nvGrpSpPr>
      <p:grpSpPr>
        <a:xfrm>
          <a:off x="0" y="0"/>
          <a:ext cx="0" cy="0"/>
          <a:chOff x="0" y="0"/>
          <a:chExt cx="0" cy="0"/>
        </a:xfrm>
      </p:grpSpPr>
      <p:sp>
        <p:nvSpPr>
          <p:cNvPr id="63" name="矩形 62"/>
          <p:cNvSpPr/>
          <p:nvPr/>
        </p:nvSpPr>
        <p:spPr>
          <a:xfrm>
            <a:off x="0" y="0"/>
            <a:ext cx="12192000" cy="6858000"/>
          </a:xfrm>
          <a:prstGeom prst="rect">
            <a:avLst/>
          </a:prstGeom>
          <a:solidFill>
            <a:srgbClr val="0B1220"/>
          </a:solidFill>
        </p:spPr>
        <p:txBody>
          <a:bodyPr/>
          <a:p/>
        </p:txBody>
      </p:sp>
      <p:sp>
        <p:nvSpPr>
          <p:cNvPr id="64" name="圆角矩形 63"/>
          <p:cNvSpPr/>
          <p:nvPr/>
        </p:nvSpPr>
        <p:spPr>
          <a:xfrm>
            <a:off x="609600" y="438150"/>
            <a:ext cx="57150" cy="419100"/>
          </a:xfrm>
          <a:prstGeom prst="roundRect">
            <a:avLst>
              <a:gd name="adj" fmla="val 50000"/>
            </a:avLst>
          </a:prstGeom>
          <a:gradFill>
            <a:gsLst>
              <a:gs pos="0">
                <a:srgbClr val="8B5CF6"/>
              </a:gs>
              <a:gs pos="100000">
                <a:srgbClr val="22D3EE"/>
              </a:gs>
            </a:gsLst>
            <a:lin ang="5400000" scaled="1"/>
          </a:gradFill>
        </p:spPr>
        <p:txBody>
          <a:bodyPr/>
          <a:p/>
        </p:txBody>
      </p:sp>
      <p:sp>
        <p:nvSpPr>
          <p:cNvPr id="65" name="文本框 64" descr="{&quot;isTemplate&quot;:true,&quot;type&quot;:&quot;text&quot;}"/>
          <p:cNvSpPr txBox="1"/>
          <p:nvPr/>
        </p:nvSpPr>
        <p:spPr>
          <a:xfrm>
            <a:off x="857250" y="476250"/>
            <a:ext cx="5133975" cy="342900"/>
          </a:xfrm>
          <a:prstGeom prst="rect">
            <a:avLst/>
          </a:prstGeom>
        </p:spPr>
        <p:txBody>
          <a:bodyPr wrap="none" lIns="0" tIns="0" rIns="0" bIns="0"/>
          <a:p>
            <a:pPr>
              <a:lnSpc>
                <a:spcPct val="100000"/>
              </a:lnSpc>
            </a:pPr>
            <a:r>
              <a:rPr lang="zh-CN" sz="2250" b="1">
                <a:solidFill>
                  <a:srgbClr val="E2E8F0"/>
                </a:solidFill>
                <a:latin typeface="微软雅黑" panose="020B0503020204020204" charset="-122"/>
                <a:ea typeface="微软雅黑" panose="020B0503020204020204" charset="-122"/>
              </a:rPr>
              <a:t>课题</a:t>
            </a:r>
            <a:r>
              <a:rPr lang="en-US" sz="2250" b="1">
                <a:solidFill>
                  <a:srgbClr val="E2E8F0"/>
                </a:solidFill>
                <a:latin typeface="微软雅黑" panose="020B0503020204020204" charset="-122"/>
                <a:ea typeface="微软雅黑" panose="020B0503020204020204" charset="-122"/>
              </a:rPr>
              <a:t> 7 · </a:t>
            </a:r>
            <a:r>
              <a:rPr lang="zh-CN" sz="2250" b="1">
                <a:solidFill>
                  <a:srgbClr val="E2E8F0"/>
                </a:solidFill>
                <a:latin typeface="微软雅黑" panose="020B0503020204020204" charset="-122"/>
                <a:ea typeface="微软雅黑" panose="020B0503020204020204" charset="-122"/>
              </a:rPr>
              <a:t>技术转化智能匹配与产学研对接</a:t>
            </a:r>
            <a:endParaRPr lang="zh-CN" sz="2250" b="1">
              <a:solidFill>
                <a:srgbClr val="E2E8F0"/>
              </a:solidFill>
              <a:latin typeface="微软雅黑" panose="020B0503020204020204" charset="-122"/>
              <a:ea typeface="微软雅黑" panose="020B0503020204020204" charset="-122"/>
            </a:endParaRPr>
          </a:p>
        </p:txBody>
      </p:sp>
      <p:sp>
        <p:nvSpPr>
          <p:cNvPr id="66" name="圆角矩形 65"/>
          <p:cNvSpPr/>
          <p:nvPr/>
        </p:nvSpPr>
        <p:spPr>
          <a:xfrm>
            <a:off x="6162675" y="523875"/>
            <a:ext cx="1066800" cy="257175"/>
          </a:xfrm>
          <a:prstGeom prst="roundRect">
            <a:avLst>
              <a:gd name="adj" fmla="val 29630"/>
            </a:avLst>
          </a:prstGeom>
          <a:solidFill>
            <a:srgbClr val="8B5CF6">
              <a:alpha val="14000"/>
            </a:srgbClr>
          </a:solidFill>
          <a:ln w="12700">
            <a:solidFill>
              <a:srgbClr val="8B5CF6">
                <a:alpha val="45000"/>
              </a:srgbClr>
            </a:solidFill>
            <a:prstDash val="solid"/>
          </a:ln>
        </p:spPr>
        <p:txBody>
          <a:bodyPr/>
          <a:p/>
        </p:txBody>
      </p:sp>
      <p:sp>
        <p:nvSpPr>
          <p:cNvPr id="67" name="文本框 66" descr="{&quot;isTemplate&quot;:true,&quot;type&quot;:&quot;text&quot;}"/>
          <p:cNvSpPr txBox="1"/>
          <p:nvPr/>
        </p:nvSpPr>
        <p:spPr>
          <a:xfrm>
            <a:off x="6296025" y="571500"/>
            <a:ext cx="800100" cy="161925"/>
          </a:xfrm>
          <a:prstGeom prst="rect">
            <a:avLst/>
          </a:prstGeom>
        </p:spPr>
        <p:txBody>
          <a:bodyPr wrap="none" lIns="0" tIns="0" rIns="0" bIns="0"/>
          <a:p>
            <a:pPr>
              <a:lnSpc>
                <a:spcPct val="100000"/>
              </a:lnSpc>
            </a:pPr>
            <a:r>
              <a:rPr lang="zh-CN" sz="1050">
                <a:solidFill>
                  <a:srgbClr val="C4B5FD"/>
                </a:solidFill>
                <a:latin typeface="微软雅黑" panose="020B0503020204020204" charset="-122"/>
                <a:ea typeface="微软雅黑" panose="020B0503020204020204" charset="-122"/>
              </a:rPr>
              <a:t>上层产业应用</a:t>
            </a:r>
            <a:endParaRPr lang="zh-CN" sz="1050">
              <a:solidFill>
                <a:srgbClr val="C4B5FD"/>
              </a:solidFill>
              <a:latin typeface="微软雅黑" panose="020B0503020204020204" charset="-122"/>
              <a:ea typeface="微软雅黑" panose="020B0503020204020204" charset="-122"/>
            </a:endParaRPr>
          </a:p>
        </p:txBody>
      </p:sp>
      <p:sp>
        <p:nvSpPr>
          <p:cNvPr id="68" name="圆角矩形 67"/>
          <p:cNvSpPr/>
          <p:nvPr/>
        </p:nvSpPr>
        <p:spPr>
          <a:xfrm>
            <a:off x="647700" y="2219325"/>
            <a:ext cx="10972800" cy="571500"/>
          </a:xfrm>
          <a:prstGeom prst="roundRect">
            <a:avLst>
              <a:gd name="adj" fmla="val 20000"/>
            </a:avLst>
          </a:prstGeom>
          <a:solidFill>
            <a:srgbClr val="111B2E"/>
          </a:solidFill>
        </p:spPr>
        <p:txBody>
          <a:bodyPr/>
          <a:p/>
        </p:txBody>
      </p:sp>
      <p:sp>
        <p:nvSpPr>
          <p:cNvPr id="69" name="任意多边形 68"/>
          <p:cNvSpPr/>
          <p:nvPr/>
        </p:nvSpPr>
        <p:spPr>
          <a:xfrm>
            <a:off x="647700" y="2219325"/>
            <a:ext cx="10972800" cy="571500"/>
          </a:xfrm>
          <a:custGeom>
            <a:avLst/>
            <a:gdLst/>
            <a:ahLst/>
            <a:cxnLst/>
            <a:pathLst>
              <a:path w="1152" h="60">
                <a:moveTo>
                  <a:pt x="11" y="0"/>
                </a:moveTo>
                <a:cubicBezTo>
                  <a:pt x="7" y="0"/>
                  <a:pt x="4" y="4"/>
                  <a:pt x="4" y="8"/>
                </a:cubicBezTo>
                <a:lnTo>
                  <a:pt x="4" y="52"/>
                </a:lnTo>
                <a:cubicBezTo>
                  <a:pt x="4" y="56"/>
                  <a:pt x="7" y="59"/>
                  <a:pt x="10" y="60"/>
                </a:cubicBezTo>
                <a:cubicBezTo>
                  <a:pt x="4" y="59"/>
                  <a:pt x="0" y="54"/>
                  <a:pt x="0" y="48"/>
                </a:cubicBezTo>
                <a:lnTo>
                  <a:pt x="0" y="12"/>
                </a:lnTo>
                <a:cubicBezTo>
                  <a:pt x="0" y="6"/>
                  <a:pt x="5" y="0"/>
                  <a:pt x="12" y="0"/>
                </a:cubicBezTo>
                <a:close/>
              </a:path>
            </a:pathLst>
          </a:custGeom>
          <a:solidFill>
            <a:srgbClr val="8B5CF6"/>
          </a:solidFill>
        </p:spPr>
        <p:txBody>
          <a:bodyPr/>
          <a:p/>
        </p:txBody>
      </p:sp>
      <p:sp>
        <p:nvSpPr>
          <p:cNvPr id="70" name="文本框 69" descr="{&quot;isTemplate&quot;:true,&quot;type&quot;:&quot;text&quot;}"/>
          <p:cNvSpPr txBox="1"/>
          <p:nvPr/>
        </p:nvSpPr>
        <p:spPr>
          <a:xfrm>
            <a:off x="876300" y="2352675"/>
            <a:ext cx="10477500" cy="304800"/>
          </a:xfrm>
          <a:prstGeom prst="rect">
            <a:avLst/>
          </a:prstGeom>
        </p:spPr>
        <p:txBody>
          <a:bodyPr wrap="none" lIns="0" tIns="0" rIns="0" bIns="0"/>
          <a:p>
            <a:pPr>
              <a:lnSpc>
                <a:spcPct val="165000"/>
              </a:lnSpc>
            </a:pPr>
            <a:r>
              <a:rPr lang="zh-CN" sz="1200" b="1">
                <a:solidFill>
                  <a:srgbClr val="C4B5FD"/>
                </a:solidFill>
                <a:latin typeface="微软雅黑" panose="020B0503020204020204" charset="-122"/>
                <a:ea typeface="微软雅黑" panose="020B0503020204020204" charset="-122"/>
              </a:rPr>
              <a:t>课题定义：</a:t>
            </a:r>
            <a:r>
              <a:rPr lang="zh-CN" sz="1200">
                <a:solidFill>
                  <a:srgbClr val="E2E8F0"/>
                </a:solidFill>
                <a:latin typeface="微软雅黑" panose="020B0503020204020204" charset="-122"/>
                <a:ea typeface="微软雅黑" panose="020B0503020204020204" charset="-122"/>
              </a:rPr>
              <a:t>面向高校科研成果转化、企业技术攻关需求，搭建科研成果与产业需求智能匹配、技术成熟度评估、产学研合作智能推荐的对接服务平台。</a:t>
            </a:r>
            <a:endParaRPr lang="zh-CN" sz="1200">
              <a:solidFill>
                <a:srgbClr val="E2E8F0"/>
              </a:solidFill>
              <a:latin typeface="微软雅黑" panose="020B0503020204020204" charset="-122"/>
              <a:ea typeface="微软雅黑" panose="020B0503020204020204" charset="-122"/>
            </a:endParaRPr>
          </a:p>
        </p:txBody>
      </p:sp>
      <p:sp>
        <p:nvSpPr>
          <p:cNvPr id="71" name="圆角矩形 70"/>
          <p:cNvSpPr/>
          <p:nvPr/>
        </p:nvSpPr>
        <p:spPr>
          <a:xfrm>
            <a:off x="609600" y="2905125"/>
            <a:ext cx="10972800" cy="504825"/>
          </a:xfrm>
          <a:prstGeom prst="roundRect">
            <a:avLst>
              <a:gd name="adj" fmla="val 18868"/>
            </a:avLst>
          </a:prstGeom>
          <a:solidFill>
            <a:srgbClr val="8B5CF6">
              <a:alpha val="7000"/>
            </a:srgbClr>
          </a:solidFill>
          <a:ln w="12700">
            <a:solidFill>
              <a:srgbClr val="8B5CF6">
                <a:alpha val="30000"/>
              </a:srgbClr>
            </a:solidFill>
            <a:prstDash val="solid"/>
          </a:ln>
        </p:spPr>
        <p:txBody>
          <a:bodyPr/>
          <a:p/>
        </p:txBody>
      </p:sp>
      <p:sp>
        <p:nvSpPr>
          <p:cNvPr id="72" name="文本框 71" descr="{&quot;isTemplate&quot;:true,&quot;type&quot;:&quot;text&quot;}"/>
          <p:cNvSpPr txBox="1"/>
          <p:nvPr/>
        </p:nvSpPr>
        <p:spPr>
          <a:xfrm>
            <a:off x="838200" y="3019425"/>
            <a:ext cx="10515600" cy="276225"/>
          </a:xfrm>
          <a:prstGeom prst="rect">
            <a:avLst/>
          </a:prstGeom>
        </p:spPr>
        <p:txBody>
          <a:bodyPr wrap="none" lIns="0" tIns="0" rIns="0" bIns="0"/>
          <a:p>
            <a:pPr>
              <a:lnSpc>
                <a:spcPct val="155000"/>
              </a:lnSpc>
            </a:pPr>
            <a:r>
              <a:rPr lang="zh-CN" sz="1165" b="1">
                <a:solidFill>
                  <a:srgbClr val="C4B5FD"/>
                </a:solidFill>
                <a:latin typeface="微软雅黑" panose="020B0503020204020204" charset="-122"/>
                <a:ea typeface="微软雅黑" panose="020B0503020204020204" charset="-122"/>
              </a:rPr>
              <a:t>项目目标：</a:t>
            </a:r>
            <a:r>
              <a:rPr lang="zh-CN" sz="1165">
                <a:solidFill>
                  <a:srgbClr val="E2E8F0"/>
                </a:solidFill>
                <a:latin typeface="微软雅黑" panose="020B0503020204020204" charset="-122"/>
                <a:ea typeface="微软雅黑" panose="020B0503020204020204" charset="-122"/>
              </a:rPr>
              <a:t>破解科研成果闲置、技术供需错配、产学研对接效率低的产业痛点。</a:t>
            </a:r>
            <a:endParaRPr lang="zh-CN" sz="1165">
              <a:solidFill>
                <a:srgbClr val="E2E8F0"/>
              </a:solidFill>
              <a:latin typeface="微软雅黑" panose="020B0503020204020204" charset="-122"/>
              <a:ea typeface="微软雅黑" panose="020B0503020204020204" charset="-122"/>
            </a:endParaRPr>
          </a:p>
        </p:txBody>
      </p:sp>
      <p:sp>
        <p:nvSpPr>
          <p:cNvPr id="73" name="圆角矩形 72"/>
          <p:cNvSpPr/>
          <p:nvPr/>
        </p:nvSpPr>
        <p:spPr>
          <a:xfrm>
            <a:off x="609600" y="3524250"/>
            <a:ext cx="5334000" cy="466725"/>
          </a:xfrm>
          <a:prstGeom prst="roundRect">
            <a:avLst>
              <a:gd name="adj" fmla="val 20408"/>
            </a:avLst>
          </a:prstGeom>
          <a:solidFill>
            <a:srgbClr val="111B2E"/>
          </a:solidFill>
        </p:spPr>
        <p:txBody>
          <a:bodyPr/>
          <a:p/>
        </p:txBody>
      </p:sp>
      <p:sp>
        <p:nvSpPr>
          <p:cNvPr id="74" name="文本框 73" descr="{&quot;isTemplate&quot;:true,&quot;type&quot;:&quot;text&quot;}"/>
          <p:cNvSpPr txBox="1"/>
          <p:nvPr/>
        </p:nvSpPr>
        <p:spPr>
          <a:xfrm>
            <a:off x="781050" y="36290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①</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科研成果结构化入库、标签化、体系化管理</a:t>
            </a:r>
            <a:endParaRPr lang="zh-CN" sz="1090">
              <a:solidFill>
                <a:srgbClr val="E2E8F0"/>
              </a:solidFill>
              <a:latin typeface="微软雅黑" panose="020B0503020204020204" charset="-122"/>
              <a:ea typeface="微软雅黑" panose="020B0503020204020204" charset="-122"/>
            </a:endParaRPr>
          </a:p>
        </p:txBody>
      </p:sp>
      <p:sp>
        <p:nvSpPr>
          <p:cNvPr id="75" name="圆角矩形 74"/>
          <p:cNvSpPr/>
          <p:nvPr/>
        </p:nvSpPr>
        <p:spPr>
          <a:xfrm>
            <a:off x="6057900" y="3524250"/>
            <a:ext cx="5334000" cy="466725"/>
          </a:xfrm>
          <a:prstGeom prst="roundRect">
            <a:avLst>
              <a:gd name="adj" fmla="val 20408"/>
            </a:avLst>
          </a:prstGeom>
          <a:solidFill>
            <a:srgbClr val="111B2E"/>
          </a:solidFill>
        </p:spPr>
        <p:txBody>
          <a:bodyPr/>
          <a:p/>
        </p:txBody>
      </p:sp>
      <p:sp>
        <p:nvSpPr>
          <p:cNvPr id="76" name="文本框 75" descr="{&quot;isTemplate&quot;:true,&quot;type&quot;:&quot;text&quot;}"/>
          <p:cNvSpPr txBox="1"/>
          <p:nvPr/>
        </p:nvSpPr>
        <p:spPr>
          <a:xfrm>
            <a:off x="6229350" y="36290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②</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企业技术需求智能解析、痛点抽取、需求标签构建</a:t>
            </a:r>
            <a:endParaRPr lang="zh-CN" sz="1090">
              <a:solidFill>
                <a:srgbClr val="E2E8F0"/>
              </a:solidFill>
              <a:latin typeface="微软雅黑" panose="020B0503020204020204" charset="-122"/>
              <a:ea typeface="微软雅黑" panose="020B0503020204020204" charset="-122"/>
            </a:endParaRPr>
          </a:p>
        </p:txBody>
      </p:sp>
      <p:sp>
        <p:nvSpPr>
          <p:cNvPr id="77" name="圆角矩形 76"/>
          <p:cNvSpPr/>
          <p:nvPr/>
        </p:nvSpPr>
        <p:spPr>
          <a:xfrm>
            <a:off x="609600" y="4105275"/>
            <a:ext cx="5334000" cy="466725"/>
          </a:xfrm>
          <a:prstGeom prst="roundRect">
            <a:avLst>
              <a:gd name="adj" fmla="val 20408"/>
            </a:avLst>
          </a:prstGeom>
          <a:solidFill>
            <a:srgbClr val="111B2E"/>
          </a:solidFill>
        </p:spPr>
        <p:txBody>
          <a:bodyPr/>
          <a:p/>
        </p:txBody>
      </p:sp>
      <p:sp>
        <p:nvSpPr>
          <p:cNvPr id="78" name="文本框 77" descr="{&quot;isTemplate&quot;:true,&quot;type&quot;:&quot;text&quot;}"/>
          <p:cNvSpPr txBox="1"/>
          <p:nvPr/>
        </p:nvSpPr>
        <p:spPr>
          <a:xfrm>
            <a:off x="781050" y="42100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③</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大模型智能匹配算法、供需适配度量化打分</a:t>
            </a:r>
            <a:endParaRPr lang="zh-CN" sz="1090">
              <a:solidFill>
                <a:srgbClr val="E2E8F0"/>
              </a:solidFill>
              <a:latin typeface="微软雅黑" panose="020B0503020204020204" charset="-122"/>
              <a:ea typeface="微软雅黑" panose="020B0503020204020204" charset="-122"/>
            </a:endParaRPr>
          </a:p>
        </p:txBody>
      </p:sp>
      <p:sp>
        <p:nvSpPr>
          <p:cNvPr id="79" name="圆角矩形 78"/>
          <p:cNvSpPr/>
          <p:nvPr/>
        </p:nvSpPr>
        <p:spPr>
          <a:xfrm>
            <a:off x="6057900" y="4105275"/>
            <a:ext cx="5334000" cy="466725"/>
          </a:xfrm>
          <a:prstGeom prst="roundRect">
            <a:avLst>
              <a:gd name="adj" fmla="val 20408"/>
            </a:avLst>
          </a:prstGeom>
          <a:solidFill>
            <a:srgbClr val="111B2E"/>
          </a:solidFill>
        </p:spPr>
        <p:txBody>
          <a:bodyPr/>
          <a:p/>
        </p:txBody>
      </p:sp>
      <p:sp>
        <p:nvSpPr>
          <p:cNvPr id="80" name="文本框 79" descr="{&quot;isTemplate&quot;:true,&quot;type&quot;:&quot;text&quot;}"/>
          <p:cNvSpPr txBox="1"/>
          <p:nvPr/>
        </p:nvSpPr>
        <p:spPr>
          <a:xfrm>
            <a:off x="6229350" y="42100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④</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技术转化风险评估、产学研合作方案智能推荐</a:t>
            </a:r>
            <a:endParaRPr lang="zh-CN" sz="1090">
              <a:solidFill>
                <a:srgbClr val="E2E8F0"/>
              </a:solidFill>
              <a:latin typeface="微软雅黑" panose="020B0503020204020204" charset="-122"/>
              <a:ea typeface="微软雅黑" panose="020B0503020204020204" charset="-122"/>
            </a:endParaRPr>
          </a:p>
        </p:txBody>
      </p:sp>
      <p:sp>
        <p:nvSpPr>
          <p:cNvPr id="81" name="圆角矩形 80"/>
          <p:cNvSpPr/>
          <p:nvPr/>
        </p:nvSpPr>
        <p:spPr>
          <a:xfrm>
            <a:off x="609600" y="4686300"/>
            <a:ext cx="10972800" cy="381000"/>
          </a:xfrm>
          <a:prstGeom prst="roundRect">
            <a:avLst>
              <a:gd name="adj" fmla="val 25000"/>
            </a:avLst>
          </a:prstGeom>
          <a:solidFill>
            <a:srgbClr val="8B5CF6">
              <a:alpha val="8000"/>
            </a:srgbClr>
          </a:solidFill>
          <a:ln w="12700">
            <a:solidFill>
              <a:srgbClr val="8B5CF6">
                <a:alpha val="30000"/>
              </a:srgbClr>
            </a:solidFill>
            <a:prstDash val="solid"/>
          </a:ln>
        </p:spPr>
        <p:txBody>
          <a:bodyPr/>
          <a:p/>
        </p:txBody>
      </p:sp>
      <p:sp>
        <p:nvSpPr>
          <p:cNvPr id="82" name="文本框 81" descr="{&quot;isTemplate&quot;:true,&quot;type&quot;:&quot;text&quot;}"/>
          <p:cNvSpPr txBox="1"/>
          <p:nvPr/>
        </p:nvSpPr>
        <p:spPr>
          <a:xfrm>
            <a:off x="819150" y="4800600"/>
            <a:ext cx="533400" cy="161925"/>
          </a:xfrm>
          <a:prstGeom prst="rect">
            <a:avLst/>
          </a:prstGeom>
        </p:spPr>
        <p:txBody>
          <a:bodyPr wrap="none" lIns="0" tIns="0" rIns="0" bIns="0"/>
          <a:p>
            <a:pPr>
              <a:lnSpc>
                <a:spcPct val="100000"/>
              </a:lnSpc>
            </a:pPr>
            <a:r>
              <a:rPr lang="zh-CN" sz="1050" b="1">
                <a:solidFill>
                  <a:srgbClr val="C4B5FD"/>
                </a:solidFill>
                <a:latin typeface="微软雅黑" panose="020B0503020204020204" charset="-122"/>
                <a:ea typeface="微软雅黑" panose="020B0503020204020204" charset="-122"/>
              </a:rPr>
              <a:t>选题适配</a:t>
            </a:r>
            <a:endParaRPr lang="zh-CN" sz="1050" b="1">
              <a:solidFill>
                <a:srgbClr val="C4B5FD"/>
              </a:solidFill>
              <a:latin typeface="微软雅黑" panose="020B0503020204020204" charset="-122"/>
              <a:ea typeface="微软雅黑" panose="020B0503020204020204" charset="-122"/>
            </a:endParaRPr>
          </a:p>
        </p:txBody>
      </p:sp>
      <p:sp>
        <p:nvSpPr>
          <p:cNvPr id="83" name="文本框 82" descr="{&quot;isTemplate&quot;:true,&quot;type&quot;:&quot;text&quot;}"/>
          <p:cNvSpPr txBox="1"/>
          <p:nvPr/>
        </p:nvSpPr>
        <p:spPr>
          <a:xfrm>
            <a:off x="1466850" y="4791075"/>
            <a:ext cx="4695825"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业务逻辑清晰、落地价值高，适合推荐系统、智能匹配、业务中台方向的团队</a:t>
            </a:r>
            <a:endParaRPr lang="zh-CN" sz="1090">
              <a:solidFill>
                <a:srgbClr val="E2E8F0"/>
              </a:solidFill>
              <a:latin typeface="微软雅黑" panose="020B0503020204020204" charset="-122"/>
              <a:ea typeface="微软雅黑" panose="020B0503020204020204" charset="-122"/>
            </a:endParaRPr>
          </a:p>
        </p:txBody>
      </p:sp>
      <p:sp>
        <p:nvSpPr>
          <p:cNvPr id="84" name="文本框 83"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85" name="文本框 84"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12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6" name="" descr="&lt;Slide style={{ width: 1280, height: 720, background: '#0B1220', padding: '20px 64px', display: 'flex', flexDirection: 'column' }}&gt;&#13;&#10;    &lt;Box style={{ flexDirection: 'row', height: 96, alignItems: 'center' }}&gt;&#13;&#10;        &lt;Box style={{ width: 6, height: 44, background: 'linear-gradient(180deg, #8B5CF6 0%, #22D3EE 100%)', borderRadius: 3, marginRight: 20 }} /&gt;&#13;&#10;        &lt;Text style={{ fontSize: 30, fontWeight: 'bold', color: '#E2E8F0' }}&gt;课题 8 · 链式智能招商推荐系统&lt;/Text&gt;&#13;&#10;        &lt;Box style={{ marginLeft: 18, background: 'rgba(139,92,246,0.14)', borderRadius: 8, padding: '5px 14px', border: '1px solid rgba(139,92,246,0.45)' }}&gt;&#13;&#10;            &lt;Text style={{ fontSize: 14, color: '#C4B5FD' }}&gt;上层产业应用&lt;/Text&gt;&#13;&#10;        &lt;/Box&gt;&#13;&#10;    &lt;/Box&gt;&#13;&#10;    &lt;Box style={{ flex: 1, flexDirection: 'column', gap: 12, justifyContent: 'center' }}&gt;&#13;&#10;        &lt;Box style={{ background: '#111B2E', borderRadius: 12, padding: '14px 24px', borderLeft: '4px solid #8B5CF6' }}&gt;&#13;&#10;            &lt;Text style={{ fontSize: 16, color: '#E2E8F0', lineHeight: 1.65 }}&gt;&lt;span style={{ fontWeight: 'bold', color: '#C4B5FD' }}&gt;课题定义：&lt;/span&gt;基于本地产业链短板与供需缺口，智能识别补链需求、挖掘目标企业、构建企业多维画像、评估落地适配度、自动生成招商方案，实现 AI 驱动的链式精准招商。&lt;/Text&gt;&#13;&#10;        &lt;/Box&gt;&#13;&#10;        &lt;Box style={{ background: 'rgba(139,92,246,0.07)', borderRadius: 10, padding: '12px 24px', border: '1px solid rgba(139,92,246,0.3)' }}&gt;&#13;&#10;            &lt;Text style={{ fontSize: 15.5, color: '#E2E8F0', lineHeight: 1.55 }}&gt;&lt;span style={{ fontWeight: 'bold', color: '#C4B5FD' }}&gt;项目目标：&lt;/span&gt;构建数据驱动、智能研判、精准匹配的现代化产业链招商决策工具。&lt;/Text&gt;&#13;&#10;        &lt;/Box&gt;&#13;&#10;        &lt;Box style={{ flexDirection: 'row', flexWrap: 'wrap', gap: 12 }}&gt;&#13;&#10;            &lt;Box style={{ width: 560, background: '#111B2E', borderRadius: 10, padding: '11px 18px' }}&gt;&lt;Text style={{ fontSize: 14.5, color: '#E2E8F0', lineHeight: 1.5 }}&gt;&lt;span style={{ fontWeight: 'bold', color: '#C4B5FD' }}&gt;①&lt;/span&gt; 本地产业链短板、薄弱环节、配套缺口智能识别&lt;/Text&gt;&lt;/Box&gt;&#13;&#10;            &lt;Box style={{ width: 560, background: '#111B2E', borderRadius: 10, padding: '11px 18px' }}&gt;&lt;Text style={{ fontSize: 14.5, color: '#E2E8F0', lineHeight: 1.5 }}&gt;&lt;span style={{ fontWeight: 'bold', color: '#C4B5FD' }}&gt;②&lt;/span&gt; 目标招商企业筛选、企业多维画像构建&lt;/Text&gt;&lt;/Box&gt;&#13;&#10;            &lt;Box style={{ width: 560, background: '#111B2E', borderRadius: 10, padding: '11px 18px' }}&gt;&lt;Text style={{ fontSize: 14.5, color: '#E2E8F0', lineHeight: 1.5 }}&gt;&lt;span style={{ fontWeight: 'bold', color: '#C4B5FD' }}&gt;③&lt;/span&gt; 企业落地适配度、产业契合度智能评分&lt;/Text&gt;&lt;/Box&gt;&#13;&#10;            &lt;Box style={{ width: 560, background: '#111B2E', borderRadius: 10, padding: '11px 18px' }}&gt;&lt;Text style={{ fontSize: 14.5, color: '#E2E8F0', lineHeight: 1.5 }}&gt;&lt;span style={{ fontWeight: 'bold', color: '#C4B5FD' }}&gt;④&lt;/span&gt; 招商推介要点、政策匹配、招商方案智能生成&lt;/Text&gt;&lt;/Box&gt;&#13;&#10;        &lt;/Box&gt;&#13;&#10;        &lt;Box style={{ flexDirection: 'row', alignItems: 'center', gap: 12, background: 'rgba(139,92,246,0.08)', borderRadius: 10, padding: '11px 22px', border: '1px solid rgba(139,92,246,0.3)' }}&gt;&#13;&#10;            &lt;Text style={{ fontSize: 14, color: '#C4B5FD', fontWeight: 'bold' }}&gt;选题适配&lt;/Text&gt;&#13;&#10;            &lt;Text style={{ fontSize: 14.5, color: '#E2E8F0' }}&gt;政务场景真实、应用性强，适合业务系统、智能推荐、画像系统方向的团队&lt;/Text&gt;&#13;&#10;        &lt;/Box&gt;&#13;&#10;    &lt;/Box&gt;&#13;&#10;    &lt;Box style={{ height: 40, flexDirection: 'row', justifyContent: 'space-between', alignItems: 'center', marginTop: 12 }}&gt;&#13;&#10;        &lt;Text style={{ fontSize: 14, color: '#94A3B8' }}&gt;01 十大创新实践课题&lt;/Text&gt;&#13;&#10;        &lt;Text style={{ fontSize: 14, color: '#94A3B8' }}&gt;13 / 47&lt;/Text&gt;&#13;&#10;    &lt;/Box&gt;&#13;&#10;&lt;/Slide&gt;&#13;&#10;"/>
        <p:cNvGrpSpPr/>
        <p:nvPr/>
      </p:nvGrpSpPr>
      <p:grpSpPr>
        <a:xfrm>
          <a:off x="0" y="0"/>
          <a:ext cx="0" cy="0"/>
          <a:chOff x="0" y="0"/>
          <a:chExt cx="0" cy="0"/>
        </a:xfrm>
      </p:grpSpPr>
      <p:sp>
        <p:nvSpPr>
          <p:cNvPr id="87" name="矩形 86"/>
          <p:cNvSpPr/>
          <p:nvPr/>
        </p:nvSpPr>
        <p:spPr>
          <a:xfrm>
            <a:off x="0" y="0"/>
            <a:ext cx="12192000" cy="6858000"/>
          </a:xfrm>
          <a:prstGeom prst="rect">
            <a:avLst/>
          </a:prstGeom>
          <a:solidFill>
            <a:srgbClr val="0B1220"/>
          </a:solidFill>
        </p:spPr>
        <p:txBody>
          <a:bodyPr/>
          <a:p/>
        </p:txBody>
      </p:sp>
      <p:sp>
        <p:nvSpPr>
          <p:cNvPr id="88" name="圆角矩形 87"/>
          <p:cNvSpPr/>
          <p:nvPr/>
        </p:nvSpPr>
        <p:spPr>
          <a:xfrm>
            <a:off x="609600" y="438150"/>
            <a:ext cx="57150" cy="419100"/>
          </a:xfrm>
          <a:prstGeom prst="roundRect">
            <a:avLst>
              <a:gd name="adj" fmla="val 50000"/>
            </a:avLst>
          </a:prstGeom>
          <a:gradFill>
            <a:gsLst>
              <a:gs pos="0">
                <a:srgbClr val="8B5CF6"/>
              </a:gs>
              <a:gs pos="100000">
                <a:srgbClr val="22D3EE"/>
              </a:gs>
            </a:gsLst>
            <a:lin ang="5400000" scaled="1"/>
          </a:gradFill>
        </p:spPr>
        <p:txBody>
          <a:bodyPr/>
          <a:p/>
        </p:txBody>
      </p:sp>
      <p:sp>
        <p:nvSpPr>
          <p:cNvPr id="89" name="文本框 88" descr="{&quot;isTemplate&quot;:true,&quot;type&quot;:&quot;text&quot;}"/>
          <p:cNvSpPr txBox="1"/>
          <p:nvPr/>
        </p:nvSpPr>
        <p:spPr>
          <a:xfrm>
            <a:off x="857250" y="476250"/>
            <a:ext cx="3990975" cy="342900"/>
          </a:xfrm>
          <a:prstGeom prst="rect">
            <a:avLst/>
          </a:prstGeom>
        </p:spPr>
        <p:txBody>
          <a:bodyPr wrap="none" lIns="0" tIns="0" rIns="0" bIns="0"/>
          <a:p>
            <a:pPr>
              <a:lnSpc>
                <a:spcPct val="100000"/>
              </a:lnSpc>
            </a:pPr>
            <a:r>
              <a:rPr lang="zh-CN" sz="2250" b="1">
                <a:solidFill>
                  <a:srgbClr val="E2E8F0"/>
                </a:solidFill>
                <a:latin typeface="微软雅黑" panose="020B0503020204020204" charset="-122"/>
                <a:ea typeface="微软雅黑" panose="020B0503020204020204" charset="-122"/>
              </a:rPr>
              <a:t>课题</a:t>
            </a:r>
            <a:r>
              <a:rPr lang="en-US" sz="2250" b="1">
                <a:solidFill>
                  <a:srgbClr val="E2E8F0"/>
                </a:solidFill>
                <a:latin typeface="微软雅黑" panose="020B0503020204020204" charset="-122"/>
                <a:ea typeface="微软雅黑" panose="020B0503020204020204" charset="-122"/>
              </a:rPr>
              <a:t> 8 · </a:t>
            </a:r>
            <a:r>
              <a:rPr lang="zh-CN" sz="2250" b="1">
                <a:solidFill>
                  <a:srgbClr val="E2E8F0"/>
                </a:solidFill>
                <a:latin typeface="微软雅黑" panose="020B0503020204020204" charset="-122"/>
                <a:ea typeface="微软雅黑" panose="020B0503020204020204" charset="-122"/>
              </a:rPr>
              <a:t>链式智能招商推荐系统</a:t>
            </a:r>
            <a:endParaRPr lang="zh-CN" sz="2250" b="1">
              <a:solidFill>
                <a:srgbClr val="E2E8F0"/>
              </a:solidFill>
              <a:latin typeface="微软雅黑" panose="020B0503020204020204" charset="-122"/>
              <a:ea typeface="微软雅黑" panose="020B0503020204020204" charset="-122"/>
            </a:endParaRPr>
          </a:p>
        </p:txBody>
      </p:sp>
      <p:sp>
        <p:nvSpPr>
          <p:cNvPr id="90" name="圆角矩形 89"/>
          <p:cNvSpPr/>
          <p:nvPr/>
        </p:nvSpPr>
        <p:spPr>
          <a:xfrm>
            <a:off x="5019675" y="523875"/>
            <a:ext cx="1066800" cy="257175"/>
          </a:xfrm>
          <a:prstGeom prst="roundRect">
            <a:avLst>
              <a:gd name="adj" fmla="val 29630"/>
            </a:avLst>
          </a:prstGeom>
          <a:solidFill>
            <a:srgbClr val="8B5CF6">
              <a:alpha val="14000"/>
            </a:srgbClr>
          </a:solidFill>
          <a:ln w="12700">
            <a:solidFill>
              <a:srgbClr val="8B5CF6">
                <a:alpha val="45000"/>
              </a:srgbClr>
            </a:solidFill>
            <a:prstDash val="solid"/>
          </a:ln>
        </p:spPr>
        <p:txBody>
          <a:bodyPr/>
          <a:p/>
        </p:txBody>
      </p:sp>
      <p:sp>
        <p:nvSpPr>
          <p:cNvPr id="91" name="文本框 90" descr="{&quot;isTemplate&quot;:true,&quot;type&quot;:&quot;text&quot;}"/>
          <p:cNvSpPr txBox="1"/>
          <p:nvPr/>
        </p:nvSpPr>
        <p:spPr>
          <a:xfrm>
            <a:off x="5153025" y="571500"/>
            <a:ext cx="800100" cy="161925"/>
          </a:xfrm>
          <a:prstGeom prst="rect">
            <a:avLst/>
          </a:prstGeom>
        </p:spPr>
        <p:txBody>
          <a:bodyPr wrap="none" lIns="0" tIns="0" rIns="0" bIns="0"/>
          <a:p>
            <a:pPr>
              <a:lnSpc>
                <a:spcPct val="100000"/>
              </a:lnSpc>
            </a:pPr>
            <a:r>
              <a:rPr lang="zh-CN" sz="1050">
                <a:solidFill>
                  <a:srgbClr val="C4B5FD"/>
                </a:solidFill>
                <a:latin typeface="微软雅黑" panose="020B0503020204020204" charset="-122"/>
                <a:ea typeface="微软雅黑" panose="020B0503020204020204" charset="-122"/>
              </a:rPr>
              <a:t>上层产业应用</a:t>
            </a:r>
            <a:endParaRPr lang="zh-CN" sz="1050">
              <a:solidFill>
                <a:srgbClr val="C4B5FD"/>
              </a:solidFill>
              <a:latin typeface="微软雅黑" panose="020B0503020204020204" charset="-122"/>
              <a:ea typeface="微软雅黑" panose="020B0503020204020204" charset="-122"/>
            </a:endParaRPr>
          </a:p>
        </p:txBody>
      </p:sp>
      <p:sp>
        <p:nvSpPr>
          <p:cNvPr id="92" name="圆角矩形 91"/>
          <p:cNvSpPr/>
          <p:nvPr/>
        </p:nvSpPr>
        <p:spPr>
          <a:xfrm>
            <a:off x="647700" y="2066925"/>
            <a:ext cx="10972800" cy="876300"/>
          </a:xfrm>
          <a:prstGeom prst="roundRect">
            <a:avLst>
              <a:gd name="adj" fmla="val 13043"/>
            </a:avLst>
          </a:prstGeom>
          <a:solidFill>
            <a:srgbClr val="111B2E"/>
          </a:solidFill>
        </p:spPr>
        <p:txBody>
          <a:bodyPr/>
          <a:p/>
        </p:txBody>
      </p:sp>
      <p:sp>
        <p:nvSpPr>
          <p:cNvPr id="93" name="任意多边形 92"/>
          <p:cNvSpPr/>
          <p:nvPr/>
        </p:nvSpPr>
        <p:spPr>
          <a:xfrm>
            <a:off x="647700" y="2066925"/>
            <a:ext cx="10972800" cy="876300"/>
          </a:xfrm>
          <a:custGeom>
            <a:avLst/>
            <a:gdLst/>
            <a:ahLst/>
            <a:cxnLst/>
            <a:pathLst>
              <a:path w="1152" h="92">
                <a:moveTo>
                  <a:pt x="11" y="0"/>
                </a:moveTo>
                <a:cubicBezTo>
                  <a:pt x="7" y="0"/>
                  <a:pt x="4" y="4"/>
                  <a:pt x="4" y="8"/>
                </a:cubicBezTo>
                <a:lnTo>
                  <a:pt x="4" y="84"/>
                </a:lnTo>
                <a:cubicBezTo>
                  <a:pt x="4" y="88"/>
                  <a:pt x="7" y="91"/>
                  <a:pt x="10" y="92"/>
                </a:cubicBezTo>
                <a:cubicBezTo>
                  <a:pt x="4" y="91"/>
                  <a:pt x="0" y="86"/>
                  <a:pt x="0" y="80"/>
                </a:cubicBezTo>
                <a:lnTo>
                  <a:pt x="0" y="12"/>
                </a:lnTo>
                <a:cubicBezTo>
                  <a:pt x="0" y="6"/>
                  <a:pt x="5" y="0"/>
                  <a:pt x="12" y="0"/>
                </a:cubicBezTo>
                <a:close/>
              </a:path>
            </a:pathLst>
          </a:custGeom>
          <a:solidFill>
            <a:srgbClr val="8B5CF6"/>
          </a:solidFill>
        </p:spPr>
        <p:txBody>
          <a:bodyPr/>
          <a:p/>
        </p:txBody>
      </p:sp>
      <p:sp>
        <p:nvSpPr>
          <p:cNvPr id="94" name="文本框 93" descr="{&quot;isTemplate&quot;:true,&quot;type&quot;:&quot;text&quot;}"/>
          <p:cNvSpPr txBox="1"/>
          <p:nvPr/>
        </p:nvSpPr>
        <p:spPr>
          <a:xfrm>
            <a:off x="876300" y="2200275"/>
            <a:ext cx="10477500" cy="609600"/>
          </a:xfrm>
          <a:prstGeom prst="rect">
            <a:avLst/>
          </a:prstGeom>
        </p:spPr>
        <p:txBody>
          <a:bodyPr wrap="square" lIns="0" tIns="0" rIns="0" bIns="0">
            <a:normAutofit/>
          </a:bodyPr>
          <a:p>
            <a:pPr>
              <a:lnSpc>
                <a:spcPct val="165000"/>
              </a:lnSpc>
            </a:pPr>
            <a:r>
              <a:rPr lang="zh-CN" sz="1200" b="1">
                <a:solidFill>
                  <a:srgbClr val="C4B5FD"/>
                </a:solidFill>
                <a:latin typeface="微软雅黑" panose="020B0503020204020204" charset="-122"/>
                <a:ea typeface="微软雅黑" panose="020B0503020204020204" charset="-122"/>
              </a:rPr>
              <a:t>课题定义：</a:t>
            </a:r>
            <a:r>
              <a:rPr lang="zh-CN" sz="1200">
                <a:solidFill>
                  <a:srgbClr val="E2E8F0"/>
                </a:solidFill>
                <a:latin typeface="微软雅黑" panose="020B0503020204020204" charset="-122"/>
                <a:ea typeface="微软雅黑" panose="020B0503020204020204" charset="-122"/>
              </a:rPr>
              <a:t>基于本地产业链短板与供需缺口，智能识别补链需求、挖掘目标企业、构建企业多维画像、评估落地适配度、自动生成招商方案，实现</a:t>
            </a:r>
            <a:r>
              <a:rPr lang="en-US" sz="1200">
                <a:solidFill>
                  <a:srgbClr val="E2E8F0"/>
                </a:solidFill>
                <a:latin typeface="微软雅黑" panose="020B0503020204020204" charset="-122"/>
                <a:ea typeface="微软雅黑" panose="020B0503020204020204" charset="-122"/>
              </a:rPr>
              <a:t> AI </a:t>
            </a:r>
            <a:r>
              <a:rPr lang="zh-CN" sz="1200">
                <a:solidFill>
                  <a:srgbClr val="E2E8F0"/>
                </a:solidFill>
                <a:latin typeface="微软雅黑" panose="020B0503020204020204" charset="-122"/>
                <a:ea typeface="微软雅黑" panose="020B0503020204020204" charset="-122"/>
              </a:rPr>
              <a:t>驱动的链式精准招商。</a:t>
            </a:r>
            <a:endParaRPr lang="zh-CN" sz="1200">
              <a:solidFill>
                <a:srgbClr val="E2E8F0"/>
              </a:solidFill>
              <a:latin typeface="微软雅黑" panose="020B0503020204020204" charset="-122"/>
              <a:ea typeface="微软雅黑" panose="020B0503020204020204" charset="-122"/>
            </a:endParaRPr>
          </a:p>
        </p:txBody>
      </p:sp>
      <p:sp>
        <p:nvSpPr>
          <p:cNvPr id="95" name="圆角矩形 94"/>
          <p:cNvSpPr/>
          <p:nvPr/>
        </p:nvSpPr>
        <p:spPr>
          <a:xfrm>
            <a:off x="609600" y="3057525"/>
            <a:ext cx="10972800" cy="504825"/>
          </a:xfrm>
          <a:prstGeom prst="roundRect">
            <a:avLst>
              <a:gd name="adj" fmla="val 18868"/>
            </a:avLst>
          </a:prstGeom>
          <a:solidFill>
            <a:srgbClr val="8B5CF6">
              <a:alpha val="7000"/>
            </a:srgbClr>
          </a:solidFill>
          <a:ln w="12700">
            <a:solidFill>
              <a:srgbClr val="8B5CF6">
                <a:alpha val="30000"/>
              </a:srgbClr>
            </a:solidFill>
            <a:prstDash val="solid"/>
          </a:ln>
        </p:spPr>
        <p:txBody>
          <a:bodyPr/>
          <a:p/>
        </p:txBody>
      </p:sp>
      <p:sp>
        <p:nvSpPr>
          <p:cNvPr id="96" name="文本框 95" descr="{&quot;isTemplate&quot;:true,&quot;type&quot;:&quot;text&quot;}"/>
          <p:cNvSpPr txBox="1"/>
          <p:nvPr/>
        </p:nvSpPr>
        <p:spPr>
          <a:xfrm>
            <a:off x="838200" y="3171825"/>
            <a:ext cx="10515600" cy="276225"/>
          </a:xfrm>
          <a:prstGeom prst="rect">
            <a:avLst/>
          </a:prstGeom>
        </p:spPr>
        <p:txBody>
          <a:bodyPr wrap="none" lIns="0" tIns="0" rIns="0" bIns="0"/>
          <a:p>
            <a:pPr>
              <a:lnSpc>
                <a:spcPct val="155000"/>
              </a:lnSpc>
            </a:pPr>
            <a:r>
              <a:rPr lang="zh-CN" sz="1165" b="1">
                <a:solidFill>
                  <a:srgbClr val="C4B5FD"/>
                </a:solidFill>
                <a:latin typeface="微软雅黑" panose="020B0503020204020204" charset="-122"/>
                <a:ea typeface="微软雅黑" panose="020B0503020204020204" charset="-122"/>
              </a:rPr>
              <a:t>项目目标：</a:t>
            </a:r>
            <a:r>
              <a:rPr lang="zh-CN" sz="1165">
                <a:solidFill>
                  <a:srgbClr val="E2E8F0"/>
                </a:solidFill>
                <a:latin typeface="微软雅黑" panose="020B0503020204020204" charset="-122"/>
                <a:ea typeface="微软雅黑" panose="020B0503020204020204" charset="-122"/>
              </a:rPr>
              <a:t>构建数据驱动、智能研判、精准匹配的现代化产业链招商决策工具。</a:t>
            </a:r>
            <a:endParaRPr lang="zh-CN" sz="1165">
              <a:solidFill>
                <a:srgbClr val="E2E8F0"/>
              </a:solidFill>
              <a:latin typeface="微软雅黑" panose="020B0503020204020204" charset="-122"/>
              <a:ea typeface="微软雅黑" panose="020B0503020204020204" charset="-122"/>
            </a:endParaRPr>
          </a:p>
        </p:txBody>
      </p:sp>
      <p:sp>
        <p:nvSpPr>
          <p:cNvPr id="97" name="圆角矩形 96"/>
          <p:cNvSpPr/>
          <p:nvPr/>
        </p:nvSpPr>
        <p:spPr>
          <a:xfrm>
            <a:off x="609600" y="3676650"/>
            <a:ext cx="5334000" cy="466725"/>
          </a:xfrm>
          <a:prstGeom prst="roundRect">
            <a:avLst>
              <a:gd name="adj" fmla="val 20408"/>
            </a:avLst>
          </a:prstGeom>
          <a:solidFill>
            <a:srgbClr val="111B2E"/>
          </a:solidFill>
        </p:spPr>
        <p:txBody>
          <a:bodyPr/>
          <a:p/>
        </p:txBody>
      </p:sp>
      <p:sp>
        <p:nvSpPr>
          <p:cNvPr id="98" name="文本框 97" descr="{&quot;isTemplate&quot;:true,&quot;type&quot;:&quot;text&quot;}"/>
          <p:cNvSpPr txBox="1"/>
          <p:nvPr/>
        </p:nvSpPr>
        <p:spPr>
          <a:xfrm>
            <a:off x="781050" y="37814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①</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本地产业链短板、薄弱环节、配套缺口智能识别</a:t>
            </a:r>
            <a:endParaRPr lang="zh-CN" sz="1090">
              <a:solidFill>
                <a:srgbClr val="E2E8F0"/>
              </a:solidFill>
              <a:latin typeface="微软雅黑" panose="020B0503020204020204" charset="-122"/>
              <a:ea typeface="微软雅黑" panose="020B0503020204020204" charset="-122"/>
            </a:endParaRPr>
          </a:p>
        </p:txBody>
      </p:sp>
      <p:sp>
        <p:nvSpPr>
          <p:cNvPr id="99" name="圆角矩形 98"/>
          <p:cNvSpPr/>
          <p:nvPr/>
        </p:nvSpPr>
        <p:spPr>
          <a:xfrm>
            <a:off x="6057900" y="3676650"/>
            <a:ext cx="5334000" cy="466725"/>
          </a:xfrm>
          <a:prstGeom prst="roundRect">
            <a:avLst>
              <a:gd name="adj" fmla="val 20408"/>
            </a:avLst>
          </a:prstGeom>
          <a:solidFill>
            <a:srgbClr val="111B2E"/>
          </a:solidFill>
        </p:spPr>
        <p:txBody>
          <a:bodyPr/>
          <a:p/>
        </p:txBody>
      </p:sp>
      <p:sp>
        <p:nvSpPr>
          <p:cNvPr id="100" name="文本框 99" descr="{&quot;isTemplate&quot;:true,&quot;type&quot;:&quot;text&quot;}"/>
          <p:cNvSpPr txBox="1"/>
          <p:nvPr/>
        </p:nvSpPr>
        <p:spPr>
          <a:xfrm>
            <a:off x="6229350" y="37814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②</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目标招商企业筛选、企业多维画像构建</a:t>
            </a:r>
            <a:endParaRPr lang="zh-CN" sz="1090">
              <a:solidFill>
                <a:srgbClr val="E2E8F0"/>
              </a:solidFill>
              <a:latin typeface="微软雅黑" panose="020B0503020204020204" charset="-122"/>
              <a:ea typeface="微软雅黑" panose="020B0503020204020204" charset="-122"/>
            </a:endParaRPr>
          </a:p>
        </p:txBody>
      </p:sp>
      <p:sp>
        <p:nvSpPr>
          <p:cNvPr id="101" name="圆角矩形 100"/>
          <p:cNvSpPr/>
          <p:nvPr/>
        </p:nvSpPr>
        <p:spPr>
          <a:xfrm>
            <a:off x="609600" y="4257675"/>
            <a:ext cx="5334000" cy="466725"/>
          </a:xfrm>
          <a:prstGeom prst="roundRect">
            <a:avLst>
              <a:gd name="adj" fmla="val 20408"/>
            </a:avLst>
          </a:prstGeom>
          <a:solidFill>
            <a:srgbClr val="111B2E"/>
          </a:solidFill>
        </p:spPr>
        <p:txBody>
          <a:bodyPr/>
          <a:p/>
        </p:txBody>
      </p:sp>
      <p:sp>
        <p:nvSpPr>
          <p:cNvPr id="102" name="文本框 101" descr="{&quot;isTemplate&quot;:true,&quot;type&quot;:&quot;text&quot;}"/>
          <p:cNvSpPr txBox="1"/>
          <p:nvPr/>
        </p:nvSpPr>
        <p:spPr>
          <a:xfrm>
            <a:off x="781050" y="43624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③</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企业落地适配度、产业契合度智能评分</a:t>
            </a:r>
            <a:endParaRPr lang="zh-CN" sz="1090">
              <a:solidFill>
                <a:srgbClr val="E2E8F0"/>
              </a:solidFill>
              <a:latin typeface="微软雅黑" panose="020B0503020204020204" charset="-122"/>
              <a:ea typeface="微软雅黑" panose="020B0503020204020204" charset="-122"/>
            </a:endParaRPr>
          </a:p>
        </p:txBody>
      </p:sp>
      <p:sp>
        <p:nvSpPr>
          <p:cNvPr id="103" name="圆角矩形 102"/>
          <p:cNvSpPr/>
          <p:nvPr/>
        </p:nvSpPr>
        <p:spPr>
          <a:xfrm>
            <a:off x="6057900" y="4257675"/>
            <a:ext cx="5334000" cy="466725"/>
          </a:xfrm>
          <a:prstGeom prst="roundRect">
            <a:avLst>
              <a:gd name="adj" fmla="val 20408"/>
            </a:avLst>
          </a:prstGeom>
          <a:solidFill>
            <a:srgbClr val="111B2E"/>
          </a:solidFill>
        </p:spPr>
        <p:txBody>
          <a:bodyPr/>
          <a:p/>
        </p:txBody>
      </p:sp>
      <p:sp>
        <p:nvSpPr>
          <p:cNvPr id="104" name="文本框 103" descr="{&quot;isTemplate&quot;:true,&quot;type&quot;:&quot;text&quot;}"/>
          <p:cNvSpPr txBox="1"/>
          <p:nvPr/>
        </p:nvSpPr>
        <p:spPr>
          <a:xfrm>
            <a:off x="6229350" y="43624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④</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招商推介要点、政策匹配、招商方案智能生成</a:t>
            </a:r>
            <a:endParaRPr lang="zh-CN" sz="1090">
              <a:solidFill>
                <a:srgbClr val="E2E8F0"/>
              </a:solidFill>
              <a:latin typeface="微软雅黑" panose="020B0503020204020204" charset="-122"/>
              <a:ea typeface="微软雅黑" panose="020B0503020204020204" charset="-122"/>
            </a:endParaRPr>
          </a:p>
        </p:txBody>
      </p:sp>
      <p:sp>
        <p:nvSpPr>
          <p:cNvPr id="105" name="圆角矩形 104"/>
          <p:cNvSpPr/>
          <p:nvPr/>
        </p:nvSpPr>
        <p:spPr>
          <a:xfrm>
            <a:off x="609600" y="4838700"/>
            <a:ext cx="10972800" cy="381000"/>
          </a:xfrm>
          <a:prstGeom prst="roundRect">
            <a:avLst>
              <a:gd name="adj" fmla="val 25000"/>
            </a:avLst>
          </a:prstGeom>
          <a:solidFill>
            <a:srgbClr val="8B5CF6">
              <a:alpha val="8000"/>
            </a:srgbClr>
          </a:solidFill>
          <a:ln w="12700">
            <a:solidFill>
              <a:srgbClr val="8B5CF6">
                <a:alpha val="30000"/>
              </a:srgbClr>
            </a:solidFill>
            <a:prstDash val="solid"/>
          </a:ln>
        </p:spPr>
        <p:txBody>
          <a:bodyPr/>
          <a:p/>
        </p:txBody>
      </p:sp>
      <p:sp>
        <p:nvSpPr>
          <p:cNvPr id="106" name="文本框 105" descr="{&quot;isTemplate&quot;:true,&quot;type&quot;:&quot;text&quot;}"/>
          <p:cNvSpPr txBox="1"/>
          <p:nvPr/>
        </p:nvSpPr>
        <p:spPr>
          <a:xfrm>
            <a:off x="819150" y="4953000"/>
            <a:ext cx="533400" cy="161925"/>
          </a:xfrm>
          <a:prstGeom prst="rect">
            <a:avLst/>
          </a:prstGeom>
        </p:spPr>
        <p:txBody>
          <a:bodyPr wrap="none" lIns="0" tIns="0" rIns="0" bIns="0"/>
          <a:p>
            <a:pPr>
              <a:lnSpc>
                <a:spcPct val="100000"/>
              </a:lnSpc>
            </a:pPr>
            <a:r>
              <a:rPr lang="zh-CN" sz="1050" b="1">
                <a:solidFill>
                  <a:srgbClr val="C4B5FD"/>
                </a:solidFill>
                <a:latin typeface="微软雅黑" panose="020B0503020204020204" charset="-122"/>
                <a:ea typeface="微软雅黑" panose="020B0503020204020204" charset="-122"/>
              </a:rPr>
              <a:t>选题适配</a:t>
            </a:r>
            <a:endParaRPr lang="zh-CN" sz="1050" b="1">
              <a:solidFill>
                <a:srgbClr val="C4B5FD"/>
              </a:solidFill>
              <a:latin typeface="微软雅黑" panose="020B0503020204020204" charset="-122"/>
              <a:ea typeface="微软雅黑" panose="020B0503020204020204" charset="-122"/>
            </a:endParaRPr>
          </a:p>
        </p:txBody>
      </p:sp>
      <p:sp>
        <p:nvSpPr>
          <p:cNvPr id="107" name="文本框 106" descr="{&quot;isTemplate&quot;:true,&quot;type&quot;:&quot;text&quot;}"/>
          <p:cNvSpPr txBox="1"/>
          <p:nvPr/>
        </p:nvSpPr>
        <p:spPr>
          <a:xfrm>
            <a:off x="1466850" y="4943475"/>
            <a:ext cx="4562475"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政务场景真实、应用性强，适合业务系统、智能推荐、画像系统方向的团队</a:t>
            </a:r>
            <a:endParaRPr lang="zh-CN" sz="1090">
              <a:solidFill>
                <a:srgbClr val="E2E8F0"/>
              </a:solidFill>
              <a:latin typeface="微软雅黑" panose="020B0503020204020204" charset="-122"/>
              <a:ea typeface="微软雅黑" panose="020B0503020204020204" charset="-122"/>
            </a:endParaRPr>
          </a:p>
        </p:txBody>
      </p:sp>
      <p:sp>
        <p:nvSpPr>
          <p:cNvPr id="108" name="文本框 107"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109" name="文本框 108"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13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10" name="" descr="&lt;Slide style={{ width: 1280, height: 720, background: '#0B1220', padding: '20px 64px', display: 'flex', flexDirection: 'column' }}&gt;&#13;&#10;    &lt;Box style={{ flexDirection: 'row', height: 96, alignItems: 'center' }}&gt;&#13;&#10;        &lt;Box style={{ width: 6, height: 44, background: 'linear-gradient(180deg, #8B5CF6 0%, #22D3EE 100%)', borderRadius: 3, marginRight: 20 }} /&gt;&#13;&#10;        &lt;Text style={{ fontSize: 30, fontWeight: 'bold', color: '#E2E8F0' }}&gt;课题 9 · 产业链供需仿真与风险推演系统&lt;/Text&gt;&#13;&#10;        &lt;Box style={{ marginLeft: 18, background: 'rgba(139,92,246,0.14)', borderRadius: 8, padding: '5px 14px', border: '1px solid rgba(139,92,246,0.45)' }}&gt;&#13;&#10;            &lt;Text style={{ fontSize: 14, color: '#C4B5FD' }}&gt;上层产业应用&lt;/Text&gt;&#13;&#10;        &lt;/Box&gt;&#13;&#10;    &lt;/Box&gt;&#13;&#10;    &lt;Box style={{ flex: 1, flexDirection: 'column', gap: 12, justifyContent: 'center' }}&gt;&#13;&#10;        &lt;Box style={{ background: '#111B2E', borderRadius: 12, padding: '14px 24px', borderLeft: '4px solid #8B5CF6' }}&gt;&#13;&#10;            &lt;Text style={{ fontSize: 16, color: '#E2E8F0', lineHeight: 1.65 }}&gt;&lt;span style={{ fontWeight: 'bold', color: '#C4B5FD' }}&gt;课题定义：&lt;/span&gt;构建产业链数字孪生仿真体系，实现产能供需测算、供应链冲击仿真、断供风险推演、价格传导模拟、产业安全压力测试，支持多情景产业动态推演。&lt;/Text&gt;&#13;&#10;        &lt;/Box&gt;&#13;&#10;        &lt;Box style={{ background: 'rgba(139,92,246,0.07)', borderRadius: 10, padding: '12px 24px', border: '1px solid rgba(139,92,246,0.3)' }}&gt;&#13;&#10;            &lt;Text style={{ fontSize: 15.5, color: '#E2E8F0', lineHeight: 1.55 }}&gt;&lt;span style={{ fontWeight: 'bold', color: '#C4B5FD' }}&gt;项目目标：&lt;/span&gt;推动产业链从静态展示升级为可模拟、可推演、可预判、可预警的动态智能体系。&lt;/Text&gt;&#13;&#10;        &lt;/Box&gt;&#13;&#10;        &lt;Box style={{ flexDirection: 'row', flexWrap: 'wrap', gap: 12 }}&gt;&#13;&#10;            &lt;Box style={{ width: 560, background: '#111B2E', borderRadius: 10, padding: '11px 18px' }}&gt;&lt;Text style={{ fontSize: 14.5, color: '#E2E8F0', lineHeight: 1.5 }}&gt;&lt;span style={{ fontWeight: 'bold', color: '#C4B5FD' }}&gt;①&lt;/span&gt; 产业链上下游 BOM 结构、供需关系、产能体系建模&lt;/Text&gt;&lt;/Box&gt;&#13;&#10;            &lt;Box style={{ width: 560, background: '#111B2E', borderRadius: 10, padding: '11px 18px' }}&gt;&lt;Text style={{ fontSize: 14.5, color: '#E2E8F0', lineHeight: 1.5 }}&gt;&lt;span style={{ fontWeight: 'bold', color: '#C4B5FD' }}&gt;②&lt;/span&gt; 断供、涨价、减产、停工、贸易波动等多情景仿真&lt;/Text&gt;&lt;/Box&gt;&#13;&#10;            &lt;Box style={{ width: 560, background: '#111B2E', borderRadius: 10, padding: '11px 18px' }}&gt;&lt;Text style={{ fontSize: 14.5, color: '#E2E8F0', lineHeight: 1.5 }}&gt;&lt;span style={{ fontWeight: 'bold', color: '#C4B5FD' }}&gt;③&lt;/span&gt; 风险传导路径可视化、供需缺口量化测算&lt;/Text&gt;&lt;/Box&gt;&#13;&#10;            &lt;Box style={{ width: 560, background: '#111B2E', borderRadius: 10, padding: '11px 18px' }}&gt;&lt;Text style={{ fontSize: 14.5, color: '#E2E8F0', lineHeight: 1.5 }}&gt;&lt;span style={{ fontWeight: 'bold', color: '#C4B5FD' }}&gt;④&lt;/span&gt; 产业风险评级、影响评估、应对建议智能输出&lt;/Text&gt;&lt;/Box&gt;&#13;&#10;        &lt;/Box&gt;&#13;&#10;        &lt;Box style={{ flexDirection: 'row', alignItems: 'center', gap: 12, background: 'rgba(139,92,246,0.08)', borderRadius: 10, padding: '11px 22px', border: '1px solid rgba(139,92,246,0.3)' }}&gt;&#13;&#10;            &lt;Text style={{ fontSize: 14, color: '#C4B5FD', fontWeight: 'bold' }}&gt;选题适配&lt;/Text&gt;&#13;&#10;            &lt;Text style={{ fontSize: 14.5, color: '#E2E8F0' }}&gt;创新性强、建模要求高，适合系统仿真、因果推演、量化建模方向的团队&lt;/Text&gt;&#13;&#10;        &lt;/Box&gt;&#13;&#10;    &lt;/Box&gt;&#13;&#10;    &lt;Box style={{ height: 40, flexDirection: 'row', justifyContent: 'space-between', alignItems: 'center', marginTop: 12 }}&gt;&#13;&#10;        &lt;Text style={{ fontSize: 14, color: '#94A3B8' }}&gt;01 十大创新实践课题&lt;/Text&gt;&#13;&#10;        &lt;Text style={{ fontSize: 14, color: '#94A3B8' }}&gt;14 / 47&lt;/Text&gt;&#13;&#10;    &lt;/Box&gt;&#13;&#10;&lt;/Slide&gt;&#13;&#10;"/>
        <p:cNvGrpSpPr/>
        <p:nvPr/>
      </p:nvGrpSpPr>
      <p:grpSpPr>
        <a:xfrm>
          <a:off x="0" y="0"/>
          <a:ext cx="0" cy="0"/>
          <a:chOff x="0" y="0"/>
          <a:chExt cx="0" cy="0"/>
        </a:xfrm>
      </p:grpSpPr>
      <p:sp>
        <p:nvSpPr>
          <p:cNvPr id="111" name="矩形 110"/>
          <p:cNvSpPr/>
          <p:nvPr/>
        </p:nvSpPr>
        <p:spPr>
          <a:xfrm>
            <a:off x="0" y="0"/>
            <a:ext cx="12192000" cy="6858000"/>
          </a:xfrm>
          <a:prstGeom prst="rect">
            <a:avLst/>
          </a:prstGeom>
          <a:solidFill>
            <a:srgbClr val="0B1220"/>
          </a:solidFill>
        </p:spPr>
        <p:txBody>
          <a:bodyPr/>
          <a:p/>
        </p:txBody>
      </p:sp>
      <p:sp>
        <p:nvSpPr>
          <p:cNvPr id="112" name="圆角矩形 111"/>
          <p:cNvSpPr/>
          <p:nvPr/>
        </p:nvSpPr>
        <p:spPr>
          <a:xfrm>
            <a:off x="609600" y="438150"/>
            <a:ext cx="57150" cy="419100"/>
          </a:xfrm>
          <a:prstGeom prst="roundRect">
            <a:avLst>
              <a:gd name="adj" fmla="val 50000"/>
            </a:avLst>
          </a:prstGeom>
          <a:gradFill>
            <a:gsLst>
              <a:gs pos="0">
                <a:srgbClr val="8B5CF6"/>
              </a:gs>
              <a:gs pos="100000">
                <a:srgbClr val="22D3EE"/>
              </a:gs>
            </a:gsLst>
            <a:lin ang="5400000" scaled="1"/>
          </a:gradFill>
        </p:spPr>
        <p:txBody>
          <a:bodyPr/>
          <a:p/>
        </p:txBody>
      </p:sp>
      <p:sp>
        <p:nvSpPr>
          <p:cNvPr id="113" name="文本框 112" descr="{&quot;isTemplate&quot;:true,&quot;type&quot;:&quot;text&quot;}"/>
          <p:cNvSpPr txBox="1"/>
          <p:nvPr/>
        </p:nvSpPr>
        <p:spPr>
          <a:xfrm>
            <a:off x="857250" y="476250"/>
            <a:ext cx="5133975" cy="342900"/>
          </a:xfrm>
          <a:prstGeom prst="rect">
            <a:avLst/>
          </a:prstGeom>
        </p:spPr>
        <p:txBody>
          <a:bodyPr wrap="none" lIns="0" tIns="0" rIns="0" bIns="0"/>
          <a:p>
            <a:pPr>
              <a:lnSpc>
                <a:spcPct val="100000"/>
              </a:lnSpc>
            </a:pPr>
            <a:r>
              <a:rPr lang="zh-CN" sz="2250" b="1">
                <a:solidFill>
                  <a:srgbClr val="E2E8F0"/>
                </a:solidFill>
                <a:latin typeface="微软雅黑" panose="020B0503020204020204" charset="-122"/>
                <a:ea typeface="微软雅黑" panose="020B0503020204020204" charset="-122"/>
              </a:rPr>
              <a:t>课题</a:t>
            </a:r>
            <a:r>
              <a:rPr lang="en-US" sz="2250" b="1">
                <a:solidFill>
                  <a:srgbClr val="E2E8F0"/>
                </a:solidFill>
                <a:latin typeface="微软雅黑" panose="020B0503020204020204" charset="-122"/>
                <a:ea typeface="微软雅黑" panose="020B0503020204020204" charset="-122"/>
              </a:rPr>
              <a:t> 9 · </a:t>
            </a:r>
            <a:r>
              <a:rPr lang="zh-CN" sz="2250" b="1">
                <a:solidFill>
                  <a:srgbClr val="E2E8F0"/>
                </a:solidFill>
                <a:latin typeface="微软雅黑" panose="020B0503020204020204" charset="-122"/>
                <a:ea typeface="微软雅黑" panose="020B0503020204020204" charset="-122"/>
              </a:rPr>
              <a:t>产业链供需仿真与风险推演系统</a:t>
            </a:r>
            <a:endParaRPr lang="zh-CN" sz="2250" b="1">
              <a:solidFill>
                <a:srgbClr val="E2E8F0"/>
              </a:solidFill>
              <a:latin typeface="微软雅黑" panose="020B0503020204020204" charset="-122"/>
              <a:ea typeface="微软雅黑" panose="020B0503020204020204" charset="-122"/>
            </a:endParaRPr>
          </a:p>
        </p:txBody>
      </p:sp>
      <p:sp>
        <p:nvSpPr>
          <p:cNvPr id="114" name="圆角矩形 113"/>
          <p:cNvSpPr/>
          <p:nvPr/>
        </p:nvSpPr>
        <p:spPr>
          <a:xfrm>
            <a:off x="6162675" y="523875"/>
            <a:ext cx="1066800" cy="257175"/>
          </a:xfrm>
          <a:prstGeom prst="roundRect">
            <a:avLst>
              <a:gd name="adj" fmla="val 29630"/>
            </a:avLst>
          </a:prstGeom>
          <a:solidFill>
            <a:srgbClr val="8B5CF6">
              <a:alpha val="14000"/>
            </a:srgbClr>
          </a:solidFill>
          <a:ln w="12700">
            <a:solidFill>
              <a:srgbClr val="8B5CF6">
                <a:alpha val="45000"/>
              </a:srgbClr>
            </a:solidFill>
            <a:prstDash val="solid"/>
          </a:ln>
        </p:spPr>
        <p:txBody>
          <a:bodyPr/>
          <a:p/>
        </p:txBody>
      </p:sp>
      <p:sp>
        <p:nvSpPr>
          <p:cNvPr id="115" name="文本框 114" descr="{&quot;isTemplate&quot;:true,&quot;type&quot;:&quot;text&quot;}"/>
          <p:cNvSpPr txBox="1"/>
          <p:nvPr/>
        </p:nvSpPr>
        <p:spPr>
          <a:xfrm>
            <a:off x="6296025" y="571500"/>
            <a:ext cx="800100" cy="161925"/>
          </a:xfrm>
          <a:prstGeom prst="rect">
            <a:avLst/>
          </a:prstGeom>
        </p:spPr>
        <p:txBody>
          <a:bodyPr wrap="none" lIns="0" tIns="0" rIns="0" bIns="0"/>
          <a:p>
            <a:pPr>
              <a:lnSpc>
                <a:spcPct val="100000"/>
              </a:lnSpc>
            </a:pPr>
            <a:r>
              <a:rPr lang="zh-CN" sz="1050">
                <a:solidFill>
                  <a:srgbClr val="C4B5FD"/>
                </a:solidFill>
                <a:latin typeface="微软雅黑" panose="020B0503020204020204" charset="-122"/>
                <a:ea typeface="微软雅黑" panose="020B0503020204020204" charset="-122"/>
              </a:rPr>
              <a:t>上层产业应用</a:t>
            </a:r>
            <a:endParaRPr lang="zh-CN" sz="1050">
              <a:solidFill>
                <a:srgbClr val="C4B5FD"/>
              </a:solidFill>
              <a:latin typeface="微软雅黑" panose="020B0503020204020204" charset="-122"/>
              <a:ea typeface="微软雅黑" panose="020B0503020204020204" charset="-122"/>
            </a:endParaRPr>
          </a:p>
        </p:txBody>
      </p:sp>
      <p:sp>
        <p:nvSpPr>
          <p:cNvPr id="116" name="圆角矩形 115"/>
          <p:cNvSpPr/>
          <p:nvPr/>
        </p:nvSpPr>
        <p:spPr>
          <a:xfrm>
            <a:off x="647700" y="2066925"/>
            <a:ext cx="10972800" cy="876300"/>
          </a:xfrm>
          <a:prstGeom prst="roundRect">
            <a:avLst>
              <a:gd name="adj" fmla="val 13043"/>
            </a:avLst>
          </a:prstGeom>
          <a:solidFill>
            <a:srgbClr val="111B2E"/>
          </a:solidFill>
        </p:spPr>
        <p:txBody>
          <a:bodyPr/>
          <a:p/>
        </p:txBody>
      </p:sp>
      <p:sp>
        <p:nvSpPr>
          <p:cNvPr id="117" name="任意多边形 116"/>
          <p:cNvSpPr/>
          <p:nvPr/>
        </p:nvSpPr>
        <p:spPr>
          <a:xfrm>
            <a:off x="647700" y="2066925"/>
            <a:ext cx="10972800" cy="876300"/>
          </a:xfrm>
          <a:custGeom>
            <a:avLst/>
            <a:gdLst/>
            <a:ahLst/>
            <a:cxnLst/>
            <a:pathLst>
              <a:path w="1152" h="92">
                <a:moveTo>
                  <a:pt x="11" y="0"/>
                </a:moveTo>
                <a:cubicBezTo>
                  <a:pt x="7" y="0"/>
                  <a:pt x="4" y="4"/>
                  <a:pt x="4" y="8"/>
                </a:cubicBezTo>
                <a:lnTo>
                  <a:pt x="4" y="84"/>
                </a:lnTo>
                <a:cubicBezTo>
                  <a:pt x="4" y="88"/>
                  <a:pt x="7" y="91"/>
                  <a:pt x="10" y="92"/>
                </a:cubicBezTo>
                <a:cubicBezTo>
                  <a:pt x="4" y="91"/>
                  <a:pt x="0" y="86"/>
                  <a:pt x="0" y="80"/>
                </a:cubicBezTo>
                <a:lnTo>
                  <a:pt x="0" y="12"/>
                </a:lnTo>
                <a:cubicBezTo>
                  <a:pt x="0" y="6"/>
                  <a:pt x="5" y="0"/>
                  <a:pt x="12" y="0"/>
                </a:cubicBezTo>
                <a:close/>
              </a:path>
            </a:pathLst>
          </a:custGeom>
          <a:solidFill>
            <a:srgbClr val="8B5CF6"/>
          </a:solidFill>
        </p:spPr>
        <p:txBody>
          <a:bodyPr/>
          <a:p/>
        </p:txBody>
      </p:sp>
      <p:sp>
        <p:nvSpPr>
          <p:cNvPr id="118" name="文本框 117" descr="{&quot;isTemplate&quot;:true,&quot;type&quot;:&quot;text&quot;}"/>
          <p:cNvSpPr txBox="1"/>
          <p:nvPr/>
        </p:nvSpPr>
        <p:spPr>
          <a:xfrm>
            <a:off x="876300" y="2200275"/>
            <a:ext cx="10477500" cy="609600"/>
          </a:xfrm>
          <a:prstGeom prst="rect">
            <a:avLst/>
          </a:prstGeom>
        </p:spPr>
        <p:txBody>
          <a:bodyPr wrap="square" lIns="0" tIns="0" rIns="0" bIns="0">
            <a:normAutofit/>
          </a:bodyPr>
          <a:p>
            <a:pPr>
              <a:lnSpc>
                <a:spcPct val="165000"/>
              </a:lnSpc>
            </a:pPr>
            <a:r>
              <a:rPr lang="zh-CN" sz="1200" b="1">
                <a:solidFill>
                  <a:srgbClr val="C4B5FD"/>
                </a:solidFill>
                <a:latin typeface="微软雅黑" panose="020B0503020204020204" charset="-122"/>
                <a:ea typeface="微软雅黑" panose="020B0503020204020204" charset="-122"/>
              </a:rPr>
              <a:t>课题定义：</a:t>
            </a:r>
            <a:r>
              <a:rPr lang="zh-CN" sz="1200">
                <a:solidFill>
                  <a:srgbClr val="E2E8F0"/>
                </a:solidFill>
                <a:latin typeface="微软雅黑" panose="020B0503020204020204" charset="-122"/>
                <a:ea typeface="微软雅黑" panose="020B0503020204020204" charset="-122"/>
              </a:rPr>
              <a:t>构建产业链数字孪生仿真体系，实现产能供需测算、供应链冲击仿真、断供风险推演、价格传导模拟、产业安全压力测试，支持多情景产业动态推演。</a:t>
            </a:r>
            <a:endParaRPr lang="zh-CN" sz="1200">
              <a:solidFill>
                <a:srgbClr val="E2E8F0"/>
              </a:solidFill>
              <a:latin typeface="微软雅黑" panose="020B0503020204020204" charset="-122"/>
              <a:ea typeface="微软雅黑" panose="020B0503020204020204" charset="-122"/>
            </a:endParaRPr>
          </a:p>
        </p:txBody>
      </p:sp>
      <p:sp>
        <p:nvSpPr>
          <p:cNvPr id="119" name="圆角矩形 118"/>
          <p:cNvSpPr/>
          <p:nvPr/>
        </p:nvSpPr>
        <p:spPr>
          <a:xfrm>
            <a:off x="609600" y="3057525"/>
            <a:ext cx="10972800" cy="504825"/>
          </a:xfrm>
          <a:prstGeom prst="roundRect">
            <a:avLst>
              <a:gd name="adj" fmla="val 18868"/>
            </a:avLst>
          </a:prstGeom>
          <a:solidFill>
            <a:srgbClr val="8B5CF6">
              <a:alpha val="7000"/>
            </a:srgbClr>
          </a:solidFill>
          <a:ln w="12700">
            <a:solidFill>
              <a:srgbClr val="8B5CF6">
                <a:alpha val="30000"/>
              </a:srgbClr>
            </a:solidFill>
            <a:prstDash val="solid"/>
          </a:ln>
        </p:spPr>
        <p:txBody>
          <a:bodyPr/>
          <a:p/>
        </p:txBody>
      </p:sp>
      <p:sp>
        <p:nvSpPr>
          <p:cNvPr id="120" name="文本框 119" descr="{&quot;isTemplate&quot;:true,&quot;type&quot;:&quot;text&quot;}"/>
          <p:cNvSpPr txBox="1"/>
          <p:nvPr/>
        </p:nvSpPr>
        <p:spPr>
          <a:xfrm>
            <a:off x="838200" y="3171825"/>
            <a:ext cx="10515600" cy="276225"/>
          </a:xfrm>
          <a:prstGeom prst="rect">
            <a:avLst/>
          </a:prstGeom>
        </p:spPr>
        <p:txBody>
          <a:bodyPr wrap="none" lIns="0" tIns="0" rIns="0" bIns="0"/>
          <a:p>
            <a:pPr>
              <a:lnSpc>
                <a:spcPct val="155000"/>
              </a:lnSpc>
            </a:pPr>
            <a:r>
              <a:rPr lang="zh-CN" sz="1165" b="1">
                <a:solidFill>
                  <a:srgbClr val="C4B5FD"/>
                </a:solidFill>
                <a:latin typeface="微软雅黑" panose="020B0503020204020204" charset="-122"/>
                <a:ea typeface="微软雅黑" panose="020B0503020204020204" charset="-122"/>
              </a:rPr>
              <a:t>项目目标：</a:t>
            </a:r>
            <a:r>
              <a:rPr lang="zh-CN" sz="1165">
                <a:solidFill>
                  <a:srgbClr val="E2E8F0"/>
                </a:solidFill>
                <a:latin typeface="微软雅黑" panose="020B0503020204020204" charset="-122"/>
                <a:ea typeface="微软雅黑" panose="020B0503020204020204" charset="-122"/>
              </a:rPr>
              <a:t>推动产业链从静态展示升级为可模拟、可推演、可预判、可预警的动态智能体系。</a:t>
            </a:r>
            <a:endParaRPr lang="zh-CN" sz="1165">
              <a:solidFill>
                <a:srgbClr val="E2E8F0"/>
              </a:solidFill>
              <a:latin typeface="微软雅黑" panose="020B0503020204020204" charset="-122"/>
              <a:ea typeface="微软雅黑" panose="020B0503020204020204" charset="-122"/>
            </a:endParaRPr>
          </a:p>
        </p:txBody>
      </p:sp>
      <p:sp>
        <p:nvSpPr>
          <p:cNvPr id="121" name="圆角矩形 120"/>
          <p:cNvSpPr/>
          <p:nvPr/>
        </p:nvSpPr>
        <p:spPr>
          <a:xfrm>
            <a:off x="609600" y="3676650"/>
            <a:ext cx="5334000" cy="466725"/>
          </a:xfrm>
          <a:prstGeom prst="roundRect">
            <a:avLst>
              <a:gd name="adj" fmla="val 20408"/>
            </a:avLst>
          </a:prstGeom>
          <a:solidFill>
            <a:srgbClr val="111B2E"/>
          </a:solidFill>
        </p:spPr>
        <p:txBody>
          <a:bodyPr/>
          <a:p/>
        </p:txBody>
      </p:sp>
      <p:sp>
        <p:nvSpPr>
          <p:cNvPr id="122" name="文本框 121" descr="{&quot;isTemplate&quot;:true,&quot;type&quot;:&quot;text&quot;}"/>
          <p:cNvSpPr txBox="1"/>
          <p:nvPr/>
        </p:nvSpPr>
        <p:spPr>
          <a:xfrm>
            <a:off x="781050" y="37814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①</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产业链上下游</a:t>
            </a:r>
            <a:r>
              <a:rPr lang="en-US" sz="1090">
                <a:solidFill>
                  <a:srgbClr val="E2E8F0"/>
                </a:solidFill>
                <a:latin typeface="微软雅黑" panose="020B0503020204020204" charset="-122"/>
                <a:ea typeface="微软雅黑" panose="020B0503020204020204" charset="-122"/>
              </a:rPr>
              <a:t> BOM </a:t>
            </a:r>
            <a:r>
              <a:rPr lang="zh-CN" sz="1090">
                <a:solidFill>
                  <a:srgbClr val="E2E8F0"/>
                </a:solidFill>
                <a:latin typeface="微软雅黑" panose="020B0503020204020204" charset="-122"/>
                <a:ea typeface="微软雅黑" panose="020B0503020204020204" charset="-122"/>
              </a:rPr>
              <a:t>结构、供需关系、产能体系建模</a:t>
            </a:r>
            <a:endParaRPr lang="zh-CN" sz="1090">
              <a:solidFill>
                <a:srgbClr val="E2E8F0"/>
              </a:solidFill>
              <a:latin typeface="微软雅黑" panose="020B0503020204020204" charset="-122"/>
              <a:ea typeface="微软雅黑" panose="020B0503020204020204" charset="-122"/>
            </a:endParaRPr>
          </a:p>
        </p:txBody>
      </p:sp>
      <p:sp>
        <p:nvSpPr>
          <p:cNvPr id="123" name="圆角矩形 122"/>
          <p:cNvSpPr/>
          <p:nvPr/>
        </p:nvSpPr>
        <p:spPr>
          <a:xfrm>
            <a:off x="6057900" y="3676650"/>
            <a:ext cx="5334000" cy="466725"/>
          </a:xfrm>
          <a:prstGeom prst="roundRect">
            <a:avLst>
              <a:gd name="adj" fmla="val 20408"/>
            </a:avLst>
          </a:prstGeom>
          <a:solidFill>
            <a:srgbClr val="111B2E"/>
          </a:solidFill>
        </p:spPr>
        <p:txBody>
          <a:bodyPr/>
          <a:p/>
        </p:txBody>
      </p:sp>
      <p:sp>
        <p:nvSpPr>
          <p:cNvPr id="124" name="文本框 123" descr="{&quot;isTemplate&quot;:true,&quot;type&quot;:&quot;text&quot;}"/>
          <p:cNvSpPr txBox="1"/>
          <p:nvPr/>
        </p:nvSpPr>
        <p:spPr>
          <a:xfrm>
            <a:off x="6229350" y="37814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②</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断供、涨价、减产、停工、贸易波动等多情景仿真</a:t>
            </a:r>
            <a:endParaRPr lang="zh-CN" sz="1090">
              <a:solidFill>
                <a:srgbClr val="E2E8F0"/>
              </a:solidFill>
              <a:latin typeface="微软雅黑" panose="020B0503020204020204" charset="-122"/>
              <a:ea typeface="微软雅黑" panose="020B0503020204020204" charset="-122"/>
            </a:endParaRPr>
          </a:p>
        </p:txBody>
      </p:sp>
      <p:sp>
        <p:nvSpPr>
          <p:cNvPr id="125" name="圆角矩形 124"/>
          <p:cNvSpPr/>
          <p:nvPr/>
        </p:nvSpPr>
        <p:spPr>
          <a:xfrm>
            <a:off x="609600" y="4257675"/>
            <a:ext cx="5334000" cy="466725"/>
          </a:xfrm>
          <a:prstGeom prst="roundRect">
            <a:avLst>
              <a:gd name="adj" fmla="val 20408"/>
            </a:avLst>
          </a:prstGeom>
          <a:solidFill>
            <a:srgbClr val="111B2E"/>
          </a:solidFill>
        </p:spPr>
        <p:txBody>
          <a:bodyPr/>
          <a:p/>
        </p:txBody>
      </p:sp>
      <p:sp>
        <p:nvSpPr>
          <p:cNvPr id="126" name="文本框 125" descr="{&quot;isTemplate&quot;:true,&quot;type&quot;:&quot;text&quot;}"/>
          <p:cNvSpPr txBox="1"/>
          <p:nvPr/>
        </p:nvSpPr>
        <p:spPr>
          <a:xfrm>
            <a:off x="781050" y="43624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③</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风险传导路径可视化、供需缺口量化测算</a:t>
            </a:r>
            <a:endParaRPr lang="zh-CN" sz="1090">
              <a:solidFill>
                <a:srgbClr val="E2E8F0"/>
              </a:solidFill>
              <a:latin typeface="微软雅黑" panose="020B0503020204020204" charset="-122"/>
              <a:ea typeface="微软雅黑" panose="020B0503020204020204" charset="-122"/>
            </a:endParaRPr>
          </a:p>
        </p:txBody>
      </p:sp>
      <p:sp>
        <p:nvSpPr>
          <p:cNvPr id="127" name="圆角矩形 126"/>
          <p:cNvSpPr/>
          <p:nvPr/>
        </p:nvSpPr>
        <p:spPr>
          <a:xfrm>
            <a:off x="6057900" y="4257675"/>
            <a:ext cx="5334000" cy="466725"/>
          </a:xfrm>
          <a:prstGeom prst="roundRect">
            <a:avLst>
              <a:gd name="adj" fmla="val 20408"/>
            </a:avLst>
          </a:prstGeom>
          <a:solidFill>
            <a:srgbClr val="111B2E"/>
          </a:solidFill>
        </p:spPr>
        <p:txBody>
          <a:bodyPr/>
          <a:p/>
        </p:txBody>
      </p:sp>
      <p:sp>
        <p:nvSpPr>
          <p:cNvPr id="128" name="文本框 127" descr="{&quot;isTemplate&quot;:true,&quot;type&quot;:&quot;text&quot;}"/>
          <p:cNvSpPr txBox="1"/>
          <p:nvPr/>
        </p:nvSpPr>
        <p:spPr>
          <a:xfrm>
            <a:off x="6229350" y="43624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④</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产业风险评级、影响评估、应对建议智能输出</a:t>
            </a:r>
            <a:endParaRPr lang="zh-CN" sz="1090">
              <a:solidFill>
                <a:srgbClr val="E2E8F0"/>
              </a:solidFill>
              <a:latin typeface="微软雅黑" panose="020B0503020204020204" charset="-122"/>
              <a:ea typeface="微软雅黑" panose="020B0503020204020204" charset="-122"/>
            </a:endParaRPr>
          </a:p>
        </p:txBody>
      </p:sp>
      <p:sp>
        <p:nvSpPr>
          <p:cNvPr id="129" name="圆角矩形 128"/>
          <p:cNvSpPr/>
          <p:nvPr/>
        </p:nvSpPr>
        <p:spPr>
          <a:xfrm>
            <a:off x="609600" y="4838700"/>
            <a:ext cx="10972800" cy="381000"/>
          </a:xfrm>
          <a:prstGeom prst="roundRect">
            <a:avLst>
              <a:gd name="adj" fmla="val 25000"/>
            </a:avLst>
          </a:prstGeom>
          <a:solidFill>
            <a:srgbClr val="8B5CF6">
              <a:alpha val="8000"/>
            </a:srgbClr>
          </a:solidFill>
          <a:ln w="12700">
            <a:solidFill>
              <a:srgbClr val="8B5CF6">
                <a:alpha val="30000"/>
              </a:srgbClr>
            </a:solidFill>
            <a:prstDash val="solid"/>
          </a:ln>
        </p:spPr>
        <p:txBody>
          <a:bodyPr/>
          <a:p/>
        </p:txBody>
      </p:sp>
      <p:sp>
        <p:nvSpPr>
          <p:cNvPr id="130" name="文本框 129" descr="{&quot;isTemplate&quot;:true,&quot;type&quot;:&quot;text&quot;}"/>
          <p:cNvSpPr txBox="1"/>
          <p:nvPr/>
        </p:nvSpPr>
        <p:spPr>
          <a:xfrm>
            <a:off x="819150" y="4953000"/>
            <a:ext cx="533400" cy="161925"/>
          </a:xfrm>
          <a:prstGeom prst="rect">
            <a:avLst/>
          </a:prstGeom>
        </p:spPr>
        <p:txBody>
          <a:bodyPr wrap="none" lIns="0" tIns="0" rIns="0" bIns="0"/>
          <a:p>
            <a:pPr>
              <a:lnSpc>
                <a:spcPct val="100000"/>
              </a:lnSpc>
            </a:pPr>
            <a:r>
              <a:rPr lang="zh-CN" sz="1050" b="1">
                <a:solidFill>
                  <a:srgbClr val="C4B5FD"/>
                </a:solidFill>
                <a:latin typeface="微软雅黑" panose="020B0503020204020204" charset="-122"/>
                <a:ea typeface="微软雅黑" panose="020B0503020204020204" charset="-122"/>
              </a:rPr>
              <a:t>选题适配</a:t>
            </a:r>
            <a:endParaRPr lang="zh-CN" sz="1050" b="1">
              <a:solidFill>
                <a:srgbClr val="C4B5FD"/>
              </a:solidFill>
              <a:latin typeface="微软雅黑" panose="020B0503020204020204" charset="-122"/>
              <a:ea typeface="微软雅黑" panose="020B0503020204020204" charset="-122"/>
            </a:endParaRPr>
          </a:p>
        </p:txBody>
      </p:sp>
      <p:sp>
        <p:nvSpPr>
          <p:cNvPr id="131" name="文本框 130" descr="{&quot;isTemplate&quot;:true,&quot;type&quot;:&quot;text&quot;}"/>
          <p:cNvSpPr txBox="1"/>
          <p:nvPr/>
        </p:nvSpPr>
        <p:spPr>
          <a:xfrm>
            <a:off x="1466850" y="4943475"/>
            <a:ext cx="4419600"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创新性强、建模要求高，适合系统仿真、因果推演、量化建模方向的团队</a:t>
            </a:r>
            <a:endParaRPr lang="zh-CN" sz="1090">
              <a:solidFill>
                <a:srgbClr val="E2E8F0"/>
              </a:solidFill>
              <a:latin typeface="微软雅黑" panose="020B0503020204020204" charset="-122"/>
              <a:ea typeface="微软雅黑" panose="020B0503020204020204" charset="-122"/>
            </a:endParaRPr>
          </a:p>
        </p:txBody>
      </p:sp>
      <p:sp>
        <p:nvSpPr>
          <p:cNvPr id="132" name="文本框 131"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133" name="文本框 132"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14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34" name="" descr="&lt;Slide style={{ width: 1280, height: 720, background: '#0B1220', padding: '20px 64px', display: 'flex', flexDirection: 'column' }}&gt;&#13;&#10;    &lt;Box style={{ flexDirection: 'row', height: 96, alignItems: 'center' }}&gt;&#13;&#10;        &lt;Box style={{ width: 6, height: 44, background: 'linear-gradient(180deg, #8B5CF6 0%, #22D3EE 100%)', borderRadius: 3, marginRight: 20 }} /&gt;&#13;&#10;        &lt;Text style={{ fontSize: 30, fontWeight: 'bold', color: '#E2E8F0' }}&gt;课题 10 · 产业出海智能服务系统&lt;/Text&gt;&#13;&#10;        &lt;Box style={{ marginLeft: 18, background: 'rgba(139,92,246,0.14)', borderRadius: 8, padding: '5px 14px', border: '1px solid rgba(139,92,246,0.45)' }}&gt;&#13;&#10;            &lt;Text style={{ fontSize: 14, color: '#C4B5FD' }}&gt;上层产业应用&lt;/Text&gt;&#13;&#10;        &lt;/Box&gt;&#13;&#10;    &lt;/Box&gt;&#13;&#10;    &lt;Box style={{ flex: 1, flexDirection: 'column', gap: 12, justifyContent: 'center' }}&gt;&#13;&#10;        &lt;Box style={{ background: '#111B2E', borderRadius: 12, padding: '14px 24px', borderLeft: '4px solid #8B5CF6' }}&gt;&#13;&#10;            &lt;Text style={{ fontSize: 16, color: '#E2E8F0', lineHeight: 1.65 }}&gt;&lt;span style={{ fontWeight: 'bold', color: '#C4B5FD' }}&gt;课题定义：&lt;/span&gt;面向产业链全球化布局、企业组团出海、跨境产业合作场景，提供海外市场扫描、国别研判、贸易壁垒筛查、合规评估、跨境供需匹配、出海投资分析的智能服务。&lt;/Text&gt;&#13;&#10;        &lt;/Box&gt;&#13;&#10;        &lt;Box style={{ background: 'rgba(139,92,246,0.07)', borderRadius: 10, padding: '12px 24px', border: '1px solid rgba(139,92,246,0.3)' }}&gt;&#13;&#10;            &lt;Text style={{ fontSize: 15.5, color: '#E2E8F0', lineHeight: 1.55 }}&gt;&lt;span style={{ fontWeight: 'bold', color: '#C4B5FD' }}&gt;项目目标：&lt;/span&gt;打造支撑产业链「走出去」的全球化智能决策平台，服务链商出海与跨境产业协同。&lt;/Text&gt;&#13;&#10;        &lt;/Box&gt;&#13;&#10;        &lt;Box style={{ flexDirection: 'row', flexWrap: 'wrap', gap: 12 }}&gt;&#13;&#10;            &lt;Box style={{ width: 560, background: '#111B2E', borderRadius: 10, padding: '11px 18px' }}&gt;&lt;Text style={{ fontSize: 14.5, color: '#E2E8F0', lineHeight: 1.5 }}&gt;&lt;span style={{ fontWeight: 'bold', color: '#C4B5FD' }}&gt;①&lt;/span&gt; 全球各国产业结构、市场容量、供需缺口智能扫描&lt;/Text&gt;&lt;/Box&gt;&#13;&#10;            &lt;Box style={{ width: 560, background: '#111B2E', borderRadius: 10, padding: '11px 18px' }}&gt;&lt;Text style={{ fontSize: 14.5, color: '#E2E8F0', lineHeight: 1.5 }}&gt;&lt;span style={{ fontWeight: 'bold', color: '#C4B5FD' }}&gt;②&lt;/span&gt; 海外关税、认证、法规、贸易壁垒智能筛查与提示&lt;/Text&gt;&lt;/Box&gt;&#13;&#10;            &lt;Box style={{ width: 560, background: '#111B2E', borderRadius: 10, padding: '11px 18px' }}&gt;&lt;Text style={{ fontSize: 14.5, color: '#E2E8F0', lineHeight: 1.5 }}&gt;&lt;span style={{ fontWeight: 'bold', color: '#C4B5FD' }}&gt;③&lt;/span&gt; 跨境产业链供需匹配、优势出海赛道智能推荐&lt;/Text&gt;&lt;/Box&gt;&#13;&#10;            &lt;Box style={{ width: 560, background: '#111B2E', borderRadius: 10, padding: '11px 18px' }}&gt;&lt;Text style={{ fontSize: 14.5, color: '#E2E8F0', lineHeight: 1.5 }}&gt;&lt;span style={{ fontWeight: 'bold', color: '#C4B5FD' }}&gt;④&lt;/span&gt; 海外投资风险研判、产业出海布局方案智能生成&lt;/Text&gt;&lt;/Box&gt;&#13;&#10;        &lt;/Box&gt;&#13;&#10;        &lt;Box style={{ flexDirection: 'row', alignItems: 'center', gap: 12, background: 'rgba(139,92,246,0.08)', borderRadius: 10, padding: '11px 22px', border: '1px solid rgba(139,92,246,0.3)' }}&gt;&#13;&#10;            &lt;Text style={{ fontSize: 14, color: '#C4B5FD', fontWeight: 'bold' }}&gt;选题适配&lt;/Text&gt;&#13;&#10;            &lt;Text style={{ fontSize: 14.5, color: '#E2E8F0' }}&gt;视野全球化、场景前沿，适合多源数据整合、跨境业务系统、智能研判方向的团队&lt;/Text&gt;&#13;&#10;        &lt;/Box&gt;&#13;&#10;    &lt;/Box&gt;&#13;&#10;    &lt;Box style={{ height: 40, flexDirection: 'row', justifyContent: 'space-between', alignItems: 'center', marginTop: 12 }}&gt;&#13;&#10;        &lt;Text style={{ fontSize: 14, color: '#94A3B8' }}&gt;01 十大创新实践课题&lt;/Text&gt;&#13;&#10;        &lt;Text style={{ fontSize: 14, color: '#94A3B8' }}&gt;15 / 47&lt;/Text&gt;&#13;&#10;    &lt;/Box&gt;&#13;&#10;&lt;/Slide&gt;&#13;&#10;"/>
        <p:cNvGrpSpPr/>
        <p:nvPr/>
      </p:nvGrpSpPr>
      <p:grpSpPr>
        <a:xfrm>
          <a:off x="0" y="0"/>
          <a:ext cx="0" cy="0"/>
          <a:chOff x="0" y="0"/>
          <a:chExt cx="0" cy="0"/>
        </a:xfrm>
      </p:grpSpPr>
      <p:sp>
        <p:nvSpPr>
          <p:cNvPr id="135" name="矩形 134"/>
          <p:cNvSpPr/>
          <p:nvPr/>
        </p:nvSpPr>
        <p:spPr>
          <a:xfrm>
            <a:off x="0" y="0"/>
            <a:ext cx="12192000" cy="6858000"/>
          </a:xfrm>
          <a:prstGeom prst="rect">
            <a:avLst/>
          </a:prstGeom>
          <a:solidFill>
            <a:srgbClr val="0B1220"/>
          </a:solidFill>
        </p:spPr>
        <p:txBody>
          <a:bodyPr/>
          <a:p/>
        </p:txBody>
      </p:sp>
      <p:sp>
        <p:nvSpPr>
          <p:cNvPr id="136" name="圆角矩形 135"/>
          <p:cNvSpPr/>
          <p:nvPr/>
        </p:nvSpPr>
        <p:spPr>
          <a:xfrm>
            <a:off x="609600" y="438150"/>
            <a:ext cx="57150" cy="419100"/>
          </a:xfrm>
          <a:prstGeom prst="roundRect">
            <a:avLst>
              <a:gd name="adj" fmla="val 50000"/>
            </a:avLst>
          </a:prstGeom>
          <a:gradFill>
            <a:gsLst>
              <a:gs pos="0">
                <a:srgbClr val="8B5CF6"/>
              </a:gs>
              <a:gs pos="100000">
                <a:srgbClr val="22D3EE"/>
              </a:gs>
            </a:gsLst>
            <a:lin ang="5400000" scaled="1"/>
          </a:gradFill>
        </p:spPr>
        <p:txBody>
          <a:bodyPr/>
          <a:p/>
        </p:txBody>
      </p:sp>
      <p:sp>
        <p:nvSpPr>
          <p:cNvPr id="137" name="文本框 136" descr="{&quot;isTemplate&quot;:true,&quot;type&quot;:&quot;text&quot;}"/>
          <p:cNvSpPr txBox="1"/>
          <p:nvPr/>
        </p:nvSpPr>
        <p:spPr>
          <a:xfrm>
            <a:off x="857250" y="476250"/>
            <a:ext cx="4162425" cy="342900"/>
          </a:xfrm>
          <a:prstGeom prst="rect">
            <a:avLst/>
          </a:prstGeom>
        </p:spPr>
        <p:txBody>
          <a:bodyPr wrap="none" lIns="0" tIns="0" rIns="0" bIns="0"/>
          <a:p>
            <a:pPr>
              <a:lnSpc>
                <a:spcPct val="100000"/>
              </a:lnSpc>
            </a:pPr>
            <a:r>
              <a:rPr lang="zh-CN" sz="2250" b="1">
                <a:solidFill>
                  <a:srgbClr val="E2E8F0"/>
                </a:solidFill>
                <a:latin typeface="微软雅黑" panose="020B0503020204020204" charset="-122"/>
                <a:ea typeface="微软雅黑" panose="020B0503020204020204" charset="-122"/>
              </a:rPr>
              <a:t>课题</a:t>
            </a:r>
            <a:r>
              <a:rPr lang="en-US" sz="2250" b="1">
                <a:solidFill>
                  <a:srgbClr val="E2E8F0"/>
                </a:solidFill>
                <a:latin typeface="微软雅黑" panose="020B0503020204020204" charset="-122"/>
                <a:ea typeface="微软雅黑" panose="020B0503020204020204" charset="-122"/>
              </a:rPr>
              <a:t> 10 · </a:t>
            </a:r>
            <a:r>
              <a:rPr lang="zh-CN" sz="2250" b="1">
                <a:solidFill>
                  <a:srgbClr val="E2E8F0"/>
                </a:solidFill>
                <a:latin typeface="微软雅黑" panose="020B0503020204020204" charset="-122"/>
                <a:ea typeface="微软雅黑" panose="020B0503020204020204" charset="-122"/>
              </a:rPr>
              <a:t>产业出海智能服务系统</a:t>
            </a:r>
            <a:endParaRPr lang="zh-CN" sz="2250" b="1">
              <a:solidFill>
                <a:srgbClr val="E2E8F0"/>
              </a:solidFill>
              <a:latin typeface="微软雅黑" panose="020B0503020204020204" charset="-122"/>
              <a:ea typeface="微软雅黑" panose="020B0503020204020204" charset="-122"/>
            </a:endParaRPr>
          </a:p>
        </p:txBody>
      </p:sp>
      <p:sp>
        <p:nvSpPr>
          <p:cNvPr id="138" name="圆角矩形 137"/>
          <p:cNvSpPr/>
          <p:nvPr/>
        </p:nvSpPr>
        <p:spPr>
          <a:xfrm>
            <a:off x="5191125" y="523875"/>
            <a:ext cx="1066800" cy="257175"/>
          </a:xfrm>
          <a:prstGeom prst="roundRect">
            <a:avLst>
              <a:gd name="adj" fmla="val 29630"/>
            </a:avLst>
          </a:prstGeom>
          <a:solidFill>
            <a:srgbClr val="8B5CF6">
              <a:alpha val="14000"/>
            </a:srgbClr>
          </a:solidFill>
          <a:ln w="12700">
            <a:solidFill>
              <a:srgbClr val="8B5CF6">
                <a:alpha val="45000"/>
              </a:srgbClr>
            </a:solidFill>
            <a:prstDash val="solid"/>
          </a:ln>
        </p:spPr>
        <p:txBody>
          <a:bodyPr/>
          <a:p/>
        </p:txBody>
      </p:sp>
      <p:sp>
        <p:nvSpPr>
          <p:cNvPr id="139" name="文本框 138" descr="{&quot;isTemplate&quot;:true,&quot;type&quot;:&quot;text&quot;}"/>
          <p:cNvSpPr txBox="1"/>
          <p:nvPr/>
        </p:nvSpPr>
        <p:spPr>
          <a:xfrm>
            <a:off x="5324475" y="571500"/>
            <a:ext cx="800100" cy="161925"/>
          </a:xfrm>
          <a:prstGeom prst="rect">
            <a:avLst/>
          </a:prstGeom>
        </p:spPr>
        <p:txBody>
          <a:bodyPr wrap="none" lIns="0" tIns="0" rIns="0" bIns="0"/>
          <a:p>
            <a:pPr>
              <a:lnSpc>
                <a:spcPct val="100000"/>
              </a:lnSpc>
            </a:pPr>
            <a:r>
              <a:rPr lang="zh-CN" sz="1050">
                <a:solidFill>
                  <a:srgbClr val="C4B5FD"/>
                </a:solidFill>
                <a:latin typeface="微软雅黑" panose="020B0503020204020204" charset="-122"/>
                <a:ea typeface="微软雅黑" panose="020B0503020204020204" charset="-122"/>
              </a:rPr>
              <a:t>上层产业应用</a:t>
            </a:r>
            <a:endParaRPr lang="zh-CN" sz="1050">
              <a:solidFill>
                <a:srgbClr val="C4B5FD"/>
              </a:solidFill>
              <a:latin typeface="微软雅黑" panose="020B0503020204020204" charset="-122"/>
              <a:ea typeface="微软雅黑" panose="020B0503020204020204" charset="-122"/>
            </a:endParaRPr>
          </a:p>
        </p:txBody>
      </p:sp>
      <p:sp>
        <p:nvSpPr>
          <p:cNvPr id="140" name="圆角矩形 139"/>
          <p:cNvSpPr/>
          <p:nvPr/>
        </p:nvSpPr>
        <p:spPr>
          <a:xfrm>
            <a:off x="647700" y="2066925"/>
            <a:ext cx="10972800" cy="876300"/>
          </a:xfrm>
          <a:prstGeom prst="roundRect">
            <a:avLst>
              <a:gd name="adj" fmla="val 13043"/>
            </a:avLst>
          </a:prstGeom>
          <a:solidFill>
            <a:srgbClr val="111B2E"/>
          </a:solidFill>
        </p:spPr>
        <p:txBody>
          <a:bodyPr/>
          <a:p/>
        </p:txBody>
      </p:sp>
      <p:sp>
        <p:nvSpPr>
          <p:cNvPr id="141" name="任意多边形 140"/>
          <p:cNvSpPr/>
          <p:nvPr/>
        </p:nvSpPr>
        <p:spPr>
          <a:xfrm>
            <a:off x="647700" y="2066925"/>
            <a:ext cx="10972800" cy="876300"/>
          </a:xfrm>
          <a:custGeom>
            <a:avLst/>
            <a:gdLst/>
            <a:ahLst/>
            <a:cxnLst/>
            <a:pathLst>
              <a:path w="1152" h="92">
                <a:moveTo>
                  <a:pt x="11" y="0"/>
                </a:moveTo>
                <a:cubicBezTo>
                  <a:pt x="7" y="0"/>
                  <a:pt x="4" y="4"/>
                  <a:pt x="4" y="8"/>
                </a:cubicBezTo>
                <a:lnTo>
                  <a:pt x="4" y="84"/>
                </a:lnTo>
                <a:cubicBezTo>
                  <a:pt x="4" y="88"/>
                  <a:pt x="7" y="91"/>
                  <a:pt x="10" y="92"/>
                </a:cubicBezTo>
                <a:cubicBezTo>
                  <a:pt x="4" y="91"/>
                  <a:pt x="0" y="86"/>
                  <a:pt x="0" y="80"/>
                </a:cubicBezTo>
                <a:lnTo>
                  <a:pt x="0" y="12"/>
                </a:lnTo>
                <a:cubicBezTo>
                  <a:pt x="0" y="6"/>
                  <a:pt x="5" y="0"/>
                  <a:pt x="12" y="0"/>
                </a:cubicBezTo>
                <a:close/>
              </a:path>
            </a:pathLst>
          </a:custGeom>
          <a:solidFill>
            <a:srgbClr val="8B5CF6"/>
          </a:solidFill>
        </p:spPr>
        <p:txBody>
          <a:bodyPr/>
          <a:p/>
        </p:txBody>
      </p:sp>
      <p:sp>
        <p:nvSpPr>
          <p:cNvPr id="142" name="文本框 141" descr="{&quot;isTemplate&quot;:true,&quot;type&quot;:&quot;text&quot;}"/>
          <p:cNvSpPr txBox="1"/>
          <p:nvPr/>
        </p:nvSpPr>
        <p:spPr>
          <a:xfrm>
            <a:off x="876300" y="2200275"/>
            <a:ext cx="10477500" cy="609600"/>
          </a:xfrm>
          <a:prstGeom prst="rect">
            <a:avLst/>
          </a:prstGeom>
        </p:spPr>
        <p:txBody>
          <a:bodyPr wrap="square" lIns="0" tIns="0" rIns="0" bIns="0">
            <a:normAutofit/>
          </a:bodyPr>
          <a:p>
            <a:pPr>
              <a:lnSpc>
                <a:spcPct val="165000"/>
              </a:lnSpc>
            </a:pPr>
            <a:r>
              <a:rPr lang="zh-CN" sz="1200" b="1">
                <a:solidFill>
                  <a:srgbClr val="C4B5FD"/>
                </a:solidFill>
                <a:latin typeface="微软雅黑" panose="020B0503020204020204" charset="-122"/>
                <a:ea typeface="微软雅黑" panose="020B0503020204020204" charset="-122"/>
              </a:rPr>
              <a:t>课题定义：</a:t>
            </a:r>
            <a:r>
              <a:rPr lang="zh-CN" sz="1200">
                <a:solidFill>
                  <a:srgbClr val="E2E8F0"/>
                </a:solidFill>
                <a:latin typeface="微软雅黑" panose="020B0503020204020204" charset="-122"/>
                <a:ea typeface="微软雅黑" panose="020B0503020204020204" charset="-122"/>
              </a:rPr>
              <a:t>面向产业链全球化布局、企业组团出海、跨境产业合作场景，提供海外市场扫描、国别研判、贸易壁垒筛查、合规评估、跨境供需匹配、出海投资分析的智能服务。</a:t>
            </a:r>
            <a:endParaRPr lang="zh-CN" sz="1200">
              <a:solidFill>
                <a:srgbClr val="E2E8F0"/>
              </a:solidFill>
              <a:latin typeface="微软雅黑" panose="020B0503020204020204" charset="-122"/>
              <a:ea typeface="微软雅黑" panose="020B0503020204020204" charset="-122"/>
            </a:endParaRPr>
          </a:p>
        </p:txBody>
      </p:sp>
      <p:sp>
        <p:nvSpPr>
          <p:cNvPr id="143" name="圆角矩形 142"/>
          <p:cNvSpPr/>
          <p:nvPr/>
        </p:nvSpPr>
        <p:spPr>
          <a:xfrm>
            <a:off x="609600" y="3057525"/>
            <a:ext cx="10972800" cy="504825"/>
          </a:xfrm>
          <a:prstGeom prst="roundRect">
            <a:avLst>
              <a:gd name="adj" fmla="val 18868"/>
            </a:avLst>
          </a:prstGeom>
          <a:solidFill>
            <a:srgbClr val="8B5CF6">
              <a:alpha val="7000"/>
            </a:srgbClr>
          </a:solidFill>
          <a:ln w="12700">
            <a:solidFill>
              <a:srgbClr val="8B5CF6">
                <a:alpha val="30000"/>
              </a:srgbClr>
            </a:solidFill>
            <a:prstDash val="solid"/>
          </a:ln>
        </p:spPr>
        <p:txBody>
          <a:bodyPr/>
          <a:p/>
        </p:txBody>
      </p:sp>
      <p:sp>
        <p:nvSpPr>
          <p:cNvPr id="144" name="文本框 143" descr="{&quot;isTemplate&quot;:true,&quot;type&quot;:&quot;text&quot;}"/>
          <p:cNvSpPr txBox="1"/>
          <p:nvPr/>
        </p:nvSpPr>
        <p:spPr>
          <a:xfrm>
            <a:off x="838200" y="3171825"/>
            <a:ext cx="10515600" cy="276225"/>
          </a:xfrm>
          <a:prstGeom prst="rect">
            <a:avLst/>
          </a:prstGeom>
        </p:spPr>
        <p:txBody>
          <a:bodyPr wrap="none" lIns="0" tIns="0" rIns="0" bIns="0"/>
          <a:p>
            <a:pPr>
              <a:lnSpc>
                <a:spcPct val="155000"/>
              </a:lnSpc>
            </a:pPr>
            <a:r>
              <a:rPr lang="zh-CN" sz="1165" b="1">
                <a:solidFill>
                  <a:srgbClr val="C4B5FD"/>
                </a:solidFill>
                <a:latin typeface="微软雅黑" panose="020B0503020204020204" charset="-122"/>
                <a:ea typeface="微软雅黑" panose="020B0503020204020204" charset="-122"/>
              </a:rPr>
              <a:t>项目目标：</a:t>
            </a:r>
            <a:r>
              <a:rPr lang="zh-CN" sz="1165">
                <a:solidFill>
                  <a:srgbClr val="E2E8F0"/>
                </a:solidFill>
                <a:latin typeface="微软雅黑" panose="020B0503020204020204" charset="-122"/>
                <a:ea typeface="微软雅黑" panose="020B0503020204020204" charset="-122"/>
              </a:rPr>
              <a:t>打造支撑产业链「走出去」的全球化智能决策平台，服务链商出海与跨境产业协同。</a:t>
            </a:r>
            <a:endParaRPr lang="zh-CN" sz="1165">
              <a:solidFill>
                <a:srgbClr val="E2E8F0"/>
              </a:solidFill>
              <a:latin typeface="微软雅黑" panose="020B0503020204020204" charset="-122"/>
              <a:ea typeface="微软雅黑" panose="020B0503020204020204" charset="-122"/>
            </a:endParaRPr>
          </a:p>
        </p:txBody>
      </p:sp>
      <p:sp>
        <p:nvSpPr>
          <p:cNvPr id="145" name="圆角矩形 144"/>
          <p:cNvSpPr/>
          <p:nvPr/>
        </p:nvSpPr>
        <p:spPr>
          <a:xfrm>
            <a:off x="609600" y="3676650"/>
            <a:ext cx="5334000" cy="466725"/>
          </a:xfrm>
          <a:prstGeom prst="roundRect">
            <a:avLst>
              <a:gd name="adj" fmla="val 20408"/>
            </a:avLst>
          </a:prstGeom>
          <a:solidFill>
            <a:srgbClr val="111B2E"/>
          </a:solidFill>
        </p:spPr>
        <p:txBody>
          <a:bodyPr/>
          <a:p/>
        </p:txBody>
      </p:sp>
      <p:sp>
        <p:nvSpPr>
          <p:cNvPr id="146" name="文本框 145" descr="{&quot;isTemplate&quot;:true,&quot;type&quot;:&quot;text&quot;}"/>
          <p:cNvSpPr txBox="1"/>
          <p:nvPr/>
        </p:nvSpPr>
        <p:spPr>
          <a:xfrm>
            <a:off x="781050" y="37814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①</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全球各国产业结构、市场容量、供需缺口智能扫描</a:t>
            </a:r>
            <a:endParaRPr lang="zh-CN" sz="1090">
              <a:solidFill>
                <a:srgbClr val="E2E8F0"/>
              </a:solidFill>
              <a:latin typeface="微软雅黑" panose="020B0503020204020204" charset="-122"/>
              <a:ea typeface="微软雅黑" panose="020B0503020204020204" charset="-122"/>
            </a:endParaRPr>
          </a:p>
        </p:txBody>
      </p:sp>
      <p:sp>
        <p:nvSpPr>
          <p:cNvPr id="147" name="圆角矩形 146"/>
          <p:cNvSpPr/>
          <p:nvPr/>
        </p:nvSpPr>
        <p:spPr>
          <a:xfrm>
            <a:off x="6057900" y="3676650"/>
            <a:ext cx="5334000" cy="466725"/>
          </a:xfrm>
          <a:prstGeom prst="roundRect">
            <a:avLst>
              <a:gd name="adj" fmla="val 20408"/>
            </a:avLst>
          </a:prstGeom>
          <a:solidFill>
            <a:srgbClr val="111B2E"/>
          </a:solidFill>
        </p:spPr>
        <p:txBody>
          <a:bodyPr/>
          <a:p/>
        </p:txBody>
      </p:sp>
      <p:sp>
        <p:nvSpPr>
          <p:cNvPr id="148" name="文本框 147" descr="{&quot;isTemplate&quot;:true,&quot;type&quot;:&quot;text&quot;}"/>
          <p:cNvSpPr txBox="1"/>
          <p:nvPr/>
        </p:nvSpPr>
        <p:spPr>
          <a:xfrm>
            <a:off x="6229350" y="3781425"/>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②</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海外关税、认证、法规、贸易壁垒智能筛查与提示</a:t>
            </a:r>
            <a:endParaRPr lang="zh-CN" sz="1090">
              <a:solidFill>
                <a:srgbClr val="E2E8F0"/>
              </a:solidFill>
              <a:latin typeface="微软雅黑" panose="020B0503020204020204" charset="-122"/>
              <a:ea typeface="微软雅黑" panose="020B0503020204020204" charset="-122"/>
            </a:endParaRPr>
          </a:p>
        </p:txBody>
      </p:sp>
      <p:sp>
        <p:nvSpPr>
          <p:cNvPr id="149" name="圆角矩形 148"/>
          <p:cNvSpPr/>
          <p:nvPr/>
        </p:nvSpPr>
        <p:spPr>
          <a:xfrm>
            <a:off x="609600" y="4257675"/>
            <a:ext cx="5334000" cy="466725"/>
          </a:xfrm>
          <a:prstGeom prst="roundRect">
            <a:avLst>
              <a:gd name="adj" fmla="val 20408"/>
            </a:avLst>
          </a:prstGeom>
          <a:solidFill>
            <a:srgbClr val="111B2E"/>
          </a:solidFill>
        </p:spPr>
        <p:txBody>
          <a:bodyPr/>
          <a:p/>
        </p:txBody>
      </p:sp>
      <p:sp>
        <p:nvSpPr>
          <p:cNvPr id="150" name="文本框 149" descr="{&quot;isTemplate&quot;:true,&quot;type&quot;:&quot;text&quot;}"/>
          <p:cNvSpPr txBox="1"/>
          <p:nvPr/>
        </p:nvSpPr>
        <p:spPr>
          <a:xfrm>
            <a:off x="781050" y="43624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③</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跨境产业链供需匹配、优势出海赛道智能推荐</a:t>
            </a:r>
            <a:endParaRPr lang="zh-CN" sz="1090">
              <a:solidFill>
                <a:srgbClr val="E2E8F0"/>
              </a:solidFill>
              <a:latin typeface="微软雅黑" panose="020B0503020204020204" charset="-122"/>
              <a:ea typeface="微软雅黑" panose="020B0503020204020204" charset="-122"/>
            </a:endParaRPr>
          </a:p>
        </p:txBody>
      </p:sp>
      <p:sp>
        <p:nvSpPr>
          <p:cNvPr id="151" name="圆角矩形 150"/>
          <p:cNvSpPr/>
          <p:nvPr/>
        </p:nvSpPr>
        <p:spPr>
          <a:xfrm>
            <a:off x="6057900" y="4257675"/>
            <a:ext cx="5334000" cy="466725"/>
          </a:xfrm>
          <a:prstGeom prst="roundRect">
            <a:avLst>
              <a:gd name="adj" fmla="val 20408"/>
            </a:avLst>
          </a:prstGeom>
          <a:solidFill>
            <a:srgbClr val="111B2E"/>
          </a:solidFill>
        </p:spPr>
        <p:txBody>
          <a:bodyPr/>
          <a:p/>
        </p:txBody>
      </p:sp>
      <p:sp>
        <p:nvSpPr>
          <p:cNvPr id="152" name="文本框 151" descr="{&quot;isTemplate&quot;:true,&quot;type&quot;:&quot;text&quot;}"/>
          <p:cNvSpPr txBox="1"/>
          <p:nvPr/>
        </p:nvSpPr>
        <p:spPr>
          <a:xfrm>
            <a:off x="6229350" y="4362450"/>
            <a:ext cx="4991100" cy="257175"/>
          </a:xfrm>
          <a:prstGeom prst="rect">
            <a:avLst/>
          </a:prstGeom>
        </p:spPr>
        <p:txBody>
          <a:bodyPr wrap="none" lIns="0" tIns="0" rIns="0" bIns="0"/>
          <a:p>
            <a:pPr>
              <a:lnSpc>
                <a:spcPct val="150000"/>
              </a:lnSpc>
            </a:pPr>
            <a:r>
              <a:rPr sz="1090" b="1">
                <a:solidFill>
                  <a:srgbClr val="C4B5FD"/>
                </a:solidFill>
                <a:latin typeface="微软雅黑" panose="020B0503020204020204" charset="-122"/>
                <a:ea typeface="微软雅黑" panose="020B0503020204020204" charset="-122"/>
              </a:rPr>
              <a:t>④</a:t>
            </a:r>
            <a:r>
              <a:rPr lang="en-US" sz="1090">
                <a:solidFill>
                  <a:srgbClr val="E2E8F0"/>
                </a:solidFill>
                <a:latin typeface="微软雅黑" panose="020B0503020204020204" charset="-122"/>
                <a:ea typeface="微软雅黑" panose="020B0503020204020204" charset="-122"/>
              </a:rPr>
              <a:t> </a:t>
            </a:r>
            <a:r>
              <a:rPr lang="zh-CN" sz="1090">
                <a:solidFill>
                  <a:srgbClr val="E2E8F0"/>
                </a:solidFill>
                <a:latin typeface="微软雅黑" panose="020B0503020204020204" charset="-122"/>
                <a:ea typeface="微软雅黑" panose="020B0503020204020204" charset="-122"/>
              </a:rPr>
              <a:t>海外投资风险研判、产业出海布局方案智能生成</a:t>
            </a:r>
            <a:endParaRPr lang="zh-CN" sz="1090">
              <a:solidFill>
                <a:srgbClr val="E2E8F0"/>
              </a:solidFill>
              <a:latin typeface="微软雅黑" panose="020B0503020204020204" charset="-122"/>
              <a:ea typeface="微软雅黑" panose="020B0503020204020204" charset="-122"/>
            </a:endParaRPr>
          </a:p>
        </p:txBody>
      </p:sp>
      <p:sp>
        <p:nvSpPr>
          <p:cNvPr id="153" name="圆角矩形 152"/>
          <p:cNvSpPr/>
          <p:nvPr/>
        </p:nvSpPr>
        <p:spPr>
          <a:xfrm>
            <a:off x="609600" y="4838700"/>
            <a:ext cx="10972800" cy="381000"/>
          </a:xfrm>
          <a:prstGeom prst="roundRect">
            <a:avLst>
              <a:gd name="adj" fmla="val 25000"/>
            </a:avLst>
          </a:prstGeom>
          <a:solidFill>
            <a:srgbClr val="8B5CF6">
              <a:alpha val="8000"/>
            </a:srgbClr>
          </a:solidFill>
          <a:ln w="12700">
            <a:solidFill>
              <a:srgbClr val="8B5CF6">
                <a:alpha val="30000"/>
              </a:srgbClr>
            </a:solidFill>
            <a:prstDash val="solid"/>
          </a:ln>
        </p:spPr>
        <p:txBody>
          <a:bodyPr/>
          <a:p/>
        </p:txBody>
      </p:sp>
      <p:sp>
        <p:nvSpPr>
          <p:cNvPr id="154" name="文本框 153" descr="{&quot;isTemplate&quot;:true,&quot;type&quot;:&quot;text&quot;}"/>
          <p:cNvSpPr txBox="1"/>
          <p:nvPr/>
        </p:nvSpPr>
        <p:spPr>
          <a:xfrm>
            <a:off x="819150" y="4953000"/>
            <a:ext cx="533400" cy="161925"/>
          </a:xfrm>
          <a:prstGeom prst="rect">
            <a:avLst/>
          </a:prstGeom>
        </p:spPr>
        <p:txBody>
          <a:bodyPr wrap="none" lIns="0" tIns="0" rIns="0" bIns="0"/>
          <a:p>
            <a:pPr>
              <a:lnSpc>
                <a:spcPct val="100000"/>
              </a:lnSpc>
            </a:pPr>
            <a:r>
              <a:rPr lang="zh-CN" sz="1050" b="1">
                <a:solidFill>
                  <a:srgbClr val="C4B5FD"/>
                </a:solidFill>
                <a:latin typeface="微软雅黑" panose="020B0503020204020204" charset="-122"/>
                <a:ea typeface="微软雅黑" panose="020B0503020204020204" charset="-122"/>
              </a:rPr>
              <a:t>选题适配</a:t>
            </a:r>
            <a:endParaRPr lang="zh-CN" sz="1050" b="1">
              <a:solidFill>
                <a:srgbClr val="C4B5FD"/>
              </a:solidFill>
              <a:latin typeface="微软雅黑" panose="020B0503020204020204" charset="-122"/>
              <a:ea typeface="微软雅黑" panose="020B0503020204020204" charset="-122"/>
            </a:endParaRPr>
          </a:p>
        </p:txBody>
      </p:sp>
      <p:sp>
        <p:nvSpPr>
          <p:cNvPr id="155" name="文本框 154" descr="{&quot;isTemplate&quot;:true,&quot;type&quot;:&quot;text&quot;}"/>
          <p:cNvSpPr txBox="1"/>
          <p:nvPr/>
        </p:nvSpPr>
        <p:spPr>
          <a:xfrm>
            <a:off x="1466850" y="4943475"/>
            <a:ext cx="4972050"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视野全球化、场景前沿，适合多源数据整合、跨境业务系统、智能研判方向的团队</a:t>
            </a:r>
            <a:endParaRPr lang="zh-CN" sz="1090">
              <a:solidFill>
                <a:srgbClr val="E2E8F0"/>
              </a:solidFill>
              <a:latin typeface="微软雅黑" panose="020B0503020204020204" charset="-122"/>
              <a:ea typeface="微软雅黑" panose="020B0503020204020204" charset="-122"/>
            </a:endParaRPr>
          </a:p>
        </p:txBody>
      </p:sp>
      <p:sp>
        <p:nvSpPr>
          <p:cNvPr id="156" name="文本框 155"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157" name="文本框 156"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15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58" name="" descr="&lt;Slide style={{ width: 1280, height: 720, background: '#0B1220', padding: '20px 64px', display: 'flex', flexDirection: 'column' }}&gt;&#10;    &lt;Box style={{ flexDirection: 'row', height: 96, alignItems: 'center' }}&gt;&#10;        &lt;Box style={{ width: 6, height: 44, background: 'linear-gradient(180deg, #8B5CF6 0%, #22D3EE 100%)', borderRadius: 3, marginRight: 20 }} /&gt;&#10;        &lt;Text style={{ fontSize: 34, fontWeight: 'bold', color: '#E2E8F0' }}&gt;第一章小结：课题体系与选题&lt;/Text&gt;&#10;        &lt;Text style={{ fontSize: 15, color: '#94A3B8', marginLeft: 18 }}&gt;从十大课题到立项的桥梁&lt;/Text&gt;&#10;    &lt;/Box&gt;&#10;    &lt;Box style={{ flex: 1, flexDirection: 'column', gap: 14, justifyContent: 'center' }}&gt;&#10;        &lt;Box style={{ flexDirection: 'row', gap: 14, alignItems: 'stretch' }}&gt;&#10;            &lt;Box style={{ flex: 1, background: 'rgba(34,211,238,0.08)', borderRadius: 12, padding: '16px 20px', border: '1px solid rgba(34,211,238,0.35)' }}&gt;&#10;                &lt;Text style={{ fontSize: 17, fontWeight: 'bold', color: '#67E8F9', marginBottom: 8 }}&gt;底层基础底座（课题 1–4）&lt;/Text&gt;&#10;                &lt;Text style={{ fontSize: 14, color: '#E2E8F0', lineHeight: 1.7 }}&gt;产业图谱 · 智能报告 · 态势感知 · 产业百科&lt;/Text&gt;&#10;                &lt;Text style={{ fontSize: 13, color: '#94A3B8', marginTop: 6 }}&gt;提供统一产业知识底座，偏平台与数据工程&lt;/Text&gt;&#10;            &lt;/Box&gt;&#10;            &lt;Box style={{ flex: 1, background: 'rgba(139,92,246,0.10)', borderRadius: 12, padding: '16px 20px', border: '1px solid rgba(139,92,246,0.4)' }}&gt;&#10;                &lt;Text style={{ fontSize: 17, fontWeight: 'bold', color: '#C4B5FD', marginBottom: 8 }}&gt;上层产业应用（课题 5–10）&lt;/Text&gt;&#10;                &lt;Text style={{ fontSize: 14, color: '#E2E8F0', lineHeight: 1.7 }}&gt;产业研究 · 科技情报 · 技术转化 · 招商 · 仿真 · 出海&lt;/Text&gt;&#10;                &lt;Text style={{ fontSize: 13, color: '#94A3B8', marginTop: 6 }}&gt;面向具体业务场景，偏智能应用与业务闭环&lt;/Text&gt;&#10;            &lt;/Box&gt;&#10;        &lt;/Box&gt;&#10;        &lt;Box style={{ background: '#111B2E', borderRadius: 10, padding: '12px 22px', flexDirection: 'row', alignItems: 'center', gap: 12 }}&gt;&#10;            &lt;Text style={{ fontSize: 15, color: '#22D3EE', fontWeight: 'bold' }}&gt;共同特性&lt;/Text&gt;&#10;            &lt;Text style={{ fontSize: 14.5, color: '#E2E8F0' }}&gt;十大课题&lt;span style={{ fontWeight: 'bold', color: '#67E8F9' }}&gt; 独立 · 完整 · 可工程化 · 可协同集成&lt;/span&gt;，均须落地大模型 / 知识图谱智能能力，基于真实产业数据形成业务闭环&lt;/Text&gt;&#10;        &lt;/Box&gt;&#10;        &lt;Box style={{ flexDirection: 'row', gap: 12, alignItems: 'stretch' }}&gt;&#10;            &lt;Box style={{ flex: 1, background: '#111B2E', borderRadius: 10, padding: '12px 16px', borderTop: '3px solid #3B82F6' }}&gt;&#10;                &lt;Text style={{ fontSize: 14.5, fontWeight: 'bold', color: '#93C5FD', marginBottom: 4 }}&gt;看技术栈&lt;/Text&gt;&#10;                &lt;Text style={{ fontSize: 13, color: '#94A3B8', lineHeight: 1.5 }}&gt;结合团队熟悉的后端 / 前端 / 智能技术选型&lt;/Text&gt;&#10;            &lt;/Box&gt;&#10;            &lt;Box style={{ flex: 1, background: '#111B2E', borderRadius: 10, padding: '12px 16px', borderTop: '3px solid #22D3EE' }}&gt;&#10;                &lt;Text style={{ fontSize: 14.5, fontWeight: 'bold', color: '#67E8F9', marginBottom: 4 }}&gt;看兴趣&lt;/Text&gt;&#10;                &lt;Text style={{ fontSize: 13, color: '#94A3B8', lineHeight: 1.5 }}&gt;数据工程 / 知识图谱 / 报告生成 / 招商出海等方向&lt;/Text&gt;&#10;            &lt;/Box&gt;&#10;            &lt;Box style={{ flex: 1, background: '#111B2E', borderRadius: 10, padding: '12px 16px', borderTop: '3px solid #8B5CF6' }}&gt;&#10;                &lt;Text style={{ fontSize: 14.5, fontWeight: 'bold', color: '#C4B5FD', marginBottom: 4 }}&gt;看难度&lt;/Text&gt;&#10;                &lt;Text style={{ fontSize: 13, color: '#94A3B8', lineHeight: 1.5 }}&gt;底座偏平台、应用偏场景，按团队能力匹配&lt;/Text&gt;&#10;            &lt;/Box&gt;&#10;            &lt;Box style={{ flex: 1, background: '#111B2E', borderRadius: 10, padding: '12px 16px', borderTop: '3px solid #F59E0B' }}&gt;&#10;                &lt;Text style={{ fontSize: 14.5, fontWeight: 'bold', color: '#FBBF24', marginBottom: 4 }}&gt;下一步&lt;/Text&gt;&#10;                &lt;Text style={{ fontSize: 13, color: '#94A3B8', lineHeight: 1.5 }}&gt;选定课题后，撰写项目章程正式立项&lt;/Text&gt;&#10;            &lt;/Box&gt;&#10;        &lt;/Box&gt;&#10;    &lt;/Box&gt;&#10;    &lt;Box style={{ height: 40, flexDirection: 'row', justifyContent: 'space-between', alignItems: 'center', marginTop: 14 }}&gt;&#10;        &lt;Text style={{ fontSize: 14, color: '#94A3B8' }}&gt;01 十大创新实践课题&lt;/Text&gt;&#10;        &lt;Text style={{ fontSize: 14, color: '#94A3B8' }}&gt;16 / 47&lt;/Text&gt;&#10;    &lt;/Box&gt;&#10;&lt;/Slide&gt;&#10;"/>
        <p:cNvGrpSpPr/>
        <p:nvPr/>
      </p:nvGrpSpPr>
      <p:grpSpPr>
        <a:xfrm>
          <a:off x="0" y="0"/>
          <a:ext cx="0" cy="0"/>
          <a:chOff x="0" y="0"/>
          <a:chExt cx="0" cy="0"/>
        </a:xfrm>
      </p:grpSpPr>
      <p:sp>
        <p:nvSpPr>
          <p:cNvPr id="159" name="矩形 158"/>
          <p:cNvSpPr/>
          <p:nvPr/>
        </p:nvSpPr>
        <p:spPr>
          <a:xfrm>
            <a:off x="0" y="0"/>
            <a:ext cx="12192000" cy="6858000"/>
          </a:xfrm>
          <a:prstGeom prst="rect">
            <a:avLst/>
          </a:prstGeom>
          <a:solidFill>
            <a:srgbClr val="0B1220"/>
          </a:solidFill>
        </p:spPr>
        <p:txBody>
          <a:bodyPr/>
          <a:p/>
        </p:txBody>
      </p:sp>
      <p:sp>
        <p:nvSpPr>
          <p:cNvPr id="160" name="圆角矩形 159"/>
          <p:cNvSpPr/>
          <p:nvPr/>
        </p:nvSpPr>
        <p:spPr>
          <a:xfrm>
            <a:off x="609600" y="438150"/>
            <a:ext cx="57150" cy="419100"/>
          </a:xfrm>
          <a:prstGeom prst="roundRect">
            <a:avLst>
              <a:gd name="adj" fmla="val 50000"/>
            </a:avLst>
          </a:prstGeom>
          <a:gradFill>
            <a:gsLst>
              <a:gs pos="0">
                <a:srgbClr val="8B5CF6"/>
              </a:gs>
              <a:gs pos="100000">
                <a:srgbClr val="22D3EE"/>
              </a:gs>
            </a:gsLst>
            <a:lin ang="5400000" scaled="1"/>
          </a:gradFill>
        </p:spPr>
        <p:txBody>
          <a:bodyPr/>
          <a:p/>
        </p:txBody>
      </p:sp>
      <p:sp>
        <p:nvSpPr>
          <p:cNvPr id="161" name="文本框 160" descr="{&quot;isTemplate&quot;:true,&quot;type&quot;:&quot;text&quot;}"/>
          <p:cNvSpPr txBox="1"/>
          <p:nvPr/>
        </p:nvSpPr>
        <p:spPr>
          <a:xfrm>
            <a:off x="857250" y="457200"/>
            <a:ext cx="421005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第一章小结：课题体系与选题</a:t>
            </a:r>
            <a:endParaRPr lang="zh-CN" sz="2550" b="1">
              <a:solidFill>
                <a:srgbClr val="E2E8F0"/>
              </a:solidFill>
              <a:latin typeface="微软雅黑" panose="020B0503020204020204" charset="-122"/>
              <a:ea typeface="微软雅黑" panose="020B0503020204020204" charset="-122"/>
            </a:endParaRPr>
          </a:p>
        </p:txBody>
      </p:sp>
      <p:sp>
        <p:nvSpPr>
          <p:cNvPr id="162" name="文本框 161" descr="{&quot;isTemplate&quot;:true,&quot;type&quot;:&quot;text&quot;}"/>
          <p:cNvSpPr txBox="1"/>
          <p:nvPr/>
        </p:nvSpPr>
        <p:spPr>
          <a:xfrm>
            <a:off x="5238750" y="561975"/>
            <a:ext cx="1571625" cy="171450"/>
          </a:xfrm>
          <a:prstGeom prst="rect">
            <a:avLst/>
          </a:prstGeom>
        </p:spPr>
        <p:txBody>
          <a:bodyPr wrap="none" lIns="0" tIns="0" rIns="0" bIns="0"/>
          <a:p>
            <a:pPr>
              <a:lnSpc>
                <a:spcPct val="100000"/>
              </a:lnSpc>
            </a:pPr>
            <a:r>
              <a:rPr lang="zh-CN" sz="1125">
                <a:solidFill>
                  <a:srgbClr val="94A3B8"/>
                </a:solidFill>
                <a:latin typeface="微软雅黑" panose="020B0503020204020204" charset="-122"/>
                <a:ea typeface="微软雅黑" panose="020B0503020204020204" charset="-122"/>
              </a:rPr>
              <a:t>从十大课题到立项的桥梁</a:t>
            </a:r>
            <a:endParaRPr lang="zh-CN" sz="1125">
              <a:solidFill>
                <a:srgbClr val="94A3B8"/>
              </a:solidFill>
              <a:latin typeface="微软雅黑" panose="020B0503020204020204" charset="-122"/>
              <a:ea typeface="微软雅黑" panose="020B0503020204020204" charset="-122"/>
            </a:endParaRPr>
          </a:p>
        </p:txBody>
      </p:sp>
      <p:sp>
        <p:nvSpPr>
          <p:cNvPr id="163" name="圆角矩形 162"/>
          <p:cNvSpPr/>
          <p:nvPr/>
        </p:nvSpPr>
        <p:spPr>
          <a:xfrm>
            <a:off x="609600" y="2305050"/>
            <a:ext cx="5419725" cy="1066800"/>
          </a:xfrm>
          <a:prstGeom prst="roundRect">
            <a:avLst>
              <a:gd name="adj" fmla="val 10714"/>
            </a:avLst>
          </a:prstGeom>
          <a:solidFill>
            <a:srgbClr val="22D3EE">
              <a:alpha val="8000"/>
            </a:srgbClr>
          </a:solidFill>
          <a:ln w="12700">
            <a:solidFill>
              <a:srgbClr val="22D3EE">
                <a:alpha val="35000"/>
              </a:srgbClr>
            </a:solidFill>
            <a:prstDash val="solid"/>
          </a:ln>
        </p:spPr>
        <p:txBody>
          <a:bodyPr/>
          <a:p/>
        </p:txBody>
      </p:sp>
      <p:sp>
        <p:nvSpPr>
          <p:cNvPr id="164" name="文本框 163" descr="{&quot;isTemplate&quot;:true,&quot;type&quot;:&quot;text&quot;}"/>
          <p:cNvSpPr txBox="1"/>
          <p:nvPr/>
        </p:nvSpPr>
        <p:spPr>
          <a:xfrm>
            <a:off x="800100" y="2457450"/>
            <a:ext cx="5038725" cy="200025"/>
          </a:xfrm>
          <a:prstGeom prst="rect">
            <a:avLst/>
          </a:prstGeom>
        </p:spPr>
        <p:txBody>
          <a:bodyPr wrap="none" lIns="0" tIns="0" rIns="0" bIns="0"/>
          <a:p>
            <a:pPr>
              <a:lnSpc>
                <a:spcPct val="100000"/>
              </a:lnSpc>
            </a:pPr>
            <a:r>
              <a:rPr lang="zh-CN" sz="1275" b="1">
                <a:solidFill>
                  <a:srgbClr val="67E8F9"/>
                </a:solidFill>
                <a:latin typeface="微软雅黑" panose="020B0503020204020204" charset="-122"/>
                <a:ea typeface="微软雅黑" panose="020B0503020204020204" charset="-122"/>
              </a:rPr>
              <a:t>底层基础底座（课题</a:t>
            </a:r>
            <a:r>
              <a:rPr lang="en-US" sz="1275" b="1">
                <a:solidFill>
                  <a:srgbClr val="67E8F9"/>
                </a:solidFill>
                <a:latin typeface="微软雅黑" panose="020B0503020204020204" charset="-122"/>
                <a:ea typeface="微软雅黑" panose="020B0503020204020204" charset="-122"/>
              </a:rPr>
              <a:t> 1–4</a:t>
            </a:r>
            <a:r>
              <a:rPr lang="zh-CN" sz="1275" b="1">
                <a:solidFill>
                  <a:srgbClr val="67E8F9"/>
                </a:solidFill>
                <a:latin typeface="微软雅黑" panose="020B0503020204020204" charset="-122"/>
                <a:ea typeface="微软雅黑" panose="020B0503020204020204" charset="-122"/>
              </a:rPr>
              <a:t>）</a:t>
            </a:r>
            <a:endParaRPr lang="zh-CN" sz="1275" b="1">
              <a:solidFill>
                <a:srgbClr val="67E8F9"/>
              </a:solidFill>
              <a:latin typeface="微软雅黑" panose="020B0503020204020204" charset="-122"/>
              <a:ea typeface="微软雅黑" panose="020B0503020204020204" charset="-122"/>
            </a:endParaRPr>
          </a:p>
        </p:txBody>
      </p:sp>
      <p:sp>
        <p:nvSpPr>
          <p:cNvPr id="165" name="文本框 164" descr="{&quot;isTemplate&quot;:true,&quot;type&quot;:&quot;text&quot;}"/>
          <p:cNvSpPr txBox="1"/>
          <p:nvPr/>
        </p:nvSpPr>
        <p:spPr>
          <a:xfrm>
            <a:off x="800100" y="2733675"/>
            <a:ext cx="5038725" cy="276225"/>
          </a:xfrm>
          <a:prstGeom prst="rect">
            <a:avLst/>
          </a:prstGeom>
        </p:spPr>
        <p:txBody>
          <a:bodyPr wrap="none" lIns="0" tIns="0" rIns="0" bIns="0"/>
          <a:p>
            <a:pPr>
              <a:lnSpc>
                <a:spcPct val="170000"/>
              </a:lnSpc>
            </a:pPr>
            <a:r>
              <a:rPr lang="zh-CN" sz="1050">
                <a:solidFill>
                  <a:srgbClr val="E2E8F0"/>
                </a:solidFill>
                <a:latin typeface="微软雅黑" panose="020B0503020204020204" charset="-122"/>
                <a:ea typeface="微软雅黑" panose="020B0503020204020204" charset="-122"/>
              </a:rPr>
              <a:t>产业图谱</a:t>
            </a:r>
            <a:r>
              <a:rPr lang="en-US" sz="1050">
                <a:solidFill>
                  <a:srgbClr val="E2E8F0"/>
                </a:solidFill>
                <a:latin typeface="微软雅黑" panose="020B0503020204020204" charset="-122"/>
                <a:ea typeface="微软雅黑" panose="020B0503020204020204" charset="-122"/>
              </a:rPr>
              <a:t> · </a:t>
            </a:r>
            <a:r>
              <a:rPr lang="zh-CN" sz="1050">
                <a:solidFill>
                  <a:srgbClr val="E2E8F0"/>
                </a:solidFill>
                <a:latin typeface="微软雅黑" panose="020B0503020204020204" charset="-122"/>
                <a:ea typeface="微软雅黑" panose="020B0503020204020204" charset="-122"/>
              </a:rPr>
              <a:t>智能报告</a:t>
            </a:r>
            <a:r>
              <a:rPr lang="en-US" sz="1050">
                <a:solidFill>
                  <a:srgbClr val="E2E8F0"/>
                </a:solidFill>
                <a:latin typeface="微软雅黑" panose="020B0503020204020204" charset="-122"/>
                <a:ea typeface="微软雅黑" panose="020B0503020204020204" charset="-122"/>
              </a:rPr>
              <a:t> · </a:t>
            </a:r>
            <a:r>
              <a:rPr lang="zh-CN" sz="1050">
                <a:solidFill>
                  <a:srgbClr val="E2E8F0"/>
                </a:solidFill>
                <a:latin typeface="微软雅黑" panose="020B0503020204020204" charset="-122"/>
                <a:ea typeface="微软雅黑" panose="020B0503020204020204" charset="-122"/>
              </a:rPr>
              <a:t>态势感知</a:t>
            </a:r>
            <a:r>
              <a:rPr lang="en-US" sz="1050">
                <a:solidFill>
                  <a:srgbClr val="E2E8F0"/>
                </a:solidFill>
                <a:latin typeface="微软雅黑" panose="020B0503020204020204" charset="-122"/>
                <a:ea typeface="微软雅黑" panose="020B0503020204020204" charset="-122"/>
              </a:rPr>
              <a:t> · </a:t>
            </a:r>
            <a:r>
              <a:rPr lang="zh-CN" sz="1050">
                <a:solidFill>
                  <a:srgbClr val="E2E8F0"/>
                </a:solidFill>
                <a:latin typeface="微软雅黑" panose="020B0503020204020204" charset="-122"/>
                <a:ea typeface="微软雅黑" panose="020B0503020204020204" charset="-122"/>
              </a:rPr>
              <a:t>产业百科</a:t>
            </a:r>
            <a:endParaRPr lang="zh-CN" sz="1050">
              <a:solidFill>
                <a:srgbClr val="E2E8F0"/>
              </a:solidFill>
              <a:latin typeface="微软雅黑" panose="020B0503020204020204" charset="-122"/>
              <a:ea typeface="微软雅黑" panose="020B0503020204020204" charset="-122"/>
            </a:endParaRPr>
          </a:p>
        </p:txBody>
      </p:sp>
      <p:sp>
        <p:nvSpPr>
          <p:cNvPr id="166" name="文本框 165" descr="{&quot;isTemplate&quot;:true,&quot;type&quot;:&quot;text&quot;}"/>
          <p:cNvSpPr txBox="1"/>
          <p:nvPr/>
        </p:nvSpPr>
        <p:spPr>
          <a:xfrm>
            <a:off x="800100" y="3067050"/>
            <a:ext cx="5038725"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提供统一产业知识底座，偏平台与数据工程</a:t>
            </a:r>
            <a:endParaRPr lang="zh-CN" sz="975">
              <a:solidFill>
                <a:srgbClr val="94A3B8"/>
              </a:solidFill>
              <a:latin typeface="微软雅黑" panose="020B0503020204020204" charset="-122"/>
              <a:ea typeface="微软雅黑" panose="020B0503020204020204" charset="-122"/>
            </a:endParaRPr>
          </a:p>
        </p:txBody>
      </p:sp>
      <p:sp>
        <p:nvSpPr>
          <p:cNvPr id="167" name="圆角矩形 166"/>
          <p:cNvSpPr/>
          <p:nvPr/>
        </p:nvSpPr>
        <p:spPr>
          <a:xfrm>
            <a:off x="6162675" y="2305050"/>
            <a:ext cx="5419725" cy="1066800"/>
          </a:xfrm>
          <a:prstGeom prst="roundRect">
            <a:avLst>
              <a:gd name="adj" fmla="val 10714"/>
            </a:avLst>
          </a:prstGeom>
          <a:solidFill>
            <a:srgbClr val="8B5CF6">
              <a:alpha val="10000"/>
            </a:srgbClr>
          </a:solidFill>
          <a:ln w="12700">
            <a:solidFill>
              <a:srgbClr val="8B5CF6">
                <a:alpha val="40000"/>
              </a:srgbClr>
            </a:solidFill>
            <a:prstDash val="solid"/>
          </a:ln>
        </p:spPr>
        <p:txBody>
          <a:bodyPr/>
          <a:p/>
        </p:txBody>
      </p:sp>
      <p:sp>
        <p:nvSpPr>
          <p:cNvPr id="168" name="文本框 167" descr="{&quot;isTemplate&quot;:true,&quot;type&quot;:&quot;text&quot;}"/>
          <p:cNvSpPr txBox="1"/>
          <p:nvPr/>
        </p:nvSpPr>
        <p:spPr>
          <a:xfrm>
            <a:off x="6353175" y="2457450"/>
            <a:ext cx="5038725" cy="200025"/>
          </a:xfrm>
          <a:prstGeom prst="rect">
            <a:avLst/>
          </a:prstGeom>
        </p:spPr>
        <p:txBody>
          <a:bodyPr wrap="none" lIns="0" tIns="0" rIns="0" bIns="0"/>
          <a:p>
            <a:pPr>
              <a:lnSpc>
                <a:spcPct val="100000"/>
              </a:lnSpc>
            </a:pPr>
            <a:r>
              <a:rPr lang="zh-CN" sz="1275" b="1">
                <a:solidFill>
                  <a:srgbClr val="C4B5FD"/>
                </a:solidFill>
                <a:latin typeface="微软雅黑" panose="020B0503020204020204" charset="-122"/>
                <a:ea typeface="微软雅黑" panose="020B0503020204020204" charset="-122"/>
              </a:rPr>
              <a:t>上层产业应用（课题</a:t>
            </a:r>
            <a:r>
              <a:rPr lang="en-US" sz="1275" b="1">
                <a:solidFill>
                  <a:srgbClr val="C4B5FD"/>
                </a:solidFill>
                <a:latin typeface="微软雅黑" panose="020B0503020204020204" charset="-122"/>
                <a:ea typeface="微软雅黑" panose="020B0503020204020204" charset="-122"/>
              </a:rPr>
              <a:t> 5–10</a:t>
            </a:r>
            <a:r>
              <a:rPr lang="zh-CN" sz="1275" b="1">
                <a:solidFill>
                  <a:srgbClr val="C4B5FD"/>
                </a:solidFill>
                <a:latin typeface="微软雅黑" panose="020B0503020204020204" charset="-122"/>
                <a:ea typeface="微软雅黑" panose="020B0503020204020204" charset="-122"/>
              </a:rPr>
              <a:t>）</a:t>
            </a:r>
            <a:endParaRPr lang="zh-CN" sz="1275" b="1">
              <a:solidFill>
                <a:srgbClr val="C4B5FD"/>
              </a:solidFill>
              <a:latin typeface="微软雅黑" panose="020B0503020204020204" charset="-122"/>
              <a:ea typeface="微软雅黑" panose="020B0503020204020204" charset="-122"/>
            </a:endParaRPr>
          </a:p>
        </p:txBody>
      </p:sp>
      <p:sp>
        <p:nvSpPr>
          <p:cNvPr id="169" name="文本框 168" descr="{&quot;isTemplate&quot;:true,&quot;type&quot;:&quot;text&quot;}"/>
          <p:cNvSpPr txBox="1"/>
          <p:nvPr/>
        </p:nvSpPr>
        <p:spPr>
          <a:xfrm>
            <a:off x="6353175" y="2733675"/>
            <a:ext cx="5038725" cy="276225"/>
          </a:xfrm>
          <a:prstGeom prst="rect">
            <a:avLst/>
          </a:prstGeom>
        </p:spPr>
        <p:txBody>
          <a:bodyPr wrap="none" lIns="0" tIns="0" rIns="0" bIns="0"/>
          <a:p>
            <a:pPr>
              <a:lnSpc>
                <a:spcPct val="170000"/>
              </a:lnSpc>
            </a:pPr>
            <a:r>
              <a:rPr lang="zh-CN" sz="1050">
                <a:solidFill>
                  <a:srgbClr val="E2E8F0"/>
                </a:solidFill>
                <a:latin typeface="微软雅黑" panose="020B0503020204020204" charset="-122"/>
                <a:ea typeface="微软雅黑" panose="020B0503020204020204" charset="-122"/>
              </a:rPr>
              <a:t>产业研究</a:t>
            </a:r>
            <a:r>
              <a:rPr lang="en-US" sz="1050">
                <a:solidFill>
                  <a:srgbClr val="E2E8F0"/>
                </a:solidFill>
                <a:latin typeface="微软雅黑" panose="020B0503020204020204" charset="-122"/>
                <a:ea typeface="微软雅黑" panose="020B0503020204020204" charset="-122"/>
              </a:rPr>
              <a:t> · </a:t>
            </a:r>
            <a:r>
              <a:rPr lang="zh-CN" sz="1050">
                <a:solidFill>
                  <a:srgbClr val="E2E8F0"/>
                </a:solidFill>
                <a:latin typeface="微软雅黑" panose="020B0503020204020204" charset="-122"/>
                <a:ea typeface="微软雅黑" panose="020B0503020204020204" charset="-122"/>
              </a:rPr>
              <a:t>科技情报</a:t>
            </a:r>
            <a:r>
              <a:rPr lang="en-US" sz="1050">
                <a:solidFill>
                  <a:srgbClr val="E2E8F0"/>
                </a:solidFill>
                <a:latin typeface="微软雅黑" panose="020B0503020204020204" charset="-122"/>
                <a:ea typeface="微软雅黑" panose="020B0503020204020204" charset="-122"/>
              </a:rPr>
              <a:t> · </a:t>
            </a:r>
            <a:r>
              <a:rPr lang="zh-CN" sz="1050">
                <a:solidFill>
                  <a:srgbClr val="E2E8F0"/>
                </a:solidFill>
                <a:latin typeface="微软雅黑" panose="020B0503020204020204" charset="-122"/>
                <a:ea typeface="微软雅黑" panose="020B0503020204020204" charset="-122"/>
              </a:rPr>
              <a:t>技术转化</a:t>
            </a:r>
            <a:r>
              <a:rPr lang="en-US" sz="1050">
                <a:solidFill>
                  <a:srgbClr val="E2E8F0"/>
                </a:solidFill>
                <a:latin typeface="微软雅黑" panose="020B0503020204020204" charset="-122"/>
                <a:ea typeface="微软雅黑" panose="020B0503020204020204" charset="-122"/>
              </a:rPr>
              <a:t> · </a:t>
            </a:r>
            <a:r>
              <a:rPr lang="zh-CN" sz="1050">
                <a:solidFill>
                  <a:srgbClr val="E2E8F0"/>
                </a:solidFill>
                <a:latin typeface="微软雅黑" panose="020B0503020204020204" charset="-122"/>
                <a:ea typeface="微软雅黑" panose="020B0503020204020204" charset="-122"/>
              </a:rPr>
              <a:t>招商</a:t>
            </a:r>
            <a:r>
              <a:rPr lang="en-US" sz="1050">
                <a:solidFill>
                  <a:srgbClr val="E2E8F0"/>
                </a:solidFill>
                <a:latin typeface="微软雅黑" panose="020B0503020204020204" charset="-122"/>
                <a:ea typeface="微软雅黑" panose="020B0503020204020204" charset="-122"/>
              </a:rPr>
              <a:t> · </a:t>
            </a:r>
            <a:r>
              <a:rPr lang="zh-CN" sz="1050">
                <a:solidFill>
                  <a:srgbClr val="E2E8F0"/>
                </a:solidFill>
                <a:latin typeface="微软雅黑" panose="020B0503020204020204" charset="-122"/>
                <a:ea typeface="微软雅黑" panose="020B0503020204020204" charset="-122"/>
              </a:rPr>
              <a:t>仿真</a:t>
            </a:r>
            <a:r>
              <a:rPr lang="en-US" sz="1050">
                <a:solidFill>
                  <a:srgbClr val="E2E8F0"/>
                </a:solidFill>
                <a:latin typeface="微软雅黑" panose="020B0503020204020204" charset="-122"/>
                <a:ea typeface="微软雅黑" panose="020B0503020204020204" charset="-122"/>
              </a:rPr>
              <a:t> · </a:t>
            </a:r>
            <a:r>
              <a:rPr lang="zh-CN" sz="1050">
                <a:solidFill>
                  <a:srgbClr val="E2E8F0"/>
                </a:solidFill>
                <a:latin typeface="微软雅黑" panose="020B0503020204020204" charset="-122"/>
                <a:ea typeface="微软雅黑" panose="020B0503020204020204" charset="-122"/>
              </a:rPr>
              <a:t>出海</a:t>
            </a:r>
            <a:endParaRPr lang="zh-CN" sz="1050">
              <a:solidFill>
                <a:srgbClr val="E2E8F0"/>
              </a:solidFill>
              <a:latin typeface="微软雅黑" panose="020B0503020204020204" charset="-122"/>
              <a:ea typeface="微软雅黑" panose="020B0503020204020204" charset="-122"/>
            </a:endParaRPr>
          </a:p>
        </p:txBody>
      </p:sp>
      <p:sp>
        <p:nvSpPr>
          <p:cNvPr id="170" name="文本框 169" descr="{&quot;isTemplate&quot;:true,&quot;type&quot;:&quot;text&quot;}"/>
          <p:cNvSpPr txBox="1"/>
          <p:nvPr/>
        </p:nvSpPr>
        <p:spPr>
          <a:xfrm>
            <a:off x="6353175" y="3067050"/>
            <a:ext cx="5038725"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面向具体业务场景，偏智能应用与业务闭环</a:t>
            </a:r>
            <a:endParaRPr lang="zh-CN" sz="975">
              <a:solidFill>
                <a:srgbClr val="94A3B8"/>
              </a:solidFill>
              <a:latin typeface="微软雅黑" panose="020B0503020204020204" charset="-122"/>
              <a:ea typeface="微软雅黑" panose="020B0503020204020204" charset="-122"/>
            </a:endParaRPr>
          </a:p>
        </p:txBody>
      </p:sp>
      <p:sp>
        <p:nvSpPr>
          <p:cNvPr id="171" name="圆角矩形 170"/>
          <p:cNvSpPr/>
          <p:nvPr/>
        </p:nvSpPr>
        <p:spPr>
          <a:xfrm>
            <a:off x="609600" y="3505200"/>
            <a:ext cx="10972800" cy="400050"/>
          </a:xfrm>
          <a:prstGeom prst="roundRect">
            <a:avLst>
              <a:gd name="adj" fmla="val 23810"/>
            </a:avLst>
          </a:prstGeom>
          <a:solidFill>
            <a:srgbClr val="111B2E"/>
          </a:solidFill>
        </p:spPr>
        <p:txBody>
          <a:bodyPr/>
          <a:p/>
        </p:txBody>
      </p:sp>
      <p:sp>
        <p:nvSpPr>
          <p:cNvPr id="172" name="文本框 171" descr="{&quot;isTemplate&quot;:true,&quot;type&quot;:&quot;text&quot;}"/>
          <p:cNvSpPr txBox="1"/>
          <p:nvPr/>
        </p:nvSpPr>
        <p:spPr>
          <a:xfrm>
            <a:off x="819150" y="3619500"/>
            <a:ext cx="571500" cy="171450"/>
          </a:xfrm>
          <a:prstGeom prst="rect">
            <a:avLst/>
          </a:prstGeom>
        </p:spPr>
        <p:txBody>
          <a:bodyPr wrap="none" lIns="0" tIns="0" rIns="0" bIns="0"/>
          <a:p>
            <a:pPr>
              <a:lnSpc>
                <a:spcPct val="100000"/>
              </a:lnSpc>
            </a:pPr>
            <a:r>
              <a:rPr lang="zh-CN" sz="1125" b="1">
                <a:solidFill>
                  <a:srgbClr val="22D3EE"/>
                </a:solidFill>
                <a:latin typeface="微软雅黑" panose="020B0503020204020204" charset="-122"/>
                <a:ea typeface="微软雅黑" panose="020B0503020204020204" charset="-122"/>
              </a:rPr>
              <a:t>共同特性</a:t>
            </a:r>
            <a:endParaRPr lang="zh-CN" sz="1125" b="1">
              <a:solidFill>
                <a:srgbClr val="22D3EE"/>
              </a:solidFill>
              <a:latin typeface="微软雅黑" panose="020B0503020204020204" charset="-122"/>
              <a:ea typeface="微软雅黑" panose="020B0503020204020204" charset="-122"/>
            </a:endParaRPr>
          </a:p>
        </p:txBody>
      </p:sp>
      <p:sp>
        <p:nvSpPr>
          <p:cNvPr id="173" name="文本框 172" descr="{&quot;isTemplate&quot;:true,&quot;type&quot;:&quot;text&quot;}"/>
          <p:cNvSpPr txBox="1"/>
          <p:nvPr/>
        </p:nvSpPr>
        <p:spPr>
          <a:xfrm>
            <a:off x="1504950" y="3619500"/>
            <a:ext cx="7248525" cy="171450"/>
          </a:xfrm>
          <a:prstGeom prst="rect">
            <a:avLst/>
          </a:prstGeom>
        </p:spPr>
        <p:txBody>
          <a:bodyPr wrap="none" lIns="0" tIns="0" rIns="0" bIns="0"/>
          <a:p>
            <a:pPr>
              <a:lnSpc>
                <a:spcPct val="100000"/>
              </a:lnSpc>
            </a:pPr>
            <a:r>
              <a:rPr lang="zh-CN" sz="1090">
                <a:solidFill>
                  <a:srgbClr val="E2E8F0"/>
                </a:solidFill>
                <a:latin typeface="微软雅黑" panose="020B0503020204020204" charset="-122"/>
                <a:ea typeface="微软雅黑" panose="020B0503020204020204" charset="-122"/>
              </a:rPr>
              <a:t>十大课题</a:t>
            </a:r>
            <a:r>
              <a:rPr lang="en-US" sz="1090" b="1">
                <a:solidFill>
                  <a:srgbClr val="67E8F9"/>
                </a:solidFill>
                <a:latin typeface="微软雅黑" panose="020B0503020204020204" charset="-122"/>
                <a:ea typeface="微软雅黑" panose="020B0503020204020204" charset="-122"/>
              </a:rPr>
              <a:t> </a:t>
            </a:r>
            <a:r>
              <a:rPr lang="zh-CN" sz="1090" b="1">
                <a:solidFill>
                  <a:srgbClr val="67E8F9"/>
                </a:solidFill>
                <a:latin typeface="微软雅黑" panose="020B0503020204020204" charset="-122"/>
                <a:ea typeface="微软雅黑" panose="020B0503020204020204" charset="-122"/>
              </a:rPr>
              <a:t>独立</a:t>
            </a:r>
            <a:r>
              <a:rPr lang="en-US" sz="1090" b="1">
                <a:solidFill>
                  <a:srgbClr val="67E8F9"/>
                </a:solidFill>
                <a:latin typeface="微软雅黑" panose="020B0503020204020204" charset="-122"/>
                <a:ea typeface="微软雅黑" panose="020B0503020204020204" charset="-122"/>
              </a:rPr>
              <a:t> · </a:t>
            </a:r>
            <a:r>
              <a:rPr lang="zh-CN" sz="1090" b="1">
                <a:solidFill>
                  <a:srgbClr val="67E8F9"/>
                </a:solidFill>
                <a:latin typeface="微软雅黑" panose="020B0503020204020204" charset="-122"/>
                <a:ea typeface="微软雅黑" panose="020B0503020204020204" charset="-122"/>
              </a:rPr>
              <a:t>完整</a:t>
            </a:r>
            <a:r>
              <a:rPr lang="en-US" sz="1090" b="1">
                <a:solidFill>
                  <a:srgbClr val="67E8F9"/>
                </a:solidFill>
                <a:latin typeface="微软雅黑" panose="020B0503020204020204" charset="-122"/>
                <a:ea typeface="微软雅黑" panose="020B0503020204020204" charset="-122"/>
              </a:rPr>
              <a:t> · </a:t>
            </a:r>
            <a:r>
              <a:rPr lang="zh-CN" sz="1090" b="1">
                <a:solidFill>
                  <a:srgbClr val="67E8F9"/>
                </a:solidFill>
                <a:latin typeface="微软雅黑" panose="020B0503020204020204" charset="-122"/>
                <a:ea typeface="微软雅黑" panose="020B0503020204020204" charset="-122"/>
              </a:rPr>
              <a:t>可工程化</a:t>
            </a:r>
            <a:r>
              <a:rPr lang="en-US" sz="1090" b="1">
                <a:solidFill>
                  <a:srgbClr val="67E8F9"/>
                </a:solidFill>
                <a:latin typeface="微软雅黑" panose="020B0503020204020204" charset="-122"/>
                <a:ea typeface="微软雅黑" panose="020B0503020204020204" charset="-122"/>
              </a:rPr>
              <a:t> · </a:t>
            </a:r>
            <a:r>
              <a:rPr lang="zh-CN" sz="1090" b="1">
                <a:solidFill>
                  <a:srgbClr val="67E8F9"/>
                </a:solidFill>
                <a:latin typeface="微软雅黑" panose="020B0503020204020204" charset="-122"/>
                <a:ea typeface="微软雅黑" panose="020B0503020204020204" charset="-122"/>
              </a:rPr>
              <a:t>可协同集成</a:t>
            </a:r>
            <a:r>
              <a:rPr lang="zh-CN" sz="1090">
                <a:solidFill>
                  <a:srgbClr val="E2E8F0"/>
                </a:solidFill>
                <a:latin typeface="微软雅黑" panose="020B0503020204020204" charset="-122"/>
                <a:ea typeface="微软雅黑" panose="020B0503020204020204" charset="-122"/>
              </a:rPr>
              <a:t>，均须落地大模型</a:t>
            </a:r>
            <a:r>
              <a:rPr lang="en-US" sz="1090">
                <a:solidFill>
                  <a:srgbClr val="E2E8F0"/>
                </a:solidFill>
                <a:latin typeface="微软雅黑" panose="020B0503020204020204" charset="-122"/>
                <a:ea typeface="微软雅黑" panose="020B0503020204020204" charset="-122"/>
              </a:rPr>
              <a:t> / </a:t>
            </a:r>
            <a:r>
              <a:rPr lang="zh-CN" sz="1090">
                <a:solidFill>
                  <a:srgbClr val="E2E8F0"/>
                </a:solidFill>
                <a:latin typeface="微软雅黑" panose="020B0503020204020204" charset="-122"/>
                <a:ea typeface="微软雅黑" panose="020B0503020204020204" charset="-122"/>
              </a:rPr>
              <a:t>知识图谱智能能力，基于真实产业数据形成业务闭环</a:t>
            </a:r>
            <a:endParaRPr lang="zh-CN" sz="1090">
              <a:solidFill>
                <a:srgbClr val="E2E8F0"/>
              </a:solidFill>
              <a:latin typeface="微软雅黑" panose="020B0503020204020204" charset="-122"/>
              <a:ea typeface="微软雅黑" panose="020B0503020204020204" charset="-122"/>
            </a:endParaRPr>
          </a:p>
        </p:txBody>
      </p:sp>
      <p:sp>
        <p:nvSpPr>
          <p:cNvPr id="174" name="圆角矩形 173"/>
          <p:cNvSpPr/>
          <p:nvPr/>
        </p:nvSpPr>
        <p:spPr>
          <a:xfrm>
            <a:off x="609600" y="4067175"/>
            <a:ext cx="2657475" cy="914400"/>
          </a:xfrm>
          <a:prstGeom prst="roundRect">
            <a:avLst>
              <a:gd name="adj" fmla="val 10417"/>
            </a:avLst>
          </a:prstGeom>
          <a:solidFill>
            <a:srgbClr val="111B2E"/>
          </a:solidFill>
        </p:spPr>
        <p:txBody>
          <a:bodyPr/>
          <a:p/>
        </p:txBody>
      </p:sp>
      <p:sp>
        <p:nvSpPr>
          <p:cNvPr id="175" name="任意多边形 174"/>
          <p:cNvSpPr/>
          <p:nvPr/>
        </p:nvSpPr>
        <p:spPr>
          <a:xfrm>
            <a:off x="609600" y="4067175"/>
            <a:ext cx="2657475" cy="914400"/>
          </a:xfrm>
          <a:custGeom>
            <a:avLst/>
            <a:gdLst/>
            <a:ahLst/>
            <a:cxnLst/>
            <a:pathLst>
              <a:path w="279" h="96">
                <a:moveTo>
                  <a:pt x="269" y="0"/>
                </a:moveTo>
                <a:cubicBezTo>
                  <a:pt x="274" y="0"/>
                  <a:pt x="278" y="3"/>
                  <a:pt x="279" y="8"/>
                </a:cubicBezTo>
                <a:cubicBezTo>
                  <a:pt x="278" y="5"/>
                  <a:pt x="275" y="3"/>
                  <a:pt x="272" y="3"/>
                </a:cubicBezTo>
                <a:lnTo>
                  <a:pt x="7" y="3"/>
                </a:lnTo>
                <a:cubicBezTo>
                  <a:pt x="4" y="3"/>
                  <a:pt x="1" y="5"/>
                  <a:pt x="0" y="8"/>
                </a:cubicBezTo>
                <a:cubicBezTo>
                  <a:pt x="1" y="3"/>
                  <a:pt x="5" y="0"/>
                  <a:pt x="10" y="0"/>
                </a:cubicBezTo>
                <a:lnTo>
                  <a:pt x="269" y="0"/>
                </a:lnTo>
                <a:close/>
              </a:path>
            </a:pathLst>
          </a:custGeom>
          <a:solidFill>
            <a:srgbClr val="3B82F6"/>
          </a:solidFill>
        </p:spPr>
        <p:txBody>
          <a:bodyPr/>
          <a:p/>
        </p:txBody>
      </p:sp>
      <p:sp>
        <p:nvSpPr>
          <p:cNvPr id="176" name="文本框 175" descr="{&quot;isTemplate&quot;:true,&quot;type&quot;:&quot;text&quot;}"/>
          <p:cNvSpPr txBox="1"/>
          <p:nvPr/>
        </p:nvSpPr>
        <p:spPr>
          <a:xfrm>
            <a:off x="762000" y="4181475"/>
            <a:ext cx="2352675" cy="171450"/>
          </a:xfrm>
          <a:prstGeom prst="rect">
            <a:avLst/>
          </a:prstGeom>
        </p:spPr>
        <p:txBody>
          <a:bodyPr wrap="none" lIns="0" tIns="0" rIns="0" bIns="0"/>
          <a:p>
            <a:pPr>
              <a:lnSpc>
                <a:spcPct val="100000"/>
              </a:lnSpc>
            </a:pPr>
            <a:r>
              <a:rPr lang="zh-CN" sz="1090" b="1">
                <a:solidFill>
                  <a:srgbClr val="93C5FD"/>
                </a:solidFill>
                <a:latin typeface="微软雅黑" panose="020B0503020204020204" charset="-122"/>
                <a:ea typeface="微软雅黑" panose="020B0503020204020204" charset="-122"/>
              </a:rPr>
              <a:t>看技术栈</a:t>
            </a:r>
            <a:endParaRPr lang="zh-CN" sz="1090" b="1">
              <a:solidFill>
                <a:srgbClr val="93C5FD"/>
              </a:solidFill>
              <a:latin typeface="微软雅黑" panose="020B0503020204020204" charset="-122"/>
              <a:ea typeface="微软雅黑" panose="020B0503020204020204" charset="-122"/>
            </a:endParaRPr>
          </a:p>
        </p:txBody>
      </p:sp>
      <p:sp>
        <p:nvSpPr>
          <p:cNvPr id="177" name="文本框 176" descr="{&quot;isTemplate&quot;:true,&quot;type&quot;:&quot;text&quot;}"/>
          <p:cNvSpPr txBox="1"/>
          <p:nvPr/>
        </p:nvSpPr>
        <p:spPr>
          <a:xfrm>
            <a:off x="762000" y="4391025"/>
            <a:ext cx="2352675" cy="447675"/>
          </a:xfrm>
          <a:prstGeom prst="rect">
            <a:avLst/>
          </a:prstGeom>
        </p:spPr>
        <p:txBody>
          <a:bodyPr wrap="square" lIns="0" tIns="0" rIns="0" bIns="0">
            <a:normAutofit/>
          </a:bodyPr>
          <a:p>
            <a:pPr>
              <a:lnSpc>
                <a:spcPct val="150000"/>
              </a:lnSpc>
            </a:pPr>
            <a:r>
              <a:rPr lang="zh-CN" sz="975">
                <a:solidFill>
                  <a:srgbClr val="94A3B8"/>
                </a:solidFill>
                <a:latin typeface="微软雅黑" panose="020B0503020204020204" charset="-122"/>
                <a:ea typeface="微软雅黑" panose="020B0503020204020204" charset="-122"/>
              </a:rPr>
              <a:t>结合团队熟悉的后端</a:t>
            </a:r>
            <a:r>
              <a:rPr lang="en-US" sz="975">
                <a:solidFill>
                  <a:srgbClr val="94A3B8"/>
                </a:solidFill>
                <a:latin typeface="微软雅黑" panose="020B0503020204020204" charset="-122"/>
                <a:ea typeface="微软雅黑" panose="020B0503020204020204" charset="-122"/>
              </a:rPr>
              <a:t> / </a:t>
            </a:r>
            <a:r>
              <a:rPr lang="zh-CN" sz="975">
                <a:solidFill>
                  <a:srgbClr val="94A3B8"/>
                </a:solidFill>
                <a:latin typeface="微软雅黑" panose="020B0503020204020204" charset="-122"/>
                <a:ea typeface="微软雅黑" panose="020B0503020204020204" charset="-122"/>
              </a:rPr>
              <a:t>前端</a:t>
            </a:r>
            <a:r>
              <a:rPr lang="en-US" sz="975">
                <a:solidFill>
                  <a:srgbClr val="94A3B8"/>
                </a:solidFill>
                <a:latin typeface="微软雅黑" panose="020B0503020204020204" charset="-122"/>
                <a:ea typeface="微软雅黑" panose="020B0503020204020204" charset="-122"/>
              </a:rPr>
              <a:t> / </a:t>
            </a:r>
            <a:r>
              <a:rPr lang="zh-CN" sz="975">
                <a:solidFill>
                  <a:srgbClr val="94A3B8"/>
                </a:solidFill>
                <a:latin typeface="微软雅黑" panose="020B0503020204020204" charset="-122"/>
                <a:ea typeface="微软雅黑" panose="020B0503020204020204" charset="-122"/>
              </a:rPr>
              <a:t>智能技术选型</a:t>
            </a:r>
            <a:endParaRPr lang="zh-CN" sz="975">
              <a:solidFill>
                <a:srgbClr val="94A3B8"/>
              </a:solidFill>
              <a:latin typeface="微软雅黑" panose="020B0503020204020204" charset="-122"/>
              <a:ea typeface="微软雅黑" panose="020B0503020204020204" charset="-122"/>
            </a:endParaRPr>
          </a:p>
        </p:txBody>
      </p:sp>
      <p:sp>
        <p:nvSpPr>
          <p:cNvPr id="178" name="圆角矩形 177"/>
          <p:cNvSpPr/>
          <p:nvPr/>
        </p:nvSpPr>
        <p:spPr>
          <a:xfrm>
            <a:off x="3381375" y="4067175"/>
            <a:ext cx="2657475" cy="914400"/>
          </a:xfrm>
          <a:prstGeom prst="roundRect">
            <a:avLst>
              <a:gd name="adj" fmla="val 10417"/>
            </a:avLst>
          </a:prstGeom>
          <a:solidFill>
            <a:srgbClr val="111B2E"/>
          </a:solidFill>
        </p:spPr>
        <p:txBody>
          <a:bodyPr/>
          <a:p/>
        </p:txBody>
      </p:sp>
      <p:sp>
        <p:nvSpPr>
          <p:cNvPr id="179" name="任意多边形 178"/>
          <p:cNvSpPr/>
          <p:nvPr/>
        </p:nvSpPr>
        <p:spPr>
          <a:xfrm>
            <a:off x="3381375" y="4067175"/>
            <a:ext cx="2657475" cy="914400"/>
          </a:xfrm>
          <a:custGeom>
            <a:avLst/>
            <a:gdLst/>
            <a:ahLst/>
            <a:cxnLst/>
            <a:pathLst>
              <a:path w="279" h="96">
                <a:moveTo>
                  <a:pt x="269" y="0"/>
                </a:moveTo>
                <a:cubicBezTo>
                  <a:pt x="274" y="0"/>
                  <a:pt x="278" y="3"/>
                  <a:pt x="279" y="8"/>
                </a:cubicBezTo>
                <a:cubicBezTo>
                  <a:pt x="278" y="5"/>
                  <a:pt x="275" y="3"/>
                  <a:pt x="272" y="3"/>
                </a:cubicBezTo>
                <a:lnTo>
                  <a:pt x="7" y="3"/>
                </a:lnTo>
                <a:cubicBezTo>
                  <a:pt x="4" y="3"/>
                  <a:pt x="1" y="5"/>
                  <a:pt x="0" y="8"/>
                </a:cubicBezTo>
                <a:cubicBezTo>
                  <a:pt x="1" y="3"/>
                  <a:pt x="5" y="0"/>
                  <a:pt x="10" y="0"/>
                </a:cubicBezTo>
                <a:lnTo>
                  <a:pt x="269" y="0"/>
                </a:lnTo>
                <a:close/>
              </a:path>
            </a:pathLst>
          </a:custGeom>
          <a:solidFill>
            <a:srgbClr val="22D3EE"/>
          </a:solidFill>
        </p:spPr>
        <p:txBody>
          <a:bodyPr/>
          <a:p/>
        </p:txBody>
      </p:sp>
      <p:sp>
        <p:nvSpPr>
          <p:cNvPr id="180" name="文本框 179" descr="{&quot;isTemplate&quot;:true,&quot;type&quot;:&quot;text&quot;}"/>
          <p:cNvSpPr txBox="1"/>
          <p:nvPr/>
        </p:nvSpPr>
        <p:spPr>
          <a:xfrm>
            <a:off x="3533775" y="4181475"/>
            <a:ext cx="2352675" cy="171450"/>
          </a:xfrm>
          <a:prstGeom prst="rect">
            <a:avLst/>
          </a:prstGeom>
        </p:spPr>
        <p:txBody>
          <a:bodyPr wrap="none" lIns="0" tIns="0" rIns="0" bIns="0"/>
          <a:p>
            <a:pPr>
              <a:lnSpc>
                <a:spcPct val="100000"/>
              </a:lnSpc>
            </a:pPr>
            <a:r>
              <a:rPr lang="zh-CN" sz="1090" b="1">
                <a:solidFill>
                  <a:srgbClr val="67E8F9"/>
                </a:solidFill>
                <a:latin typeface="微软雅黑" panose="020B0503020204020204" charset="-122"/>
                <a:ea typeface="微软雅黑" panose="020B0503020204020204" charset="-122"/>
              </a:rPr>
              <a:t>看兴趣</a:t>
            </a:r>
            <a:endParaRPr lang="zh-CN" sz="1090" b="1">
              <a:solidFill>
                <a:srgbClr val="67E8F9"/>
              </a:solidFill>
              <a:latin typeface="微软雅黑" panose="020B0503020204020204" charset="-122"/>
              <a:ea typeface="微软雅黑" panose="020B0503020204020204" charset="-122"/>
            </a:endParaRPr>
          </a:p>
        </p:txBody>
      </p:sp>
      <p:sp>
        <p:nvSpPr>
          <p:cNvPr id="181" name="文本框 180" descr="{&quot;isTemplate&quot;:true,&quot;type&quot;:&quot;text&quot;}"/>
          <p:cNvSpPr txBox="1"/>
          <p:nvPr/>
        </p:nvSpPr>
        <p:spPr>
          <a:xfrm>
            <a:off x="3533775" y="4391025"/>
            <a:ext cx="2352675" cy="447675"/>
          </a:xfrm>
          <a:prstGeom prst="rect">
            <a:avLst/>
          </a:prstGeom>
        </p:spPr>
        <p:txBody>
          <a:bodyPr wrap="square" lIns="0" tIns="0" rIns="0" bIns="0">
            <a:normAutofit/>
          </a:bodyPr>
          <a:p>
            <a:pPr>
              <a:lnSpc>
                <a:spcPct val="150000"/>
              </a:lnSpc>
            </a:pPr>
            <a:r>
              <a:rPr lang="zh-CN" sz="975">
                <a:solidFill>
                  <a:srgbClr val="94A3B8"/>
                </a:solidFill>
                <a:latin typeface="微软雅黑" panose="020B0503020204020204" charset="-122"/>
                <a:ea typeface="微软雅黑" panose="020B0503020204020204" charset="-122"/>
              </a:rPr>
              <a:t>数据工程</a:t>
            </a:r>
            <a:r>
              <a:rPr lang="en-US" sz="975">
                <a:solidFill>
                  <a:srgbClr val="94A3B8"/>
                </a:solidFill>
                <a:latin typeface="微软雅黑" panose="020B0503020204020204" charset="-122"/>
                <a:ea typeface="微软雅黑" panose="020B0503020204020204" charset="-122"/>
              </a:rPr>
              <a:t> / </a:t>
            </a:r>
            <a:r>
              <a:rPr lang="zh-CN" sz="975">
                <a:solidFill>
                  <a:srgbClr val="94A3B8"/>
                </a:solidFill>
                <a:latin typeface="微软雅黑" panose="020B0503020204020204" charset="-122"/>
                <a:ea typeface="微软雅黑" panose="020B0503020204020204" charset="-122"/>
              </a:rPr>
              <a:t>知识图谱</a:t>
            </a:r>
            <a:r>
              <a:rPr lang="en-US" sz="975">
                <a:solidFill>
                  <a:srgbClr val="94A3B8"/>
                </a:solidFill>
                <a:latin typeface="微软雅黑" panose="020B0503020204020204" charset="-122"/>
                <a:ea typeface="微软雅黑" panose="020B0503020204020204" charset="-122"/>
              </a:rPr>
              <a:t> / </a:t>
            </a:r>
            <a:r>
              <a:rPr lang="zh-CN" sz="975">
                <a:solidFill>
                  <a:srgbClr val="94A3B8"/>
                </a:solidFill>
                <a:latin typeface="微软雅黑" panose="020B0503020204020204" charset="-122"/>
                <a:ea typeface="微软雅黑" panose="020B0503020204020204" charset="-122"/>
              </a:rPr>
              <a:t>报告生成</a:t>
            </a:r>
            <a:r>
              <a:rPr lang="en-US" sz="975">
                <a:solidFill>
                  <a:srgbClr val="94A3B8"/>
                </a:solidFill>
                <a:latin typeface="微软雅黑" panose="020B0503020204020204" charset="-122"/>
                <a:ea typeface="微软雅黑" panose="020B0503020204020204" charset="-122"/>
              </a:rPr>
              <a:t> / </a:t>
            </a:r>
            <a:r>
              <a:rPr lang="zh-CN" sz="975">
                <a:solidFill>
                  <a:srgbClr val="94A3B8"/>
                </a:solidFill>
                <a:latin typeface="微软雅黑" panose="020B0503020204020204" charset="-122"/>
                <a:ea typeface="微软雅黑" panose="020B0503020204020204" charset="-122"/>
              </a:rPr>
              <a:t>招商出海等方向</a:t>
            </a:r>
            <a:endParaRPr lang="zh-CN" sz="975">
              <a:solidFill>
                <a:srgbClr val="94A3B8"/>
              </a:solidFill>
              <a:latin typeface="微软雅黑" panose="020B0503020204020204" charset="-122"/>
              <a:ea typeface="微软雅黑" panose="020B0503020204020204" charset="-122"/>
            </a:endParaRPr>
          </a:p>
        </p:txBody>
      </p:sp>
      <p:sp>
        <p:nvSpPr>
          <p:cNvPr id="182" name="圆角矩形 181"/>
          <p:cNvSpPr/>
          <p:nvPr/>
        </p:nvSpPr>
        <p:spPr>
          <a:xfrm>
            <a:off x="6153150" y="4067175"/>
            <a:ext cx="2657475" cy="914400"/>
          </a:xfrm>
          <a:prstGeom prst="roundRect">
            <a:avLst>
              <a:gd name="adj" fmla="val 10417"/>
            </a:avLst>
          </a:prstGeom>
          <a:solidFill>
            <a:srgbClr val="111B2E"/>
          </a:solidFill>
        </p:spPr>
        <p:txBody>
          <a:bodyPr/>
          <a:p/>
        </p:txBody>
      </p:sp>
      <p:sp>
        <p:nvSpPr>
          <p:cNvPr id="183" name="任意多边形 182"/>
          <p:cNvSpPr/>
          <p:nvPr/>
        </p:nvSpPr>
        <p:spPr>
          <a:xfrm>
            <a:off x="6153150" y="4067175"/>
            <a:ext cx="2657475" cy="914400"/>
          </a:xfrm>
          <a:custGeom>
            <a:avLst/>
            <a:gdLst/>
            <a:ahLst/>
            <a:cxnLst/>
            <a:pathLst>
              <a:path w="279" h="96">
                <a:moveTo>
                  <a:pt x="269" y="0"/>
                </a:moveTo>
                <a:cubicBezTo>
                  <a:pt x="274" y="0"/>
                  <a:pt x="278" y="3"/>
                  <a:pt x="279" y="8"/>
                </a:cubicBezTo>
                <a:cubicBezTo>
                  <a:pt x="278" y="5"/>
                  <a:pt x="275" y="3"/>
                  <a:pt x="272" y="3"/>
                </a:cubicBezTo>
                <a:lnTo>
                  <a:pt x="7" y="3"/>
                </a:lnTo>
                <a:cubicBezTo>
                  <a:pt x="4" y="3"/>
                  <a:pt x="1" y="5"/>
                  <a:pt x="0" y="8"/>
                </a:cubicBezTo>
                <a:cubicBezTo>
                  <a:pt x="1" y="3"/>
                  <a:pt x="5" y="0"/>
                  <a:pt x="10" y="0"/>
                </a:cubicBezTo>
                <a:lnTo>
                  <a:pt x="269" y="0"/>
                </a:lnTo>
                <a:close/>
              </a:path>
            </a:pathLst>
          </a:custGeom>
          <a:solidFill>
            <a:srgbClr val="8B5CF6"/>
          </a:solidFill>
        </p:spPr>
        <p:txBody>
          <a:bodyPr/>
          <a:p/>
        </p:txBody>
      </p:sp>
      <p:sp>
        <p:nvSpPr>
          <p:cNvPr id="184" name="文本框 183" descr="{&quot;isTemplate&quot;:true,&quot;type&quot;:&quot;text&quot;}"/>
          <p:cNvSpPr txBox="1"/>
          <p:nvPr/>
        </p:nvSpPr>
        <p:spPr>
          <a:xfrm>
            <a:off x="6305550" y="4181475"/>
            <a:ext cx="2352675" cy="171450"/>
          </a:xfrm>
          <a:prstGeom prst="rect">
            <a:avLst/>
          </a:prstGeom>
        </p:spPr>
        <p:txBody>
          <a:bodyPr wrap="none" lIns="0" tIns="0" rIns="0" bIns="0"/>
          <a:p>
            <a:pPr>
              <a:lnSpc>
                <a:spcPct val="100000"/>
              </a:lnSpc>
            </a:pPr>
            <a:r>
              <a:rPr lang="zh-CN" sz="1090" b="1">
                <a:solidFill>
                  <a:srgbClr val="C4B5FD"/>
                </a:solidFill>
                <a:latin typeface="微软雅黑" panose="020B0503020204020204" charset="-122"/>
                <a:ea typeface="微软雅黑" panose="020B0503020204020204" charset="-122"/>
              </a:rPr>
              <a:t>看难度</a:t>
            </a:r>
            <a:endParaRPr lang="zh-CN" sz="1090" b="1">
              <a:solidFill>
                <a:srgbClr val="C4B5FD"/>
              </a:solidFill>
              <a:latin typeface="微软雅黑" panose="020B0503020204020204" charset="-122"/>
              <a:ea typeface="微软雅黑" panose="020B0503020204020204" charset="-122"/>
            </a:endParaRPr>
          </a:p>
        </p:txBody>
      </p:sp>
      <p:sp>
        <p:nvSpPr>
          <p:cNvPr id="185" name="文本框 184" descr="{&quot;isTemplate&quot;:true,&quot;type&quot;:&quot;text&quot;}"/>
          <p:cNvSpPr txBox="1"/>
          <p:nvPr/>
        </p:nvSpPr>
        <p:spPr>
          <a:xfrm>
            <a:off x="6305550" y="4391025"/>
            <a:ext cx="2352675" cy="228600"/>
          </a:xfrm>
          <a:prstGeom prst="rect">
            <a:avLst/>
          </a:prstGeom>
        </p:spPr>
        <p:txBody>
          <a:bodyPr wrap="none" lIns="0" tIns="0" rIns="0" bIns="0"/>
          <a:p>
            <a:pPr>
              <a:lnSpc>
                <a:spcPct val="150000"/>
              </a:lnSpc>
            </a:pPr>
            <a:r>
              <a:rPr lang="zh-CN" sz="975">
                <a:solidFill>
                  <a:srgbClr val="94A3B8"/>
                </a:solidFill>
                <a:latin typeface="微软雅黑" panose="020B0503020204020204" charset="-122"/>
                <a:ea typeface="微软雅黑" panose="020B0503020204020204" charset="-122"/>
              </a:rPr>
              <a:t>底座偏平台、应用偏场景，按团队能力匹配</a:t>
            </a:r>
            <a:endParaRPr lang="zh-CN" sz="975">
              <a:solidFill>
                <a:srgbClr val="94A3B8"/>
              </a:solidFill>
              <a:latin typeface="微软雅黑" panose="020B0503020204020204" charset="-122"/>
              <a:ea typeface="微软雅黑" panose="020B0503020204020204" charset="-122"/>
            </a:endParaRPr>
          </a:p>
        </p:txBody>
      </p:sp>
      <p:sp>
        <p:nvSpPr>
          <p:cNvPr id="186" name="圆角矩形 185"/>
          <p:cNvSpPr/>
          <p:nvPr/>
        </p:nvSpPr>
        <p:spPr>
          <a:xfrm>
            <a:off x="8924925" y="4067175"/>
            <a:ext cx="2657475" cy="914400"/>
          </a:xfrm>
          <a:prstGeom prst="roundRect">
            <a:avLst>
              <a:gd name="adj" fmla="val 10417"/>
            </a:avLst>
          </a:prstGeom>
          <a:solidFill>
            <a:srgbClr val="111B2E"/>
          </a:solidFill>
        </p:spPr>
        <p:txBody>
          <a:bodyPr/>
          <a:p/>
        </p:txBody>
      </p:sp>
      <p:sp>
        <p:nvSpPr>
          <p:cNvPr id="187" name="任意多边形 186"/>
          <p:cNvSpPr/>
          <p:nvPr/>
        </p:nvSpPr>
        <p:spPr>
          <a:xfrm>
            <a:off x="8924925" y="4067175"/>
            <a:ext cx="2657475" cy="914400"/>
          </a:xfrm>
          <a:custGeom>
            <a:avLst/>
            <a:gdLst/>
            <a:ahLst/>
            <a:cxnLst/>
            <a:pathLst>
              <a:path w="279" h="96">
                <a:moveTo>
                  <a:pt x="269" y="0"/>
                </a:moveTo>
                <a:cubicBezTo>
                  <a:pt x="274" y="0"/>
                  <a:pt x="278" y="3"/>
                  <a:pt x="279" y="8"/>
                </a:cubicBezTo>
                <a:cubicBezTo>
                  <a:pt x="278" y="5"/>
                  <a:pt x="275" y="3"/>
                  <a:pt x="272" y="3"/>
                </a:cubicBezTo>
                <a:lnTo>
                  <a:pt x="7" y="3"/>
                </a:lnTo>
                <a:cubicBezTo>
                  <a:pt x="4" y="3"/>
                  <a:pt x="1" y="5"/>
                  <a:pt x="0" y="8"/>
                </a:cubicBezTo>
                <a:cubicBezTo>
                  <a:pt x="1" y="3"/>
                  <a:pt x="5" y="0"/>
                  <a:pt x="10" y="0"/>
                </a:cubicBezTo>
                <a:lnTo>
                  <a:pt x="269" y="0"/>
                </a:lnTo>
                <a:close/>
              </a:path>
            </a:pathLst>
          </a:custGeom>
          <a:solidFill>
            <a:srgbClr val="F59E0B"/>
          </a:solidFill>
        </p:spPr>
        <p:txBody>
          <a:bodyPr/>
          <a:p/>
        </p:txBody>
      </p:sp>
      <p:sp>
        <p:nvSpPr>
          <p:cNvPr id="188" name="文本框 187" descr="{&quot;isTemplate&quot;:true,&quot;type&quot;:&quot;text&quot;}"/>
          <p:cNvSpPr txBox="1"/>
          <p:nvPr/>
        </p:nvSpPr>
        <p:spPr>
          <a:xfrm>
            <a:off x="9077325" y="4181475"/>
            <a:ext cx="2352675" cy="171450"/>
          </a:xfrm>
          <a:prstGeom prst="rect">
            <a:avLst/>
          </a:prstGeom>
        </p:spPr>
        <p:txBody>
          <a:bodyPr wrap="none" lIns="0" tIns="0" rIns="0" bIns="0"/>
          <a:p>
            <a:pPr>
              <a:lnSpc>
                <a:spcPct val="100000"/>
              </a:lnSpc>
            </a:pPr>
            <a:r>
              <a:rPr lang="zh-CN" sz="1090" b="1">
                <a:solidFill>
                  <a:srgbClr val="FBBF24"/>
                </a:solidFill>
                <a:latin typeface="微软雅黑" panose="020B0503020204020204" charset="-122"/>
                <a:ea typeface="微软雅黑" panose="020B0503020204020204" charset="-122"/>
              </a:rPr>
              <a:t>下一步</a:t>
            </a:r>
            <a:endParaRPr lang="zh-CN" sz="1090" b="1">
              <a:solidFill>
                <a:srgbClr val="FBBF24"/>
              </a:solidFill>
              <a:latin typeface="微软雅黑" panose="020B0503020204020204" charset="-122"/>
              <a:ea typeface="微软雅黑" panose="020B0503020204020204" charset="-122"/>
            </a:endParaRPr>
          </a:p>
        </p:txBody>
      </p:sp>
      <p:sp>
        <p:nvSpPr>
          <p:cNvPr id="189" name="文本框 188" descr="{&quot;isTemplate&quot;:true,&quot;type&quot;:&quot;text&quot;}"/>
          <p:cNvSpPr txBox="1"/>
          <p:nvPr/>
        </p:nvSpPr>
        <p:spPr>
          <a:xfrm>
            <a:off x="9077325" y="4391025"/>
            <a:ext cx="2352675" cy="228600"/>
          </a:xfrm>
          <a:prstGeom prst="rect">
            <a:avLst/>
          </a:prstGeom>
        </p:spPr>
        <p:txBody>
          <a:bodyPr wrap="none" lIns="0" tIns="0" rIns="0" bIns="0"/>
          <a:p>
            <a:pPr>
              <a:lnSpc>
                <a:spcPct val="150000"/>
              </a:lnSpc>
            </a:pPr>
            <a:r>
              <a:rPr lang="zh-CN" sz="975">
                <a:solidFill>
                  <a:srgbClr val="94A3B8"/>
                </a:solidFill>
                <a:latin typeface="微软雅黑" panose="020B0503020204020204" charset="-122"/>
                <a:ea typeface="微软雅黑" panose="020B0503020204020204" charset="-122"/>
              </a:rPr>
              <a:t>选定课题后，撰写项目章程正式立项</a:t>
            </a:r>
            <a:endParaRPr lang="zh-CN" sz="975">
              <a:solidFill>
                <a:srgbClr val="94A3B8"/>
              </a:solidFill>
              <a:latin typeface="微软雅黑" panose="020B0503020204020204" charset="-122"/>
              <a:ea typeface="微软雅黑" panose="020B0503020204020204" charset="-122"/>
            </a:endParaRPr>
          </a:p>
        </p:txBody>
      </p:sp>
      <p:sp>
        <p:nvSpPr>
          <p:cNvPr id="190" name="文本框 189" descr="{&quot;isTemplate&quot;:true,&quot;type&quot;:&quot;text&quot;}"/>
          <p:cNvSpPr txBox="1"/>
          <p:nvPr/>
        </p:nvSpPr>
        <p:spPr>
          <a:xfrm>
            <a:off x="609600" y="6400800"/>
            <a:ext cx="12668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01 </a:t>
            </a:r>
            <a:r>
              <a:rPr lang="zh-CN" sz="1050">
                <a:solidFill>
                  <a:srgbClr val="94A3B8"/>
                </a:solidFill>
                <a:latin typeface="微软雅黑" panose="020B0503020204020204" charset="-122"/>
                <a:ea typeface="微软雅黑" panose="020B0503020204020204" charset="-122"/>
              </a:rPr>
              <a:t>十大创新实践课题</a:t>
            </a:r>
            <a:endParaRPr lang="zh-CN" sz="1050">
              <a:solidFill>
                <a:srgbClr val="94A3B8"/>
              </a:solidFill>
              <a:latin typeface="微软雅黑" panose="020B0503020204020204" charset="-122"/>
              <a:ea typeface="微软雅黑" panose="020B0503020204020204" charset="-122"/>
            </a:endParaRPr>
          </a:p>
        </p:txBody>
      </p:sp>
      <p:sp>
        <p:nvSpPr>
          <p:cNvPr id="191" name="文本框 190"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16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92" name="" descr="&lt;Slide style={{ width: 1280, height: 720, background: '#0B1220', position: 'relative', overflow: 'hidden' }}&gt;&#10;    &lt;Image src=&quot;assets/sec_bg.png&quot; style={{ position: 'absolute', top: 0, left: 0, width: 1280, height: 720, objectFit: 'cover', clipPath: 'inset(0 0 11% 0)' }} /&gt;&#10;    &lt;Box style={{ position: 'absolute', top: 0, left: 0, width: 1280, height: 720, background: 'linear-gradient(180deg, rgba(11,18,32,0.45) 0%, rgba(11,18,32,0.75) 100%)' }} /&gt;&#10;    &lt;Box style={{ position: 'absolute', left: 96, top: 180 }}&gt;&#10;        &lt;Text style={{ fontSize: 120, fontWeight: 'bold', color: 'rgba(34,211,238,0.28)' }}&gt;02&lt;/Text&gt;&#10;        &lt;Text style={{ fontSize: 62, fontWeight: 'bold', color: '#E2E8F0', marginTop: 8 }}&gt;项目章程&lt;/Text&gt;&#10;        &lt;Box style={{ width: 90, height: 5, background: 'linear-gradient(90deg, #22D3EE 0%, #3B82F6 100%)', borderRadius: 3, marginTop: 26 }} /&gt;&#10;        &lt;Text style={{ fontSize: 20, color: '#94A3B8', marginTop: 26, letterSpacing: 2 }}&gt;Project Charter · 从课题到正式立项的授权书&lt;/Text&gt;&#10;    &lt;/Box&gt;&#10;    &lt;Box style={{ position: 'absolute', right: 96, bottom: 72, flexDirection: 'row', gap: 12, alignItems: 'center' }}&gt;&#10;        &lt;Box style={{ width: 8, height: 8, borderRadius: 4, background: '#22D3EE' }} /&gt;&#10;        &lt;Box style={{ width: 8, height: 8, borderRadius: 4, background: 'rgba(34,211,238,0.35)' }} /&gt;&#10;        &lt;Box style={{ width: 8, height: 8, borderRadius: 4, background: 'rgba(34,211,238,0.35)' }} /&gt;&#10;        &lt;Box style={{ width: 8, height: 8, borderRadius: 4, background: 'rgba(34,211,238,0.35)' }} /&gt;&#10;    &lt;/Box&gt;&#10;&lt;/Slide&gt;&#10;"/>
        <p:cNvGrpSpPr/>
        <p:nvPr/>
      </p:nvGrpSpPr>
      <p:grpSpPr>
        <a:xfrm>
          <a:off x="0" y="0"/>
          <a:ext cx="0" cy="0"/>
          <a:chOff x="0" y="0"/>
          <a:chExt cx="0" cy="0"/>
        </a:xfrm>
      </p:grpSpPr>
      <p:sp>
        <p:nvSpPr>
          <p:cNvPr id="193" name="矩形 192"/>
          <p:cNvSpPr/>
          <p:nvPr/>
        </p:nvSpPr>
        <p:spPr>
          <a:xfrm>
            <a:off x="0" y="0"/>
            <a:ext cx="12192000" cy="6858000"/>
          </a:xfrm>
          <a:prstGeom prst="rect">
            <a:avLst/>
          </a:prstGeom>
          <a:solidFill>
            <a:srgbClr val="0B1220"/>
          </a:solidFill>
        </p:spPr>
        <p:txBody>
          <a:bodyPr/>
          <a:p/>
        </p:txBody>
      </p:sp>
      <p:pic>
        <p:nvPicPr>
          <p:cNvPr id="194" name="图片 193"/>
          <p:cNvPicPr>
            <a:picLocks noChangeAspect="1"/>
          </p:cNvPicPr>
          <p:nvPr/>
        </p:nvPicPr>
        <p:blipFill>
          <a:blip r:embed="rId1"/>
          <a:srcRect t="7812" b="7812"/>
          <a:stretch>
            <a:fillRect/>
          </a:stretch>
        </p:blipFill>
        <p:spPr>
          <a:xfrm>
            <a:off x="0" y="0"/>
            <a:ext cx="12192000" cy="6858000"/>
          </a:xfrm>
          <a:custGeom>
            <a:avLst/>
            <a:gdLst/>
            <a:ahLst/>
            <a:cxnLst/>
            <a:pathLst>
              <a:path w="1280" h="720">
                <a:moveTo>
                  <a:pt x="0" y="0"/>
                </a:moveTo>
                <a:lnTo>
                  <a:pt x="1280" y="0"/>
                </a:lnTo>
                <a:lnTo>
                  <a:pt x="1280" y="641"/>
                </a:lnTo>
                <a:lnTo>
                  <a:pt x="0" y="641"/>
                </a:lnTo>
                <a:close/>
              </a:path>
            </a:pathLst>
          </a:custGeom>
        </p:spPr>
      </p:pic>
      <p:sp>
        <p:nvSpPr>
          <p:cNvPr id="195" name="矩形 194"/>
          <p:cNvSpPr/>
          <p:nvPr/>
        </p:nvSpPr>
        <p:spPr>
          <a:xfrm>
            <a:off x="0" y="0"/>
            <a:ext cx="12192000" cy="6858000"/>
          </a:xfrm>
          <a:prstGeom prst="rect">
            <a:avLst/>
          </a:prstGeom>
          <a:gradFill>
            <a:gsLst>
              <a:gs pos="0">
                <a:srgbClr val="0B1220">
                  <a:alpha val="45000"/>
                </a:srgbClr>
              </a:gs>
              <a:gs pos="100000">
                <a:srgbClr val="0B1220">
                  <a:alpha val="75000"/>
                </a:srgbClr>
              </a:gs>
            </a:gsLst>
            <a:lin ang="5400000" scaled="1"/>
          </a:gradFill>
        </p:spPr>
        <p:txBody>
          <a:bodyPr/>
          <a:p/>
        </p:txBody>
      </p:sp>
      <p:sp>
        <p:nvSpPr>
          <p:cNvPr id="196" name="文本框 195" descr="{&quot;isTemplate&quot;:true,&quot;type&quot;:&quot;text&quot;}"/>
          <p:cNvSpPr txBox="1"/>
          <p:nvPr/>
        </p:nvSpPr>
        <p:spPr>
          <a:xfrm>
            <a:off x="914400" y="1714500"/>
            <a:ext cx="4391025" cy="1371600"/>
          </a:xfrm>
          <a:prstGeom prst="rect">
            <a:avLst/>
          </a:prstGeom>
        </p:spPr>
        <p:txBody>
          <a:bodyPr wrap="none" lIns="0" tIns="0" rIns="0" bIns="0"/>
          <a:p>
            <a:pPr>
              <a:lnSpc>
                <a:spcPct val="100000"/>
              </a:lnSpc>
            </a:pPr>
            <a:r>
              <a:rPr lang="en-US" sz="9000" b="1">
                <a:solidFill>
                  <a:srgbClr val="22D3EE">
                    <a:alpha val="28000"/>
                  </a:srgbClr>
                </a:solidFill>
                <a:latin typeface="微软雅黑" panose="020B0503020204020204" charset="-122"/>
                <a:ea typeface="微软雅黑" panose="020B0503020204020204" charset="-122"/>
              </a:rPr>
              <a:t>02</a:t>
            </a:r>
            <a:endParaRPr lang="en-US" sz="9000" b="1">
              <a:solidFill>
                <a:srgbClr val="22D3EE">
                  <a:alpha val="28000"/>
                </a:srgbClr>
              </a:solidFill>
              <a:latin typeface="微软雅黑" panose="020B0503020204020204" charset="-122"/>
              <a:ea typeface="微软雅黑" panose="020B0503020204020204" charset="-122"/>
            </a:endParaRPr>
          </a:p>
        </p:txBody>
      </p:sp>
      <p:sp>
        <p:nvSpPr>
          <p:cNvPr id="197" name="文本框 196" descr="{&quot;isTemplate&quot;:true,&quot;type&quot;:&quot;text&quot;}"/>
          <p:cNvSpPr txBox="1"/>
          <p:nvPr/>
        </p:nvSpPr>
        <p:spPr>
          <a:xfrm>
            <a:off x="914400" y="3162300"/>
            <a:ext cx="4391025" cy="714375"/>
          </a:xfrm>
          <a:prstGeom prst="rect">
            <a:avLst/>
          </a:prstGeom>
        </p:spPr>
        <p:txBody>
          <a:bodyPr wrap="none" lIns="0" tIns="0" rIns="0" bIns="0"/>
          <a:p>
            <a:pPr>
              <a:lnSpc>
                <a:spcPct val="100000"/>
              </a:lnSpc>
            </a:pPr>
            <a:r>
              <a:rPr lang="zh-CN" sz="4650" b="1">
                <a:solidFill>
                  <a:srgbClr val="E2E8F0"/>
                </a:solidFill>
                <a:latin typeface="微软雅黑" panose="020B0503020204020204" charset="-122"/>
                <a:ea typeface="微软雅黑" panose="020B0503020204020204" charset="-122"/>
              </a:rPr>
              <a:t>项目章程</a:t>
            </a:r>
            <a:endParaRPr lang="zh-CN" sz="4650" b="1">
              <a:solidFill>
                <a:srgbClr val="E2E8F0"/>
              </a:solidFill>
              <a:latin typeface="微软雅黑" panose="020B0503020204020204" charset="-122"/>
              <a:ea typeface="微软雅黑" panose="020B0503020204020204" charset="-122"/>
            </a:endParaRPr>
          </a:p>
        </p:txBody>
      </p:sp>
      <p:sp>
        <p:nvSpPr>
          <p:cNvPr id="198" name="圆角矩形 197"/>
          <p:cNvSpPr/>
          <p:nvPr/>
        </p:nvSpPr>
        <p:spPr>
          <a:xfrm>
            <a:off x="914400" y="4124325"/>
            <a:ext cx="857250" cy="47625"/>
          </a:xfrm>
          <a:prstGeom prst="roundRect">
            <a:avLst>
              <a:gd name="adj" fmla="val 60000"/>
            </a:avLst>
          </a:prstGeom>
          <a:gradFill>
            <a:gsLst>
              <a:gs pos="0">
                <a:srgbClr val="22D3EE"/>
              </a:gs>
              <a:gs pos="100000">
                <a:srgbClr val="3B82F6"/>
              </a:gs>
            </a:gsLst>
            <a:lin ang="0" scaled="1"/>
          </a:gradFill>
        </p:spPr>
        <p:txBody>
          <a:bodyPr/>
          <a:p/>
        </p:txBody>
      </p:sp>
      <p:sp>
        <p:nvSpPr>
          <p:cNvPr id="199" name="文本框 198" descr="{&quot;isTemplate&quot;:true,&quot;type&quot;:&quot;text&quot;}"/>
          <p:cNvSpPr txBox="1"/>
          <p:nvPr/>
        </p:nvSpPr>
        <p:spPr>
          <a:xfrm>
            <a:off x="914400" y="4419600"/>
            <a:ext cx="4391025" cy="228600"/>
          </a:xfrm>
          <a:prstGeom prst="rect">
            <a:avLst/>
          </a:prstGeom>
        </p:spPr>
        <p:txBody>
          <a:bodyPr wrap="none" lIns="0" tIns="0" rIns="0" bIns="0"/>
          <a:p>
            <a:pPr>
              <a:lnSpc>
                <a:spcPct val="100000"/>
              </a:lnSpc>
            </a:pPr>
            <a:r>
              <a:rPr lang="en-US" sz="1500" spc="150">
                <a:solidFill>
                  <a:srgbClr val="94A3B8"/>
                </a:solidFill>
                <a:latin typeface="微软雅黑" panose="020B0503020204020204" charset="-122"/>
                <a:ea typeface="微软雅黑" panose="020B0503020204020204" charset="-122"/>
              </a:rPr>
              <a:t>Project Charter · </a:t>
            </a:r>
            <a:r>
              <a:rPr lang="zh-CN" sz="1500" spc="150">
                <a:solidFill>
                  <a:srgbClr val="94A3B8"/>
                </a:solidFill>
                <a:latin typeface="微软雅黑" panose="020B0503020204020204" charset="-122"/>
                <a:ea typeface="微软雅黑" panose="020B0503020204020204" charset="-122"/>
              </a:rPr>
              <a:t>从课题到正式立项的授权书</a:t>
            </a:r>
            <a:endParaRPr lang="zh-CN" sz="1500" spc="150">
              <a:solidFill>
                <a:srgbClr val="94A3B8"/>
              </a:solidFill>
              <a:latin typeface="微软雅黑" panose="020B0503020204020204" charset="-122"/>
              <a:ea typeface="微软雅黑" panose="020B0503020204020204" charset="-122"/>
            </a:endParaRPr>
          </a:p>
        </p:txBody>
      </p:sp>
      <p:sp>
        <p:nvSpPr>
          <p:cNvPr id="200" name="圆角矩形 199"/>
          <p:cNvSpPr/>
          <p:nvPr/>
        </p:nvSpPr>
        <p:spPr>
          <a:xfrm>
            <a:off x="10629900" y="6096000"/>
            <a:ext cx="76200" cy="76200"/>
          </a:xfrm>
          <a:prstGeom prst="roundRect">
            <a:avLst>
              <a:gd name="adj" fmla="val 50000"/>
            </a:avLst>
          </a:prstGeom>
          <a:solidFill>
            <a:srgbClr val="22D3EE"/>
          </a:solidFill>
        </p:spPr>
        <p:txBody>
          <a:bodyPr/>
          <a:p/>
        </p:txBody>
      </p:sp>
      <p:sp>
        <p:nvSpPr>
          <p:cNvPr id="201" name="圆角矩形 200"/>
          <p:cNvSpPr/>
          <p:nvPr/>
        </p:nvSpPr>
        <p:spPr>
          <a:xfrm>
            <a:off x="10820400" y="6096000"/>
            <a:ext cx="76200" cy="76200"/>
          </a:xfrm>
          <a:prstGeom prst="roundRect">
            <a:avLst>
              <a:gd name="adj" fmla="val 50000"/>
            </a:avLst>
          </a:prstGeom>
          <a:solidFill>
            <a:srgbClr val="22D3EE">
              <a:alpha val="35000"/>
            </a:srgbClr>
          </a:solidFill>
        </p:spPr>
        <p:txBody>
          <a:bodyPr/>
          <a:p/>
        </p:txBody>
      </p:sp>
      <p:sp>
        <p:nvSpPr>
          <p:cNvPr id="202" name="圆角矩形 201"/>
          <p:cNvSpPr/>
          <p:nvPr/>
        </p:nvSpPr>
        <p:spPr>
          <a:xfrm>
            <a:off x="11010900" y="6096000"/>
            <a:ext cx="76200" cy="76200"/>
          </a:xfrm>
          <a:prstGeom prst="roundRect">
            <a:avLst>
              <a:gd name="adj" fmla="val 50000"/>
            </a:avLst>
          </a:prstGeom>
          <a:solidFill>
            <a:srgbClr val="22D3EE">
              <a:alpha val="35000"/>
            </a:srgbClr>
          </a:solidFill>
        </p:spPr>
        <p:txBody>
          <a:bodyPr/>
          <a:p/>
        </p:txBody>
      </p:sp>
      <p:sp>
        <p:nvSpPr>
          <p:cNvPr id="203" name="圆角矩形 202"/>
          <p:cNvSpPr/>
          <p:nvPr/>
        </p:nvSpPr>
        <p:spPr>
          <a:xfrm>
            <a:off x="11201400" y="6096000"/>
            <a:ext cx="76200" cy="76200"/>
          </a:xfrm>
          <a:prstGeom prst="roundRect">
            <a:avLst>
              <a:gd name="adj" fmla="val 50000"/>
            </a:avLst>
          </a:prstGeom>
          <a:solidFill>
            <a:srgbClr val="22D3EE">
              <a:alpha val="35000"/>
            </a:srgbClr>
          </a:solidFill>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04" name="" descr="&lt;Slide style={{ width: 1280, height: 720, background: '#0B1220', padding: '20px 64px', display: 'flex', flexDirection: 'column' }}&gt;&#10;    &lt;Box style={{ flexDirection: 'row', height: 96, alignItems: 'center' }}&gt;&#10;        &lt;Box style={{ width: 6, height: 44, background: 'linear-gradient(180deg, #22D3EE 0%, #3B82F6 100%)', borderRadius: 3, marginRight: 20 }} /&gt;&#10;        &lt;Text style={{ fontSize: 34, fontWeight: 'bold', color: '#E2E8F0' }}&gt;什么是项目章程&lt;/Text&gt;&#10;        &lt;Text style={{ fontSize: 15, color: '#94A3B8', marginLeft: 18 }}&gt;Project Charter&lt;/Text&gt;&#10;    &lt;/Box&gt;&#10;    &lt;Box style={{ flex: 1, flexDirection: 'column', gap: 14, justifyContent: 'center' }}&gt;&#10;        &lt;Box style={{ background: 'rgba(34,211,238,0.08)', borderRadius: 12, padding: '16px 24px', border: '1px solid rgba(34,211,238,0.35)' }}&gt;&#10;            &lt;Text style={{ fontSize: 15, color: '#67E8F9', fontWeight: 'bold', marginBottom: 6 }}&gt;定义&lt;/Text&gt;&#10;            &lt;Text style={{ fontSize: 16, color: '#E2E8F0', lineHeight: 1.65 }}&gt;项目章程是正式&lt;span style={{ fontWeight: 'bold', color: '#67E8F9' }}&gt;批准项目成立&lt;/span&gt;、&lt;span style={{ fontWeight: 'bold', color: '#67E8F9' }}&gt;授权项目经理&lt;/span&gt;动用组织资源开展项目活动的正式文件，是项目立项的「出生证」与「授权书」。&lt;/Text&gt;&#10;        &lt;/Box&gt;&#10;        &lt;Box style={{ flexDirection: 'row', gap: 12, alignItems: 'stretch' }}&gt;&#10;            &lt;Box style={{ flex: 1, background: '#111B2E', borderRadius: 10, padding: '13px 18px', borderTop: '3px solid #22D3EE' }}&gt;&#10;                &lt;Text style={{ fontSize: 15, fontWeight: 'bold', color: '#67E8F9', marginBottom: 5 }}&gt;正式立项授权&lt;/Text&gt;&#10;                &lt;Text style={{ fontSize: 13.5, color: '#94A3B8', lineHeight: 1.55 }}&gt;确认项目存在的合法性与优先级，获得组织正式认可&lt;/Text&gt;&#10;            &lt;/Box&gt;&#10;            &lt;Box style={{ flex: 1, background: '#111B2E', borderRadius: 10, padding: '13px 18px', borderTop: '3px solid #3B82F6' }}&gt;&#10;                &lt;Text style={{ fontSize: 15, fontWeight: 'bold', color: '#93C5FD', marginBottom: 5 }}&gt;明确目标范围&lt;/Text&gt;&#10;                &lt;Text style={{ fontSize: 13.5, color: '#94A3B8', lineHeight: 1.55 }}&gt;统一各方干系人对项目目标与边界的预期&lt;/Text&gt;&#10;            &lt;/Box&gt;&#10;            &lt;Box style={{ flex: 1, background: '#111B2E', borderRadius: 10, padding: '13px 18px', borderTop: '3px solid #8B5CF6' }}&gt;&#10;                &lt;Text style={{ fontSize: 15, fontWeight: 'bold', color: '#C4B5FD', marginBottom: 5 }}&gt;授权项目经理&lt;/Text&gt;&#10;                &lt;Text style={{ fontSize: 13.5, color: '#94A3B8', lineHeight: 1.55 }}&gt;赋予调配资源、组织团队、推进活动的权力&lt;/Text&gt;&#10;            &lt;/Box&gt;&#10;            &lt;Box style={{ flex: 1, background: '#111B2E', borderRadius: 10, padding: '13px 18px', borderTop: '3px solid #F59E0B' }}&gt;&#10;                &lt;Text style={{ fontSize: 15, fontWeight: 'bold', color: '#FBBF24', marginBottom: 5 }}&gt;高层背书支持&lt;/Text&gt;&#10;                &lt;Text style={{ fontSize: 13.5, color: '#94A3B8', lineHeight: 1.55 }}&gt;由高级管理层签署，为项目争取资源与支持&lt;/Text&gt;&#10;            &lt;/Box&gt;&#10;        &lt;/Box&gt;&#10;        &lt;Box style={{ flexDirection: 'row', gap: 14, alignItems: 'stretch' }}&gt;&#10;            &lt;Box style={{ flex: 1, background: 'rgba(34,211,238,0.06)', borderRadius: 10, padding: '13px 20px', border: '1px solid rgba(34,211,238,0.3)' }}&gt;&#10;                &lt;Text style={{ fontSize: 15, fontWeight: 'bold', color: '#67E8F9', marginBottom: 6 }}&gt;项目章程&lt;/Text&gt;&#10;                &lt;Text style={{ fontSize: 13.5, color: '#94A3B8', lineHeight: 1.6 }}&gt;回答「为什么做、做什么、谁负责」，高层视角，讲目标与授权，批准后相对稳定&lt;/Text&gt;&#10;            &lt;/Box&gt;&#10;            &lt;Box style={{ flex: 1, background: 'rgba(139,92,246,0.06)', borderRadius: 10, padding: '13px 20px', border: '1px solid rgba(139,92,246,0.3)' }}&gt;&#10;                &lt;Text style={{ fontSize: 15, fontWeight: 'bold', color: '#C4B5FD', marginBottom: 6 }}&gt;项目计划&lt;/Text&gt;&#10;                &lt;Text style={{ fontSize: 13.5, color: '#94A3B8', lineHeight: 1.6 }}&gt;回答「怎么做、何时做、花多少」，执行视角，讲任务与进度，随过程滚动细化调整&lt;/Text&gt;&#10;            &lt;/Box&gt;&#10;        &lt;/Box&gt;&#10;    &lt;/Box&gt;&#10;    &lt;Box style={{ height: 40, flexDirection: 'row', justifyContent: 'space-between', alignItems: 'center', marginTop: 14 }}&gt;&#10;        &lt;Text style={{ fontSize: 14, color: '#94A3B8' }}&gt;02 项目章程&lt;/Text&gt;&#10;        &lt;Text style={{ fontSize: 14, color: '#94A3B8' }}&gt;18 / 47&lt;/Text&gt;&#10;    &lt;/Box&gt;&#10;&lt;/Slide&gt;&#10;"/>
        <p:cNvGrpSpPr/>
        <p:nvPr/>
      </p:nvGrpSpPr>
      <p:grpSpPr>
        <a:xfrm>
          <a:off x="0" y="0"/>
          <a:ext cx="0" cy="0"/>
          <a:chOff x="0" y="0"/>
          <a:chExt cx="0" cy="0"/>
        </a:xfrm>
      </p:grpSpPr>
      <p:sp>
        <p:nvSpPr>
          <p:cNvPr id="205" name="矩形 204"/>
          <p:cNvSpPr/>
          <p:nvPr/>
        </p:nvSpPr>
        <p:spPr>
          <a:xfrm>
            <a:off x="0" y="0"/>
            <a:ext cx="12192000" cy="6858000"/>
          </a:xfrm>
          <a:prstGeom prst="rect">
            <a:avLst/>
          </a:prstGeom>
          <a:solidFill>
            <a:srgbClr val="0B1220"/>
          </a:solidFill>
        </p:spPr>
        <p:txBody>
          <a:bodyPr/>
          <a:p/>
        </p:txBody>
      </p:sp>
      <p:sp>
        <p:nvSpPr>
          <p:cNvPr id="206" name="圆角矩形 205"/>
          <p:cNvSpPr/>
          <p:nvPr/>
        </p:nvSpPr>
        <p:spPr>
          <a:xfrm>
            <a:off x="609600" y="438150"/>
            <a:ext cx="57150" cy="419100"/>
          </a:xfrm>
          <a:prstGeom prst="roundRect">
            <a:avLst>
              <a:gd name="adj" fmla="val 50000"/>
            </a:avLst>
          </a:prstGeom>
          <a:gradFill>
            <a:gsLst>
              <a:gs pos="0">
                <a:srgbClr val="22D3EE"/>
              </a:gs>
              <a:gs pos="100000">
                <a:srgbClr val="3B82F6"/>
              </a:gs>
            </a:gsLst>
            <a:lin ang="5400000" scaled="1"/>
          </a:gradFill>
        </p:spPr>
        <p:txBody>
          <a:bodyPr/>
          <a:p/>
        </p:txBody>
      </p:sp>
      <p:sp>
        <p:nvSpPr>
          <p:cNvPr id="207" name="文本框 206" descr="{&quot;isTemplate&quot;:true,&quot;type&quot;:&quot;text&quot;}"/>
          <p:cNvSpPr txBox="1"/>
          <p:nvPr/>
        </p:nvSpPr>
        <p:spPr>
          <a:xfrm>
            <a:off x="857250" y="457200"/>
            <a:ext cx="226695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什么是项目章程</a:t>
            </a:r>
            <a:endParaRPr lang="zh-CN" sz="2550" b="1">
              <a:solidFill>
                <a:srgbClr val="E2E8F0"/>
              </a:solidFill>
              <a:latin typeface="微软雅黑" panose="020B0503020204020204" charset="-122"/>
              <a:ea typeface="微软雅黑" panose="020B0503020204020204" charset="-122"/>
            </a:endParaRPr>
          </a:p>
        </p:txBody>
      </p:sp>
      <p:sp>
        <p:nvSpPr>
          <p:cNvPr id="208" name="文本框 207" descr="{&quot;isTemplate&quot;:true,&quot;type&quot;:&quot;text&quot;}"/>
          <p:cNvSpPr txBox="1"/>
          <p:nvPr/>
        </p:nvSpPr>
        <p:spPr>
          <a:xfrm>
            <a:off x="3295650" y="561975"/>
            <a:ext cx="1028700" cy="171450"/>
          </a:xfrm>
          <a:prstGeom prst="rect">
            <a:avLst/>
          </a:prstGeom>
        </p:spPr>
        <p:txBody>
          <a:bodyPr wrap="none" lIns="0" tIns="0" rIns="0" bIns="0"/>
          <a:p>
            <a:pPr>
              <a:lnSpc>
                <a:spcPct val="100000"/>
              </a:lnSpc>
            </a:pPr>
            <a:r>
              <a:rPr lang="en-US" sz="1125">
                <a:solidFill>
                  <a:srgbClr val="94A3B8"/>
                </a:solidFill>
                <a:latin typeface="微软雅黑" panose="020B0503020204020204" charset="-122"/>
                <a:ea typeface="微软雅黑" panose="020B0503020204020204" charset="-122"/>
              </a:rPr>
              <a:t>Project Charter</a:t>
            </a:r>
            <a:endParaRPr lang="en-US" sz="1125">
              <a:solidFill>
                <a:srgbClr val="94A3B8"/>
              </a:solidFill>
              <a:latin typeface="微软雅黑" panose="020B0503020204020204" charset="-122"/>
              <a:ea typeface="微软雅黑" panose="020B0503020204020204" charset="-122"/>
            </a:endParaRPr>
          </a:p>
        </p:txBody>
      </p:sp>
      <p:sp>
        <p:nvSpPr>
          <p:cNvPr id="209" name="圆角矩形 208"/>
          <p:cNvSpPr/>
          <p:nvPr/>
        </p:nvSpPr>
        <p:spPr>
          <a:xfrm>
            <a:off x="609600" y="2228850"/>
            <a:ext cx="10972800" cy="838200"/>
          </a:xfrm>
          <a:prstGeom prst="roundRect">
            <a:avLst>
              <a:gd name="adj" fmla="val 13636"/>
            </a:avLst>
          </a:prstGeom>
          <a:solidFill>
            <a:srgbClr val="22D3EE">
              <a:alpha val="8000"/>
            </a:srgbClr>
          </a:solidFill>
          <a:ln w="12700">
            <a:solidFill>
              <a:srgbClr val="22D3EE">
                <a:alpha val="35000"/>
              </a:srgbClr>
            </a:solidFill>
            <a:prstDash val="solid"/>
          </a:ln>
        </p:spPr>
        <p:txBody>
          <a:bodyPr/>
          <a:p/>
        </p:txBody>
      </p:sp>
      <p:sp>
        <p:nvSpPr>
          <p:cNvPr id="210" name="文本框 209" descr="{&quot;isTemplate&quot;:true,&quot;type&quot;:&quot;text&quot;}"/>
          <p:cNvSpPr txBox="1"/>
          <p:nvPr/>
        </p:nvSpPr>
        <p:spPr>
          <a:xfrm>
            <a:off x="838200" y="2381250"/>
            <a:ext cx="10515600" cy="171450"/>
          </a:xfrm>
          <a:prstGeom prst="rect">
            <a:avLst/>
          </a:prstGeom>
        </p:spPr>
        <p:txBody>
          <a:bodyPr wrap="none" lIns="0" tIns="0" rIns="0" bIns="0"/>
          <a:p>
            <a:pPr>
              <a:lnSpc>
                <a:spcPct val="100000"/>
              </a:lnSpc>
            </a:pPr>
            <a:r>
              <a:rPr lang="zh-CN" sz="1125" b="1">
                <a:solidFill>
                  <a:srgbClr val="67E8F9"/>
                </a:solidFill>
                <a:latin typeface="微软雅黑" panose="020B0503020204020204" charset="-122"/>
                <a:ea typeface="微软雅黑" panose="020B0503020204020204" charset="-122"/>
              </a:rPr>
              <a:t>定义</a:t>
            </a:r>
            <a:endParaRPr lang="zh-CN" sz="1125" b="1">
              <a:solidFill>
                <a:srgbClr val="67E8F9"/>
              </a:solidFill>
              <a:latin typeface="微软雅黑" panose="020B0503020204020204" charset="-122"/>
              <a:ea typeface="微软雅黑" panose="020B0503020204020204" charset="-122"/>
            </a:endParaRPr>
          </a:p>
        </p:txBody>
      </p:sp>
      <p:sp>
        <p:nvSpPr>
          <p:cNvPr id="211" name="文本框 210" descr="{&quot;isTemplate&quot;:true,&quot;type&quot;:&quot;text&quot;}"/>
          <p:cNvSpPr txBox="1"/>
          <p:nvPr/>
        </p:nvSpPr>
        <p:spPr>
          <a:xfrm>
            <a:off x="838200" y="2609850"/>
            <a:ext cx="10515600" cy="304800"/>
          </a:xfrm>
          <a:prstGeom prst="rect">
            <a:avLst/>
          </a:prstGeom>
        </p:spPr>
        <p:txBody>
          <a:bodyPr wrap="none" lIns="0" tIns="0" rIns="0" bIns="0"/>
          <a:p>
            <a:pPr>
              <a:lnSpc>
                <a:spcPct val="165000"/>
              </a:lnSpc>
            </a:pPr>
            <a:r>
              <a:rPr lang="zh-CN" sz="1200">
                <a:solidFill>
                  <a:srgbClr val="E2E8F0"/>
                </a:solidFill>
                <a:latin typeface="微软雅黑" panose="020B0503020204020204" charset="-122"/>
                <a:ea typeface="微软雅黑" panose="020B0503020204020204" charset="-122"/>
              </a:rPr>
              <a:t>项目章程是正式</a:t>
            </a:r>
            <a:r>
              <a:rPr lang="zh-CN" sz="1200" b="1">
                <a:solidFill>
                  <a:srgbClr val="67E8F9"/>
                </a:solidFill>
                <a:latin typeface="微软雅黑" panose="020B0503020204020204" charset="-122"/>
                <a:ea typeface="微软雅黑" panose="020B0503020204020204" charset="-122"/>
              </a:rPr>
              <a:t>批准项目成立</a:t>
            </a:r>
            <a:r>
              <a:rPr lang="zh-CN" sz="1200">
                <a:solidFill>
                  <a:srgbClr val="E2E8F0"/>
                </a:solidFill>
                <a:latin typeface="微软雅黑" panose="020B0503020204020204" charset="-122"/>
                <a:ea typeface="微软雅黑" panose="020B0503020204020204" charset="-122"/>
              </a:rPr>
              <a:t>、</a:t>
            </a:r>
            <a:r>
              <a:rPr lang="zh-CN" sz="1200" b="1">
                <a:solidFill>
                  <a:srgbClr val="67E8F9"/>
                </a:solidFill>
                <a:latin typeface="微软雅黑" panose="020B0503020204020204" charset="-122"/>
                <a:ea typeface="微软雅黑" panose="020B0503020204020204" charset="-122"/>
              </a:rPr>
              <a:t>授权项目经理</a:t>
            </a:r>
            <a:r>
              <a:rPr lang="zh-CN" sz="1200">
                <a:solidFill>
                  <a:srgbClr val="E2E8F0"/>
                </a:solidFill>
                <a:latin typeface="微软雅黑" panose="020B0503020204020204" charset="-122"/>
                <a:ea typeface="微软雅黑" panose="020B0503020204020204" charset="-122"/>
              </a:rPr>
              <a:t>动用组织资源开展项目活动的正式文件，是项目立项的「出生证」与「授权书」。</a:t>
            </a:r>
            <a:endParaRPr lang="zh-CN" sz="1200">
              <a:solidFill>
                <a:srgbClr val="E2E8F0"/>
              </a:solidFill>
              <a:latin typeface="微软雅黑" panose="020B0503020204020204" charset="-122"/>
              <a:ea typeface="微软雅黑" panose="020B0503020204020204" charset="-122"/>
            </a:endParaRPr>
          </a:p>
        </p:txBody>
      </p:sp>
      <p:sp>
        <p:nvSpPr>
          <p:cNvPr id="212" name="圆角矩形 211"/>
          <p:cNvSpPr/>
          <p:nvPr/>
        </p:nvSpPr>
        <p:spPr>
          <a:xfrm>
            <a:off x="609600" y="3228975"/>
            <a:ext cx="2657475" cy="981075"/>
          </a:xfrm>
          <a:prstGeom prst="roundRect">
            <a:avLst>
              <a:gd name="adj" fmla="val 9709"/>
            </a:avLst>
          </a:prstGeom>
          <a:solidFill>
            <a:srgbClr val="111B2E"/>
          </a:solidFill>
        </p:spPr>
        <p:txBody>
          <a:bodyPr/>
          <a:p/>
        </p:txBody>
      </p:sp>
      <p:sp>
        <p:nvSpPr>
          <p:cNvPr id="213" name="任意多边形 212"/>
          <p:cNvSpPr/>
          <p:nvPr/>
        </p:nvSpPr>
        <p:spPr>
          <a:xfrm>
            <a:off x="609600" y="3228975"/>
            <a:ext cx="2657475" cy="981075"/>
          </a:xfrm>
          <a:custGeom>
            <a:avLst/>
            <a:gdLst/>
            <a:ahLst/>
            <a:cxnLst/>
            <a:pathLst>
              <a:path w="279" h="103">
                <a:moveTo>
                  <a:pt x="269" y="0"/>
                </a:moveTo>
                <a:cubicBezTo>
                  <a:pt x="274" y="0"/>
                  <a:pt x="278" y="3"/>
                  <a:pt x="279" y="8"/>
                </a:cubicBezTo>
                <a:cubicBezTo>
                  <a:pt x="278" y="5"/>
                  <a:pt x="275" y="3"/>
                  <a:pt x="272" y="3"/>
                </a:cubicBezTo>
                <a:lnTo>
                  <a:pt x="7" y="3"/>
                </a:lnTo>
                <a:cubicBezTo>
                  <a:pt x="4" y="3"/>
                  <a:pt x="1" y="5"/>
                  <a:pt x="0" y="8"/>
                </a:cubicBezTo>
                <a:cubicBezTo>
                  <a:pt x="1" y="3"/>
                  <a:pt x="5" y="0"/>
                  <a:pt x="10" y="0"/>
                </a:cubicBezTo>
                <a:lnTo>
                  <a:pt x="269" y="0"/>
                </a:lnTo>
                <a:close/>
              </a:path>
            </a:pathLst>
          </a:custGeom>
          <a:solidFill>
            <a:srgbClr val="22D3EE"/>
          </a:solidFill>
        </p:spPr>
        <p:txBody>
          <a:bodyPr/>
          <a:p/>
        </p:txBody>
      </p:sp>
      <p:sp>
        <p:nvSpPr>
          <p:cNvPr id="214" name="文本框 213" descr="{&quot;isTemplate&quot;:true,&quot;type&quot;:&quot;text&quot;}"/>
          <p:cNvSpPr txBox="1"/>
          <p:nvPr/>
        </p:nvSpPr>
        <p:spPr>
          <a:xfrm>
            <a:off x="781050" y="3352800"/>
            <a:ext cx="2314575" cy="171450"/>
          </a:xfrm>
          <a:prstGeom prst="rect">
            <a:avLst/>
          </a:prstGeom>
        </p:spPr>
        <p:txBody>
          <a:bodyPr wrap="none" lIns="0" tIns="0" rIns="0" bIns="0"/>
          <a:p>
            <a:pPr>
              <a:lnSpc>
                <a:spcPct val="100000"/>
              </a:lnSpc>
            </a:pPr>
            <a:r>
              <a:rPr lang="zh-CN" sz="1125" b="1">
                <a:solidFill>
                  <a:srgbClr val="67E8F9"/>
                </a:solidFill>
                <a:latin typeface="微软雅黑" panose="020B0503020204020204" charset="-122"/>
                <a:ea typeface="微软雅黑" panose="020B0503020204020204" charset="-122"/>
              </a:rPr>
              <a:t>正式立项授权</a:t>
            </a:r>
            <a:endParaRPr lang="zh-CN" sz="1125" b="1">
              <a:solidFill>
                <a:srgbClr val="67E8F9"/>
              </a:solidFill>
              <a:latin typeface="微软雅黑" panose="020B0503020204020204" charset="-122"/>
              <a:ea typeface="微软雅黑" panose="020B0503020204020204" charset="-122"/>
            </a:endParaRPr>
          </a:p>
        </p:txBody>
      </p:sp>
      <p:sp>
        <p:nvSpPr>
          <p:cNvPr id="215" name="文本框 214" descr="{&quot;isTemplate&quot;:true,&quot;type&quot;:&quot;text&quot;}"/>
          <p:cNvSpPr txBox="1"/>
          <p:nvPr/>
        </p:nvSpPr>
        <p:spPr>
          <a:xfrm>
            <a:off x="781050" y="3571875"/>
            <a:ext cx="2314575" cy="485775"/>
          </a:xfrm>
          <a:prstGeom prst="rect">
            <a:avLst/>
          </a:prstGeom>
        </p:spPr>
        <p:txBody>
          <a:bodyPr wrap="square" lIns="0" tIns="0" rIns="0" bIns="0">
            <a:normAutofit/>
          </a:bodyPr>
          <a:p>
            <a:pPr>
              <a:lnSpc>
                <a:spcPct val="155000"/>
              </a:lnSpc>
            </a:pPr>
            <a:r>
              <a:rPr lang="zh-CN" sz="1015">
                <a:solidFill>
                  <a:srgbClr val="94A3B8"/>
                </a:solidFill>
                <a:latin typeface="微软雅黑" panose="020B0503020204020204" charset="-122"/>
                <a:ea typeface="微软雅黑" panose="020B0503020204020204" charset="-122"/>
              </a:rPr>
              <a:t>确认项目存在的合法性与优先级，获得组织正式认可</a:t>
            </a:r>
            <a:endParaRPr lang="zh-CN" sz="1015">
              <a:solidFill>
                <a:srgbClr val="94A3B8"/>
              </a:solidFill>
              <a:latin typeface="微软雅黑" panose="020B0503020204020204" charset="-122"/>
              <a:ea typeface="微软雅黑" panose="020B0503020204020204" charset="-122"/>
            </a:endParaRPr>
          </a:p>
        </p:txBody>
      </p:sp>
      <p:sp>
        <p:nvSpPr>
          <p:cNvPr id="216" name="圆角矩形 215"/>
          <p:cNvSpPr/>
          <p:nvPr/>
        </p:nvSpPr>
        <p:spPr>
          <a:xfrm>
            <a:off x="3381375" y="3228975"/>
            <a:ext cx="2657475" cy="981075"/>
          </a:xfrm>
          <a:prstGeom prst="roundRect">
            <a:avLst>
              <a:gd name="adj" fmla="val 9709"/>
            </a:avLst>
          </a:prstGeom>
          <a:solidFill>
            <a:srgbClr val="111B2E"/>
          </a:solidFill>
        </p:spPr>
        <p:txBody>
          <a:bodyPr/>
          <a:p/>
        </p:txBody>
      </p:sp>
      <p:sp>
        <p:nvSpPr>
          <p:cNvPr id="217" name="任意多边形 216"/>
          <p:cNvSpPr/>
          <p:nvPr/>
        </p:nvSpPr>
        <p:spPr>
          <a:xfrm>
            <a:off x="3381375" y="3228975"/>
            <a:ext cx="2657475" cy="981075"/>
          </a:xfrm>
          <a:custGeom>
            <a:avLst/>
            <a:gdLst/>
            <a:ahLst/>
            <a:cxnLst/>
            <a:pathLst>
              <a:path w="279" h="103">
                <a:moveTo>
                  <a:pt x="269" y="0"/>
                </a:moveTo>
                <a:cubicBezTo>
                  <a:pt x="274" y="0"/>
                  <a:pt x="278" y="3"/>
                  <a:pt x="279" y="8"/>
                </a:cubicBezTo>
                <a:cubicBezTo>
                  <a:pt x="278" y="5"/>
                  <a:pt x="275" y="3"/>
                  <a:pt x="272" y="3"/>
                </a:cubicBezTo>
                <a:lnTo>
                  <a:pt x="7" y="3"/>
                </a:lnTo>
                <a:cubicBezTo>
                  <a:pt x="4" y="3"/>
                  <a:pt x="1" y="5"/>
                  <a:pt x="0" y="8"/>
                </a:cubicBezTo>
                <a:cubicBezTo>
                  <a:pt x="1" y="3"/>
                  <a:pt x="5" y="0"/>
                  <a:pt x="10" y="0"/>
                </a:cubicBezTo>
                <a:lnTo>
                  <a:pt x="269" y="0"/>
                </a:lnTo>
                <a:close/>
              </a:path>
            </a:pathLst>
          </a:custGeom>
          <a:solidFill>
            <a:srgbClr val="3B82F6"/>
          </a:solidFill>
        </p:spPr>
        <p:txBody>
          <a:bodyPr/>
          <a:p/>
        </p:txBody>
      </p:sp>
      <p:sp>
        <p:nvSpPr>
          <p:cNvPr id="218" name="文本框 217" descr="{&quot;isTemplate&quot;:true,&quot;type&quot;:&quot;text&quot;}"/>
          <p:cNvSpPr txBox="1"/>
          <p:nvPr/>
        </p:nvSpPr>
        <p:spPr>
          <a:xfrm>
            <a:off x="3552825" y="3352800"/>
            <a:ext cx="2314575" cy="171450"/>
          </a:xfrm>
          <a:prstGeom prst="rect">
            <a:avLst/>
          </a:prstGeom>
        </p:spPr>
        <p:txBody>
          <a:bodyPr wrap="none" lIns="0" tIns="0" rIns="0" bIns="0"/>
          <a:p>
            <a:pPr>
              <a:lnSpc>
                <a:spcPct val="100000"/>
              </a:lnSpc>
            </a:pPr>
            <a:r>
              <a:rPr lang="zh-CN" sz="1125" b="1">
                <a:solidFill>
                  <a:srgbClr val="93C5FD"/>
                </a:solidFill>
                <a:latin typeface="微软雅黑" panose="020B0503020204020204" charset="-122"/>
                <a:ea typeface="微软雅黑" panose="020B0503020204020204" charset="-122"/>
              </a:rPr>
              <a:t>明确目标范围</a:t>
            </a:r>
            <a:endParaRPr lang="zh-CN" sz="1125" b="1">
              <a:solidFill>
                <a:srgbClr val="93C5FD"/>
              </a:solidFill>
              <a:latin typeface="微软雅黑" panose="020B0503020204020204" charset="-122"/>
              <a:ea typeface="微软雅黑" panose="020B0503020204020204" charset="-122"/>
            </a:endParaRPr>
          </a:p>
        </p:txBody>
      </p:sp>
      <p:sp>
        <p:nvSpPr>
          <p:cNvPr id="219" name="文本框 218" descr="{&quot;isTemplate&quot;:true,&quot;type&quot;:&quot;text&quot;}"/>
          <p:cNvSpPr txBox="1"/>
          <p:nvPr/>
        </p:nvSpPr>
        <p:spPr>
          <a:xfrm>
            <a:off x="3552825" y="3571875"/>
            <a:ext cx="2314575" cy="247650"/>
          </a:xfrm>
          <a:prstGeom prst="rect">
            <a:avLst/>
          </a:prstGeom>
        </p:spPr>
        <p:txBody>
          <a:bodyPr wrap="none" lIns="0" tIns="0" rIns="0" bIns="0"/>
          <a:p>
            <a:pPr>
              <a:lnSpc>
                <a:spcPct val="155000"/>
              </a:lnSpc>
            </a:pPr>
            <a:r>
              <a:rPr lang="zh-CN" sz="1015">
                <a:solidFill>
                  <a:srgbClr val="94A3B8"/>
                </a:solidFill>
                <a:latin typeface="微软雅黑" panose="020B0503020204020204" charset="-122"/>
                <a:ea typeface="微软雅黑" panose="020B0503020204020204" charset="-122"/>
              </a:rPr>
              <a:t>统一各方干系人对项目目标与边界的预期</a:t>
            </a:r>
            <a:endParaRPr lang="zh-CN" sz="1015">
              <a:solidFill>
                <a:srgbClr val="94A3B8"/>
              </a:solidFill>
              <a:latin typeface="微软雅黑" panose="020B0503020204020204" charset="-122"/>
              <a:ea typeface="微软雅黑" panose="020B0503020204020204" charset="-122"/>
            </a:endParaRPr>
          </a:p>
        </p:txBody>
      </p:sp>
      <p:sp>
        <p:nvSpPr>
          <p:cNvPr id="220" name="圆角矩形 219"/>
          <p:cNvSpPr/>
          <p:nvPr/>
        </p:nvSpPr>
        <p:spPr>
          <a:xfrm>
            <a:off x="6153150" y="3228975"/>
            <a:ext cx="2657475" cy="981075"/>
          </a:xfrm>
          <a:prstGeom prst="roundRect">
            <a:avLst>
              <a:gd name="adj" fmla="val 9709"/>
            </a:avLst>
          </a:prstGeom>
          <a:solidFill>
            <a:srgbClr val="111B2E"/>
          </a:solidFill>
        </p:spPr>
        <p:txBody>
          <a:bodyPr/>
          <a:p/>
        </p:txBody>
      </p:sp>
      <p:sp>
        <p:nvSpPr>
          <p:cNvPr id="221" name="任意多边形 220"/>
          <p:cNvSpPr/>
          <p:nvPr/>
        </p:nvSpPr>
        <p:spPr>
          <a:xfrm>
            <a:off x="6153150" y="3228975"/>
            <a:ext cx="2657475" cy="981075"/>
          </a:xfrm>
          <a:custGeom>
            <a:avLst/>
            <a:gdLst/>
            <a:ahLst/>
            <a:cxnLst/>
            <a:pathLst>
              <a:path w="279" h="103">
                <a:moveTo>
                  <a:pt x="269" y="0"/>
                </a:moveTo>
                <a:cubicBezTo>
                  <a:pt x="274" y="0"/>
                  <a:pt x="278" y="3"/>
                  <a:pt x="279" y="8"/>
                </a:cubicBezTo>
                <a:cubicBezTo>
                  <a:pt x="278" y="5"/>
                  <a:pt x="275" y="3"/>
                  <a:pt x="272" y="3"/>
                </a:cubicBezTo>
                <a:lnTo>
                  <a:pt x="7" y="3"/>
                </a:lnTo>
                <a:cubicBezTo>
                  <a:pt x="4" y="3"/>
                  <a:pt x="1" y="5"/>
                  <a:pt x="0" y="8"/>
                </a:cubicBezTo>
                <a:cubicBezTo>
                  <a:pt x="1" y="3"/>
                  <a:pt x="5" y="0"/>
                  <a:pt x="10" y="0"/>
                </a:cubicBezTo>
                <a:lnTo>
                  <a:pt x="269" y="0"/>
                </a:lnTo>
                <a:close/>
              </a:path>
            </a:pathLst>
          </a:custGeom>
          <a:solidFill>
            <a:srgbClr val="8B5CF6"/>
          </a:solidFill>
        </p:spPr>
        <p:txBody>
          <a:bodyPr/>
          <a:p/>
        </p:txBody>
      </p:sp>
      <p:sp>
        <p:nvSpPr>
          <p:cNvPr id="222" name="文本框 221" descr="{&quot;isTemplate&quot;:true,&quot;type&quot;:&quot;text&quot;}"/>
          <p:cNvSpPr txBox="1"/>
          <p:nvPr/>
        </p:nvSpPr>
        <p:spPr>
          <a:xfrm>
            <a:off x="6324600" y="3352800"/>
            <a:ext cx="2314575" cy="171450"/>
          </a:xfrm>
          <a:prstGeom prst="rect">
            <a:avLst/>
          </a:prstGeom>
        </p:spPr>
        <p:txBody>
          <a:bodyPr wrap="none" lIns="0" tIns="0" rIns="0" bIns="0"/>
          <a:p>
            <a:pPr>
              <a:lnSpc>
                <a:spcPct val="100000"/>
              </a:lnSpc>
            </a:pPr>
            <a:r>
              <a:rPr lang="zh-CN" sz="1125" b="1">
                <a:solidFill>
                  <a:srgbClr val="C4B5FD"/>
                </a:solidFill>
                <a:latin typeface="微软雅黑" panose="020B0503020204020204" charset="-122"/>
                <a:ea typeface="微软雅黑" panose="020B0503020204020204" charset="-122"/>
              </a:rPr>
              <a:t>授权项目经理</a:t>
            </a:r>
            <a:endParaRPr lang="zh-CN" sz="1125" b="1">
              <a:solidFill>
                <a:srgbClr val="C4B5FD"/>
              </a:solidFill>
              <a:latin typeface="微软雅黑" panose="020B0503020204020204" charset="-122"/>
              <a:ea typeface="微软雅黑" panose="020B0503020204020204" charset="-122"/>
            </a:endParaRPr>
          </a:p>
        </p:txBody>
      </p:sp>
      <p:sp>
        <p:nvSpPr>
          <p:cNvPr id="223" name="文本框 222" descr="{&quot;isTemplate&quot;:true,&quot;type&quot;:&quot;text&quot;}"/>
          <p:cNvSpPr txBox="1"/>
          <p:nvPr/>
        </p:nvSpPr>
        <p:spPr>
          <a:xfrm>
            <a:off x="6324600" y="3571875"/>
            <a:ext cx="2314575" cy="485775"/>
          </a:xfrm>
          <a:prstGeom prst="rect">
            <a:avLst/>
          </a:prstGeom>
        </p:spPr>
        <p:txBody>
          <a:bodyPr wrap="square" lIns="0" tIns="0" rIns="0" bIns="0">
            <a:normAutofit/>
          </a:bodyPr>
          <a:p>
            <a:pPr>
              <a:lnSpc>
                <a:spcPct val="155000"/>
              </a:lnSpc>
            </a:pPr>
            <a:r>
              <a:rPr lang="zh-CN" sz="1015">
                <a:solidFill>
                  <a:srgbClr val="94A3B8"/>
                </a:solidFill>
                <a:latin typeface="微软雅黑" panose="020B0503020204020204" charset="-122"/>
                <a:ea typeface="微软雅黑" panose="020B0503020204020204" charset="-122"/>
              </a:rPr>
              <a:t>赋予调配资源、组织团队、推进活动的权力</a:t>
            </a:r>
            <a:endParaRPr lang="zh-CN" sz="1015">
              <a:solidFill>
                <a:srgbClr val="94A3B8"/>
              </a:solidFill>
              <a:latin typeface="微软雅黑" panose="020B0503020204020204" charset="-122"/>
              <a:ea typeface="微软雅黑" panose="020B0503020204020204" charset="-122"/>
            </a:endParaRPr>
          </a:p>
        </p:txBody>
      </p:sp>
      <p:sp>
        <p:nvSpPr>
          <p:cNvPr id="224" name="圆角矩形 223"/>
          <p:cNvSpPr/>
          <p:nvPr/>
        </p:nvSpPr>
        <p:spPr>
          <a:xfrm>
            <a:off x="8924925" y="3228975"/>
            <a:ext cx="2657475" cy="981075"/>
          </a:xfrm>
          <a:prstGeom prst="roundRect">
            <a:avLst>
              <a:gd name="adj" fmla="val 9709"/>
            </a:avLst>
          </a:prstGeom>
          <a:solidFill>
            <a:srgbClr val="111B2E"/>
          </a:solidFill>
        </p:spPr>
        <p:txBody>
          <a:bodyPr/>
          <a:p/>
        </p:txBody>
      </p:sp>
      <p:sp>
        <p:nvSpPr>
          <p:cNvPr id="225" name="任意多边形 224"/>
          <p:cNvSpPr/>
          <p:nvPr/>
        </p:nvSpPr>
        <p:spPr>
          <a:xfrm>
            <a:off x="8924925" y="3228975"/>
            <a:ext cx="2657475" cy="981075"/>
          </a:xfrm>
          <a:custGeom>
            <a:avLst/>
            <a:gdLst/>
            <a:ahLst/>
            <a:cxnLst/>
            <a:pathLst>
              <a:path w="279" h="103">
                <a:moveTo>
                  <a:pt x="269" y="0"/>
                </a:moveTo>
                <a:cubicBezTo>
                  <a:pt x="274" y="0"/>
                  <a:pt x="278" y="3"/>
                  <a:pt x="279" y="8"/>
                </a:cubicBezTo>
                <a:cubicBezTo>
                  <a:pt x="278" y="5"/>
                  <a:pt x="275" y="3"/>
                  <a:pt x="272" y="3"/>
                </a:cubicBezTo>
                <a:lnTo>
                  <a:pt x="7" y="3"/>
                </a:lnTo>
                <a:cubicBezTo>
                  <a:pt x="4" y="3"/>
                  <a:pt x="1" y="5"/>
                  <a:pt x="0" y="8"/>
                </a:cubicBezTo>
                <a:cubicBezTo>
                  <a:pt x="1" y="3"/>
                  <a:pt x="5" y="0"/>
                  <a:pt x="10" y="0"/>
                </a:cubicBezTo>
                <a:lnTo>
                  <a:pt x="269" y="0"/>
                </a:lnTo>
                <a:close/>
              </a:path>
            </a:pathLst>
          </a:custGeom>
          <a:solidFill>
            <a:srgbClr val="F59E0B"/>
          </a:solidFill>
        </p:spPr>
        <p:txBody>
          <a:bodyPr/>
          <a:p/>
        </p:txBody>
      </p:sp>
      <p:sp>
        <p:nvSpPr>
          <p:cNvPr id="226" name="文本框 225" descr="{&quot;isTemplate&quot;:true,&quot;type&quot;:&quot;text&quot;}"/>
          <p:cNvSpPr txBox="1"/>
          <p:nvPr/>
        </p:nvSpPr>
        <p:spPr>
          <a:xfrm>
            <a:off x="9096375" y="3352800"/>
            <a:ext cx="2314575" cy="171450"/>
          </a:xfrm>
          <a:prstGeom prst="rect">
            <a:avLst/>
          </a:prstGeom>
        </p:spPr>
        <p:txBody>
          <a:bodyPr wrap="none" lIns="0" tIns="0" rIns="0" bIns="0"/>
          <a:p>
            <a:pPr>
              <a:lnSpc>
                <a:spcPct val="100000"/>
              </a:lnSpc>
            </a:pPr>
            <a:r>
              <a:rPr lang="zh-CN" sz="1125" b="1">
                <a:solidFill>
                  <a:srgbClr val="FBBF24"/>
                </a:solidFill>
                <a:latin typeface="微软雅黑" panose="020B0503020204020204" charset="-122"/>
                <a:ea typeface="微软雅黑" panose="020B0503020204020204" charset="-122"/>
              </a:rPr>
              <a:t>高层背书支持</a:t>
            </a:r>
            <a:endParaRPr lang="zh-CN" sz="1125" b="1">
              <a:solidFill>
                <a:srgbClr val="FBBF24"/>
              </a:solidFill>
              <a:latin typeface="微软雅黑" panose="020B0503020204020204" charset="-122"/>
              <a:ea typeface="微软雅黑" panose="020B0503020204020204" charset="-122"/>
            </a:endParaRPr>
          </a:p>
        </p:txBody>
      </p:sp>
      <p:sp>
        <p:nvSpPr>
          <p:cNvPr id="227" name="文本框 226" descr="{&quot;isTemplate&quot;:true,&quot;type&quot;:&quot;text&quot;}"/>
          <p:cNvSpPr txBox="1"/>
          <p:nvPr/>
        </p:nvSpPr>
        <p:spPr>
          <a:xfrm>
            <a:off x="9096375" y="3571875"/>
            <a:ext cx="2314575" cy="485775"/>
          </a:xfrm>
          <a:prstGeom prst="rect">
            <a:avLst/>
          </a:prstGeom>
        </p:spPr>
        <p:txBody>
          <a:bodyPr wrap="square" lIns="0" tIns="0" rIns="0" bIns="0">
            <a:normAutofit/>
          </a:bodyPr>
          <a:p>
            <a:pPr>
              <a:lnSpc>
                <a:spcPct val="155000"/>
              </a:lnSpc>
            </a:pPr>
            <a:r>
              <a:rPr lang="zh-CN" sz="1015">
                <a:solidFill>
                  <a:srgbClr val="94A3B8"/>
                </a:solidFill>
                <a:latin typeface="微软雅黑" panose="020B0503020204020204" charset="-122"/>
                <a:ea typeface="微软雅黑" panose="020B0503020204020204" charset="-122"/>
              </a:rPr>
              <a:t>由高级管理层签署，为项目争取资源与支持</a:t>
            </a:r>
            <a:endParaRPr lang="zh-CN" sz="1015">
              <a:solidFill>
                <a:srgbClr val="94A3B8"/>
              </a:solidFill>
              <a:latin typeface="微软雅黑" panose="020B0503020204020204" charset="-122"/>
              <a:ea typeface="微软雅黑" panose="020B0503020204020204" charset="-122"/>
            </a:endParaRPr>
          </a:p>
        </p:txBody>
      </p:sp>
      <p:sp>
        <p:nvSpPr>
          <p:cNvPr id="228" name="圆角矩形 227"/>
          <p:cNvSpPr/>
          <p:nvPr/>
        </p:nvSpPr>
        <p:spPr>
          <a:xfrm>
            <a:off x="609600" y="4314825"/>
            <a:ext cx="5419725" cy="723900"/>
          </a:xfrm>
          <a:prstGeom prst="roundRect">
            <a:avLst>
              <a:gd name="adj" fmla="val 13158"/>
            </a:avLst>
          </a:prstGeom>
          <a:solidFill>
            <a:srgbClr val="22D3EE">
              <a:alpha val="6000"/>
            </a:srgbClr>
          </a:solidFill>
          <a:ln w="12700">
            <a:solidFill>
              <a:srgbClr val="22D3EE">
                <a:alpha val="30000"/>
              </a:srgbClr>
            </a:solidFill>
            <a:prstDash val="solid"/>
          </a:ln>
        </p:spPr>
        <p:txBody>
          <a:bodyPr/>
          <a:p/>
        </p:txBody>
      </p:sp>
      <p:sp>
        <p:nvSpPr>
          <p:cNvPr id="229" name="文本框 228" descr="{&quot;isTemplate&quot;:true,&quot;type&quot;:&quot;text&quot;}"/>
          <p:cNvSpPr txBox="1"/>
          <p:nvPr/>
        </p:nvSpPr>
        <p:spPr>
          <a:xfrm>
            <a:off x="800100" y="4438650"/>
            <a:ext cx="5038725" cy="171450"/>
          </a:xfrm>
          <a:prstGeom prst="rect">
            <a:avLst/>
          </a:prstGeom>
        </p:spPr>
        <p:txBody>
          <a:bodyPr wrap="none" lIns="0" tIns="0" rIns="0" bIns="0"/>
          <a:p>
            <a:pPr>
              <a:lnSpc>
                <a:spcPct val="100000"/>
              </a:lnSpc>
            </a:pPr>
            <a:r>
              <a:rPr lang="zh-CN" sz="1125" b="1">
                <a:solidFill>
                  <a:srgbClr val="67E8F9"/>
                </a:solidFill>
                <a:latin typeface="微软雅黑" panose="020B0503020204020204" charset="-122"/>
                <a:ea typeface="微软雅黑" panose="020B0503020204020204" charset="-122"/>
              </a:rPr>
              <a:t>项目章程</a:t>
            </a:r>
            <a:endParaRPr lang="zh-CN" sz="1125" b="1">
              <a:solidFill>
                <a:srgbClr val="67E8F9"/>
              </a:solidFill>
              <a:latin typeface="微软雅黑" panose="020B0503020204020204" charset="-122"/>
              <a:ea typeface="微软雅黑" panose="020B0503020204020204" charset="-122"/>
            </a:endParaRPr>
          </a:p>
        </p:txBody>
      </p:sp>
      <p:sp>
        <p:nvSpPr>
          <p:cNvPr id="230" name="文本框 229" descr="{&quot;isTemplate&quot;:true,&quot;type&quot;:&quot;text&quot;}"/>
          <p:cNvSpPr txBox="1"/>
          <p:nvPr/>
        </p:nvSpPr>
        <p:spPr>
          <a:xfrm>
            <a:off x="800100" y="4667250"/>
            <a:ext cx="5038725" cy="247650"/>
          </a:xfrm>
          <a:prstGeom prst="rect">
            <a:avLst/>
          </a:prstGeom>
        </p:spPr>
        <p:txBody>
          <a:bodyPr wrap="none" lIns="0" tIns="0" rIns="0" bIns="0"/>
          <a:p>
            <a:pPr>
              <a:lnSpc>
                <a:spcPct val="160000"/>
              </a:lnSpc>
            </a:pPr>
            <a:r>
              <a:rPr lang="zh-CN" sz="1015">
                <a:solidFill>
                  <a:srgbClr val="94A3B8"/>
                </a:solidFill>
                <a:latin typeface="微软雅黑" panose="020B0503020204020204" charset="-122"/>
                <a:ea typeface="微软雅黑" panose="020B0503020204020204" charset="-122"/>
              </a:rPr>
              <a:t>回答「为什么做、做什么、谁负责」，高层视角，讲目标与授权，批准后相对稳定</a:t>
            </a:r>
            <a:endParaRPr lang="zh-CN" sz="1015">
              <a:solidFill>
                <a:srgbClr val="94A3B8"/>
              </a:solidFill>
              <a:latin typeface="微软雅黑" panose="020B0503020204020204" charset="-122"/>
              <a:ea typeface="微软雅黑" panose="020B0503020204020204" charset="-122"/>
            </a:endParaRPr>
          </a:p>
        </p:txBody>
      </p:sp>
      <p:sp>
        <p:nvSpPr>
          <p:cNvPr id="231" name="圆角矩形 230"/>
          <p:cNvSpPr/>
          <p:nvPr/>
        </p:nvSpPr>
        <p:spPr>
          <a:xfrm>
            <a:off x="6162675" y="4314825"/>
            <a:ext cx="5419725" cy="723900"/>
          </a:xfrm>
          <a:prstGeom prst="roundRect">
            <a:avLst>
              <a:gd name="adj" fmla="val 13158"/>
            </a:avLst>
          </a:prstGeom>
          <a:solidFill>
            <a:srgbClr val="8B5CF6">
              <a:alpha val="6000"/>
            </a:srgbClr>
          </a:solidFill>
          <a:ln w="12700">
            <a:solidFill>
              <a:srgbClr val="8B5CF6">
                <a:alpha val="30000"/>
              </a:srgbClr>
            </a:solidFill>
            <a:prstDash val="solid"/>
          </a:ln>
        </p:spPr>
        <p:txBody>
          <a:bodyPr/>
          <a:p/>
        </p:txBody>
      </p:sp>
      <p:sp>
        <p:nvSpPr>
          <p:cNvPr id="232" name="文本框 231" descr="{&quot;isTemplate&quot;:true,&quot;type&quot;:&quot;text&quot;}"/>
          <p:cNvSpPr txBox="1"/>
          <p:nvPr/>
        </p:nvSpPr>
        <p:spPr>
          <a:xfrm>
            <a:off x="6353175" y="4438650"/>
            <a:ext cx="5038725" cy="171450"/>
          </a:xfrm>
          <a:prstGeom prst="rect">
            <a:avLst/>
          </a:prstGeom>
        </p:spPr>
        <p:txBody>
          <a:bodyPr wrap="none" lIns="0" tIns="0" rIns="0" bIns="0"/>
          <a:p>
            <a:pPr>
              <a:lnSpc>
                <a:spcPct val="100000"/>
              </a:lnSpc>
            </a:pPr>
            <a:r>
              <a:rPr lang="zh-CN" sz="1125" b="1">
                <a:solidFill>
                  <a:srgbClr val="C4B5FD"/>
                </a:solidFill>
                <a:latin typeface="微软雅黑" panose="020B0503020204020204" charset="-122"/>
                <a:ea typeface="微软雅黑" panose="020B0503020204020204" charset="-122"/>
              </a:rPr>
              <a:t>项目计划</a:t>
            </a:r>
            <a:endParaRPr lang="zh-CN" sz="1125" b="1">
              <a:solidFill>
                <a:srgbClr val="C4B5FD"/>
              </a:solidFill>
              <a:latin typeface="微软雅黑" panose="020B0503020204020204" charset="-122"/>
              <a:ea typeface="微软雅黑" panose="020B0503020204020204" charset="-122"/>
            </a:endParaRPr>
          </a:p>
        </p:txBody>
      </p:sp>
      <p:sp>
        <p:nvSpPr>
          <p:cNvPr id="233" name="文本框 232" descr="{&quot;isTemplate&quot;:true,&quot;type&quot;:&quot;text&quot;}"/>
          <p:cNvSpPr txBox="1"/>
          <p:nvPr/>
        </p:nvSpPr>
        <p:spPr>
          <a:xfrm>
            <a:off x="6353175" y="4667250"/>
            <a:ext cx="5038725" cy="247650"/>
          </a:xfrm>
          <a:prstGeom prst="rect">
            <a:avLst/>
          </a:prstGeom>
        </p:spPr>
        <p:txBody>
          <a:bodyPr wrap="none" lIns="0" tIns="0" rIns="0" bIns="0"/>
          <a:p>
            <a:pPr>
              <a:lnSpc>
                <a:spcPct val="160000"/>
              </a:lnSpc>
            </a:pPr>
            <a:r>
              <a:rPr lang="zh-CN" sz="1015">
                <a:solidFill>
                  <a:srgbClr val="94A3B8"/>
                </a:solidFill>
                <a:latin typeface="微软雅黑" panose="020B0503020204020204" charset="-122"/>
                <a:ea typeface="微软雅黑" panose="020B0503020204020204" charset="-122"/>
              </a:rPr>
              <a:t>回答「怎么做、何时做、花多少」，执行视角，讲任务与进度，随过程滚动细化调整</a:t>
            </a:r>
            <a:endParaRPr lang="zh-CN" sz="1015">
              <a:solidFill>
                <a:srgbClr val="94A3B8"/>
              </a:solidFill>
              <a:latin typeface="微软雅黑" panose="020B0503020204020204" charset="-122"/>
              <a:ea typeface="微软雅黑" panose="020B0503020204020204" charset="-122"/>
            </a:endParaRPr>
          </a:p>
        </p:txBody>
      </p:sp>
      <p:sp>
        <p:nvSpPr>
          <p:cNvPr id="234" name="文本框 233" descr="{&quot;isTemplate&quot;:true,&quot;type&quot;:&quot;text&quot;}"/>
          <p:cNvSpPr txBox="1"/>
          <p:nvPr/>
        </p:nvSpPr>
        <p:spPr>
          <a:xfrm>
            <a:off x="609600" y="6400800"/>
            <a:ext cx="7334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02 </a:t>
            </a:r>
            <a:r>
              <a:rPr lang="zh-CN" sz="1050">
                <a:solidFill>
                  <a:srgbClr val="94A3B8"/>
                </a:solidFill>
                <a:latin typeface="微软雅黑" panose="020B0503020204020204" charset="-122"/>
                <a:ea typeface="微软雅黑" panose="020B0503020204020204" charset="-122"/>
              </a:rPr>
              <a:t>项目章程</a:t>
            </a:r>
            <a:endParaRPr lang="zh-CN" sz="1050">
              <a:solidFill>
                <a:srgbClr val="94A3B8"/>
              </a:solidFill>
              <a:latin typeface="微软雅黑" panose="020B0503020204020204" charset="-122"/>
              <a:ea typeface="微软雅黑" panose="020B0503020204020204" charset="-122"/>
            </a:endParaRPr>
          </a:p>
        </p:txBody>
      </p:sp>
      <p:sp>
        <p:nvSpPr>
          <p:cNvPr id="235" name="文本框 234"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18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36" name="" descr="&lt;Slide style={{ width: 1280, height: 720, background: '#0B1220', padding: '20px 64px', display: 'flex', flexDirection: 'column' }}&gt;&#10;    &lt;Box style={{ flexDirection: 'row', height: 96, alignItems: 'center' }}&gt;&#10;        &lt;Box style={{ width: 6, height: 44, background: 'linear-gradient(180deg, #22D3EE 0%, #3B82F6 100%)', borderRadius: 3, marginRight: 20 }} /&gt;&#10;        &lt;Text style={{ fontSize: 34, fontWeight: 'bold', color: '#E2E8F0' }}&gt;项目章程的关键要素&lt;/Text&gt;&#10;        &lt;Text style={{ fontSize: 15, color: '#94A3B8', marginLeft: 18 }}&gt;七大核心要素 · 逐项落地&lt;/Text&gt;&#10;    &lt;/Box&gt;&#10;    &lt;Box style={{ flex: 1, flexDirection: 'row', flexWrap: 'wrap', gap: 14, alignContent: 'center' }}&gt;&#10;        &lt;Box style={{ width: 365, background: '#111B2E', borderRadius: 12, padding: '16px 20px', borderLeft: '4px solid #22D3EE' }}&gt;&#10;            &lt;Text style={{ fontSize: 16, fontWeight: 'bold', color: '#67E8F9', marginBottom: 5 }}&gt;① 项目背景&lt;/Text&gt;&#10;            &lt;Text style={{ fontSize: 13.5, color: '#94A3B8', lineHeight: 1.55 }}&gt;为什么要做这个项目，解决什么问题，机会与必要性&lt;/Text&gt;&#10;        &lt;/Box&gt;&#10;        &lt;Box style={{ width: 365, background: '#111B2E', borderRadius: 12, padding: '16px 20px', borderLeft: '4px solid #3B82F6' }}&gt;&#10;            &lt;Text style={{ fontSize: 16, fontWeight: 'bold', color: '#93C5FD', marginBottom: 5 }}&gt;② 项目目标&lt;/Text&gt;&#10;            &lt;Text style={{ fontSize: 13.5, color: '#94A3B8', lineHeight: 1.55 }}&gt;做到什么程度，可衡量的成功标准与预期成果&lt;/Text&gt;&#10;        &lt;/Box&gt;&#10;        &lt;Box style={{ width: 365, background: '#111B2E', borderRadius: 12, padding: '16px 20px', borderLeft: '4px solid #8B5CF6' }}&gt;&#10;            &lt;Text style={{ fontSize: 16, fontWeight: 'bold', color: '#C4B5FD', marginBottom: 5 }}&gt;③ 项目范围&lt;/Text&gt;&#10;            &lt;Text style={{ fontSize: 13.5, color: '#94A3B8', lineHeight: 1.55 }}&gt;做什么、不做什么，界定边界与主要交付物&lt;/Text&gt;&#10;        &lt;/Box&gt;&#10;        &lt;Box style={{ width: 365, background: '#111B2E', borderRadius: 12, padding: '16px 20px', borderLeft: '4px solid #F59E0B' }}&gt;&#10;            &lt;Text style={{ fontSize: 16, fontWeight: 'bold', color: '#FBBF24', marginBottom: 5 }}&gt;④ 干系人&lt;/Text&gt;&#10;            &lt;Text style={{ fontSize: 13.5, color: '#94A3B8', lineHeight: 1.55 }}&gt;谁参与、谁受影响，利益相关方与各自职责&lt;/Text&gt;&#10;        &lt;/Box&gt;&#10;        &lt;Box style={{ width: 365, background: '#111B2E', borderRadius: 12, padding: '16px 20px', borderLeft: '4px solid #34D399' }}&gt;&#10;            &lt;Text style={{ fontSize: 16, fontWeight: 'bold', color: '#6EE7B7', marginBottom: 5 }}&gt;⑤ 约束与假设&lt;/Text&gt;&#10;            &lt;Text style={{ fontSize: 13.5, color: '#94A3B8', lineHeight: 1.55 }}&gt;时间 / 成本 / 质量 / 资源等限制条件与前提假设&lt;/Text&gt;&#10;        &lt;/Box&gt;&#10;        &lt;Box style={{ width: 365, background: '#111B2E', borderRadius: 12, padding: '16px 20px', borderLeft: '4px solid #F472B6' }}&gt;&#10;            &lt;Text style={{ fontSize: 16, fontWeight: 'bold', color: '#F9A8D4', marginBottom: 5 }}&gt;⑥ 里程碑&lt;/Text&gt;&#10;            &lt;Text style={{ fontSize: 13.5, color: '#94A3B8', lineHeight: 1.55 }}&gt;关键节点的阶段性时间表与交付验收点&lt;/Text&gt;&#10;        &lt;/Box&gt;&#10;        &lt;Box style={{ width: 365, background: '#111B2E', borderRadius: 12, padding: '16px 20px', borderLeft: '4px solid #E2E8F0' }}&gt;&#10;            &lt;Text style={{ fontSize: 16, fontWeight: 'bold', color: '#E2E8F0', marginBottom: 5 }}&gt;⑦ 审批与授权&lt;/Text&gt;&#10;            &lt;Text style={{ fontSize: 13.5, color: '#94A3B8', lineHeight: 1.55 }}&gt;谁批准立项，项目经理的授权范围与决策权限&lt;/Text&gt;&#10;        &lt;/Box&gt;&#10;    &lt;/Box&gt;&#10;    &lt;Box style={{ height: 40, flexDirection: 'row', justifyContent: 'space-between', alignItems: 'center', marginTop: 14 }}&gt;&#10;        &lt;Text style={{ fontSize: 14, color: '#94A3B8' }}&gt;02 项目章程&lt;/Text&gt;&#10;        &lt;Text style={{ fontSize: 14, color: '#94A3B8' }}&gt;19 / 47&lt;/Text&gt;&#10;    &lt;/Box&gt;&#10;&lt;/Slide&gt;&#10;"/>
        <p:cNvGrpSpPr/>
        <p:nvPr/>
      </p:nvGrpSpPr>
      <p:grpSpPr>
        <a:xfrm>
          <a:off x="0" y="0"/>
          <a:ext cx="0" cy="0"/>
          <a:chOff x="0" y="0"/>
          <a:chExt cx="0" cy="0"/>
        </a:xfrm>
      </p:grpSpPr>
      <p:sp>
        <p:nvSpPr>
          <p:cNvPr id="237" name="矩形 236"/>
          <p:cNvSpPr/>
          <p:nvPr/>
        </p:nvSpPr>
        <p:spPr>
          <a:xfrm>
            <a:off x="0" y="0"/>
            <a:ext cx="12192000" cy="6858000"/>
          </a:xfrm>
          <a:prstGeom prst="rect">
            <a:avLst/>
          </a:prstGeom>
          <a:solidFill>
            <a:srgbClr val="0B1220"/>
          </a:solidFill>
        </p:spPr>
        <p:txBody>
          <a:bodyPr/>
          <a:p/>
        </p:txBody>
      </p:sp>
      <p:sp>
        <p:nvSpPr>
          <p:cNvPr id="238" name="圆角矩形 237"/>
          <p:cNvSpPr/>
          <p:nvPr/>
        </p:nvSpPr>
        <p:spPr>
          <a:xfrm>
            <a:off x="609600" y="438150"/>
            <a:ext cx="57150" cy="419100"/>
          </a:xfrm>
          <a:prstGeom prst="roundRect">
            <a:avLst>
              <a:gd name="adj" fmla="val 50000"/>
            </a:avLst>
          </a:prstGeom>
          <a:gradFill>
            <a:gsLst>
              <a:gs pos="0">
                <a:srgbClr val="22D3EE"/>
              </a:gs>
              <a:gs pos="100000">
                <a:srgbClr val="3B82F6"/>
              </a:gs>
            </a:gsLst>
            <a:lin ang="5400000" scaled="1"/>
          </a:gradFill>
        </p:spPr>
        <p:txBody>
          <a:bodyPr/>
          <a:p/>
        </p:txBody>
      </p:sp>
      <p:sp>
        <p:nvSpPr>
          <p:cNvPr id="239" name="文本框 238" descr="{&quot;isTemplate&quot;:true,&quot;type&quot;:&quot;text&quot;}"/>
          <p:cNvSpPr txBox="1"/>
          <p:nvPr/>
        </p:nvSpPr>
        <p:spPr>
          <a:xfrm>
            <a:off x="857250" y="457200"/>
            <a:ext cx="291465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项目章程的关键要素</a:t>
            </a:r>
            <a:endParaRPr lang="zh-CN" sz="2550" b="1">
              <a:solidFill>
                <a:srgbClr val="E2E8F0"/>
              </a:solidFill>
              <a:latin typeface="微软雅黑" panose="020B0503020204020204" charset="-122"/>
              <a:ea typeface="微软雅黑" panose="020B0503020204020204" charset="-122"/>
            </a:endParaRPr>
          </a:p>
        </p:txBody>
      </p:sp>
      <p:sp>
        <p:nvSpPr>
          <p:cNvPr id="240" name="文本框 239" descr="{&quot;isTemplate&quot;:true,&quot;type&quot;:&quot;text&quot;}"/>
          <p:cNvSpPr txBox="1"/>
          <p:nvPr/>
        </p:nvSpPr>
        <p:spPr>
          <a:xfrm>
            <a:off x="3943350" y="561975"/>
            <a:ext cx="1552575" cy="171450"/>
          </a:xfrm>
          <a:prstGeom prst="rect">
            <a:avLst/>
          </a:prstGeom>
        </p:spPr>
        <p:txBody>
          <a:bodyPr wrap="none" lIns="0" tIns="0" rIns="0" bIns="0"/>
          <a:p>
            <a:pPr>
              <a:lnSpc>
                <a:spcPct val="100000"/>
              </a:lnSpc>
            </a:pPr>
            <a:r>
              <a:rPr lang="zh-CN" sz="1125">
                <a:solidFill>
                  <a:srgbClr val="94A3B8"/>
                </a:solidFill>
                <a:latin typeface="微软雅黑" panose="020B0503020204020204" charset="-122"/>
                <a:ea typeface="微软雅黑" panose="020B0503020204020204" charset="-122"/>
              </a:rPr>
              <a:t>七大核心要素</a:t>
            </a:r>
            <a:r>
              <a:rPr lang="en-US" sz="1125">
                <a:solidFill>
                  <a:srgbClr val="94A3B8"/>
                </a:solidFill>
                <a:latin typeface="微软雅黑" panose="020B0503020204020204" charset="-122"/>
                <a:ea typeface="微软雅黑" panose="020B0503020204020204" charset="-122"/>
              </a:rPr>
              <a:t> · </a:t>
            </a:r>
            <a:r>
              <a:rPr lang="zh-CN" sz="1125">
                <a:solidFill>
                  <a:srgbClr val="94A3B8"/>
                </a:solidFill>
                <a:latin typeface="微软雅黑" panose="020B0503020204020204" charset="-122"/>
                <a:ea typeface="微软雅黑" panose="020B0503020204020204" charset="-122"/>
              </a:rPr>
              <a:t>逐项落地</a:t>
            </a:r>
            <a:endParaRPr lang="zh-CN" sz="1125">
              <a:solidFill>
                <a:srgbClr val="94A3B8"/>
              </a:solidFill>
              <a:latin typeface="微软雅黑" panose="020B0503020204020204" charset="-122"/>
              <a:ea typeface="微软雅黑" panose="020B0503020204020204" charset="-122"/>
            </a:endParaRPr>
          </a:p>
        </p:txBody>
      </p:sp>
      <p:sp>
        <p:nvSpPr>
          <p:cNvPr id="241" name="圆角矩形 240"/>
          <p:cNvSpPr/>
          <p:nvPr/>
        </p:nvSpPr>
        <p:spPr>
          <a:xfrm>
            <a:off x="647700" y="1104900"/>
            <a:ext cx="3438525" cy="1590675"/>
          </a:xfrm>
          <a:prstGeom prst="roundRect">
            <a:avLst>
              <a:gd name="adj" fmla="val 7186"/>
            </a:avLst>
          </a:prstGeom>
          <a:solidFill>
            <a:srgbClr val="111B2E"/>
          </a:solidFill>
        </p:spPr>
        <p:txBody>
          <a:bodyPr/>
          <a:p/>
        </p:txBody>
      </p:sp>
      <p:sp>
        <p:nvSpPr>
          <p:cNvPr id="242" name="任意多边形 241"/>
          <p:cNvSpPr/>
          <p:nvPr/>
        </p:nvSpPr>
        <p:spPr>
          <a:xfrm>
            <a:off x="647700" y="1104900"/>
            <a:ext cx="3438525" cy="1590675"/>
          </a:xfrm>
          <a:custGeom>
            <a:avLst/>
            <a:gdLst/>
            <a:ahLst/>
            <a:cxnLst/>
            <a:pathLst>
              <a:path w="361" h="167">
                <a:moveTo>
                  <a:pt x="11" y="0"/>
                </a:moveTo>
                <a:cubicBezTo>
                  <a:pt x="7" y="0"/>
                  <a:pt x="4" y="4"/>
                  <a:pt x="4" y="8"/>
                </a:cubicBezTo>
                <a:lnTo>
                  <a:pt x="4" y="159"/>
                </a:lnTo>
                <a:cubicBezTo>
                  <a:pt x="4" y="163"/>
                  <a:pt x="7" y="166"/>
                  <a:pt x="10" y="167"/>
                </a:cubicBezTo>
                <a:cubicBezTo>
                  <a:pt x="4" y="166"/>
                  <a:pt x="0" y="161"/>
                  <a:pt x="0" y="155"/>
                </a:cubicBezTo>
                <a:lnTo>
                  <a:pt x="0" y="12"/>
                </a:lnTo>
                <a:cubicBezTo>
                  <a:pt x="0" y="6"/>
                  <a:pt x="5" y="0"/>
                  <a:pt x="12" y="0"/>
                </a:cubicBezTo>
                <a:close/>
              </a:path>
            </a:pathLst>
          </a:custGeom>
          <a:solidFill>
            <a:srgbClr val="22D3EE"/>
          </a:solidFill>
        </p:spPr>
        <p:txBody>
          <a:bodyPr/>
          <a:p/>
        </p:txBody>
      </p:sp>
      <p:sp>
        <p:nvSpPr>
          <p:cNvPr id="243" name="文本框 242" descr="{&quot;isTemplate&quot;:true,&quot;type&quot;:&quot;text&quot;}"/>
          <p:cNvSpPr txBox="1"/>
          <p:nvPr/>
        </p:nvSpPr>
        <p:spPr>
          <a:xfrm>
            <a:off x="838200" y="1257300"/>
            <a:ext cx="3057525" cy="190500"/>
          </a:xfrm>
          <a:prstGeom prst="rect">
            <a:avLst/>
          </a:prstGeom>
        </p:spPr>
        <p:txBody>
          <a:bodyPr wrap="none" lIns="0" tIns="0" rIns="0" bIns="0"/>
          <a:p>
            <a:pPr>
              <a:lnSpc>
                <a:spcPct val="100000"/>
              </a:lnSpc>
            </a:pPr>
            <a:r>
              <a:rPr lang="en-US" sz="1200" b="1">
                <a:solidFill>
                  <a:srgbClr val="67E8F9"/>
                </a:solidFill>
                <a:latin typeface="微软雅黑" panose="020B0503020204020204" charset="-122"/>
                <a:ea typeface="微软雅黑" panose="020B0503020204020204" charset="-122"/>
              </a:rPr>
              <a:t>① </a:t>
            </a:r>
            <a:r>
              <a:rPr lang="zh-CN" sz="1200" b="1">
                <a:solidFill>
                  <a:srgbClr val="67E8F9"/>
                </a:solidFill>
                <a:latin typeface="微软雅黑" panose="020B0503020204020204" charset="-122"/>
                <a:ea typeface="微软雅黑" panose="020B0503020204020204" charset="-122"/>
              </a:rPr>
              <a:t>项目背景</a:t>
            </a:r>
            <a:endParaRPr lang="zh-CN" sz="1200" b="1">
              <a:solidFill>
                <a:srgbClr val="67E8F9"/>
              </a:solidFill>
              <a:latin typeface="微软雅黑" panose="020B0503020204020204" charset="-122"/>
              <a:ea typeface="微软雅黑" panose="020B0503020204020204" charset="-122"/>
            </a:endParaRPr>
          </a:p>
        </p:txBody>
      </p:sp>
      <p:sp>
        <p:nvSpPr>
          <p:cNvPr id="244" name="文本框 243" descr="{&quot;isTemplate&quot;:true,&quot;type&quot;:&quot;text&quot;}"/>
          <p:cNvSpPr txBox="1"/>
          <p:nvPr/>
        </p:nvSpPr>
        <p:spPr>
          <a:xfrm>
            <a:off x="838200" y="1495425"/>
            <a:ext cx="3057525" cy="247650"/>
          </a:xfrm>
          <a:prstGeom prst="rect">
            <a:avLst/>
          </a:prstGeom>
        </p:spPr>
        <p:txBody>
          <a:bodyPr wrap="none" lIns="0" tIns="0" rIns="0" bIns="0"/>
          <a:p>
            <a:pPr>
              <a:lnSpc>
                <a:spcPct val="155000"/>
              </a:lnSpc>
            </a:pPr>
            <a:r>
              <a:rPr lang="zh-CN" sz="1015">
                <a:solidFill>
                  <a:srgbClr val="94A3B8"/>
                </a:solidFill>
                <a:latin typeface="微软雅黑" panose="020B0503020204020204" charset="-122"/>
                <a:ea typeface="微软雅黑" panose="020B0503020204020204" charset="-122"/>
              </a:rPr>
              <a:t>为什么要做这个项目，解决什么问题，机会与必要性</a:t>
            </a:r>
            <a:endParaRPr lang="zh-CN" sz="1015">
              <a:solidFill>
                <a:srgbClr val="94A3B8"/>
              </a:solidFill>
              <a:latin typeface="微软雅黑" panose="020B0503020204020204" charset="-122"/>
              <a:ea typeface="微软雅黑" panose="020B0503020204020204" charset="-122"/>
            </a:endParaRPr>
          </a:p>
        </p:txBody>
      </p:sp>
      <p:sp>
        <p:nvSpPr>
          <p:cNvPr id="245" name="圆角矩形 244"/>
          <p:cNvSpPr/>
          <p:nvPr/>
        </p:nvSpPr>
        <p:spPr>
          <a:xfrm>
            <a:off x="4257675" y="1104900"/>
            <a:ext cx="3438525" cy="1590675"/>
          </a:xfrm>
          <a:prstGeom prst="roundRect">
            <a:avLst>
              <a:gd name="adj" fmla="val 7186"/>
            </a:avLst>
          </a:prstGeom>
          <a:solidFill>
            <a:srgbClr val="111B2E"/>
          </a:solidFill>
        </p:spPr>
        <p:txBody>
          <a:bodyPr/>
          <a:p/>
        </p:txBody>
      </p:sp>
      <p:sp>
        <p:nvSpPr>
          <p:cNvPr id="246" name="任意多边形 245"/>
          <p:cNvSpPr/>
          <p:nvPr/>
        </p:nvSpPr>
        <p:spPr>
          <a:xfrm>
            <a:off x="4257675" y="1104900"/>
            <a:ext cx="3438525" cy="1590675"/>
          </a:xfrm>
          <a:custGeom>
            <a:avLst/>
            <a:gdLst/>
            <a:ahLst/>
            <a:cxnLst/>
            <a:pathLst>
              <a:path w="361" h="167">
                <a:moveTo>
                  <a:pt x="11" y="0"/>
                </a:moveTo>
                <a:cubicBezTo>
                  <a:pt x="7" y="0"/>
                  <a:pt x="4" y="4"/>
                  <a:pt x="4" y="8"/>
                </a:cubicBezTo>
                <a:lnTo>
                  <a:pt x="4" y="159"/>
                </a:lnTo>
                <a:cubicBezTo>
                  <a:pt x="4" y="163"/>
                  <a:pt x="7" y="166"/>
                  <a:pt x="10" y="167"/>
                </a:cubicBezTo>
                <a:cubicBezTo>
                  <a:pt x="4" y="166"/>
                  <a:pt x="0" y="161"/>
                  <a:pt x="0" y="155"/>
                </a:cubicBezTo>
                <a:lnTo>
                  <a:pt x="0" y="12"/>
                </a:lnTo>
                <a:cubicBezTo>
                  <a:pt x="0" y="6"/>
                  <a:pt x="5" y="0"/>
                  <a:pt x="12" y="0"/>
                </a:cubicBezTo>
                <a:close/>
              </a:path>
            </a:pathLst>
          </a:custGeom>
          <a:solidFill>
            <a:srgbClr val="3B82F6"/>
          </a:solidFill>
        </p:spPr>
        <p:txBody>
          <a:bodyPr/>
          <a:p/>
        </p:txBody>
      </p:sp>
      <p:sp>
        <p:nvSpPr>
          <p:cNvPr id="247" name="文本框 246" descr="{&quot;isTemplate&quot;:true,&quot;type&quot;:&quot;text&quot;}"/>
          <p:cNvSpPr txBox="1"/>
          <p:nvPr/>
        </p:nvSpPr>
        <p:spPr>
          <a:xfrm>
            <a:off x="4448175" y="1257300"/>
            <a:ext cx="3057525" cy="190500"/>
          </a:xfrm>
          <a:prstGeom prst="rect">
            <a:avLst/>
          </a:prstGeom>
        </p:spPr>
        <p:txBody>
          <a:bodyPr wrap="none" lIns="0" tIns="0" rIns="0" bIns="0"/>
          <a:p>
            <a:pPr>
              <a:lnSpc>
                <a:spcPct val="100000"/>
              </a:lnSpc>
            </a:pPr>
            <a:r>
              <a:rPr lang="en-US" sz="1200" b="1">
                <a:solidFill>
                  <a:srgbClr val="93C5FD"/>
                </a:solidFill>
                <a:latin typeface="微软雅黑" panose="020B0503020204020204" charset="-122"/>
                <a:ea typeface="微软雅黑" panose="020B0503020204020204" charset="-122"/>
              </a:rPr>
              <a:t>② </a:t>
            </a:r>
            <a:r>
              <a:rPr lang="zh-CN" sz="1200" b="1">
                <a:solidFill>
                  <a:srgbClr val="93C5FD"/>
                </a:solidFill>
                <a:latin typeface="微软雅黑" panose="020B0503020204020204" charset="-122"/>
                <a:ea typeface="微软雅黑" panose="020B0503020204020204" charset="-122"/>
              </a:rPr>
              <a:t>项目目标</a:t>
            </a:r>
            <a:endParaRPr lang="zh-CN" sz="1200" b="1">
              <a:solidFill>
                <a:srgbClr val="93C5FD"/>
              </a:solidFill>
              <a:latin typeface="微软雅黑" panose="020B0503020204020204" charset="-122"/>
              <a:ea typeface="微软雅黑" panose="020B0503020204020204" charset="-122"/>
            </a:endParaRPr>
          </a:p>
        </p:txBody>
      </p:sp>
      <p:sp>
        <p:nvSpPr>
          <p:cNvPr id="248" name="文本框 247" descr="{&quot;isTemplate&quot;:true,&quot;type&quot;:&quot;text&quot;}"/>
          <p:cNvSpPr txBox="1"/>
          <p:nvPr/>
        </p:nvSpPr>
        <p:spPr>
          <a:xfrm>
            <a:off x="4448175" y="1495425"/>
            <a:ext cx="3057525" cy="247650"/>
          </a:xfrm>
          <a:prstGeom prst="rect">
            <a:avLst/>
          </a:prstGeom>
        </p:spPr>
        <p:txBody>
          <a:bodyPr wrap="none" lIns="0" tIns="0" rIns="0" bIns="0"/>
          <a:p>
            <a:pPr>
              <a:lnSpc>
                <a:spcPct val="155000"/>
              </a:lnSpc>
            </a:pPr>
            <a:r>
              <a:rPr lang="zh-CN" sz="1015">
                <a:solidFill>
                  <a:srgbClr val="94A3B8"/>
                </a:solidFill>
                <a:latin typeface="微软雅黑" panose="020B0503020204020204" charset="-122"/>
                <a:ea typeface="微软雅黑" panose="020B0503020204020204" charset="-122"/>
              </a:rPr>
              <a:t>做到什么程度，可衡量的成功标准与预期成果</a:t>
            </a:r>
            <a:endParaRPr lang="zh-CN" sz="1015">
              <a:solidFill>
                <a:srgbClr val="94A3B8"/>
              </a:solidFill>
              <a:latin typeface="微软雅黑" panose="020B0503020204020204" charset="-122"/>
              <a:ea typeface="微软雅黑" panose="020B0503020204020204" charset="-122"/>
            </a:endParaRPr>
          </a:p>
        </p:txBody>
      </p:sp>
      <p:sp>
        <p:nvSpPr>
          <p:cNvPr id="249" name="圆角矩形 248"/>
          <p:cNvSpPr/>
          <p:nvPr/>
        </p:nvSpPr>
        <p:spPr>
          <a:xfrm>
            <a:off x="7867650" y="1104900"/>
            <a:ext cx="3438525" cy="1590675"/>
          </a:xfrm>
          <a:prstGeom prst="roundRect">
            <a:avLst>
              <a:gd name="adj" fmla="val 7186"/>
            </a:avLst>
          </a:prstGeom>
          <a:solidFill>
            <a:srgbClr val="111B2E"/>
          </a:solidFill>
        </p:spPr>
        <p:txBody>
          <a:bodyPr/>
          <a:p/>
        </p:txBody>
      </p:sp>
      <p:sp>
        <p:nvSpPr>
          <p:cNvPr id="250" name="任意多边形 249"/>
          <p:cNvSpPr/>
          <p:nvPr/>
        </p:nvSpPr>
        <p:spPr>
          <a:xfrm>
            <a:off x="7867650" y="1104900"/>
            <a:ext cx="3438525" cy="1590675"/>
          </a:xfrm>
          <a:custGeom>
            <a:avLst/>
            <a:gdLst/>
            <a:ahLst/>
            <a:cxnLst/>
            <a:pathLst>
              <a:path w="361" h="167">
                <a:moveTo>
                  <a:pt x="11" y="0"/>
                </a:moveTo>
                <a:cubicBezTo>
                  <a:pt x="7" y="0"/>
                  <a:pt x="4" y="4"/>
                  <a:pt x="4" y="8"/>
                </a:cubicBezTo>
                <a:lnTo>
                  <a:pt x="4" y="159"/>
                </a:lnTo>
                <a:cubicBezTo>
                  <a:pt x="4" y="163"/>
                  <a:pt x="7" y="166"/>
                  <a:pt x="10" y="167"/>
                </a:cubicBezTo>
                <a:cubicBezTo>
                  <a:pt x="4" y="166"/>
                  <a:pt x="0" y="161"/>
                  <a:pt x="0" y="155"/>
                </a:cubicBezTo>
                <a:lnTo>
                  <a:pt x="0" y="12"/>
                </a:lnTo>
                <a:cubicBezTo>
                  <a:pt x="0" y="6"/>
                  <a:pt x="5" y="0"/>
                  <a:pt x="12" y="0"/>
                </a:cubicBezTo>
                <a:close/>
              </a:path>
            </a:pathLst>
          </a:custGeom>
          <a:solidFill>
            <a:srgbClr val="8B5CF6"/>
          </a:solidFill>
        </p:spPr>
        <p:txBody>
          <a:bodyPr/>
          <a:p/>
        </p:txBody>
      </p:sp>
      <p:sp>
        <p:nvSpPr>
          <p:cNvPr id="251" name="文本框 250" descr="{&quot;isTemplate&quot;:true,&quot;type&quot;:&quot;text&quot;}"/>
          <p:cNvSpPr txBox="1"/>
          <p:nvPr/>
        </p:nvSpPr>
        <p:spPr>
          <a:xfrm>
            <a:off x="8058150" y="1257300"/>
            <a:ext cx="3057525" cy="190500"/>
          </a:xfrm>
          <a:prstGeom prst="rect">
            <a:avLst/>
          </a:prstGeom>
        </p:spPr>
        <p:txBody>
          <a:bodyPr wrap="none" lIns="0" tIns="0" rIns="0" bIns="0"/>
          <a:p>
            <a:pPr>
              <a:lnSpc>
                <a:spcPct val="100000"/>
              </a:lnSpc>
            </a:pPr>
            <a:r>
              <a:rPr lang="en-US" sz="1200" b="1">
                <a:solidFill>
                  <a:srgbClr val="C4B5FD"/>
                </a:solidFill>
                <a:latin typeface="微软雅黑" panose="020B0503020204020204" charset="-122"/>
                <a:ea typeface="微软雅黑" panose="020B0503020204020204" charset="-122"/>
              </a:rPr>
              <a:t>③ </a:t>
            </a:r>
            <a:r>
              <a:rPr lang="zh-CN" sz="1200" b="1">
                <a:solidFill>
                  <a:srgbClr val="C4B5FD"/>
                </a:solidFill>
                <a:latin typeface="微软雅黑" panose="020B0503020204020204" charset="-122"/>
                <a:ea typeface="微软雅黑" panose="020B0503020204020204" charset="-122"/>
              </a:rPr>
              <a:t>项目范围</a:t>
            </a:r>
            <a:endParaRPr lang="zh-CN" sz="1200" b="1">
              <a:solidFill>
                <a:srgbClr val="C4B5FD"/>
              </a:solidFill>
              <a:latin typeface="微软雅黑" panose="020B0503020204020204" charset="-122"/>
              <a:ea typeface="微软雅黑" panose="020B0503020204020204" charset="-122"/>
            </a:endParaRPr>
          </a:p>
        </p:txBody>
      </p:sp>
      <p:sp>
        <p:nvSpPr>
          <p:cNvPr id="252" name="文本框 251" descr="{&quot;isTemplate&quot;:true,&quot;type&quot;:&quot;text&quot;}"/>
          <p:cNvSpPr txBox="1"/>
          <p:nvPr/>
        </p:nvSpPr>
        <p:spPr>
          <a:xfrm>
            <a:off x="8058150" y="1495425"/>
            <a:ext cx="3057525" cy="247650"/>
          </a:xfrm>
          <a:prstGeom prst="rect">
            <a:avLst/>
          </a:prstGeom>
        </p:spPr>
        <p:txBody>
          <a:bodyPr wrap="none" lIns="0" tIns="0" rIns="0" bIns="0"/>
          <a:p>
            <a:pPr>
              <a:lnSpc>
                <a:spcPct val="155000"/>
              </a:lnSpc>
            </a:pPr>
            <a:r>
              <a:rPr lang="zh-CN" sz="1015">
                <a:solidFill>
                  <a:srgbClr val="94A3B8"/>
                </a:solidFill>
                <a:latin typeface="微软雅黑" panose="020B0503020204020204" charset="-122"/>
                <a:ea typeface="微软雅黑" panose="020B0503020204020204" charset="-122"/>
              </a:rPr>
              <a:t>做什么、不做什么，界定边界与主要交付物</a:t>
            </a:r>
            <a:endParaRPr lang="zh-CN" sz="1015">
              <a:solidFill>
                <a:srgbClr val="94A3B8"/>
              </a:solidFill>
              <a:latin typeface="微软雅黑" panose="020B0503020204020204" charset="-122"/>
              <a:ea typeface="微软雅黑" panose="020B0503020204020204" charset="-122"/>
            </a:endParaRPr>
          </a:p>
        </p:txBody>
      </p:sp>
      <p:sp>
        <p:nvSpPr>
          <p:cNvPr id="253" name="圆角矩形 252"/>
          <p:cNvSpPr/>
          <p:nvPr/>
        </p:nvSpPr>
        <p:spPr>
          <a:xfrm>
            <a:off x="647700" y="2828925"/>
            <a:ext cx="3438525" cy="1600200"/>
          </a:xfrm>
          <a:prstGeom prst="roundRect">
            <a:avLst>
              <a:gd name="adj" fmla="val 7143"/>
            </a:avLst>
          </a:prstGeom>
          <a:solidFill>
            <a:srgbClr val="111B2E"/>
          </a:solidFill>
        </p:spPr>
        <p:txBody>
          <a:bodyPr/>
          <a:p/>
        </p:txBody>
      </p:sp>
      <p:sp>
        <p:nvSpPr>
          <p:cNvPr id="254" name="任意多边形 253"/>
          <p:cNvSpPr/>
          <p:nvPr/>
        </p:nvSpPr>
        <p:spPr>
          <a:xfrm>
            <a:off x="647700" y="2828925"/>
            <a:ext cx="3438525" cy="1600200"/>
          </a:xfrm>
          <a:custGeom>
            <a:avLst/>
            <a:gdLst/>
            <a:ahLst/>
            <a:cxnLst/>
            <a:pathLst>
              <a:path w="361" h="168">
                <a:moveTo>
                  <a:pt x="11" y="0"/>
                </a:moveTo>
                <a:cubicBezTo>
                  <a:pt x="7" y="0"/>
                  <a:pt x="4" y="4"/>
                  <a:pt x="4" y="8"/>
                </a:cubicBezTo>
                <a:lnTo>
                  <a:pt x="4" y="160"/>
                </a:lnTo>
                <a:cubicBezTo>
                  <a:pt x="4" y="164"/>
                  <a:pt x="7" y="167"/>
                  <a:pt x="10" y="168"/>
                </a:cubicBezTo>
                <a:cubicBezTo>
                  <a:pt x="4" y="167"/>
                  <a:pt x="0" y="162"/>
                  <a:pt x="0" y="156"/>
                </a:cubicBezTo>
                <a:lnTo>
                  <a:pt x="0" y="12"/>
                </a:lnTo>
                <a:cubicBezTo>
                  <a:pt x="0" y="6"/>
                  <a:pt x="5" y="0"/>
                  <a:pt x="12" y="0"/>
                </a:cubicBezTo>
                <a:close/>
              </a:path>
            </a:pathLst>
          </a:custGeom>
          <a:solidFill>
            <a:srgbClr val="F59E0B"/>
          </a:solidFill>
        </p:spPr>
        <p:txBody>
          <a:bodyPr/>
          <a:p/>
        </p:txBody>
      </p:sp>
      <p:sp>
        <p:nvSpPr>
          <p:cNvPr id="255" name="文本框 254" descr="{&quot;isTemplate&quot;:true,&quot;type&quot;:&quot;text&quot;}"/>
          <p:cNvSpPr txBox="1"/>
          <p:nvPr/>
        </p:nvSpPr>
        <p:spPr>
          <a:xfrm>
            <a:off x="838200" y="2981325"/>
            <a:ext cx="3057525" cy="190500"/>
          </a:xfrm>
          <a:prstGeom prst="rect">
            <a:avLst/>
          </a:prstGeom>
        </p:spPr>
        <p:txBody>
          <a:bodyPr wrap="none" lIns="0" tIns="0" rIns="0" bIns="0"/>
          <a:p>
            <a:pPr>
              <a:lnSpc>
                <a:spcPct val="100000"/>
              </a:lnSpc>
            </a:pPr>
            <a:r>
              <a:rPr lang="en-US" sz="1200" b="1">
                <a:solidFill>
                  <a:srgbClr val="FBBF24"/>
                </a:solidFill>
                <a:latin typeface="微软雅黑" panose="020B0503020204020204" charset="-122"/>
                <a:ea typeface="微软雅黑" panose="020B0503020204020204" charset="-122"/>
              </a:rPr>
              <a:t>④ </a:t>
            </a:r>
            <a:r>
              <a:rPr lang="zh-CN" sz="1200" b="1">
                <a:solidFill>
                  <a:srgbClr val="FBBF24"/>
                </a:solidFill>
                <a:latin typeface="微软雅黑" panose="020B0503020204020204" charset="-122"/>
                <a:ea typeface="微软雅黑" panose="020B0503020204020204" charset="-122"/>
              </a:rPr>
              <a:t>干系人</a:t>
            </a:r>
            <a:endParaRPr lang="zh-CN" sz="1200" b="1">
              <a:solidFill>
                <a:srgbClr val="FBBF24"/>
              </a:solidFill>
              <a:latin typeface="微软雅黑" panose="020B0503020204020204" charset="-122"/>
              <a:ea typeface="微软雅黑" panose="020B0503020204020204" charset="-122"/>
            </a:endParaRPr>
          </a:p>
        </p:txBody>
      </p:sp>
      <p:sp>
        <p:nvSpPr>
          <p:cNvPr id="256" name="文本框 255" descr="{&quot;isTemplate&quot;:true,&quot;type&quot;:&quot;text&quot;}"/>
          <p:cNvSpPr txBox="1"/>
          <p:nvPr/>
        </p:nvSpPr>
        <p:spPr>
          <a:xfrm>
            <a:off x="838200" y="3219450"/>
            <a:ext cx="3057525" cy="247650"/>
          </a:xfrm>
          <a:prstGeom prst="rect">
            <a:avLst/>
          </a:prstGeom>
        </p:spPr>
        <p:txBody>
          <a:bodyPr wrap="none" lIns="0" tIns="0" rIns="0" bIns="0"/>
          <a:p>
            <a:pPr>
              <a:lnSpc>
                <a:spcPct val="155000"/>
              </a:lnSpc>
            </a:pPr>
            <a:r>
              <a:rPr lang="zh-CN" sz="1015">
                <a:solidFill>
                  <a:srgbClr val="94A3B8"/>
                </a:solidFill>
                <a:latin typeface="微软雅黑" panose="020B0503020204020204" charset="-122"/>
                <a:ea typeface="微软雅黑" panose="020B0503020204020204" charset="-122"/>
              </a:rPr>
              <a:t>谁参与、谁受影响，利益相关方与各自职责</a:t>
            </a:r>
            <a:endParaRPr lang="zh-CN" sz="1015">
              <a:solidFill>
                <a:srgbClr val="94A3B8"/>
              </a:solidFill>
              <a:latin typeface="微软雅黑" panose="020B0503020204020204" charset="-122"/>
              <a:ea typeface="微软雅黑" panose="020B0503020204020204" charset="-122"/>
            </a:endParaRPr>
          </a:p>
        </p:txBody>
      </p:sp>
      <p:sp>
        <p:nvSpPr>
          <p:cNvPr id="257" name="圆角矩形 256"/>
          <p:cNvSpPr/>
          <p:nvPr/>
        </p:nvSpPr>
        <p:spPr>
          <a:xfrm>
            <a:off x="4257675" y="2828925"/>
            <a:ext cx="3438525" cy="1600200"/>
          </a:xfrm>
          <a:prstGeom prst="roundRect">
            <a:avLst>
              <a:gd name="adj" fmla="val 7143"/>
            </a:avLst>
          </a:prstGeom>
          <a:solidFill>
            <a:srgbClr val="111B2E"/>
          </a:solidFill>
        </p:spPr>
        <p:txBody>
          <a:bodyPr/>
          <a:p/>
        </p:txBody>
      </p:sp>
      <p:sp>
        <p:nvSpPr>
          <p:cNvPr id="258" name="任意多边形 257"/>
          <p:cNvSpPr/>
          <p:nvPr/>
        </p:nvSpPr>
        <p:spPr>
          <a:xfrm>
            <a:off x="4257675" y="2828925"/>
            <a:ext cx="3438525" cy="1600200"/>
          </a:xfrm>
          <a:custGeom>
            <a:avLst/>
            <a:gdLst/>
            <a:ahLst/>
            <a:cxnLst/>
            <a:pathLst>
              <a:path w="361" h="168">
                <a:moveTo>
                  <a:pt x="11" y="0"/>
                </a:moveTo>
                <a:cubicBezTo>
                  <a:pt x="7" y="0"/>
                  <a:pt x="4" y="4"/>
                  <a:pt x="4" y="8"/>
                </a:cubicBezTo>
                <a:lnTo>
                  <a:pt x="4" y="160"/>
                </a:lnTo>
                <a:cubicBezTo>
                  <a:pt x="4" y="164"/>
                  <a:pt x="7" y="167"/>
                  <a:pt x="10" y="168"/>
                </a:cubicBezTo>
                <a:cubicBezTo>
                  <a:pt x="4" y="167"/>
                  <a:pt x="0" y="162"/>
                  <a:pt x="0" y="156"/>
                </a:cubicBezTo>
                <a:lnTo>
                  <a:pt x="0" y="12"/>
                </a:lnTo>
                <a:cubicBezTo>
                  <a:pt x="0" y="6"/>
                  <a:pt x="5" y="0"/>
                  <a:pt x="12" y="0"/>
                </a:cubicBezTo>
                <a:close/>
              </a:path>
            </a:pathLst>
          </a:custGeom>
          <a:solidFill>
            <a:srgbClr val="34D399"/>
          </a:solidFill>
        </p:spPr>
        <p:txBody>
          <a:bodyPr/>
          <a:p/>
        </p:txBody>
      </p:sp>
      <p:sp>
        <p:nvSpPr>
          <p:cNvPr id="259" name="文本框 258" descr="{&quot;isTemplate&quot;:true,&quot;type&quot;:&quot;text&quot;}"/>
          <p:cNvSpPr txBox="1"/>
          <p:nvPr/>
        </p:nvSpPr>
        <p:spPr>
          <a:xfrm>
            <a:off x="4448175" y="2981325"/>
            <a:ext cx="3057525" cy="190500"/>
          </a:xfrm>
          <a:prstGeom prst="rect">
            <a:avLst/>
          </a:prstGeom>
        </p:spPr>
        <p:txBody>
          <a:bodyPr wrap="none" lIns="0" tIns="0" rIns="0" bIns="0"/>
          <a:p>
            <a:pPr>
              <a:lnSpc>
                <a:spcPct val="100000"/>
              </a:lnSpc>
            </a:pPr>
            <a:r>
              <a:rPr lang="en-US" sz="1200" b="1">
                <a:solidFill>
                  <a:srgbClr val="6EE7B7"/>
                </a:solidFill>
                <a:latin typeface="微软雅黑" panose="020B0503020204020204" charset="-122"/>
                <a:ea typeface="微软雅黑" panose="020B0503020204020204" charset="-122"/>
              </a:rPr>
              <a:t>⑤ </a:t>
            </a:r>
            <a:r>
              <a:rPr lang="zh-CN" sz="1200" b="1">
                <a:solidFill>
                  <a:srgbClr val="6EE7B7"/>
                </a:solidFill>
                <a:latin typeface="微软雅黑" panose="020B0503020204020204" charset="-122"/>
                <a:ea typeface="微软雅黑" panose="020B0503020204020204" charset="-122"/>
              </a:rPr>
              <a:t>约束与假设</a:t>
            </a:r>
            <a:endParaRPr lang="zh-CN" sz="1200" b="1">
              <a:solidFill>
                <a:srgbClr val="6EE7B7"/>
              </a:solidFill>
              <a:latin typeface="微软雅黑" panose="020B0503020204020204" charset="-122"/>
              <a:ea typeface="微软雅黑" panose="020B0503020204020204" charset="-122"/>
            </a:endParaRPr>
          </a:p>
        </p:txBody>
      </p:sp>
      <p:sp>
        <p:nvSpPr>
          <p:cNvPr id="260" name="文本框 259" descr="{&quot;isTemplate&quot;:true,&quot;type&quot;:&quot;text&quot;}"/>
          <p:cNvSpPr txBox="1"/>
          <p:nvPr/>
        </p:nvSpPr>
        <p:spPr>
          <a:xfrm>
            <a:off x="4448175" y="3219450"/>
            <a:ext cx="3057525" cy="247650"/>
          </a:xfrm>
          <a:prstGeom prst="rect">
            <a:avLst/>
          </a:prstGeom>
        </p:spPr>
        <p:txBody>
          <a:bodyPr wrap="none" lIns="0" tIns="0" rIns="0" bIns="0"/>
          <a:p>
            <a:pPr>
              <a:lnSpc>
                <a:spcPct val="155000"/>
              </a:lnSpc>
            </a:pPr>
            <a:r>
              <a:rPr lang="zh-CN" sz="1015">
                <a:solidFill>
                  <a:srgbClr val="94A3B8"/>
                </a:solidFill>
                <a:latin typeface="微软雅黑" panose="020B0503020204020204" charset="-122"/>
                <a:ea typeface="微软雅黑" panose="020B0503020204020204" charset="-122"/>
              </a:rPr>
              <a:t>时间</a:t>
            </a:r>
            <a:r>
              <a:rPr lang="en-US" sz="1015">
                <a:solidFill>
                  <a:srgbClr val="94A3B8"/>
                </a:solidFill>
                <a:latin typeface="微软雅黑" panose="020B0503020204020204" charset="-122"/>
                <a:ea typeface="微软雅黑" panose="020B0503020204020204" charset="-122"/>
              </a:rPr>
              <a:t> / </a:t>
            </a:r>
            <a:r>
              <a:rPr lang="zh-CN" sz="1015">
                <a:solidFill>
                  <a:srgbClr val="94A3B8"/>
                </a:solidFill>
                <a:latin typeface="微软雅黑" panose="020B0503020204020204" charset="-122"/>
                <a:ea typeface="微软雅黑" panose="020B0503020204020204" charset="-122"/>
              </a:rPr>
              <a:t>成本</a:t>
            </a:r>
            <a:r>
              <a:rPr lang="en-US" sz="1015">
                <a:solidFill>
                  <a:srgbClr val="94A3B8"/>
                </a:solidFill>
                <a:latin typeface="微软雅黑" panose="020B0503020204020204" charset="-122"/>
                <a:ea typeface="微软雅黑" panose="020B0503020204020204" charset="-122"/>
              </a:rPr>
              <a:t> / </a:t>
            </a:r>
            <a:r>
              <a:rPr lang="zh-CN" sz="1015">
                <a:solidFill>
                  <a:srgbClr val="94A3B8"/>
                </a:solidFill>
                <a:latin typeface="微软雅黑" panose="020B0503020204020204" charset="-122"/>
                <a:ea typeface="微软雅黑" panose="020B0503020204020204" charset="-122"/>
              </a:rPr>
              <a:t>质量</a:t>
            </a:r>
            <a:r>
              <a:rPr lang="en-US" sz="1015">
                <a:solidFill>
                  <a:srgbClr val="94A3B8"/>
                </a:solidFill>
                <a:latin typeface="微软雅黑" panose="020B0503020204020204" charset="-122"/>
                <a:ea typeface="微软雅黑" panose="020B0503020204020204" charset="-122"/>
              </a:rPr>
              <a:t> / </a:t>
            </a:r>
            <a:r>
              <a:rPr lang="zh-CN" sz="1015">
                <a:solidFill>
                  <a:srgbClr val="94A3B8"/>
                </a:solidFill>
                <a:latin typeface="微软雅黑" panose="020B0503020204020204" charset="-122"/>
                <a:ea typeface="微软雅黑" panose="020B0503020204020204" charset="-122"/>
              </a:rPr>
              <a:t>资源等限制条件与前提假设</a:t>
            </a:r>
            <a:endParaRPr lang="zh-CN" sz="1015">
              <a:solidFill>
                <a:srgbClr val="94A3B8"/>
              </a:solidFill>
              <a:latin typeface="微软雅黑" panose="020B0503020204020204" charset="-122"/>
              <a:ea typeface="微软雅黑" panose="020B0503020204020204" charset="-122"/>
            </a:endParaRPr>
          </a:p>
        </p:txBody>
      </p:sp>
      <p:sp>
        <p:nvSpPr>
          <p:cNvPr id="261" name="圆角矩形 260"/>
          <p:cNvSpPr/>
          <p:nvPr/>
        </p:nvSpPr>
        <p:spPr>
          <a:xfrm>
            <a:off x="7867650" y="2828925"/>
            <a:ext cx="3438525" cy="1600200"/>
          </a:xfrm>
          <a:prstGeom prst="roundRect">
            <a:avLst>
              <a:gd name="adj" fmla="val 7143"/>
            </a:avLst>
          </a:prstGeom>
          <a:solidFill>
            <a:srgbClr val="111B2E"/>
          </a:solidFill>
        </p:spPr>
        <p:txBody>
          <a:bodyPr/>
          <a:p/>
        </p:txBody>
      </p:sp>
      <p:sp>
        <p:nvSpPr>
          <p:cNvPr id="262" name="任意多边形 261"/>
          <p:cNvSpPr/>
          <p:nvPr/>
        </p:nvSpPr>
        <p:spPr>
          <a:xfrm>
            <a:off x="7867650" y="2828925"/>
            <a:ext cx="3438525" cy="1600200"/>
          </a:xfrm>
          <a:custGeom>
            <a:avLst/>
            <a:gdLst/>
            <a:ahLst/>
            <a:cxnLst/>
            <a:pathLst>
              <a:path w="361" h="168">
                <a:moveTo>
                  <a:pt x="11" y="0"/>
                </a:moveTo>
                <a:cubicBezTo>
                  <a:pt x="7" y="0"/>
                  <a:pt x="4" y="4"/>
                  <a:pt x="4" y="8"/>
                </a:cubicBezTo>
                <a:lnTo>
                  <a:pt x="4" y="160"/>
                </a:lnTo>
                <a:cubicBezTo>
                  <a:pt x="4" y="164"/>
                  <a:pt x="7" y="167"/>
                  <a:pt x="10" y="168"/>
                </a:cubicBezTo>
                <a:cubicBezTo>
                  <a:pt x="4" y="167"/>
                  <a:pt x="0" y="162"/>
                  <a:pt x="0" y="156"/>
                </a:cubicBezTo>
                <a:lnTo>
                  <a:pt x="0" y="12"/>
                </a:lnTo>
                <a:cubicBezTo>
                  <a:pt x="0" y="6"/>
                  <a:pt x="5" y="0"/>
                  <a:pt x="12" y="0"/>
                </a:cubicBezTo>
                <a:close/>
              </a:path>
            </a:pathLst>
          </a:custGeom>
          <a:solidFill>
            <a:srgbClr val="F472B6"/>
          </a:solidFill>
        </p:spPr>
        <p:txBody>
          <a:bodyPr/>
          <a:p/>
        </p:txBody>
      </p:sp>
      <p:sp>
        <p:nvSpPr>
          <p:cNvPr id="263" name="文本框 262" descr="{&quot;isTemplate&quot;:true,&quot;type&quot;:&quot;text&quot;}"/>
          <p:cNvSpPr txBox="1"/>
          <p:nvPr/>
        </p:nvSpPr>
        <p:spPr>
          <a:xfrm>
            <a:off x="8058150" y="2981325"/>
            <a:ext cx="3057525" cy="190500"/>
          </a:xfrm>
          <a:prstGeom prst="rect">
            <a:avLst/>
          </a:prstGeom>
        </p:spPr>
        <p:txBody>
          <a:bodyPr wrap="none" lIns="0" tIns="0" rIns="0" bIns="0"/>
          <a:p>
            <a:pPr>
              <a:lnSpc>
                <a:spcPct val="100000"/>
              </a:lnSpc>
            </a:pPr>
            <a:r>
              <a:rPr lang="en-US" sz="1200" b="1">
                <a:solidFill>
                  <a:srgbClr val="F9A8D4"/>
                </a:solidFill>
                <a:latin typeface="微软雅黑" panose="020B0503020204020204" charset="-122"/>
                <a:ea typeface="微软雅黑" panose="020B0503020204020204" charset="-122"/>
              </a:rPr>
              <a:t>⑥ </a:t>
            </a:r>
            <a:r>
              <a:rPr lang="zh-CN" sz="1200" b="1">
                <a:solidFill>
                  <a:srgbClr val="F9A8D4"/>
                </a:solidFill>
                <a:latin typeface="微软雅黑" panose="020B0503020204020204" charset="-122"/>
                <a:ea typeface="微软雅黑" panose="020B0503020204020204" charset="-122"/>
              </a:rPr>
              <a:t>里程碑</a:t>
            </a:r>
            <a:endParaRPr lang="zh-CN" sz="1200" b="1">
              <a:solidFill>
                <a:srgbClr val="F9A8D4"/>
              </a:solidFill>
              <a:latin typeface="微软雅黑" panose="020B0503020204020204" charset="-122"/>
              <a:ea typeface="微软雅黑" panose="020B0503020204020204" charset="-122"/>
            </a:endParaRPr>
          </a:p>
        </p:txBody>
      </p:sp>
      <p:sp>
        <p:nvSpPr>
          <p:cNvPr id="264" name="文本框 263" descr="{&quot;isTemplate&quot;:true,&quot;type&quot;:&quot;text&quot;}"/>
          <p:cNvSpPr txBox="1"/>
          <p:nvPr/>
        </p:nvSpPr>
        <p:spPr>
          <a:xfrm>
            <a:off x="8058150" y="3219450"/>
            <a:ext cx="3057525" cy="247650"/>
          </a:xfrm>
          <a:prstGeom prst="rect">
            <a:avLst/>
          </a:prstGeom>
        </p:spPr>
        <p:txBody>
          <a:bodyPr wrap="none" lIns="0" tIns="0" rIns="0" bIns="0"/>
          <a:p>
            <a:pPr>
              <a:lnSpc>
                <a:spcPct val="155000"/>
              </a:lnSpc>
            </a:pPr>
            <a:r>
              <a:rPr lang="zh-CN" sz="1015">
                <a:solidFill>
                  <a:srgbClr val="94A3B8"/>
                </a:solidFill>
                <a:latin typeface="微软雅黑" panose="020B0503020204020204" charset="-122"/>
                <a:ea typeface="微软雅黑" panose="020B0503020204020204" charset="-122"/>
              </a:rPr>
              <a:t>关键节点的阶段性时间表与交付验收点</a:t>
            </a:r>
            <a:endParaRPr lang="zh-CN" sz="1015">
              <a:solidFill>
                <a:srgbClr val="94A3B8"/>
              </a:solidFill>
              <a:latin typeface="微软雅黑" panose="020B0503020204020204" charset="-122"/>
              <a:ea typeface="微软雅黑" panose="020B0503020204020204" charset="-122"/>
            </a:endParaRPr>
          </a:p>
        </p:txBody>
      </p:sp>
      <p:sp>
        <p:nvSpPr>
          <p:cNvPr id="265" name="圆角矩形 264"/>
          <p:cNvSpPr/>
          <p:nvPr/>
        </p:nvSpPr>
        <p:spPr>
          <a:xfrm>
            <a:off x="647700" y="4562475"/>
            <a:ext cx="3438525" cy="1590675"/>
          </a:xfrm>
          <a:prstGeom prst="roundRect">
            <a:avLst>
              <a:gd name="adj" fmla="val 7186"/>
            </a:avLst>
          </a:prstGeom>
          <a:solidFill>
            <a:srgbClr val="111B2E"/>
          </a:solidFill>
        </p:spPr>
        <p:txBody>
          <a:bodyPr/>
          <a:p/>
        </p:txBody>
      </p:sp>
      <p:sp>
        <p:nvSpPr>
          <p:cNvPr id="266" name="任意多边形 265"/>
          <p:cNvSpPr/>
          <p:nvPr/>
        </p:nvSpPr>
        <p:spPr>
          <a:xfrm>
            <a:off x="647700" y="4562475"/>
            <a:ext cx="3438525" cy="1590675"/>
          </a:xfrm>
          <a:custGeom>
            <a:avLst/>
            <a:gdLst/>
            <a:ahLst/>
            <a:cxnLst/>
            <a:pathLst>
              <a:path w="361" h="167">
                <a:moveTo>
                  <a:pt x="11" y="0"/>
                </a:moveTo>
                <a:cubicBezTo>
                  <a:pt x="7" y="0"/>
                  <a:pt x="4" y="4"/>
                  <a:pt x="4" y="8"/>
                </a:cubicBezTo>
                <a:lnTo>
                  <a:pt x="4" y="159"/>
                </a:lnTo>
                <a:cubicBezTo>
                  <a:pt x="4" y="163"/>
                  <a:pt x="7" y="166"/>
                  <a:pt x="10" y="167"/>
                </a:cubicBezTo>
                <a:cubicBezTo>
                  <a:pt x="4" y="166"/>
                  <a:pt x="0" y="161"/>
                  <a:pt x="0" y="155"/>
                </a:cubicBezTo>
                <a:lnTo>
                  <a:pt x="0" y="12"/>
                </a:lnTo>
                <a:cubicBezTo>
                  <a:pt x="0" y="6"/>
                  <a:pt x="5" y="0"/>
                  <a:pt x="12" y="0"/>
                </a:cubicBezTo>
                <a:close/>
              </a:path>
            </a:pathLst>
          </a:custGeom>
          <a:solidFill>
            <a:srgbClr val="E2E8F0"/>
          </a:solidFill>
        </p:spPr>
        <p:txBody>
          <a:bodyPr/>
          <a:p/>
        </p:txBody>
      </p:sp>
      <p:sp>
        <p:nvSpPr>
          <p:cNvPr id="267" name="文本框 266" descr="{&quot;isTemplate&quot;:true,&quot;type&quot;:&quot;text&quot;}"/>
          <p:cNvSpPr txBox="1"/>
          <p:nvPr/>
        </p:nvSpPr>
        <p:spPr>
          <a:xfrm>
            <a:off x="838200" y="4714875"/>
            <a:ext cx="3057525" cy="190500"/>
          </a:xfrm>
          <a:prstGeom prst="rect">
            <a:avLst/>
          </a:prstGeom>
        </p:spPr>
        <p:txBody>
          <a:bodyPr wrap="none" lIns="0" tIns="0" rIns="0" bIns="0"/>
          <a:p>
            <a:pPr>
              <a:lnSpc>
                <a:spcPct val="100000"/>
              </a:lnSpc>
            </a:pPr>
            <a:r>
              <a:rPr lang="en-US" sz="1200" b="1">
                <a:solidFill>
                  <a:srgbClr val="E2E8F0"/>
                </a:solidFill>
                <a:latin typeface="微软雅黑" panose="020B0503020204020204" charset="-122"/>
                <a:ea typeface="微软雅黑" panose="020B0503020204020204" charset="-122"/>
              </a:rPr>
              <a:t>⑦ </a:t>
            </a:r>
            <a:r>
              <a:rPr lang="zh-CN" sz="1200" b="1">
                <a:solidFill>
                  <a:srgbClr val="E2E8F0"/>
                </a:solidFill>
                <a:latin typeface="微软雅黑" panose="020B0503020204020204" charset="-122"/>
                <a:ea typeface="微软雅黑" panose="020B0503020204020204" charset="-122"/>
              </a:rPr>
              <a:t>审批与授权</a:t>
            </a:r>
            <a:endParaRPr lang="zh-CN" sz="1200" b="1">
              <a:solidFill>
                <a:srgbClr val="E2E8F0"/>
              </a:solidFill>
              <a:latin typeface="微软雅黑" panose="020B0503020204020204" charset="-122"/>
              <a:ea typeface="微软雅黑" panose="020B0503020204020204" charset="-122"/>
            </a:endParaRPr>
          </a:p>
        </p:txBody>
      </p:sp>
      <p:sp>
        <p:nvSpPr>
          <p:cNvPr id="268" name="文本框 267" descr="{&quot;isTemplate&quot;:true,&quot;type&quot;:&quot;text&quot;}"/>
          <p:cNvSpPr txBox="1"/>
          <p:nvPr/>
        </p:nvSpPr>
        <p:spPr>
          <a:xfrm>
            <a:off x="838200" y="4953000"/>
            <a:ext cx="3057525" cy="247650"/>
          </a:xfrm>
          <a:prstGeom prst="rect">
            <a:avLst/>
          </a:prstGeom>
        </p:spPr>
        <p:txBody>
          <a:bodyPr wrap="none" lIns="0" tIns="0" rIns="0" bIns="0"/>
          <a:p>
            <a:pPr>
              <a:lnSpc>
                <a:spcPct val="155000"/>
              </a:lnSpc>
            </a:pPr>
            <a:r>
              <a:rPr lang="zh-CN" sz="1015">
                <a:solidFill>
                  <a:srgbClr val="94A3B8"/>
                </a:solidFill>
                <a:latin typeface="微软雅黑" panose="020B0503020204020204" charset="-122"/>
                <a:ea typeface="微软雅黑" panose="020B0503020204020204" charset="-122"/>
              </a:rPr>
              <a:t>谁批准立项，项目经理的授权范围与决策权限</a:t>
            </a:r>
            <a:endParaRPr lang="zh-CN" sz="1015">
              <a:solidFill>
                <a:srgbClr val="94A3B8"/>
              </a:solidFill>
              <a:latin typeface="微软雅黑" panose="020B0503020204020204" charset="-122"/>
              <a:ea typeface="微软雅黑" panose="020B0503020204020204" charset="-122"/>
            </a:endParaRPr>
          </a:p>
        </p:txBody>
      </p:sp>
      <p:sp>
        <p:nvSpPr>
          <p:cNvPr id="269" name="文本框 268" descr="{&quot;isTemplate&quot;:true,&quot;type&quot;:&quot;text&quot;}"/>
          <p:cNvSpPr txBox="1"/>
          <p:nvPr/>
        </p:nvSpPr>
        <p:spPr>
          <a:xfrm>
            <a:off x="609600" y="6400800"/>
            <a:ext cx="7334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02 </a:t>
            </a:r>
            <a:r>
              <a:rPr lang="zh-CN" sz="1050">
                <a:solidFill>
                  <a:srgbClr val="94A3B8"/>
                </a:solidFill>
                <a:latin typeface="微软雅黑" panose="020B0503020204020204" charset="-122"/>
                <a:ea typeface="微软雅黑" panose="020B0503020204020204" charset="-122"/>
              </a:rPr>
              <a:t>项目章程</a:t>
            </a:r>
            <a:endParaRPr lang="zh-CN" sz="1050">
              <a:solidFill>
                <a:srgbClr val="94A3B8"/>
              </a:solidFill>
              <a:latin typeface="微软雅黑" panose="020B0503020204020204" charset="-122"/>
              <a:ea typeface="微软雅黑" panose="020B0503020204020204" charset="-122"/>
            </a:endParaRPr>
          </a:p>
        </p:txBody>
      </p:sp>
      <p:sp>
        <p:nvSpPr>
          <p:cNvPr id="270" name="文本框 269"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19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98" name="" descr="&lt;Slide style={{ width: 1280, height: 720, background: '#0B1220', position: 'relative', overflow: 'hidden' }}&gt;&#13;&#10;    &lt;Image src=&quot;assets/sec_bg.png&quot; style={{ position: 'absolute', top: 0, left: 0, width: 1280, height: 720, objectFit: 'cover', clipPath: 'inset(0 0 11% 0)' }} /&gt;&#13;&#10;    &lt;Box style={{ position: 'absolute', top: 0, left: 0, width: 1280, height: 720, background: 'linear-gradient(180deg, rgba(11,18,32,0.45) 0%, rgba(11,18,32,0.75) 100%)' }} /&gt;&#13;&#10;    &lt;Box style={{ position: 'absolute', left: 96, top: 200 }}&gt;&#13;&#10;        &lt;Text style={{ fontSize: 120, fontWeight: 'bold', color: 'rgba(59,130,246,0.28)' }}&gt;03&lt;/Text&gt;&#13;&#10;        &lt;Text style={{ fontSize: 62, fontWeight: 'bold', color: '#E2E8F0', marginTop: 8 }}&gt;项目计划与工作分解&lt;/Text&gt;&#13;&#10;        &lt;Box style={{ width: 90, height: 5, background: 'linear-gradient(90deg, #3B82F6 0%, #22D3EE 100%)', borderRadius: 3, marginTop: 26 }} /&gt;&#13;&#10;        &lt;Text style={{ fontSize: 20, color: '#94A3B8', marginTop: 26, letterSpacing: 2 }}&gt;什么是计划 · 制定方法 · 步骤与 CMMI&lt;/Text&gt;&#13;&#10;    &lt;/Box&gt;&#13;&#10;    &lt;Box style={{ position: 'absolute', right: 96, bottom: 72, flexDirection: 'row', gap: 12, alignItems: 'center' }}&gt;&#13;&#10;        &lt;Box style={{ width: 8, height: 8, borderRadius: 4, background: '#3B82F6' }} /&gt;&#13;&#10;        &lt;Box style={{ width: 8, height: 8, borderRadius: 4, background: 'rgba(59,130,246,0.35)' }} /&gt;&#13;&#10;        &lt;Box style={{ width: 8, height: 8, borderRadius: 4, background: 'rgba(59,130,246,0.35)' }} /&gt;&#13;&#10;    &lt;/Box&gt;&#13;&#10;&lt;/Slide&gt;&#13;&#10;"/>
        <p:cNvGrpSpPr/>
        <p:nvPr/>
      </p:nvGrpSpPr>
      <p:grpSpPr>
        <a:xfrm>
          <a:off x="0" y="0"/>
          <a:ext cx="0" cy="0"/>
          <a:chOff x="0" y="0"/>
          <a:chExt cx="0" cy="0"/>
        </a:xfrm>
      </p:grpSpPr>
      <p:sp>
        <p:nvSpPr>
          <p:cNvPr id="299" name="矩形 298"/>
          <p:cNvSpPr/>
          <p:nvPr/>
        </p:nvSpPr>
        <p:spPr>
          <a:xfrm>
            <a:off x="0" y="0"/>
            <a:ext cx="12192000" cy="6858000"/>
          </a:xfrm>
          <a:prstGeom prst="rect">
            <a:avLst/>
          </a:prstGeom>
          <a:solidFill>
            <a:srgbClr val="0B1220"/>
          </a:solidFill>
        </p:spPr>
        <p:txBody>
          <a:bodyPr/>
          <a:p/>
        </p:txBody>
      </p:sp>
      <p:pic>
        <p:nvPicPr>
          <p:cNvPr id="300" name="图片 299"/>
          <p:cNvPicPr>
            <a:picLocks noChangeAspect="1"/>
          </p:cNvPicPr>
          <p:nvPr/>
        </p:nvPicPr>
        <p:blipFill>
          <a:blip r:embed="rId1"/>
          <a:srcRect t="7812" b="7812"/>
          <a:stretch>
            <a:fillRect/>
          </a:stretch>
        </p:blipFill>
        <p:spPr>
          <a:xfrm>
            <a:off x="0" y="0"/>
            <a:ext cx="12192000" cy="6858000"/>
          </a:xfrm>
          <a:custGeom>
            <a:avLst/>
            <a:gdLst/>
            <a:ahLst/>
            <a:cxnLst/>
            <a:pathLst>
              <a:path w="1280" h="720">
                <a:moveTo>
                  <a:pt x="0" y="0"/>
                </a:moveTo>
                <a:lnTo>
                  <a:pt x="1280" y="0"/>
                </a:lnTo>
                <a:lnTo>
                  <a:pt x="1280" y="641"/>
                </a:lnTo>
                <a:lnTo>
                  <a:pt x="0" y="641"/>
                </a:lnTo>
                <a:close/>
              </a:path>
            </a:pathLst>
          </a:custGeom>
        </p:spPr>
      </p:pic>
      <p:sp>
        <p:nvSpPr>
          <p:cNvPr id="301" name="矩形 300"/>
          <p:cNvSpPr/>
          <p:nvPr/>
        </p:nvSpPr>
        <p:spPr>
          <a:xfrm>
            <a:off x="0" y="0"/>
            <a:ext cx="12192000" cy="6858000"/>
          </a:xfrm>
          <a:prstGeom prst="rect">
            <a:avLst/>
          </a:prstGeom>
          <a:gradFill>
            <a:gsLst>
              <a:gs pos="0">
                <a:srgbClr val="0B1220">
                  <a:alpha val="45000"/>
                </a:srgbClr>
              </a:gs>
              <a:gs pos="100000">
                <a:srgbClr val="0B1220">
                  <a:alpha val="75000"/>
                </a:srgbClr>
              </a:gs>
            </a:gsLst>
            <a:lin ang="5400000" scaled="1"/>
          </a:gradFill>
        </p:spPr>
        <p:txBody>
          <a:bodyPr/>
          <a:p/>
        </p:txBody>
      </p:sp>
      <p:sp>
        <p:nvSpPr>
          <p:cNvPr id="302" name="文本框 301" descr="{&quot;isTemplate&quot;:true,&quot;type&quot;:&quot;text&quot;}"/>
          <p:cNvSpPr txBox="1"/>
          <p:nvPr/>
        </p:nvSpPr>
        <p:spPr>
          <a:xfrm>
            <a:off x="914400" y="1905000"/>
            <a:ext cx="5314950" cy="1371600"/>
          </a:xfrm>
          <a:prstGeom prst="rect">
            <a:avLst/>
          </a:prstGeom>
        </p:spPr>
        <p:txBody>
          <a:bodyPr wrap="none" lIns="0" tIns="0" rIns="0" bIns="0"/>
          <a:p>
            <a:pPr>
              <a:lnSpc>
                <a:spcPct val="100000"/>
              </a:lnSpc>
            </a:pPr>
            <a:r>
              <a:rPr lang="en-US" sz="9000" b="1">
                <a:solidFill>
                  <a:srgbClr val="3B82F6">
                    <a:alpha val="28000"/>
                  </a:srgbClr>
                </a:solidFill>
                <a:latin typeface="微软雅黑" panose="020B0503020204020204" charset="-122"/>
                <a:ea typeface="微软雅黑" panose="020B0503020204020204" charset="-122"/>
              </a:rPr>
              <a:t>03</a:t>
            </a:r>
            <a:endParaRPr lang="en-US" sz="9000" b="1">
              <a:solidFill>
                <a:srgbClr val="3B82F6">
                  <a:alpha val="28000"/>
                </a:srgbClr>
              </a:solidFill>
              <a:latin typeface="微软雅黑" panose="020B0503020204020204" charset="-122"/>
              <a:ea typeface="微软雅黑" panose="020B0503020204020204" charset="-122"/>
            </a:endParaRPr>
          </a:p>
        </p:txBody>
      </p:sp>
      <p:sp>
        <p:nvSpPr>
          <p:cNvPr id="303" name="文本框 302" descr="{&quot;isTemplate&quot;:true,&quot;type&quot;:&quot;text&quot;}"/>
          <p:cNvSpPr txBox="1"/>
          <p:nvPr/>
        </p:nvSpPr>
        <p:spPr>
          <a:xfrm>
            <a:off x="914400" y="3352800"/>
            <a:ext cx="5314950" cy="714375"/>
          </a:xfrm>
          <a:prstGeom prst="rect">
            <a:avLst/>
          </a:prstGeom>
        </p:spPr>
        <p:txBody>
          <a:bodyPr wrap="none" lIns="0" tIns="0" rIns="0" bIns="0"/>
          <a:p>
            <a:pPr>
              <a:lnSpc>
                <a:spcPct val="100000"/>
              </a:lnSpc>
            </a:pPr>
            <a:r>
              <a:rPr lang="zh-CN" sz="4650" b="1">
                <a:solidFill>
                  <a:srgbClr val="E2E8F0"/>
                </a:solidFill>
                <a:latin typeface="微软雅黑" panose="020B0503020204020204" charset="-122"/>
                <a:ea typeface="微软雅黑" panose="020B0503020204020204" charset="-122"/>
              </a:rPr>
              <a:t>项目计划与工作分解</a:t>
            </a:r>
            <a:endParaRPr lang="zh-CN" sz="4650" b="1">
              <a:solidFill>
                <a:srgbClr val="E2E8F0"/>
              </a:solidFill>
              <a:latin typeface="微软雅黑" panose="020B0503020204020204" charset="-122"/>
              <a:ea typeface="微软雅黑" panose="020B0503020204020204" charset="-122"/>
            </a:endParaRPr>
          </a:p>
        </p:txBody>
      </p:sp>
      <p:sp>
        <p:nvSpPr>
          <p:cNvPr id="304" name="圆角矩形 303"/>
          <p:cNvSpPr/>
          <p:nvPr/>
        </p:nvSpPr>
        <p:spPr>
          <a:xfrm>
            <a:off x="914400" y="4314825"/>
            <a:ext cx="857250" cy="47625"/>
          </a:xfrm>
          <a:prstGeom prst="roundRect">
            <a:avLst>
              <a:gd name="adj" fmla="val 60000"/>
            </a:avLst>
          </a:prstGeom>
          <a:gradFill>
            <a:gsLst>
              <a:gs pos="0">
                <a:srgbClr val="3B82F6"/>
              </a:gs>
              <a:gs pos="100000">
                <a:srgbClr val="22D3EE"/>
              </a:gs>
            </a:gsLst>
            <a:lin ang="0" scaled="1"/>
          </a:gradFill>
        </p:spPr>
        <p:txBody>
          <a:bodyPr/>
          <a:p/>
        </p:txBody>
      </p:sp>
      <p:sp>
        <p:nvSpPr>
          <p:cNvPr id="305" name="文本框 304" descr="{&quot;isTemplate&quot;:true,&quot;type&quot;:&quot;text&quot;}"/>
          <p:cNvSpPr txBox="1"/>
          <p:nvPr/>
        </p:nvSpPr>
        <p:spPr>
          <a:xfrm>
            <a:off x="914400" y="4610100"/>
            <a:ext cx="5314950" cy="228600"/>
          </a:xfrm>
          <a:prstGeom prst="rect">
            <a:avLst/>
          </a:prstGeom>
        </p:spPr>
        <p:txBody>
          <a:bodyPr wrap="none" lIns="0" tIns="0" rIns="0" bIns="0"/>
          <a:p>
            <a:pPr>
              <a:lnSpc>
                <a:spcPct val="100000"/>
              </a:lnSpc>
            </a:pPr>
            <a:r>
              <a:rPr lang="zh-CN" sz="1500" spc="150">
                <a:solidFill>
                  <a:srgbClr val="94A3B8"/>
                </a:solidFill>
                <a:latin typeface="微软雅黑" panose="020B0503020204020204" charset="-122"/>
                <a:ea typeface="微软雅黑" panose="020B0503020204020204" charset="-122"/>
              </a:rPr>
              <a:t>什么是计划</a:t>
            </a:r>
            <a:r>
              <a:rPr lang="en-US" sz="1500" spc="150">
                <a:solidFill>
                  <a:srgbClr val="94A3B8"/>
                </a:solidFill>
                <a:latin typeface="微软雅黑" panose="020B0503020204020204" charset="-122"/>
                <a:ea typeface="微软雅黑" panose="020B0503020204020204" charset="-122"/>
              </a:rPr>
              <a:t> · </a:t>
            </a:r>
            <a:r>
              <a:rPr lang="zh-CN" sz="1500" spc="150">
                <a:solidFill>
                  <a:srgbClr val="94A3B8"/>
                </a:solidFill>
                <a:latin typeface="微软雅黑" panose="020B0503020204020204" charset="-122"/>
                <a:ea typeface="微软雅黑" panose="020B0503020204020204" charset="-122"/>
              </a:rPr>
              <a:t>制定方法</a:t>
            </a:r>
            <a:r>
              <a:rPr lang="en-US" sz="1500" spc="150">
                <a:solidFill>
                  <a:srgbClr val="94A3B8"/>
                </a:solidFill>
                <a:latin typeface="微软雅黑" panose="020B0503020204020204" charset="-122"/>
                <a:ea typeface="微软雅黑" panose="020B0503020204020204" charset="-122"/>
              </a:rPr>
              <a:t> · </a:t>
            </a:r>
            <a:r>
              <a:rPr lang="zh-CN" sz="1500" spc="150">
                <a:solidFill>
                  <a:srgbClr val="94A3B8"/>
                </a:solidFill>
                <a:latin typeface="微软雅黑" panose="020B0503020204020204" charset="-122"/>
                <a:ea typeface="微软雅黑" panose="020B0503020204020204" charset="-122"/>
              </a:rPr>
              <a:t>步骤与</a:t>
            </a:r>
            <a:r>
              <a:rPr lang="en-US" sz="1500" spc="150">
                <a:solidFill>
                  <a:srgbClr val="94A3B8"/>
                </a:solidFill>
                <a:latin typeface="微软雅黑" panose="020B0503020204020204" charset="-122"/>
                <a:ea typeface="微软雅黑" panose="020B0503020204020204" charset="-122"/>
              </a:rPr>
              <a:t> CMMI</a:t>
            </a:r>
            <a:endParaRPr lang="en-US" sz="1500" spc="150">
              <a:solidFill>
                <a:srgbClr val="94A3B8"/>
              </a:solidFill>
              <a:latin typeface="微软雅黑" panose="020B0503020204020204" charset="-122"/>
              <a:ea typeface="微软雅黑" panose="020B0503020204020204" charset="-122"/>
            </a:endParaRPr>
          </a:p>
        </p:txBody>
      </p:sp>
      <p:sp>
        <p:nvSpPr>
          <p:cNvPr id="306" name="圆角矩形 305"/>
          <p:cNvSpPr/>
          <p:nvPr/>
        </p:nvSpPr>
        <p:spPr>
          <a:xfrm>
            <a:off x="10820400" y="6096000"/>
            <a:ext cx="76200" cy="76200"/>
          </a:xfrm>
          <a:prstGeom prst="roundRect">
            <a:avLst>
              <a:gd name="adj" fmla="val 50000"/>
            </a:avLst>
          </a:prstGeom>
          <a:solidFill>
            <a:srgbClr val="3B82F6"/>
          </a:solidFill>
        </p:spPr>
        <p:txBody>
          <a:bodyPr/>
          <a:p/>
        </p:txBody>
      </p:sp>
      <p:sp>
        <p:nvSpPr>
          <p:cNvPr id="307" name="圆角矩形 306"/>
          <p:cNvSpPr/>
          <p:nvPr/>
        </p:nvSpPr>
        <p:spPr>
          <a:xfrm>
            <a:off x="11010900" y="6096000"/>
            <a:ext cx="76200" cy="76200"/>
          </a:xfrm>
          <a:prstGeom prst="roundRect">
            <a:avLst>
              <a:gd name="adj" fmla="val 50000"/>
            </a:avLst>
          </a:prstGeom>
          <a:solidFill>
            <a:srgbClr val="3B82F6">
              <a:alpha val="35000"/>
            </a:srgbClr>
          </a:solidFill>
        </p:spPr>
        <p:txBody>
          <a:bodyPr/>
          <a:p/>
        </p:txBody>
      </p:sp>
      <p:sp>
        <p:nvSpPr>
          <p:cNvPr id="308" name="圆角矩形 307"/>
          <p:cNvSpPr/>
          <p:nvPr/>
        </p:nvSpPr>
        <p:spPr>
          <a:xfrm>
            <a:off x="11201400" y="6096000"/>
            <a:ext cx="76200" cy="76200"/>
          </a:xfrm>
          <a:prstGeom prst="roundRect">
            <a:avLst>
              <a:gd name="adj" fmla="val 50000"/>
            </a:avLst>
          </a:prstGeom>
          <a:solidFill>
            <a:srgbClr val="3B82F6">
              <a:alpha val="35000"/>
            </a:srgbClr>
          </a:solidFill>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09"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案例引入：小王的故事&lt;/Text&gt;&#13;&#10;    &lt;/Box&gt;&#13;&#10;    &lt;Box style={{ flex: 1, flexDirection: 'row', gap: 28 }}&gt;&#13;&#10;        &lt;Box style={{ flex: 1, justifyContent: 'center' }}&gt;&#13;&#10;            &lt;Text style={{ fontSize: 17, color: '#E2E8F0', lineHeight: 1.8 }}&gt;小王花 1 周制定了一个&quot;看起来科学合理&quot;的项目计划——详细工作安排、明确分工、具体进度。计划获批后开始实施，&lt;span style={{ fontWeight: 'bold', color: '#FCA5A5' }}&gt;看似顺利&lt;/span&gt;。&lt;/Text&gt;&#13;&#10;            &lt;Box style={{ background: '#111B2E', borderRadius: 14, padding: '20px 26px', marginTop: 20, borderLeft: '5px solid #FCA5A5' }}&gt;&#13;&#10;                &lt;Text style={{ fontSize: 16.5, color: '#E2E8F0', lineHeight: 1.8 }}&gt;然而：低估了项目规模、高估了人员能力，计划过于乐观——计划多次调整，进度一拖再拖，最终&lt;span style={{ fontWeight: 'bold', color: '#FCA5A5' }}&gt;拖延 6 个月&lt;/span&gt;才完工。&lt;/Text&gt;&#13;&#10;            &lt;/Box&gt;&#13;&#10;        &lt;/Box&gt;&#13;&#10;        &lt;Box style={{ width: 420, flexDirection: 'column', justifyContent: 'center', gap: 12 }}&gt;&#13;&#10;            &lt;Text style={{ fontSize: 18, fontWeight: 'bold', color: '#22D3EE' }}&gt;案例提示我们&lt;/Text&gt;&#13;&#10;            &lt;Box style={{ background: '#111B2E', borderRadius: 10, padding: '13px 20px' }}&gt;&lt;Text style={{ fontSize: 15.5, color: '#E2E8F0' }}&gt;计划制定&lt;span style={{ fontWeight: 'bold' }}&gt;极为重要&lt;/span&gt;&lt;/Text&gt;&lt;/Box&gt;&#13;&#10;            &lt;Box style={{ background: '#111B2E', borderRadius: 10, padding: '13px 20px' }}&gt;&lt;Text style={{ fontSize: 15.5, color: '#E2E8F0' }}&gt;应在&lt;span style={{ fontWeight: 'bold' }}&gt;实施初期&lt;/span&gt;就制定&lt;/Text&gt;&lt;/Box&gt;&#13;&#10;            &lt;Box style={{ background: '#111B2E', borderRadius: 10, padding: '13px 20px' }}&gt;&lt;Text style={{ fontSize: 15.5, color: '#E2E8F0' }}&gt;必须&lt;span style={{ fontWeight: 'bold', color: '#22D3EE' }}&gt;科学、准确&lt;/span&gt;，才能真正促进管理&lt;/Text&gt;&lt;/Box&gt;&#13;&#10;            &lt;Box style={{ background: 'rgba(139,92,246,0.10)', borderRadius: 10, padding: '13px 20px', border: '1px solid rgba(139,92,246,0.45)' }}&gt;&#13;&#10;                &lt;Text style={{ fontSize: 14.5, color: '#94A3B8', lineHeight: 1.6 }}&gt;缺乏对项目规模的准确了解，是低估规模的主要原因。&lt;/Text&gt;&#13;&#10;            &lt;/Box&gt;&#13;&#10;        &lt;/Box&gt;&#13;&#10;    &lt;/Box&gt;&#13;&#10;    &lt;Box style={{ height: 40, flexDirection: 'row', justifyContent: 'space-between', alignItems: 'center', marginTop: 16 }}&gt;&#13;&#10;        &lt;Text style={{ fontSize: 14, color: '#94A3B8' }}&gt;03 项目计划与工作分解&lt;/Text&gt;&#13;&#10;        &lt;Text style={{ fontSize: 14, color: '#94A3B8' }}&gt;21 / 47&lt;/Text&gt;&#13;&#10;    &lt;/Box&gt;&#13;&#10;&lt;/Slide&gt;&#13;&#10;"/>
        <p:cNvGrpSpPr/>
        <p:nvPr/>
      </p:nvGrpSpPr>
      <p:grpSpPr>
        <a:xfrm>
          <a:off x="0" y="0"/>
          <a:ext cx="0" cy="0"/>
          <a:chOff x="0" y="0"/>
          <a:chExt cx="0" cy="0"/>
        </a:xfrm>
      </p:grpSpPr>
      <p:sp>
        <p:nvSpPr>
          <p:cNvPr id="310" name="矩形 309"/>
          <p:cNvSpPr/>
          <p:nvPr/>
        </p:nvSpPr>
        <p:spPr>
          <a:xfrm>
            <a:off x="0" y="0"/>
            <a:ext cx="12192000" cy="6858000"/>
          </a:xfrm>
          <a:prstGeom prst="rect">
            <a:avLst/>
          </a:prstGeom>
          <a:solidFill>
            <a:srgbClr val="0B1220"/>
          </a:solidFill>
        </p:spPr>
        <p:txBody>
          <a:bodyPr/>
          <a:p/>
        </p:txBody>
      </p:sp>
      <p:sp>
        <p:nvSpPr>
          <p:cNvPr id="311" name="圆角矩形 310"/>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312" name="文本框 311" descr="{&quot;isTemplate&quot;:true,&quot;type&quot;:&quot;text&quot;}"/>
          <p:cNvSpPr txBox="1"/>
          <p:nvPr/>
        </p:nvSpPr>
        <p:spPr>
          <a:xfrm>
            <a:off x="857250" y="476250"/>
            <a:ext cx="32385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案例引入：小王的故事</a:t>
            </a:r>
            <a:endParaRPr lang="zh-CN" sz="2550" b="1">
              <a:solidFill>
                <a:srgbClr val="E2E8F0"/>
              </a:solidFill>
              <a:latin typeface="微软雅黑" panose="020B0503020204020204" charset="-122"/>
              <a:ea typeface="微软雅黑" panose="020B0503020204020204" charset="-122"/>
            </a:endParaRPr>
          </a:p>
        </p:txBody>
      </p:sp>
      <p:sp>
        <p:nvSpPr>
          <p:cNvPr id="313" name="文本框 312" descr="{&quot;isTemplate&quot;:true,&quot;type&quot;:&quot;text&quot;}"/>
          <p:cNvSpPr txBox="1"/>
          <p:nvPr/>
        </p:nvSpPr>
        <p:spPr>
          <a:xfrm>
            <a:off x="609600" y="2657475"/>
            <a:ext cx="6705600" cy="704850"/>
          </a:xfrm>
          <a:prstGeom prst="rect">
            <a:avLst/>
          </a:prstGeom>
        </p:spPr>
        <p:txBody>
          <a:bodyPr wrap="square" lIns="0" tIns="0" rIns="0" bIns="0">
            <a:normAutofit/>
          </a:bodyPr>
          <a:p>
            <a:pPr>
              <a:lnSpc>
                <a:spcPct val="180000"/>
              </a:lnSpc>
            </a:pPr>
            <a:r>
              <a:rPr lang="zh-CN" sz="1275">
                <a:solidFill>
                  <a:srgbClr val="E2E8F0"/>
                </a:solidFill>
                <a:latin typeface="微软雅黑" panose="020B0503020204020204" charset="-122"/>
                <a:ea typeface="微软雅黑" panose="020B0503020204020204" charset="-122"/>
              </a:rPr>
              <a:t>小王花</a:t>
            </a:r>
            <a:r>
              <a:rPr lang="en-US" sz="1275">
                <a:solidFill>
                  <a:srgbClr val="E2E8F0"/>
                </a:solidFill>
                <a:latin typeface="微软雅黑" panose="020B0503020204020204" charset="-122"/>
                <a:ea typeface="微软雅黑" panose="020B0503020204020204" charset="-122"/>
              </a:rPr>
              <a:t> 1 </a:t>
            </a:r>
            <a:r>
              <a:rPr lang="zh-CN" sz="1275">
                <a:solidFill>
                  <a:srgbClr val="E2E8F0"/>
                </a:solidFill>
                <a:latin typeface="微软雅黑" panose="020B0503020204020204" charset="-122"/>
                <a:ea typeface="微软雅黑" panose="020B0503020204020204" charset="-122"/>
              </a:rPr>
              <a:t>周制定了一个</a:t>
            </a:r>
            <a:r>
              <a:rPr lang="en-US" sz="1275">
                <a:solidFill>
                  <a:srgbClr val="E2E8F0"/>
                </a:solidFill>
                <a:latin typeface="微软雅黑" panose="020B0503020204020204" charset="-122"/>
                <a:ea typeface="微软雅黑" panose="020B0503020204020204" charset="-122"/>
              </a:rPr>
              <a:t>"</a:t>
            </a:r>
            <a:r>
              <a:rPr lang="zh-CN" sz="1275">
                <a:solidFill>
                  <a:srgbClr val="E2E8F0"/>
                </a:solidFill>
                <a:latin typeface="微软雅黑" panose="020B0503020204020204" charset="-122"/>
                <a:ea typeface="微软雅黑" panose="020B0503020204020204" charset="-122"/>
              </a:rPr>
              <a:t>看起来科学合理</a:t>
            </a:r>
            <a:r>
              <a:rPr lang="en-US" sz="1275">
                <a:solidFill>
                  <a:srgbClr val="E2E8F0"/>
                </a:solidFill>
                <a:latin typeface="微软雅黑" panose="020B0503020204020204" charset="-122"/>
                <a:ea typeface="微软雅黑" panose="020B0503020204020204" charset="-122"/>
              </a:rPr>
              <a:t>"</a:t>
            </a:r>
            <a:r>
              <a:rPr lang="zh-CN" sz="1275">
                <a:solidFill>
                  <a:srgbClr val="E2E8F0"/>
                </a:solidFill>
                <a:latin typeface="微软雅黑" panose="020B0503020204020204" charset="-122"/>
                <a:ea typeface="微软雅黑" panose="020B0503020204020204" charset="-122"/>
              </a:rPr>
              <a:t>的项目计划——详细工作安排、明确分工、具体进度。计划获批后开始实施，</a:t>
            </a:r>
            <a:r>
              <a:rPr lang="zh-CN" sz="1275" b="1">
                <a:solidFill>
                  <a:srgbClr val="FCA5A5"/>
                </a:solidFill>
                <a:latin typeface="微软雅黑" panose="020B0503020204020204" charset="-122"/>
                <a:ea typeface="微软雅黑" panose="020B0503020204020204" charset="-122"/>
              </a:rPr>
              <a:t>看似顺利</a:t>
            </a:r>
            <a:r>
              <a:rPr lang="zh-CN" sz="1275">
                <a:solidFill>
                  <a:srgbClr val="E2E8F0"/>
                </a:solidFill>
                <a:latin typeface="微软雅黑" panose="020B0503020204020204" charset="-122"/>
                <a:ea typeface="微软雅黑" panose="020B0503020204020204" charset="-122"/>
              </a:rPr>
              <a:t>。</a:t>
            </a:r>
            <a:endParaRPr lang="zh-CN" sz="1275">
              <a:solidFill>
                <a:srgbClr val="E2E8F0"/>
              </a:solidFill>
              <a:latin typeface="微软雅黑" panose="020B0503020204020204" charset="-122"/>
              <a:ea typeface="微软雅黑" panose="020B0503020204020204" charset="-122"/>
            </a:endParaRPr>
          </a:p>
        </p:txBody>
      </p:sp>
      <p:sp>
        <p:nvSpPr>
          <p:cNvPr id="314" name="圆角矩形 313"/>
          <p:cNvSpPr/>
          <p:nvPr/>
        </p:nvSpPr>
        <p:spPr>
          <a:xfrm>
            <a:off x="657225" y="3552825"/>
            <a:ext cx="6705600" cy="1066800"/>
          </a:xfrm>
          <a:prstGeom prst="roundRect">
            <a:avLst>
              <a:gd name="adj" fmla="val 12500"/>
            </a:avLst>
          </a:prstGeom>
          <a:solidFill>
            <a:srgbClr val="111B2E"/>
          </a:solidFill>
        </p:spPr>
        <p:txBody>
          <a:bodyPr/>
          <a:p/>
        </p:txBody>
      </p:sp>
      <p:sp>
        <p:nvSpPr>
          <p:cNvPr id="315" name="任意多边形 314"/>
          <p:cNvSpPr/>
          <p:nvPr/>
        </p:nvSpPr>
        <p:spPr>
          <a:xfrm>
            <a:off x="657225" y="3552825"/>
            <a:ext cx="6705600" cy="1066800"/>
          </a:xfrm>
          <a:custGeom>
            <a:avLst/>
            <a:gdLst/>
            <a:ahLst/>
            <a:cxnLst/>
            <a:pathLst>
              <a:path w="704" h="112">
                <a:moveTo>
                  <a:pt x="13" y="0"/>
                </a:moveTo>
                <a:cubicBezTo>
                  <a:pt x="9" y="0"/>
                  <a:pt x="5" y="4"/>
                  <a:pt x="5" y="9"/>
                </a:cubicBezTo>
                <a:lnTo>
                  <a:pt x="5" y="103"/>
                </a:lnTo>
                <a:cubicBezTo>
                  <a:pt x="5" y="107"/>
                  <a:pt x="8" y="111"/>
                  <a:pt x="12" y="112"/>
                </a:cubicBezTo>
                <a:cubicBezTo>
                  <a:pt x="5" y="111"/>
                  <a:pt x="0" y="105"/>
                  <a:pt x="0" y="98"/>
                </a:cubicBezTo>
                <a:lnTo>
                  <a:pt x="0" y="14"/>
                </a:lnTo>
                <a:cubicBezTo>
                  <a:pt x="0" y="6"/>
                  <a:pt x="6" y="0"/>
                  <a:pt x="14" y="0"/>
                </a:cubicBezTo>
                <a:close/>
              </a:path>
            </a:pathLst>
          </a:custGeom>
          <a:solidFill>
            <a:srgbClr val="FCA5A5"/>
          </a:solidFill>
        </p:spPr>
        <p:txBody>
          <a:bodyPr/>
          <a:p/>
        </p:txBody>
      </p:sp>
      <p:sp>
        <p:nvSpPr>
          <p:cNvPr id="316" name="文本框 315" descr="{&quot;isTemplate&quot;:true,&quot;type&quot;:&quot;text&quot;}"/>
          <p:cNvSpPr txBox="1"/>
          <p:nvPr/>
        </p:nvSpPr>
        <p:spPr>
          <a:xfrm>
            <a:off x="904875" y="3743325"/>
            <a:ext cx="6162675" cy="685800"/>
          </a:xfrm>
          <a:prstGeom prst="rect">
            <a:avLst/>
          </a:prstGeom>
        </p:spPr>
        <p:txBody>
          <a:bodyPr wrap="square" lIns="0" tIns="0" rIns="0" bIns="0">
            <a:normAutofit/>
          </a:bodyPr>
          <a:p>
            <a:pPr>
              <a:lnSpc>
                <a:spcPct val="180000"/>
              </a:lnSpc>
            </a:pPr>
            <a:r>
              <a:rPr lang="zh-CN" sz="1240">
                <a:solidFill>
                  <a:srgbClr val="E2E8F0"/>
                </a:solidFill>
                <a:latin typeface="微软雅黑" panose="020B0503020204020204" charset="-122"/>
                <a:ea typeface="微软雅黑" panose="020B0503020204020204" charset="-122"/>
              </a:rPr>
              <a:t>然而：低估了项目规模、高估了人员能力，计划过于乐观——计划多次调整，进度一拖再拖，最终</a:t>
            </a:r>
            <a:r>
              <a:rPr lang="zh-CN" sz="1240" b="1">
                <a:solidFill>
                  <a:srgbClr val="FCA5A5"/>
                </a:solidFill>
                <a:latin typeface="微软雅黑" panose="020B0503020204020204" charset="-122"/>
                <a:ea typeface="微软雅黑" panose="020B0503020204020204" charset="-122"/>
              </a:rPr>
              <a:t>拖延</a:t>
            </a:r>
            <a:r>
              <a:rPr lang="en-US" sz="1240" b="1">
                <a:solidFill>
                  <a:srgbClr val="FCA5A5"/>
                </a:solidFill>
                <a:latin typeface="微软雅黑" panose="020B0503020204020204" charset="-122"/>
                <a:ea typeface="微软雅黑" panose="020B0503020204020204" charset="-122"/>
              </a:rPr>
              <a:t> 6 </a:t>
            </a:r>
            <a:r>
              <a:rPr lang="zh-CN" sz="1240" b="1">
                <a:solidFill>
                  <a:srgbClr val="FCA5A5"/>
                </a:solidFill>
                <a:latin typeface="微软雅黑" panose="020B0503020204020204" charset="-122"/>
                <a:ea typeface="微软雅黑" panose="020B0503020204020204" charset="-122"/>
              </a:rPr>
              <a:t>个月</a:t>
            </a:r>
            <a:r>
              <a:rPr lang="zh-CN" sz="1240">
                <a:solidFill>
                  <a:srgbClr val="E2E8F0"/>
                </a:solidFill>
                <a:latin typeface="微软雅黑" panose="020B0503020204020204" charset="-122"/>
                <a:ea typeface="微软雅黑" panose="020B0503020204020204" charset="-122"/>
              </a:rPr>
              <a:t>才完工。</a:t>
            </a:r>
            <a:endParaRPr lang="zh-CN" sz="1240">
              <a:solidFill>
                <a:srgbClr val="E2E8F0"/>
              </a:solidFill>
              <a:latin typeface="微软雅黑" panose="020B0503020204020204" charset="-122"/>
              <a:ea typeface="微软雅黑" panose="020B0503020204020204" charset="-122"/>
            </a:endParaRPr>
          </a:p>
        </p:txBody>
      </p:sp>
      <p:sp>
        <p:nvSpPr>
          <p:cNvPr id="317" name="文本框 316" descr="{&quot;isTemplate&quot;:true,&quot;type&quot;:&quot;text&quot;}"/>
          <p:cNvSpPr txBox="1"/>
          <p:nvPr/>
        </p:nvSpPr>
        <p:spPr>
          <a:xfrm>
            <a:off x="7581900" y="2409825"/>
            <a:ext cx="4000500" cy="209550"/>
          </a:xfrm>
          <a:prstGeom prst="rect">
            <a:avLst/>
          </a:prstGeom>
        </p:spPr>
        <p:txBody>
          <a:bodyPr wrap="none" lIns="0" tIns="0" rIns="0" bIns="0"/>
          <a:p>
            <a:pPr>
              <a:lnSpc>
                <a:spcPct val="100000"/>
              </a:lnSpc>
            </a:pPr>
            <a:r>
              <a:rPr lang="zh-CN" sz="1350" b="1">
                <a:solidFill>
                  <a:srgbClr val="22D3EE"/>
                </a:solidFill>
                <a:latin typeface="微软雅黑" panose="020B0503020204020204" charset="-122"/>
                <a:ea typeface="微软雅黑" panose="020B0503020204020204" charset="-122"/>
              </a:rPr>
              <a:t>案例提示我们</a:t>
            </a:r>
            <a:endParaRPr lang="zh-CN" sz="1350" b="1">
              <a:solidFill>
                <a:srgbClr val="22D3EE"/>
              </a:solidFill>
              <a:latin typeface="微软雅黑" panose="020B0503020204020204" charset="-122"/>
              <a:ea typeface="微软雅黑" panose="020B0503020204020204" charset="-122"/>
            </a:endParaRPr>
          </a:p>
        </p:txBody>
      </p:sp>
      <p:sp>
        <p:nvSpPr>
          <p:cNvPr id="318" name="圆角矩形 317"/>
          <p:cNvSpPr/>
          <p:nvPr/>
        </p:nvSpPr>
        <p:spPr>
          <a:xfrm>
            <a:off x="7581900" y="2733675"/>
            <a:ext cx="4000500" cy="428625"/>
          </a:xfrm>
          <a:prstGeom prst="roundRect">
            <a:avLst>
              <a:gd name="adj" fmla="val 22222"/>
            </a:avLst>
          </a:prstGeom>
          <a:solidFill>
            <a:srgbClr val="111B2E"/>
          </a:solidFill>
        </p:spPr>
        <p:txBody>
          <a:bodyPr/>
          <a:p/>
        </p:txBody>
      </p:sp>
      <p:sp>
        <p:nvSpPr>
          <p:cNvPr id="319" name="文本框 318" descr="{&quot;isTemplate&quot;:true,&quot;type&quot;:&quot;text&quot;}"/>
          <p:cNvSpPr txBox="1"/>
          <p:nvPr/>
        </p:nvSpPr>
        <p:spPr>
          <a:xfrm>
            <a:off x="7772400" y="2857500"/>
            <a:ext cx="3619500" cy="180975"/>
          </a:xfrm>
          <a:prstGeom prst="rect">
            <a:avLst/>
          </a:prstGeom>
        </p:spPr>
        <p:txBody>
          <a:bodyPr wrap="none" lIns="0" tIns="0" rIns="0" bIns="0"/>
          <a:p>
            <a:pPr>
              <a:lnSpc>
                <a:spcPct val="100000"/>
              </a:lnSpc>
            </a:pPr>
            <a:r>
              <a:rPr lang="zh-CN" sz="1165">
                <a:solidFill>
                  <a:srgbClr val="E2E8F0"/>
                </a:solidFill>
                <a:latin typeface="微软雅黑" panose="020B0503020204020204" charset="-122"/>
                <a:ea typeface="微软雅黑" panose="020B0503020204020204" charset="-122"/>
              </a:rPr>
              <a:t>计划制定</a:t>
            </a:r>
            <a:r>
              <a:rPr lang="zh-CN" sz="1165" b="1">
                <a:solidFill>
                  <a:srgbClr val="E2E8F0"/>
                </a:solidFill>
                <a:latin typeface="微软雅黑" panose="020B0503020204020204" charset="-122"/>
                <a:ea typeface="微软雅黑" panose="020B0503020204020204" charset="-122"/>
              </a:rPr>
              <a:t>极为重要</a:t>
            </a:r>
            <a:endParaRPr lang="zh-CN" sz="1165" b="1">
              <a:solidFill>
                <a:srgbClr val="E2E8F0"/>
              </a:solidFill>
              <a:latin typeface="微软雅黑" panose="020B0503020204020204" charset="-122"/>
              <a:ea typeface="微软雅黑" panose="020B0503020204020204" charset="-122"/>
            </a:endParaRPr>
          </a:p>
        </p:txBody>
      </p:sp>
      <p:sp>
        <p:nvSpPr>
          <p:cNvPr id="320" name="圆角矩形 319"/>
          <p:cNvSpPr/>
          <p:nvPr/>
        </p:nvSpPr>
        <p:spPr>
          <a:xfrm>
            <a:off x="7581900" y="3276600"/>
            <a:ext cx="4000500" cy="428625"/>
          </a:xfrm>
          <a:prstGeom prst="roundRect">
            <a:avLst>
              <a:gd name="adj" fmla="val 22222"/>
            </a:avLst>
          </a:prstGeom>
          <a:solidFill>
            <a:srgbClr val="111B2E"/>
          </a:solidFill>
        </p:spPr>
        <p:txBody>
          <a:bodyPr/>
          <a:p/>
        </p:txBody>
      </p:sp>
      <p:sp>
        <p:nvSpPr>
          <p:cNvPr id="321" name="文本框 320" descr="{&quot;isTemplate&quot;:true,&quot;type&quot;:&quot;text&quot;}"/>
          <p:cNvSpPr txBox="1"/>
          <p:nvPr/>
        </p:nvSpPr>
        <p:spPr>
          <a:xfrm>
            <a:off x="7772400" y="3400425"/>
            <a:ext cx="3619500" cy="180975"/>
          </a:xfrm>
          <a:prstGeom prst="rect">
            <a:avLst/>
          </a:prstGeom>
        </p:spPr>
        <p:txBody>
          <a:bodyPr wrap="none" lIns="0" tIns="0" rIns="0" bIns="0"/>
          <a:p>
            <a:pPr>
              <a:lnSpc>
                <a:spcPct val="100000"/>
              </a:lnSpc>
            </a:pPr>
            <a:r>
              <a:rPr lang="zh-CN" sz="1165">
                <a:solidFill>
                  <a:srgbClr val="E2E8F0"/>
                </a:solidFill>
                <a:latin typeface="微软雅黑" panose="020B0503020204020204" charset="-122"/>
                <a:ea typeface="微软雅黑" panose="020B0503020204020204" charset="-122"/>
              </a:rPr>
              <a:t>应在</a:t>
            </a:r>
            <a:r>
              <a:rPr lang="zh-CN" sz="1165" b="1">
                <a:solidFill>
                  <a:srgbClr val="E2E8F0"/>
                </a:solidFill>
                <a:latin typeface="微软雅黑" panose="020B0503020204020204" charset="-122"/>
                <a:ea typeface="微软雅黑" panose="020B0503020204020204" charset="-122"/>
              </a:rPr>
              <a:t>实施初期</a:t>
            </a:r>
            <a:r>
              <a:rPr lang="zh-CN" sz="1165">
                <a:solidFill>
                  <a:srgbClr val="E2E8F0"/>
                </a:solidFill>
                <a:latin typeface="微软雅黑" panose="020B0503020204020204" charset="-122"/>
                <a:ea typeface="微软雅黑" panose="020B0503020204020204" charset="-122"/>
              </a:rPr>
              <a:t>就制定</a:t>
            </a:r>
            <a:endParaRPr lang="zh-CN" sz="1165">
              <a:solidFill>
                <a:srgbClr val="E2E8F0"/>
              </a:solidFill>
              <a:latin typeface="微软雅黑" panose="020B0503020204020204" charset="-122"/>
              <a:ea typeface="微软雅黑" panose="020B0503020204020204" charset="-122"/>
            </a:endParaRPr>
          </a:p>
        </p:txBody>
      </p:sp>
      <p:sp>
        <p:nvSpPr>
          <p:cNvPr id="322" name="圆角矩形 321"/>
          <p:cNvSpPr/>
          <p:nvPr/>
        </p:nvSpPr>
        <p:spPr>
          <a:xfrm>
            <a:off x="7581900" y="3819525"/>
            <a:ext cx="4000500" cy="428625"/>
          </a:xfrm>
          <a:prstGeom prst="roundRect">
            <a:avLst>
              <a:gd name="adj" fmla="val 22222"/>
            </a:avLst>
          </a:prstGeom>
          <a:solidFill>
            <a:srgbClr val="111B2E"/>
          </a:solidFill>
        </p:spPr>
        <p:txBody>
          <a:bodyPr/>
          <a:p/>
        </p:txBody>
      </p:sp>
      <p:sp>
        <p:nvSpPr>
          <p:cNvPr id="323" name="文本框 322" descr="{&quot;isTemplate&quot;:true,&quot;type&quot;:&quot;text&quot;}"/>
          <p:cNvSpPr txBox="1"/>
          <p:nvPr/>
        </p:nvSpPr>
        <p:spPr>
          <a:xfrm>
            <a:off x="7772400" y="3943350"/>
            <a:ext cx="3619500" cy="180975"/>
          </a:xfrm>
          <a:prstGeom prst="rect">
            <a:avLst/>
          </a:prstGeom>
        </p:spPr>
        <p:txBody>
          <a:bodyPr wrap="none" lIns="0" tIns="0" rIns="0" bIns="0"/>
          <a:p>
            <a:pPr>
              <a:lnSpc>
                <a:spcPct val="100000"/>
              </a:lnSpc>
            </a:pPr>
            <a:r>
              <a:rPr lang="zh-CN" sz="1165">
                <a:solidFill>
                  <a:srgbClr val="E2E8F0"/>
                </a:solidFill>
                <a:latin typeface="微软雅黑" panose="020B0503020204020204" charset="-122"/>
                <a:ea typeface="微软雅黑" panose="020B0503020204020204" charset="-122"/>
              </a:rPr>
              <a:t>必须</a:t>
            </a:r>
            <a:r>
              <a:rPr lang="zh-CN" sz="1165" b="1">
                <a:solidFill>
                  <a:srgbClr val="22D3EE"/>
                </a:solidFill>
                <a:latin typeface="微软雅黑" panose="020B0503020204020204" charset="-122"/>
                <a:ea typeface="微软雅黑" panose="020B0503020204020204" charset="-122"/>
              </a:rPr>
              <a:t>科学、准确</a:t>
            </a:r>
            <a:r>
              <a:rPr lang="zh-CN" sz="1165">
                <a:solidFill>
                  <a:srgbClr val="E2E8F0"/>
                </a:solidFill>
                <a:latin typeface="微软雅黑" panose="020B0503020204020204" charset="-122"/>
                <a:ea typeface="微软雅黑" panose="020B0503020204020204" charset="-122"/>
              </a:rPr>
              <a:t>，才能真正促进管理</a:t>
            </a:r>
            <a:endParaRPr lang="zh-CN" sz="1165">
              <a:solidFill>
                <a:srgbClr val="E2E8F0"/>
              </a:solidFill>
              <a:latin typeface="微软雅黑" panose="020B0503020204020204" charset="-122"/>
              <a:ea typeface="微软雅黑" panose="020B0503020204020204" charset="-122"/>
            </a:endParaRPr>
          </a:p>
        </p:txBody>
      </p:sp>
      <p:sp>
        <p:nvSpPr>
          <p:cNvPr id="324" name="圆角矩形 323"/>
          <p:cNvSpPr/>
          <p:nvPr/>
        </p:nvSpPr>
        <p:spPr>
          <a:xfrm>
            <a:off x="7581900" y="4362450"/>
            <a:ext cx="4000500" cy="514350"/>
          </a:xfrm>
          <a:prstGeom prst="roundRect">
            <a:avLst>
              <a:gd name="adj" fmla="val 18519"/>
            </a:avLst>
          </a:prstGeom>
          <a:solidFill>
            <a:srgbClr val="8B5CF6">
              <a:alpha val="10000"/>
            </a:srgbClr>
          </a:solidFill>
          <a:ln w="12700">
            <a:solidFill>
              <a:srgbClr val="8B5CF6">
                <a:alpha val="45000"/>
              </a:srgbClr>
            </a:solidFill>
            <a:prstDash val="solid"/>
          </a:ln>
        </p:spPr>
        <p:txBody>
          <a:bodyPr/>
          <a:p/>
        </p:txBody>
      </p:sp>
      <p:sp>
        <p:nvSpPr>
          <p:cNvPr id="325" name="文本框 324" descr="{&quot;isTemplate&quot;:true,&quot;type&quot;:&quot;text&quot;}"/>
          <p:cNvSpPr txBox="1"/>
          <p:nvPr/>
        </p:nvSpPr>
        <p:spPr>
          <a:xfrm>
            <a:off x="7772400" y="4486275"/>
            <a:ext cx="3619500" cy="266700"/>
          </a:xfrm>
          <a:prstGeom prst="rect">
            <a:avLst/>
          </a:prstGeom>
        </p:spPr>
        <p:txBody>
          <a:bodyPr wrap="none" lIns="0" tIns="0" rIns="0" bIns="0"/>
          <a:p>
            <a:pPr>
              <a:lnSpc>
                <a:spcPct val="160000"/>
              </a:lnSpc>
            </a:pPr>
            <a:r>
              <a:rPr lang="zh-CN" sz="1090">
                <a:solidFill>
                  <a:srgbClr val="94A3B8"/>
                </a:solidFill>
                <a:latin typeface="微软雅黑" panose="020B0503020204020204" charset="-122"/>
                <a:ea typeface="微软雅黑" panose="020B0503020204020204" charset="-122"/>
              </a:rPr>
              <a:t>缺乏对项目规模的准确了解，是低估规模的主要原因。</a:t>
            </a:r>
            <a:endParaRPr lang="zh-CN" sz="1090">
              <a:solidFill>
                <a:srgbClr val="94A3B8"/>
              </a:solidFill>
              <a:latin typeface="微软雅黑" panose="020B0503020204020204" charset="-122"/>
              <a:ea typeface="微软雅黑" panose="020B0503020204020204" charset="-122"/>
            </a:endParaRPr>
          </a:p>
        </p:txBody>
      </p:sp>
      <p:sp>
        <p:nvSpPr>
          <p:cNvPr id="326" name="文本框 325"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327" name="文本框 326"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21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28"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什么是软件项目计划？&lt;/Text&gt;&#13;&#10;    &lt;/Box&gt;&#13;&#10;    &lt;Box style={{ flex: 1, flexDirection: 'row', gap: 28 }}&gt;&#13;&#10;        &lt;Box style={{ flex: 1, justifyContent: 'center' }}&gt;&#13;&#10;            &lt;Box style={{ background: '#111B2E', borderRadius: 14, padding: '26px 30px', borderLeft: '5px solid #3B82F6' }}&gt;&#13;&#10;                &lt;Text style={{ fontSize: 21, color: '#E2E8F0', lineHeight: 1.8 }}&gt;软件项目计划是对软件项目实施所涉及的&lt;span style={{ fontWeight: 'bold', color: '#93C5FD' }}&gt;活动、人员的安排、任务的划分、开发进度、资源的分配和使用&lt;/span&gt;等方面做出的预先规划。&lt;/Text&gt;&#13;&#10;            &lt;/Box&gt;&#13;&#10;            &lt;Text style={{ fontSize: 16, color: '#94A3B8', lineHeight: 1.7, marginTop: 18 }}&gt;其中进度计划最难以制定、对项目实施影响最大——本讲重点关注进度计划的制定。&lt;/Text&gt;&#13;&#10;        &lt;/Box&gt;&#13;&#10;        &lt;Box style={{ width: 430, flexDirection: 'column', justifyContent: 'center', gap: 14 }}&gt;&#13;&#10;            &lt;Box style={{ background: '#111B2E', borderRadius: 12, padding: '16px 22px' }}&gt;&#13;&#10;                &lt;Text style={{ fontSize: 16.5, color: '#E2E8F0', lineHeight: 1.7 }}&gt;&lt;span style={{ fontWeight: 'bold', color: '#93C5FD' }}&gt;活动和任务：&lt;/span&gt;做什么、谁做、按什么顺序&lt;/Text&gt;&#13;&#10;            &lt;/Box&gt;&#13;&#10;            &lt;Box style={{ background: '#111B2E', borderRadius: 12, padding: '16px 22px' }}&gt;&#13;&#10;                &lt;Text style={{ fontSize: 16.5, color: '#E2E8F0', lineHeight: 1.7 }}&gt;&lt;span style={{ fontWeight: 'bold', color: '#67E8F9' }}&gt;资源及其安排：&lt;/span&gt;人员、资金、设备怎么分配&lt;/Text&gt;&#13;&#10;            &lt;/Box&gt;&#13;&#10;            &lt;Box style={{ background: 'rgba(139,92,246,0.10)', borderRadius: 12, padding: '16px 22px', border: '1px solid rgba(139,92,246,0.45)' }}&gt;&#13;&#10;                &lt;Text style={{ fontSize: 16.5, color: '#E2E8F0', lineHeight: 1.7 }}&gt;&lt;span style={{ fontWeight: 'bold', color: '#C4B5FD' }}&gt;进度计划：&lt;/span&gt;何时开始、何时结束——三者密切相关&lt;/Text&gt;&#13;&#10;            &lt;/Box&gt;&#13;&#10;        &lt;/Box&gt;&#13;&#10;    &lt;/Box&gt;&#13;&#10;    &lt;Box style={{ height: 40, flexDirection: 'row', justifyContent: 'space-between', alignItems: 'center', marginTop: 16 }}&gt;&#13;&#10;        &lt;Text style={{ fontSize: 14, color: '#94A3B8' }}&gt;03 项目计划与工作分解&lt;/Text&gt;&#13;&#10;        &lt;Text style={{ fontSize: 14, color: '#94A3B8' }}&gt;22 / 47&lt;/Text&gt;&#13;&#10;    &lt;/Box&gt;&#13;&#10;&lt;/Slide&gt;&#13;&#10;"/>
        <p:cNvGrpSpPr/>
        <p:nvPr/>
      </p:nvGrpSpPr>
      <p:grpSpPr>
        <a:xfrm>
          <a:off x="0" y="0"/>
          <a:ext cx="0" cy="0"/>
          <a:chOff x="0" y="0"/>
          <a:chExt cx="0" cy="0"/>
        </a:xfrm>
      </p:grpSpPr>
      <p:sp>
        <p:nvSpPr>
          <p:cNvPr id="329" name="矩形 328"/>
          <p:cNvSpPr/>
          <p:nvPr/>
        </p:nvSpPr>
        <p:spPr>
          <a:xfrm>
            <a:off x="0" y="0"/>
            <a:ext cx="12192000" cy="6858000"/>
          </a:xfrm>
          <a:prstGeom prst="rect">
            <a:avLst/>
          </a:prstGeom>
          <a:solidFill>
            <a:srgbClr val="0B1220"/>
          </a:solidFill>
        </p:spPr>
        <p:txBody>
          <a:bodyPr/>
          <a:p/>
        </p:txBody>
      </p:sp>
      <p:sp>
        <p:nvSpPr>
          <p:cNvPr id="330" name="圆角矩形 329"/>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331" name="文本框 330" descr="{&quot;isTemplate&quot;:true,&quot;type&quot;:&quot;text&quot;}"/>
          <p:cNvSpPr txBox="1"/>
          <p:nvPr/>
        </p:nvSpPr>
        <p:spPr>
          <a:xfrm>
            <a:off x="857250" y="476250"/>
            <a:ext cx="32385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什么是软件项目计划？</a:t>
            </a:r>
            <a:endParaRPr lang="zh-CN" sz="2550" b="1">
              <a:solidFill>
                <a:srgbClr val="E2E8F0"/>
              </a:solidFill>
              <a:latin typeface="微软雅黑" panose="020B0503020204020204" charset="-122"/>
              <a:ea typeface="微软雅黑" panose="020B0503020204020204" charset="-122"/>
            </a:endParaRPr>
          </a:p>
        </p:txBody>
      </p:sp>
      <p:sp>
        <p:nvSpPr>
          <p:cNvPr id="332" name="圆角矩形 331"/>
          <p:cNvSpPr/>
          <p:nvPr/>
        </p:nvSpPr>
        <p:spPr>
          <a:xfrm>
            <a:off x="657225" y="2714625"/>
            <a:ext cx="6610350" cy="1362075"/>
          </a:xfrm>
          <a:prstGeom prst="roundRect">
            <a:avLst>
              <a:gd name="adj" fmla="val 9790"/>
            </a:avLst>
          </a:prstGeom>
          <a:solidFill>
            <a:srgbClr val="111B2E"/>
          </a:solidFill>
        </p:spPr>
        <p:txBody>
          <a:bodyPr/>
          <a:p/>
        </p:txBody>
      </p:sp>
      <p:sp>
        <p:nvSpPr>
          <p:cNvPr id="333" name="任意多边形 332"/>
          <p:cNvSpPr/>
          <p:nvPr/>
        </p:nvSpPr>
        <p:spPr>
          <a:xfrm>
            <a:off x="657225" y="2714625"/>
            <a:ext cx="6610350" cy="1362075"/>
          </a:xfrm>
          <a:custGeom>
            <a:avLst/>
            <a:gdLst/>
            <a:ahLst/>
            <a:cxnLst/>
            <a:pathLst>
              <a:path w="694" h="143">
                <a:moveTo>
                  <a:pt x="13" y="0"/>
                </a:moveTo>
                <a:cubicBezTo>
                  <a:pt x="9" y="0"/>
                  <a:pt x="5" y="4"/>
                  <a:pt x="5" y="9"/>
                </a:cubicBezTo>
                <a:lnTo>
                  <a:pt x="5" y="134"/>
                </a:lnTo>
                <a:cubicBezTo>
                  <a:pt x="5" y="138"/>
                  <a:pt x="8" y="142"/>
                  <a:pt x="12" y="143"/>
                </a:cubicBezTo>
                <a:cubicBezTo>
                  <a:pt x="5" y="142"/>
                  <a:pt x="0" y="136"/>
                  <a:pt x="0" y="129"/>
                </a:cubicBezTo>
                <a:lnTo>
                  <a:pt x="0" y="14"/>
                </a:lnTo>
                <a:cubicBezTo>
                  <a:pt x="0" y="6"/>
                  <a:pt x="6" y="0"/>
                  <a:pt x="14" y="0"/>
                </a:cubicBezTo>
                <a:close/>
              </a:path>
            </a:pathLst>
          </a:custGeom>
          <a:solidFill>
            <a:srgbClr val="3B82F6"/>
          </a:solidFill>
        </p:spPr>
        <p:txBody>
          <a:bodyPr/>
          <a:p/>
        </p:txBody>
      </p:sp>
      <p:sp>
        <p:nvSpPr>
          <p:cNvPr id="334" name="文本框 333" descr="{&quot;isTemplate&quot;:true,&quot;type&quot;:&quot;text&quot;}"/>
          <p:cNvSpPr txBox="1"/>
          <p:nvPr/>
        </p:nvSpPr>
        <p:spPr>
          <a:xfrm>
            <a:off x="942975" y="2962275"/>
            <a:ext cx="5991225" cy="866775"/>
          </a:xfrm>
          <a:prstGeom prst="rect">
            <a:avLst/>
          </a:prstGeom>
        </p:spPr>
        <p:txBody>
          <a:bodyPr wrap="square" lIns="0" tIns="0" rIns="0" bIns="0">
            <a:normAutofit/>
          </a:bodyPr>
          <a:p>
            <a:pPr>
              <a:lnSpc>
                <a:spcPct val="180000"/>
              </a:lnSpc>
            </a:pPr>
            <a:r>
              <a:rPr lang="zh-CN" sz="1575">
                <a:solidFill>
                  <a:srgbClr val="E2E8F0"/>
                </a:solidFill>
                <a:latin typeface="微软雅黑" panose="020B0503020204020204" charset="-122"/>
                <a:ea typeface="微软雅黑" panose="020B0503020204020204" charset="-122"/>
              </a:rPr>
              <a:t>软件项目计划是对软件项目实施所涉及的</a:t>
            </a:r>
            <a:r>
              <a:rPr lang="zh-CN" sz="1575" b="1">
                <a:solidFill>
                  <a:srgbClr val="93C5FD"/>
                </a:solidFill>
                <a:latin typeface="微软雅黑" panose="020B0503020204020204" charset="-122"/>
                <a:ea typeface="微软雅黑" panose="020B0503020204020204" charset="-122"/>
              </a:rPr>
              <a:t>活动、人员的安排、任务的划分、开发进度、资源的分配和使用</a:t>
            </a:r>
            <a:r>
              <a:rPr lang="zh-CN" sz="1575">
                <a:solidFill>
                  <a:srgbClr val="E2E8F0"/>
                </a:solidFill>
                <a:latin typeface="微软雅黑" panose="020B0503020204020204" charset="-122"/>
                <a:ea typeface="微软雅黑" panose="020B0503020204020204" charset="-122"/>
              </a:rPr>
              <a:t>等方面做出的预先规划。</a:t>
            </a:r>
            <a:endParaRPr lang="zh-CN" sz="1575">
              <a:solidFill>
                <a:srgbClr val="E2E8F0"/>
              </a:solidFill>
              <a:latin typeface="微软雅黑" panose="020B0503020204020204" charset="-122"/>
              <a:ea typeface="微软雅黑" panose="020B0503020204020204" charset="-122"/>
            </a:endParaRPr>
          </a:p>
        </p:txBody>
      </p:sp>
      <p:sp>
        <p:nvSpPr>
          <p:cNvPr id="335" name="文本框 334" descr="{&quot;isTemplate&quot;:true,&quot;type&quot;:&quot;text&quot;}"/>
          <p:cNvSpPr txBox="1"/>
          <p:nvPr/>
        </p:nvSpPr>
        <p:spPr>
          <a:xfrm>
            <a:off x="609600" y="4248150"/>
            <a:ext cx="6610350" cy="314325"/>
          </a:xfrm>
          <a:prstGeom prst="rect">
            <a:avLst/>
          </a:prstGeom>
        </p:spPr>
        <p:txBody>
          <a:bodyPr wrap="none" lIns="0" tIns="0" rIns="0" bIns="0"/>
          <a:p>
            <a:pPr>
              <a:lnSpc>
                <a:spcPct val="170000"/>
              </a:lnSpc>
            </a:pPr>
            <a:r>
              <a:rPr lang="zh-CN" sz="1200">
                <a:solidFill>
                  <a:srgbClr val="94A3B8"/>
                </a:solidFill>
                <a:latin typeface="微软雅黑" panose="020B0503020204020204" charset="-122"/>
                <a:ea typeface="微软雅黑" panose="020B0503020204020204" charset="-122"/>
              </a:rPr>
              <a:t>其中进度计划最难以制定、对项目实施影响最大——本讲重点关注进度计划的制定。</a:t>
            </a:r>
            <a:endParaRPr lang="zh-CN" sz="1200">
              <a:solidFill>
                <a:srgbClr val="94A3B8"/>
              </a:solidFill>
              <a:latin typeface="微软雅黑" panose="020B0503020204020204" charset="-122"/>
              <a:ea typeface="微软雅黑" panose="020B0503020204020204" charset="-122"/>
            </a:endParaRPr>
          </a:p>
        </p:txBody>
      </p:sp>
      <p:sp>
        <p:nvSpPr>
          <p:cNvPr id="336" name="圆角矩形 335"/>
          <p:cNvSpPr/>
          <p:nvPr/>
        </p:nvSpPr>
        <p:spPr>
          <a:xfrm>
            <a:off x="7486650" y="2562225"/>
            <a:ext cx="4095750" cy="628650"/>
          </a:xfrm>
          <a:prstGeom prst="roundRect">
            <a:avLst>
              <a:gd name="adj" fmla="val 18182"/>
            </a:avLst>
          </a:prstGeom>
          <a:solidFill>
            <a:srgbClr val="111B2E"/>
          </a:solidFill>
        </p:spPr>
        <p:txBody>
          <a:bodyPr/>
          <a:p/>
        </p:txBody>
      </p:sp>
      <p:sp>
        <p:nvSpPr>
          <p:cNvPr id="337" name="文本框 336" descr="{&quot;isTemplate&quot;:true,&quot;type&quot;:&quot;text&quot;}"/>
          <p:cNvSpPr txBox="1"/>
          <p:nvPr/>
        </p:nvSpPr>
        <p:spPr>
          <a:xfrm>
            <a:off x="7696200" y="2714625"/>
            <a:ext cx="3676650" cy="323850"/>
          </a:xfrm>
          <a:prstGeom prst="rect">
            <a:avLst/>
          </a:prstGeom>
        </p:spPr>
        <p:txBody>
          <a:bodyPr wrap="none" lIns="0" tIns="0" rIns="0" bIns="0"/>
          <a:p>
            <a:pPr>
              <a:lnSpc>
                <a:spcPct val="170000"/>
              </a:lnSpc>
            </a:pPr>
            <a:r>
              <a:rPr lang="zh-CN" sz="1240" b="1">
                <a:solidFill>
                  <a:srgbClr val="93C5FD"/>
                </a:solidFill>
                <a:latin typeface="微软雅黑" panose="020B0503020204020204" charset="-122"/>
                <a:ea typeface="微软雅黑" panose="020B0503020204020204" charset="-122"/>
              </a:rPr>
              <a:t>活动和任务：</a:t>
            </a:r>
            <a:r>
              <a:rPr lang="zh-CN" sz="1240">
                <a:solidFill>
                  <a:srgbClr val="E2E8F0"/>
                </a:solidFill>
                <a:latin typeface="微软雅黑" panose="020B0503020204020204" charset="-122"/>
                <a:ea typeface="微软雅黑" panose="020B0503020204020204" charset="-122"/>
              </a:rPr>
              <a:t>做什么、谁做、按什么顺序</a:t>
            </a:r>
            <a:endParaRPr lang="zh-CN" sz="1240">
              <a:solidFill>
                <a:srgbClr val="E2E8F0"/>
              </a:solidFill>
              <a:latin typeface="微软雅黑" panose="020B0503020204020204" charset="-122"/>
              <a:ea typeface="微软雅黑" panose="020B0503020204020204" charset="-122"/>
            </a:endParaRPr>
          </a:p>
        </p:txBody>
      </p:sp>
      <p:sp>
        <p:nvSpPr>
          <p:cNvPr id="338" name="圆角矩形 337"/>
          <p:cNvSpPr/>
          <p:nvPr/>
        </p:nvSpPr>
        <p:spPr>
          <a:xfrm>
            <a:off x="7486650" y="3324225"/>
            <a:ext cx="4095750" cy="628650"/>
          </a:xfrm>
          <a:prstGeom prst="roundRect">
            <a:avLst>
              <a:gd name="adj" fmla="val 18182"/>
            </a:avLst>
          </a:prstGeom>
          <a:solidFill>
            <a:srgbClr val="111B2E"/>
          </a:solidFill>
        </p:spPr>
        <p:txBody>
          <a:bodyPr/>
          <a:p/>
        </p:txBody>
      </p:sp>
      <p:sp>
        <p:nvSpPr>
          <p:cNvPr id="339" name="文本框 338" descr="{&quot;isTemplate&quot;:true,&quot;type&quot;:&quot;text&quot;}"/>
          <p:cNvSpPr txBox="1"/>
          <p:nvPr/>
        </p:nvSpPr>
        <p:spPr>
          <a:xfrm>
            <a:off x="7696200" y="3476625"/>
            <a:ext cx="3676650" cy="323850"/>
          </a:xfrm>
          <a:prstGeom prst="rect">
            <a:avLst/>
          </a:prstGeom>
        </p:spPr>
        <p:txBody>
          <a:bodyPr wrap="none" lIns="0" tIns="0" rIns="0" bIns="0"/>
          <a:p>
            <a:pPr>
              <a:lnSpc>
                <a:spcPct val="170000"/>
              </a:lnSpc>
            </a:pPr>
            <a:r>
              <a:rPr lang="zh-CN" sz="1240" b="1">
                <a:solidFill>
                  <a:srgbClr val="67E8F9"/>
                </a:solidFill>
                <a:latin typeface="微软雅黑" panose="020B0503020204020204" charset="-122"/>
                <a:ea typeface="微软雅黑" panose="020B0503020204020204" charset="-122"/>
              </a:rPr>
              <a:t>资源及其安排：</a:t>
            </a:r>
            <a:r>
              <a:rPr lang="zh-CN" sz="1240">
                <a:solidFill>
                  <a:srgbClr val="E2E8F0"/>
                </a:solidFill>
                <a:latin typeface="微软雅黑" panose="020B0503020204020204" charset="-122"/>
                <a:ea typeface="微软雅黑" panose="020B0503020204020204" charset="-122"/>
              </a:rPr>
              <a:t>人员、资金、设备怎么分配</a:t>
            </a:r>
            <a:endParaRPr lang="zh-CN" sz="1240">
              <a:solidFill>
                <a:srgbClr val="E2E8F0"/>
              </a:solidFill>
              <a:latin typeface="微软雅黑" panose="020B0503020204020204" charset="-122"/>
              <a:ea typeface="微软雅黑" panose="020B0503020204020204" charset="-122"/>
            </a:endParaRPr>
          </a:p>
        </p:txBody>
      </p:sp>
      <p:sp>
        <p:nvSpPr>
          <p:cNvPr id="340" name="圆角矩形 339"/>
          <p:cNvSpPr/>
          <p:nvPr/>
        </p:nvSpPr>
        <p:spPr>
          <a:xfrm>
            <a:off x="7486650" y="4086225"/>
            <a:ext cx="4095750" cy="628650"/>
          </a:xfrm>
          <a:prstGeom prst="roundRect">
            <a:avLst>
              <a:gd name="adj" fmla="val 18182"/>
            </a:avLst>
          </a:prstGeom>
          <a:solidFill>
            <a:srgbClr val="8B5CF6">
              <a:alpha val="10000"/>
            </a:srgbClr>
          </a:solidFill>
          <a:ln w="12700">
            <a:solidFill>
              <a:srgbClr val="8B5CF6">
                <a:alpha val="45000"/>
              </a:srgbClr>
            </a:solidFill>
            <a:prstDash val="solid"/>
          </a:ln>
        </p:spPr>
        <p:txBody>
          <a:bodyPr/>
          <a:p/>
        </p:txBody>
      </p:sp>
      <p:sp>
        <p:nvSpPr>
          <p:cNvPr id="341" name="文本框 340" descr="{&quot;isTemplate&quot;:true,&quot;type&quot;:&quot;text&quot;}"/>
          <p:cNvSpPr txBox="1"/>
          <p:nvPr/>
        </p:nvSpPr>
        <p:spPr>
          <a:xfrm>
            <a:off x="7696200" y="4238625"/>
            <a:ext cx="3676650" cy="323850"/>
          </a:xfrm>
          <a:prstGeom prst="rect">
            <a:avLst/>
          </a:prstGeom>
        </p:spPr>
        <p:txBody>
          <a:bodyPr wrap="none" lIns="0" tIns="0" rIns="0" bIns="0"/>
          <a:p>
            <a:pPr>
              <a:lnSpc>
                <a:spcPct val="170000"/>
              </a:lnSpc>
            </a:pPr>
            <a:r>
              <a:rPr lang="zh-CN" sz="1240" b="1">
                <a:solidFill>
                  <a:srgbClr val="C4B5FD"/>
                </a:solidFill>
                <a:latin typeface="微软雅黑" panose="020B0503020204020204" charset="-122"/>
                <a:ea typeface="微软雅黑" panose="020B0503020204020204" charset="-122"/>
              </a:rPr>
              <a:t>进度计划：</a:t>
            </a:r>
            <a:r>
              <a:rPr lang="zh-CN" sz="1240">
                <a:solidFill>
                  <a:srgbClr val="E2E8F0"/>
                </a:solidFill>
                <a:latin typeface="微软雅黑" panose="020B0503020204020204" charset="-122"/>
                <a:ea typeface="微软雅黑" panose="020B0503020204020204" charset="-122"/>
              </a:rPr>
              <a:t>何时开始、何时结束——三者密切相关</a:t>
            </a:r>
            <a:endParaRPr lang="zh-CN" sz="1240">
              <a:solidFill>
                <a:srgbClr val="E2E8F0"/>
              </a:solidFill>
              <a:latin typeface="微软雅黑" panose="020B0503020204020204" charset="-122"/>
              <a:ea typeface="微软雅黑" panose="020B0503020204020204" charset="-122"/>
            </a:endParaRPr>
          </a:p>
        </p:txBody>
      </p:sp>
      <p:sp>
        <p:nvSpPr>
          <p:cNvPr id="342" name="文本框 341"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343" name="文本框 342"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22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44"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计划的内容：任务 · 进度 · 资源&lt;/Text&gt;&#13;&#10;    &lt;/Box&gt;&#13;&#10;    &lt;Box style={{ flex: 1, flexDirection: 'row', gap: 20, alignItems: 'center' }}&gt;&#13;&#10;        &lt;Box style={{ flex: 1, height: 380, background: '#111B2E', borderRadius: 14, padding: 24, justifyContent: 'flex-start', gap: 12 }}&gt;&#13;&#10;            &lt;Text style={{ fontSize: 19, fontWeight: 'bold', color: '#93C5FD' }}&gt;① 任务和开发活动&lt;/Text&gt;&#13;&#10;            &lt;Text style={{ fontSize: 14.5, color: '#E2E8F0', lineHeight: 1.75 }}&gt;活动（技术 + 管理）及其关系，来自过程剪裁。&lt;br /&gt;例：需求分析（需求调查 → 分析和建模 → 撰写文档 → 评审）。&lt;/Text&gt;&#13;&#10;            &lt;Text style={{ fontSize: 14, color: '#3B82F6', marginTop: 6 }}&gt;做什么&lt;/Text&gt;&#13;&#10;        &lt;/Box&gt;&#13;&#10;        &lt;Box style={{ flex: 1, height: 380, background: '#111B2E', borderRadius: 14, padding: 24, justifyContent: 'flex-start', gap: 12 }}&gt;&#13;&#10;            &lt;Text style={{ fontSize: 19, fontWeight: 'bold', color: '#67E8F9' }}&gt;② 进度计划&lt;/Text&gt;&#13;&#10;            &lt;Text style={{ fontSize: 14.5, color: '#E2E8F0', lineHeight: 1.75 }}&gt;各活动按什么时间进度开展：何时开始、何时结束。&lt;br /&gt;例：需求分析 8/1–10/23，概要设计 10/25–11/23。&lt;/Text&gt;&#13;&#10;            &lt;Text style={{ fontSize: 14, color: '#22D3EE', marginTop: 6 }}&gt;何时做&lt;/Text&gt;&#13;&#10;        &lt;/Box&gt;&#13;&#10;        &lt;Box style={{ flex: 1, height: 380, background: '#111B2E', borderRadius: 14, padding: 24, justifyContent: 'flex-start', gap: 12 }}&gt;&#13;&#10;            &lt;Text style={{ fontSize: 19, fontWeight: 'bold', color: '#C4B5FD' }}&gt;③ 资源使用和安排&lt;/Text&gt;&#13;&#10;            &lt;Text style={{ fontSize: 14.5, color: '#E2E8F0', lineHeight: 1.75 }}&gt;哪些角色、哪些人、投入多少资金设备。&lt;br /&gt;例：需求分析阶段投入 3 人、10 万元、3 台 PC。&lt;/Text&gt;&#13;&#10;            &lt;Text style={{ fontSize: 14, color: '#8B5CF6', marginTop: 6 }}&gt;用什么做&lt;/Text&gt;&#13;&#10;        &lt;/Box&gt;&#13;&#10;        &lt;Box style={{ width: 320, height: 380, background: 'rgba(139,92,246,0.10)', borderRadius: 14, padding: 24, border: '1px solid rgba(139,92,246,0.5)', justifyContent: 'center', gap: 12 }}&gt;&#13;&#10;            &lt;Text style={{ fontSize: 16, color: '#E2E8F0', lineHeight: 1.8 }}&gt;&lt;span style={{ fontWeight: 'bold', color: '#C4B5FD' }}&gt;两点注意：&lt;/span&gt;&lt;br /&gt;· 进度应宏观，保留在适当抽象层次，不宜过细&lt;br /&gt;· 资源、人员与进度不是线性关系（加人未必加速）&lt;/Text&gt;&#13;&#10;        &lt;/Box&gt;&#13;&#10;    &lt;/Box&gt;&#13;&#10;    &lt;Box style={{ height: 40, flexDirection: 'row', justifyContent: 'space-between', alignItems: 'center', marginTop: 16 }}&gt;&#13;&#10;        &lt;Text style={{ fontSize: 14, color: '#94A3B8' }}&gt;03 项目计划与工作分解&lt;/Text&gt;&#13;&#10;        &lt;Text style={{ fontSize: 14, color: '#94A3B8' }}&gt;23 / 47&lt;/Text&gt;&#13;&#10;    &lt;/Box&gt;&#13;&#10;&lt;/Slide&gt;&#13;&#10;"/>
        <p:cNvGrpSpPr/>
        <p:nvPr/>
      </p:nvGrpSpPr>
      <p:grpSpPr>
        <a:xfrm>
          <a:off x="0" y="0"/>
          <a:ext cx="0" cy="0"/>
          <a:chOff x="0" y="0"/>
          <a:chExt cx="0" cy="0"/>
        </a:xfrm>
      </p:grpSpPr>
      <p:sp>
        <p:nvSpPr>
          <p:cNvPr id="345" name="矩形 344"/>
          <p:cNvSpPr/>
          <p:nvPr/>
        </p:nvSpPr>
        <p:spPr>
          <a:xfrm>
            <a:off x="0" y="0"/>
            <a:ext cx="12192000" cy="6858000"/>
          </a:xfrm>
          <a:prstGeom prst="rect">
            <a:avLst/>
          </a:prstGeom>
          <a:solidFill>
            <a:srgbClr val="0B1220"/>
          </a:solidFill>
        </p:spPr>
        <p:txBody>
          <a:bodyPr/>
          <a:p/>
        </p:txBody>
      </p:sp>
      <p:sp>
        <p:nvSpPr>
          <p:cNvPr id="346" name="圆角矩形 345"/>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347" name="文本框 346" descr="{&quot;isTemplate&quot;:true,&quot;type&quot;:&quot;text&quot;}"/>
          <p:cNvSpPr txBox="1"/>
          <p:nvPr/>
        </p:nvSpPr>
        <p:spPr>
          <a:xfrm>
            <a:off x="857250" y="476250"/>
            <a:ext cx="4562475"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计划的内容：任务</a:t>
            </a:r>
            <a:r>
              <a:rPr lang="en-US" sz="2550" b="1">
                <a:solidFill>
                  <a:srgbClr val="E2E8F0"/>
                </a:solidFill>
                <a:latin typeface="微软雅黑" panose="020B0503020204020204" charset="-122"/>
                <a:ea typeface="微软雅黑" panose="020B0503020204020204" charset="-122"/>
              </a:rPr>
              <a:t> · </a:t>
            </a:r>
            <a:r>
              <a:rPr lang="zh-CN" sz="2550" b="1">
                <a:solidFill>
                  <a:srgbClr val="E2E8F0"/>
                </a:solidFill>
                <a:latin typeface="微软雅黑" panose="020B0503020204020204" charset="-122"/>
                <a:ea typeface="微软雅黑" panose="020B0503020204020204" charset="-122"/>
              </a:rPr>
              <a:t>进度</a:t>
            </a:r>
            <a:r>
              <a:rPr lang="en-US" sz="2550" b="1">
                <a:solidFill>
                  <a:srgbClr val="E2E8F0"/>
                </a:solidFill>
                <a:latin typeface="微软雅黑" panose="020B0503020204020204" charset="-122"/>
                <a:ea typeface="微软雅黑" panose="020B0503020204020204" charset="-122"/>
              </a:rPr>
              <a:t> · </a:t>
            </a:r>
            <a:r>
              <a:rPr lang="zh-CN" sz="2550" b="1">
                <a:solidFill>
                  <a:srgbClr val="E2E8F0"/>
                </a:solidFill>
                <a:latin typeface="微软雅黑" panose="020B0503020204020204" charset="-122"/>
                <a:ea typeface="微软雅黑" panose="020B0503020204020204" charset="-122"/>
              </a:rPr>
              <a:t>资源</a:t>
            </a:r>
            <a:endParaRPr lang="zh-CN" sz="2550" b="1">
              <a:solidFill>
                <a:srgbClr val="E2E8F0"/>
              </a:solidFill>
              <a:latin typeface="微软雅黑" panose="020B0503020204020204" charset="-122"/>
              <a:ea typeface="微软雅黑" panose="020B0503020204020204" charset="-122"/>
            </a:endParaRPr>
          </a:p>
        </p:txBody>
      </p:sp>
      <p:sp>
        <p:nvSpPr>
          <p:cNvPr id="348" name="圆角矩形 347"/>
          <p:cNvSpPr/>
          <p:nvPr/>
        </p:nvSpPr>
        <p:spPr>
          <a:xfrm>
            <a:off x="609600" y="1828800"/>
            <a:ext cx="2447925" cy="3619500"/>
          </a:xfrm>
          <a:prstGeom prst="roundRect">
            <a:avLst>
              <a:gd name="adj" fmla="val 5447"/>
            </a:avLst>
          </a:prstGeom>
          <a:solidFill>
            <a:srgbClr val="111B2E"/>
          </a:solidFill>
        </p:spPr>
        <p:txBody>
          <a:bodyPr/>
          <a:p/>
        </p:txBody>
      </p:sp>
      <p:sp>
        <p:nvSpPr>
          <p:cNvPr id="349" name="文本框 348" descr="{&quot;isTemplate&quot;:true,&quot;type&quot;:&quot;text&quot;}"/>
          <p:cNvSpPr txBox="1"/>
          <p:nvPr/>
        </p:nvSpPr>
        <p:spPr>
          <a:xfrm>
            <a:off x="838200" y="2057400"/>
            <a:ext cx="1990725" cy="219075"/>
          </a:xfrm>
          <a:prstGeom prst="rect">
            <a:avLst/>
          </a:prstGeom>
        </p:spPr>
        <p:txBody>
          <a:bodyPr wrap="none" lIns="0" tIns="0" rIns="0" bIns="0"/>
          <a:p>
            <a:pPr>
              <a:lnSpc>
                <a:spcPct val="100000"/>
              </a:lnSpc>
            </a:pPr>
            <a:r>
              <a:rPr lang="en-US" sz="1425" b="1">
                <a:solidFill>
                  <a:srgbClr val="93C5FD"/>
                </a:solidFill>
                <a:latin typeface="微软雅黑" panose="020B0503020204020204" charset="-122"/>
                <a:ea typeface="微软雅黑" panose="020B0503020204020204" charset="-122"/>
              </a:rPr>
              <a:t>① </a:t>
            </a:r>
            <a:r>
              <a:rPr lang="zh-CN" sz="1425" b="1">
                <a:solidFill>
                  <a:srgbClr val="93C5FD"/>
                </a:solidFill>
                <a:latin typeface="微软雅黑" panose="020B0503020204020204" charset="-122"/>
                <a:ea typeface="微软雅黑" panose="020B0503020204020204" charset="-122"/>
              </a:rPr>
              <a:t>任务和开发活动</a:t>
            </a:r>
            <a:endParaRPr lang="zh-CN" sz="1425" b="1">
              <a:solidFill>
                <a:srgbClr val="93C5FD"/>
              </a:solidFill>
              <a:latin typeface="微软雅黑" panose="020B0503020204020204" charset="-122"/>
              <a:ea typeface="微软雅黑" panose="020B0503020204020204" charset="-122"/>
            </a:endParaRPr>
          </a:p>
        </p:txBody>
      </p:sp>
      <p:sp>
        <p:nvSpPr>
          <p:cNvPr id="350" name="文本框 349" descr="{&quot;isTemplate&quot;:true,&quot;type&quot;:&quot;text&quot;}"/>
          <p:cNvSpPr txBox="1"/>
          <p:nvPr/>
        </p:nvSpPr>
        <p:spPr>
          <a:xfrm>
            <a:off x="838200" y="2390775"/>
            <a:ext cx="1990725" cy="1457325"/>
          </a:xfrm>
          <a:prstGeom prst="rect">
            <a:avLst/>
          </a:prstGeom>
        </p:spPr>
        <p:txBody>
          <a:bodyPr wrap="square" lIns="0" tIns="0" rIns="0" bIns="0">
            <a:normAutofit/>
          </a:bodyPr>
          <a:p>
            <a:pPr>
              <a:lnSpc>
                <a:spcPct val="175000"/>
              </a:lnSpc>
            </a:pPr>
            <a:r>
              <a:rPr lang="zh-CN" sz="1090">
                <a:solidFill>
                  <a:srgbClr val="E2E8F0"/>
                </a:solidFill>
                <a:latin typeface="微软雅黑" panose="020B0503020204020204" charset="-122"/>
                <a:ea typeface="微软雅黑" panose="020B0503020204020204" charset="-122"/>
              </a:rPr>
              <a:t>活动（技术</a:t>
            </a:r>
            <a:r>
              <a:rPr lang="en-US" sz="1090">
                <a:solidFill>
                  <a:srgbClr val="E2E8F0"/>
                </a:solidFill>
                <a:latin typeface="微软雅黑" panose="020B0503020204020204" charset="-122"/>
                <a:ea typeface="微软雅黑" panose="020B0503020204020204" charset="-122"/>
              </a:rPr>
              <a:t> + </a:t>
            </a:r>
            <a:r>
              <a:rPr lang="zh-CN" sz="1090">
                <a:solidFill>
                  <a:srgbClr val="E2E8F0"/>
                </a:solidFill>
                <a:latin typeface="微软雅黑" panose="020B0503020204020204" charset="-122"/>
                <a:ea typeface="微软雅黑" panose="020B0503020204020204" charset="-122"/>
              </a:rPr>
              <a:t>管理）及其关系，来自过程剪裁。</a:t>
            </a:r>
            <a:endParaRPr lang="zh-CN" sz="1090">
              <a:solidFill>
                <a:srgbClr val="E2E8F0"/>
              </a:solidFill>
              <a:latin typeface="微软雅黑" panose="020B0503020204020204" charset="-122"/>
              <a:ea typeface="微软雅黑" panose="020B0503020204020204" charset="-122"/>
            </a:endParaRPr>
          </a:p>
          <a:p>
            <a:pPr>
              <a:lnSpc>
                <a:spcPct val="175000"/>
              </a:lnSpc>
            </a:pPr>
            <a:r>
              <a:rPr lang="zh-CN" sz="1090">
                <a:solidFill>
                  <a:srgbClr val="E2E8F0"/>
                </a:solidFill>
                <a:latin typeface="微软雅黑" panose="020B0503020204020204" charset="-122"/>
                <a:ea typeface="微软雅黑" panose="020B0503020204020204" charset="-122"/>
              </a:rPr>
              <a:t>例：需求分析（需求调查</a:t>
            </a:r>
            <a:r>
              <a:rPr lang="en-US" sz="1090">
                <a:solidFill>
                  <a:srgbClr val="E2E8F0"/>
                </a:solidFill>
                <a:latin typeface="微软雅黑" panose="020B0503020204020204" charset="-122"/>
                <a:ea typeface="微软雅黑" panose="020B0503020204020204" charset="-122"/>
              </a:rPr>
              <a:t> → </a:t>
            </a:r>
            <a:r>
              <a:rPr lang="zh-CN" sz="1090">
                <a:solidFill>
                  <a:srgbClr val="E2E8F0"/>
                </a:solidFill>
                <a:latin typeface="微软雅黑" panose="020B0503020204020204" charset="-122"/>
                <a:ea typeface="微软雅黑" panose="020B0503020204020204" charset="-122"/>
              </a:rPr>
              <a:t>分析和建模</a:t>
            </a:r>
            <a:r>
              <a:rPr lang="en-US" sz="1090">
                <a:solidFill>
                  <a:srgbClr val="E2E8F0"/>
                </a:solidFill>
                <a:latin typeface="微软雅黑" panose="020B0503020204020204" charset="-122"/>
                <a:ea typeface="微软雅黑" panose="020B0503020204020204" charset="-122"/>
              </a:rPr>
              <a:t> → </a:t>
            </a:r>
            <a:r>
              <a:rPr lang="zh-CN" sz="1090">
                <a:solidFill>
                  <a:srgbClr val="E2E8F0"/>
                </a:solidFill>
                <a:latin typeface="微软雅黑" panose="020B0503020204020204" charset="-122"/>
                <a:ea typeface="微软雅黑" panose="020B0503020204020204" charset="-122"/>
              </a:rPr>
              <a:t>撰写文档</a:t>
            </a:r>
            <a:r>
              <a:rPr lang="en-US" sz="1090">
                <a:solidFill>
                  <a:srgbClr val="E2E8F0"/>
                </a:solidFill>
                <a:latin typeface="微软雅黑" panose="020B0503020204020204" charset="-122"/>
                <a:ea typeface="微软雅黑" panose="020B0503020204020204" charset="-122"/>
              </a:rPr>
              <a:t> → </a:t>
            </a:r>
            <a:r>
              <a:rPr lang="zh-CN" sz="1090">
                <a:solidFill>
                  <a:srgbClr val="E2E8F0"/>
                </a:solidFill>
                <a:latin typeface="微软雅黑" panose="020B0503020204020204" charset="-122"/>
                <a:ea typeface="微软雅黑" panose="020B0503020204020204" charset="-122"/>
              </a:rPr>
              <a:t>评审）。</a:t>
            </a:r>
            <a:endParaRPr lang="zh-CN" sz="1090">
              <a:solidFill>
                <a:srgbClr val="E2E8F0"/>
              </a:solidFill>
              <a:latin typeface="微软雅黑" panose="020B0503020204020204" charset="-122"/>
              <a:ea typeface="微软雅黑" panose="020B0503020204020204" charset="-122"/>
            </a:endParaRPr>
          </a:p>
        </p:txBody>
      </p:sp>
      <p:sp>
        <p:nvSpPr>
          <p:cNvPr id="351" name="文本框 350" descr="{&quot;isTemplate&quot;:true,&quot;type&quot;:&quot;text&quot;}"/>
          <p:cNvSpPr txBox="1"/>
          <p:nvPr/>
        </p:nvSpPr>
        <p:spPr>
          <a:xfrm>
            <a:off x="838200" y="4019550"/>
            <a:ext cx="1990725" cy="161925"/>
          </a:xfrm>
          <a:prstGeom prst="rect">
            <a:avLst/>
          </a:prstGeom>
        </p:spPr>
        <p:txBody>
          <a:bodyPr wrap="none" lIns="0" tIns="0" rIns="0" bIns="0"/>
          <a:p>
            <a:pPr>
              <a:lnSpc>
                <a:spcPct val="100000"/>
              </a:lnSpc>
            </a:pPr>
            <a:r>
              <a:rPr lang="zh-CN" sz="1050">
                <a:solidFill>
                  <a:srgbClr val="3B82F6"/>
                </a:solidFill>
                <a:latin typeface="微软雅黑" panose="020B0503020204020204" charset="-122"/>
                <a:ea typeface="微软雅黑" panose="020B0503020204020204" charset="-122"/>
              </a:rPr>
              <a:t>做什么</a:t>
            </a:r>
            <a:endParaRPr lang="zh-CN" sz="1050">
              <a:solidFill>
                <a:srgbClr val="3B82F6"/>
              </a:solidFill>
              <a:latin typeface="微软雅黑" panose="020B0503020204020204" charset="-122"/>
              <a:ea typeface="微软雅黑" panose="020B0503020204020204" charset="-122"/>
            </a:endParaRPr>
          </a:p>
        </p:txBody>
      </p:sp>
      <p:sp>
        <p:nvSpPr>
          <p:cNvPr id="352" name="圆角矩形 351"/>
          <p:cNvSpPr/>
          <p:nvPr/>
        </p:nvSpPr>
        <p:spPr>
          <a:xfrm>
            <a:off x="3248025" y="1828800"/>
            <a:ext cx="2457450" cy="3619500"/>
          </a:xfrm>
          <a:prstGeom prst="roundRect">
            <a:avLst>
              <a:gd name="adj" fmla="val 5426"/>
            </a:avLst>
          </a:prstGeom>
          <a:solidFill>
            <a:srgbClr val="111B2E"/>
          </a:solidFill>
        </p:spPr>
        <p:txBody>
          <a:bodyPr/>
          <a:p/>
        </p:txBody>
      </p:sp>
      <p:sp>
        <p:nvSpPr>
          <p:cNvPr id="353" name="文本框 352" descr="{&quot;isTemplate&quot;:true,&quot;type&quot;:&quot;text&quot;}"/>
          <p:cNvSpPr txBox="1"/>
          <p:nvPr/>
        </p:nvSpPr>
        <p:spPr>
          <a:xfrm>
            <a:off x="3476625" y="2057400"/>
            <a:ext cx="2000250" cy="219075"/>
          </a:xfrm>
          <a:prstGeom prst="rect">
            <a:avLst/>
          </a:prstGeom>
        </p:spPr>
        <p:txBody>
          <a:bodyPr wrap="none" lIns="0" tIns="0" rIns="0" bIns="0"/>
          <a:p>
            <a:pPr>
              <a:lnSpc>
                <a:spcPct val="100000"/>
              </a:lnSpc>
            </a:pPr>
            <a:r>
              <a:rPr lang="en-US" sz="1425" b="1">
                <a:solidFill>
                  <a:srgbClr val="67E8F9"/>
                </a:solidFill>
                <a:latin typeface="微软雅黑" panose="020B0503020204020204" charset="-122"/>
                <a:ea typeface="微软雅黑" panose="020B0503020204020204" charset="-122"/>
              </a:rPr>
              <a:t>② </a:t>
            </a:r>
            <a:r>
              <a:rPr lang="zh-CN" sz="1425" b="1">
                <a:solidFill>
                  <a:srgbClr val="67E8F9"/>
                </a:solidFill>
                <a:latin typeface="微软雅黑" panose="020B0503020204020204" charset="-122"/>
                <a:ea typeface="微软雅黑" panose="020B0503020204020204" charset="-122"/>
              </a:rPr>
              <a:t>进度计划</a:t>
            </a:r>
            <a:endParaRPr lang="zh-CN" sz="1425" b="1">
              <a:solidFill>
                <a:srgbClr val="67E8F9"/>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3476625" y="2390775"/>
            <a:ext cx="2000250" cy="1162050"/>
          </a:xfrm>
          <a:prstGeom prst="rect">
            <a:avLst/>
          </a:prstGeom>
        </p:spPr>
        <p:txBody>
          <a:bodyPr wrap="square" lIns="0" tIns="0" rIns="0" bIns="0">
            <a:normAutofit/>
          </a:bodyPr>
          <a:p>
            <a:pPr>
              <a:lnSpc>
                <a:spcPct val="175000"/>
              </a:lnSpc>
            </a:pPr>
            <a:r>
              <a:rPr lang="zh-CN" sz="1090">
                <a:solidFill>
                  <a:srgbClr val="E2E8F0"/>
                </a:solidFill>
                <a:latin typeface="微软雅黑" panose="020B0503020204020204" charset="-122"/>
                <a:ea typeface="微软雅黑" panose="020B0503020204020204" charset="-122"/>
              </a:rPr>
              <a:t>各活动按什么时间进度开展：何时开始、何时结束。</a:t>
            </a:r>
            <a:endParaRPr lang="zh-CN" sz="1090">
              <a:solidFill>
                <a:srgbClr val="E2E8F0"/>
              </a:solidFill>
              <a:latin typeface="微软雅黑" panose="020B0503020204020204" charset="-122"/>
              <a:ea typeface="微软雅黑" panose="020B0503020204020204" charset="-122"/>
            </a:endParaRPr>
          </a:p>
          <a:p>
            <a:pPr>
              <a:lnSpc>
                <a:spcPct val="175000"/>
              </a:lnSpc>
            </a:pPr>
            <a:r>
              <a:rPr lang="zh-CN" sz="1090">
                <a:solidFill>
                  <a:srgbClr val="E2E8F0"/>
                </a:solidFill>
                <a:latin typeface="微软雅黑" panose="020B0503020204020204" charset="-122"/>
                <a:ea typeface="微软雅黑" panose="020B0503020204020204" charset="-122"/>
              </a:rPr>
              <a:t>例：需求分析</a:t>
            </a:r>
            <a:r>
              <a:rPr lang="en-US" sz="1090">
                <a:solidFill>
                  <a:srgbClr val="E2E8F0"/>
                </a:solidFill>
                <a:latin typeface="微软雅黑" panose="020B0503020204020204" charset="-122"/>
                <a:ea typeface="微软雅黑" panose="020B0503020204020204" charset="-122"/>
              </a:rPr>
              <a:t> 8/1–10/23</a:t>
            </a:r>
            <a:r>
              <a:rPr lang="zh-CN" sz="1090">
                <a:solidFill>
                  <a:srgbClr val="E2E8F0"/>
                </a:solidFill>
                <a:latin typeface="微软雅黑" panose="020B0503020204020204" charset="-122"/>
                <a:ea typeface="微软雅黑" panose="020B0503020204020204" charset="-122"/>
              </a:rPr>
              <a:t>，概要设计</a:t>
            </a:r>
            <a:r>
              <a:rPr lang="en-US" sz="1090">
                <a:solidFill>
                  <a:srgbClr val="E2E8F0"/>
                </a:solidFill>
                <a:latin typeface="微软雅黑" panose="020B0503020204020204" charset="-122"/>
                <a:ea typeface="微软雅黑" panose="020B0503020204020204" charset="-122"/>
              </a:rPr>
              <a:t> 10/25–11/23</a:t>
            </a:r>
            <a:r>
              <a:rPr lang="zh-CN" sz="1090">
                <a:solidFill>
                  <a:srgbClr val="E2E8F0"/>
                </a:solidFill>
                <a:latin typeface="微软雅黑" panose="020B0503020204020204" charset="-122"/>
                <a:ea typeface="微软雅黑" panose="020B0503020204020204" charset="-122"/>
              </a:rPr>
              <a:t>。</a:t>
            </a:r>
            <a:endParaRPr lang="zh-CN" sz="1090">
              <a:solidFill>
                <a:srgbClr val="E2E8F0"/>
              </a:solidFill>
              <a:latin typeface="微软雅黑" panose="020B0503020204020204" charset="-122"/>
              <a:ea typeface="微软雅黑" panose="020B0503020204020204" charset="-122"/>
            </a:endParaRPr>
          </a:p>
        </p:txBody>
      </p:sp>
      <p:sp>
        <p:nvSpPr>
          <p:cNvPr id="355" name="文本框 354" descr="{&quot;isTemplate&quot;:true,&quot;type&quot;:&quot;text&quot;}"/>
          <p:cNvSpPr txBox="1"/>
          <p:nvPr/>
        </p:nvSpPr>
        <p:spPr>
          <a:xfrm>
            <a:off x="3476625" y="3724275"/>
            <a:ext cx="2000250" cy="161925"/>
          </a:xfrm>
          <a:prstGeom prst="rect">
            <a:avLst/>
          </a:prstGeom>
        </p:spPr>
        <p:txBody>
          <a:bodyPr wrap="none" lIns="0" tIns="0" rIns="0" bIns="0"/>
          <a:p>
            <a:pPr>
              <a:lnSpc>
                <a:spcPct val="100000"/>
              </a:lnSpc>
            </a:pPr>
            <a:r>
              <a:rPr lang="zh-CN" sz="1050">
                <a:solidFill>
                  <a:srgbClr val="22D3EE"/>
                </a:solidFill>
                <a:latin typeface="微软雅黑" panose="020B0503020204020204" charset="-122"/>
                <a:ea typeface="微软雅黑" panose="020B0503020204020204" charset="-122"/>
              </a:rPr>
              <a:t>何时做</a:t>
            </a:r>
            <a:endParaRPr lang="zh-CN" sz="1050">
              <a:solidFill>
                <a:srgbClr val="22D3EE"/>
              </a:solidFill>
              <a:latin typeface="微软雅黑" panose="020B0503020204020204" charset="-122"/>
              <a:ea typeface="微软雅黑" panose="020B0503020204020204" charset="-122"/>
            </a:endParaRPr>
          </a:p>
        </p:txBody>
      </p:sp>
      <p:sp>
        <p:nvSpPr>
          <p:cNvPr id="356" name="圆角矩形 355"/>
          <p:cNvSpPr/>
          <p:nvPr/>
        </p:nvSpPr>
        <p:spPr>
          <a:xfrm>
            <a:off x="5895975" y="1828800"/>
            <a:ext cx="2447925" cy="3619500"/>
          </a:xfrm>
          <a:prstGeom prst="roundRect">
            <a:avLst>
              <a:gd name="adj" fmla="val 5447"/>
            </a:avLst>
          </a:prstGeom>
          <a:solidFill>
            <a:srgbClr val="111B2E"/>
          </a:solidFill>
        </p:spPr>
        <p:txBody>
          <a:bodyPr/>
          <a:p/>
        </p:txBody>
      </p:sp>
      <p:sp>
        <p:nvSpPr>
          <p:cNvPr id="357" name="文本框 356" descr="{&quot;isTemplate&quot;:true,&quot;type&quot;:&quot;text&quot;}"/>
          <p:cNvSpPr txBox="1"/>
          <p:nvPr/>
        </p:nvSpPr>
        <p:spPr>
          <a:xfrm>
            <a:off x="6124575" y="2057400"/>
            <a:ext cx="1990725" cy="219075"/>
          </a:xfrm>
          <a:prstGeom prst="rect">
            <a:avLst/>
          </a:prstGeom>
        </p:spPr>
        <p:txBody>
          <a:bodyPr wrap="none" lIns="0" tIns="0" rIns="0" bIns="0"/>
          <a:p>
            <a:pPr>
              <a:lnSpc>
                <a:spcPct val="100000"/>
              </a:lnSpc>
            </a:pPr>
            <a:r>
              <a:rPr lang="en-US" sz="1425" b="1">
                <a:solidFill>
                  <a:srgbClr val="C4B5FD"/>
                </a:solidFill>
                <a:latin typeface="微软雅黑" panose="020B0503020204020204" charset="-122"/>
                <a:ea typeface="微软雅黑" panose="020B0503020204020204" charset="-122"/>
              </a:rPr>
              <a:t>③ </a:t>
            </a:r>
            <a:r>
              <a:rPr lang="zh-CN" sz="1425" b="1">
                <a:solidFill>
                  <a:srgbClr val="C4B5FD"/>
                </a:solidFill>
                <a:latin typeface="微软雅黑" panose="020B0503020204020204" charset="-122"/>
                <a:ea typeface="微软雅黑" panose="020B0503020204020204" charset="-122"/>
              </a:rPr>
              <a:t>资源使用和安排</a:t>
            </a:r>
            <a:endParaRPr lang="zh-CN" sz="1425" b="1">
              <a:solidFill>
                <a:srgbClr val="C4B5FD"/>
              </a:solidFill>
              <a:latin typeface="微软雅黑" panose="020B0503020204020204" charset="-122"/>
              <a:ea typeface="微软雅黑" panose="020B0503020204020204" charset="-122"/>
            </a:endParaRPr>
          </a:p>
        </p:txBody>
      </p:sp>
      <p:sp>
        <p:nvSpPr>
          <p:cNvPr id="358" name="文本框 357" descr="{&quot;isTemplate&quot;:true,&quot;type&quot;:&quot;text&quot;}"/>
          <p:cNvSpPr txBox="1"/>
          <p:nvPr/>
        </p:nvSpPr>
        <p:spPr>
          <a:xfrm>
            <a:off x="6124575" y="2390775"/>
            <a:ext cx="1990725" cy="1162050"/>
          </a:xfrm>
          <a:prstGeom prst="rect">
            <a:avLst/>
          </a:prstGeom>
        </p:spPr>
        <p:txBody>
          <a:bodyPr wrap="square" lIns="0" tIns="0" rIns="0" bIns="0">
            <a:normAutofit/>
          </a:bodyPr>
          <a:p>
            <a:pPr>
              <a:lnSpc>
                <a:spcPct val="175000"/>
              </a:lnSpc>
            </a:pPr>
            <a:r>
              <a:rPr lang="zh-CN" sz="1090">
                <a:solidFill>
                  <a:srgbClr val="E2E8F0"/>
                </a:solidFill>
                <a:latin typeface="微软雅黑" panose="020B0503020204020204" charset="-122"/>
                <a:ea typeface="微软雅黑" panose="020B0503020204020204" charset="-122"/>
              </a:rPr>
              <a:t>哪些角色、哪些人、投入多少资金设备。</a:t>
            </a:r>
            <a:endParaRPr lang="zh-CN" sz="1090">
              <a:solidFill>
                <a:srgbClr val="E2E8F0"/>
              </a:solidFill>
              <a:latin typeface="微软雅黑" panose="020B0503020204020204" charset="-122"/>
              <a:ea typeface="微软雅黑" panose="020B0503020204020204" charset="-122"/>
            </a:endParaRPr>
          </a:p>
          <a:p>
            <a:pPr>
              <a:lnSpc>
                <a:spcPct val="175000"/>
              </a:lnSpc>
            </a:pPr>
            <a:r>
              <a:rPr lang="zh-CN" sz="1090">
                <a:solidFill>
                  <a:srgbClr val="E2E8F0"/>
                </a:solidFill>
                <a:latin typeface="微软雅黑" panose="020B0503020204020204" charset="-122"/>
                <a:ea typeface="微软雅黑" panose="020B0503020204020204" charset="-122"/>
              </a:rPr>
              <a:t>例：需求分析阶段投入</a:t>
            </a:r>
            <a:r>
              <a:rPr lang="en-US" sz="1090">
                <a:solidFill>
                  <a:srgbClr val="E2E8F0"/>
                </a:solidFill>
                <a:latin typeface="微软雅黑" panose="020B0503020204020204" charset="-122"/>
                <a:ea typeface="微软雅黑" panose="020B0503020204020204" charset="-122"/>
              </a:rPr>
              <a:t> 3 </a:t>
            </a:r>
            <a:r>
              <a:rPr lang="zh-CN" sz="1090">
                <a:solidFill>
                  <a:srgbClr val="E2E8F0"/>
                </a:solidFill>
                <a:latin typeface="微软雅黑" panose="020B0503020204020204" charset="-122"/>
                <a:ea typeface="微软雅黑" panose="020B0503020204020204" charset="-122"/>
              </a:rPr>
              <a:t>人、</a:t>
            </a:r>
            <a:r>
              <a:rPr lang="en-US" sz="1090">
                <a:solidFill>
                  <a:srgbClr val="E2E8F0"/>
                </a:solidFill>
                <a:latin typeface="微软雅黑" panose="020B0503020204020204" charset="-122"/>
                <a:ea typeface="微软雅黑" panose="020B0503020204020204" charset="-122"/>
              </a:rPr>
              <a:t>10 </a:t>
            </a:r>
            <a:r>
              <a:rPr lang="zh-CN" sz="1090">
                <a:solidFill>
                  <a:srgbClr val="E2E8F0"/>
                </a:solidFill>
                <a:latin typeface="微软雅黑" panose="020B0503020204020204" charset="-122"/>
                <a:ea typeface="微软雅黑" panose="020B0503020204020204" charset="-122"/>
              </a:rPr>
              <a:t>万元、</a:t>
            </a:r>
            <a:r>
              <a:rPr lang="en-US" sz="1090">
                <a:solidFill>
                  <a:srgbClr val="E2E8F0"/>
                </a:solidFill>
                <a:latin typeface="微软雅黑" panose="020B0503020204020204" charset="-122"/>
                <a:ea typeface="微软雅黑" panose="020B0503020204020204" charset="-122"/>
              </a:rPr>
              <a:t>3 </a:t>
            </a:r>
            <a:r>
              <a:rPr lang="zh-CN" sz="1090">
                <a:solidFill>
                  <a:srgbClr val="E2E8F0"/>
                </a:solidFill>
                <a:latin typeface="微软雅黑" panose="020B0503020204020204" charset="-122"/>
                <a:ea typeface="微软雅黑" panose="020B0503020204020204" charset="-122"/>
              </a:rPr>
              <a:t>台</a:t>
            </a:r>
            <a:r>
              <a:rPr lang="en-US" sz="1090">
                <a:solidFill>
                  <a:srgbClr val="E2E8F0"/>
                </a:solidFill>
                <a:latin typeface="微软雅黑" panose="020B0503020204020204" charset="-122"/>
                <a:ea typeface="微软雅黑" panose="020B0503020204020204" charset="-122"/>
              </a:rPr>
              <a:t> PC</a:t>
            </a:r>
            <a:r>
              <a:rPr lang="zh-CN" sz="1090">
                <a:solidFill>
                  <a:srgbClr val="E2E8F0"/>
                </a:solidFill>
                <a:latin typeface="微软雅黑" panose="020B0503020204020204" charset="-122"/>
                <a:ea typeface="微软雅黑" panose="020B0503020204020204" charset="-122"/>
              </a:rPr>
              <a:t>。</a:t>
            </a:r>
            <a:endParaRPr lang="zh-CN" sz="1090">
              <a:solidFill>
                <a:srgbClr val="E2E8F0"/>
              </a:solidFill>
              <a:latin typeface="微软雅黑" panose="020B0503020204020204" charset="-122"/>
              <a:ea typeface="微软雅黑" panose="020B0503020204020204" charset="-122"/>
            </a:endParaRPr>
          </a:p>
        </p:txBody>
      </p:sp>
      <p:sp>
        <p:nvSpPr>
          <p:cNvPr id="359" name="文本框 358" descr="{&quot;isTemplate&quot;:true,&quot;type&quot;:&quot;text&quot;}"/>
          <p:cNvSpPr txBox="1"/>
          <p:nvPr/>
        </p:nvSpPr>
        <p:spPr>
          <a:xfrm>
            <a:off x="6124575" y="3724275"/>
            <a:ext cx="1990725" cy="161925"/>
          </a:xfrm>
          <a:prstGeom prst="rect">
            <a:avLst/>
          </a:prstGeom>
        </p:spPr>
        <p:txBody>
          <a:bodyPr wrap="none" lIns="0" tIns="0" rIns="0" bIns="0"/>
          <a:p>
            <a:pPr>
              <a:lnSpc>
                <a:spcPct val="100000"/>
              </a:lnSpc>
            </a:pPr>
            <a:r>
              <a:rPr lang="zh-CN" sz="1050">
                <a:solidFill>
                  <a:srgbClr val="8B5CF6"/>
                </a:solidFill>
                <a:latin typeface="微软雅黑" panose="020B0503020204020204" charset="-122"/>
                <a:ea typeface="微软雅黑" panose="020B0503020204020204" charset="-122"/>
              </a:rPr>
              <a:t>用什么做</a:t>
            </a:r>
            <a:endParaRPr lang="zh-CN" sz="1050">
              <a:solidFill>
                <a:srgbClr val="8B5CF6"/>
              </a:solidFill>
              <a:latin typeface="微软雅黑" panose="020B0503020204020204" charset="-122"/>
              <a:ea typeface="微软雅黑" panose="020B0503020204020204" charset="-122"/>
            </a:endParaRPr>
          </a:p>
        </p:txBody>
      </p:sp>
      <p:sp>
        <p:nvSpPr>
          <p:cNvPr id="360" name="圆角矩形 359"/>
          <p:cNvSpPr/>
          <p:nvPr/>
        </p:nvSpPr>
        <p:spPr>
          <a:xfrm>
            <a:off x="8534400" y="1828800"/>
            <a:ext cx="3048000" cy="3619500"/>
          </a:xfrm>
          <a:prstGeom prst="roundRect">
            <a:avLst>
              <a:gd name="adj" fmla="val 4375"/>
            </a:avLst>
          </a:prstGeom>
          <a:solidFill>
            <a:srgbClr val="8B5CF6">
              <a:alpha val="10000"/>
            </a:srgbClr>
          </a:solidFill>
          <a:ln w="12700">
            <a:solidFill>
              <a:srgbClr val="8B5CF6">
                <a:alpha val="50000"/>
              </a:srgbClr>
            </a:solidFill>
            <a:prstDash val="solid"/>
          </a:ln>
        </p:spPr>
        <p:txBody>
          <a:bodyPr/>
          <a:p/>
        </p:txBody>
      </p:sp>
      <p:sp>
        <p:nvSpPr>
          <p:cNvPr id="361" name="文本框 360" descr="{&quot;isTemplate&quot;:true,&quot;type&quot;:&quot;text&quot;}"/>
          <p:cNvSpPr txBox="1"/>
          <p:nvPr/>
        </p:nvSpPr>
        <p:spPr>
          <a:xfrm>
            <a:off x="8763000" y="2819400"/>
            <a:ext cx="2590800" cy="1647825"/>
          </a:xfrm>
          <a:prstGeom prst="rect">
            <a:avLst/>
          </a:prstGeom>
        </p:spPr>
        <p:txBody>
          <a:bodyPr wrap="square" lIns="0" tIns="0" rIns="0" bIns="0">
            <a:normAutofit/>
          </a:bodyPr>
          <a:p>
            <a:pPr>
              <a:lnSpc>
                <a:spcPct val="180000"/>
              </a:lnSpc>
            </a:pPr>
            <a:r>
              <a:rPr lang="zh-CN" sz="1200" b="1">
                <a:solidFill>
                  <a:srgbClr val="C4B5FD"/>
                </a:solidFill>
                <a:latin typeface="微软雅黑" panose="020B0503020204020204" charset="-122"/>
                <a:ea typeface="微软雅黑" panose="020B0503020204020204" charset="-122"/>
              </a:rPr>
              <a:t>两点注意：</a:t>
            </a:r>
            <a:endParaRPr lang="zh-CN" sz="1200" b="1">
              <a:solidFill>
                <a:srgbClr val="C4B5FD"/>
              </a:solidFill>
              <a:latin typeface="微软雅黑" panose="020B0503020204020204" charset="-122"/>
              <a:ea typeface="微软雅黑" panose="020B0503020204020204" charset="-122"/>
            </a:endParaRPr>
          </a:p>
          <a:p>
            <a:pPr>
              <a:lnSpc>
                <a:spcPct val="180000"/>
              </a:lnSpc>
            </a:pPr>
            <a:r>
              <a:rPr lang="en-US" sz="1200">
                <a:solidFill>
                  <a:srgbClr val="E2E8F0"/>
                </a:solidFill>
                <a:latin typeface="微软雅黑" panose="020B0503020204020204" charset="-122"/>
                <a:ea typeface="微软雅黑" panose="020B0503020204020204" charset="-122"/>
              </a:rPr>
              <a:t>· </a:t>
            </a:r>
            <a:r>
              <a:rPr lang="zh-CN" sz="1200">
                <a:solidFill>
                  <a:srgbClr val="E2E8F0"/>
                </a:solidFill>
                <a:latin typeface="微软雅黑" panose="020B0503020204020204" charset="-122"/>
                <a:ea typeface="微软雅黑" panose="020B0503020204020204" charset="-122"/>
              </a:rPr>
              <a:t>进度应宏观，保留在适当抽象层次，不宜过细</a:t>
            </a:r>
            <a:endParaRPr lang="zh-CN" sz="1200">
              <a:solidFill>
                <a:srgbClr val="E2E8F0"/>
              </a:solidFill>
              <a:latin typeface="微软雅黑" panose="020B0503020204020204" charset="-122"/>
              <a:ea typeface="微软雅黑" panose="020B0503020204020204" charset="-122"/>
            </a:endParaRPr>
          </a:p>
          <a:p>
            <a:pPr>
              <a:lnSpc>
                <a:spcPct val="180000"/>
              </a:lnSpc>
            </a:pPr>
            <a:r>
              <a:rPr lang="en-US" sz="1200">
                <a:solidFill>
                  <a:srgbClr val="E2E8F0"/>
                </a:solidFill>
                <a:latin typeface="微软雅黑" panose="020B0503020204020204" charset="-122"/>
                <a:ea typeface="微软雅黑" panose="020B0503020204020204" charset="-122"/>
              </a:rPr>
              <a:t>· </a:t>
            </a:r>
            <a:r>
              <a:rPr lang="zh-CN" sz="1200">
                <a:solidFill>
                  <a:srgbClr val="E2E8F0"/>
                </a:solidFill>
                <a:latin typeface="微软雅黑" panose="020B0503020204020204" charset="-122"/>
                <a:ea typeface="微软雅黑" panose="020B0503020204020204" charset="-122"/>
              </a:rPr>
              <a:t>资源、人员与进度不是线性关系（加人未必加速）</a:t>
            </a:r>
            <a:endParaRPr lang="zh-CN" sz="1200">
              <a:solidFill>
                <a:srgbClr val="E2E8F0"/>
              </a:solidFill>
              <a:latin typeface="微软雅黑" panose="020B0503020204020204" charset="-122"/>
              <a:ea typeface="微软雅黑" panose="020B0503020204020204" charset="-122"/>
            </a:endParaRPr>
          </a:p>
        </p:txBody>
      </p:sp>
      <p:sp>
        <p:nvSpPr>
          <p:cNvPr id="362" name="文本框 361"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363" name="文本框 362"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23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64"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制定计划的时机：初步 vs 详细&lt;/Text&gt;&#13;&#10;    &lt;/Box&gt;&#13;&#10;    &lt;Box style={{ flex: 1, flexDirection: 'row', gap: 26, alignItems: 'center' }}&gt;&#13;&#10;        &lt;Box style={{ flex: 1, height: 380, background: '#111B2E', borderRadius: 14, padding: 26, justifyContent: 'flex-start', gap: 12 }}&gt;&#13;&#10;            &lt;Text style={{ fontSize: 21, fontWeight: 'bold', color: '#93C5FD' }}&gt;初步计划&lt;/Text&gt;&#13;&#10;            &lt;Text style={{ fontSize: 15, color: '#E2E8F0', lineHeight: 1.85 }}&gt;· 时机：项目开始 1–2 周内，需求尚未完整&lt;br /&gt;· 依据：项目初步描述、初步需求、剪裁过程、限制约束&lt;br /&gt;· 形式：只计划&lt;span style={{ fontWeight: 'bold' }}&gt;最近阶段&lt;/span&gt;（如需求分析 4–6 周）&lt;/Text&gt;&#13;&#10;        &lt;/Box&gt;&#13;&#10;        &lt;Box style={{ flex: 1, height: 380, background: 'rgba(139,92,246,0.10)', borderRadius: 14, padding: 26, border: '1px solid rgba(139,92,246,0.5)', justifyContent: 'flex-start', gap: 12 }}&gt;&#13;&#10;            &lt;Text style={{ fontSize: 21, fontWeight: 'bold', color: '#C4B5FD' }}&gt;详细计划&lt;/Text&gt;&#13;&#10;            &lt;Text style={{ fontSize: 15, color: '#E2E8F0', lineHeight: 1.85 }}&gt;· 时机：获取了详细完整的软件需求&lt;br /&gt;· 依据：&lt;span style={{ fontWeight: 'bold' }}&gt;软件需求规格说明书&lt;/span&gt;、剪裁过程、限制约束&lt;br /&gt;· 形式：提供项目后期的详细完整计划&lt;/Text&gt;&#13;&#10;        &lt;/Box&gt;&#13;&#10;        &lt;Box style={{ width: 360, height: 380, background: '#111B2E', borderRadius: 14, padding: 26, justifyContent: 'center', gap: 12 }}&gt;&#13;&#10;            &lt;Text style={{ fontSize: 17, color: '#E2E8F0', lineHeight: 1.8 }}&gt;&lt;span style={{ fontWeight: 'bold', color: '#22D3EE' }}&gt;为什么分两次：&lt;/span&gt;需求分析未完成前，无法准确估计后续工作——先做&quot;滚动计划&quot;，随需求澄清再细化，避免一上来就拍脑袋定全盘。&lt;/Text&gt;&#13;&#10;        &lt;/Box&gt;&#13;&#10;    &lt;/Box&gt;&#13;&#10;    &lt;Box style={{ height: 40, flexDirection: 'row', justifyContent: 'space-between', alignItems: 'center', marginTop: 16 }}&gt;&#13;&#10;        &lt;Text style={{ fontSize: 14, color: '#94A3B8' }}&gt;03 项目计划与工作分解&lt;/Text&gt;&#13;&#10;        &lt;Text style={{ fontSize: 14, color: '#94A3B8' }}&gt;24 / 47&lt;/Text&gt;&#13;&#10;    &lt;/Box&gt;&#13;&#10;&lt;/Slide&gt;&#13;&#10;"/>
        <p:cNvGrpSpPr/>
        <p:nvPr/>
      </p:nvGrpSpPr>
      <p:grpSpPr>
        <a:xfrm>
          <a:off x="0" y="0"/>
          <a:ext cx="0" cy="0"/>
          <a:chOff x="0" y="0"/>
          <a:chExt cx="0" cy="0"/>
        </a:xfrm>
      </p:grpSpPr>
      <p:sp>
        <p:nvSpPr>
          <p:cNvPr id="365" name="矩形 364"/>
          <p:cNvSpPr/>
          <p:nvPr/>
        </p:nvSpPr>
        <p:spPr>
          <a:xfrm>
            <a:off x="0" y="0"/>
            <a:ext cx="12192000" cy="6858000"/>
          </a:xfrm>
          <a:prstGeom prst="rect">
            <a:avLst/>
          </a:prstGeom>
          <a:solidFill>
            <a:srgbClr val="0B1220"/>
          </a:solidFill>
        </p:spPr>
        <p:txBody>
          <a:bodyPr/>
          <a:p/>
        </p:txBody>
      </p:sp>
      <p:sp>
        <p:nvSpPr>
          <p:cNvPr id="366" name="圆角矩形 365"/>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367" name="文本框 366" descr="{&quot;isTemplate&quot;:true,&quot;type&quot;:&quot;text&quot;}"/>
          <p:cNvSpPr txBox="1"/>
          <p:nvPr/>
        </p:nvSpPr>
        <p:spPr>
          <a:xfrm>
            <a:off x="857250" y="476250"/>
            <a:ext cx="4429125"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制定计划的时机：初步</a:t>
            </a:r>
            <a:r>
              <a:rPr lang="en-US" sz="2550" b="1">
                <a:solidFill>
                  <a:srgbClr val="E2E8F0"/>
                </a:solidFill>
                <a:latin typeface="微软雅黑" panose="020B0503020204020204" charset="-122"/>
                <a:ea typeface="微软雅黑" panose="020B0503020204020204" charset="-122"/>
              </a:rPr>
              <a:t> vs </a:t>
            </a:r>
            <a:r>
              <a:rPr lang="zh-CN" sz="2550" b="1">
                <a:solidFill>
                  <a:srgbClr val="E2E8F0"/>
                </a:solidFill>
                <a:latin typeface="微软雅黑" panose="020B0503020204020204" charset="-122"/>
                <a:ea typeface="微软雅黑" panose="020B0503020204020204" charset="-122"/>
              </a:rPr>
              <a:t>详细</a:t>
            </a:r>
            <a:endParaRPr lang="zh-CN" sz="2550" b="1">
              <a:solidFill>
                <a:srgbClr val="E2E8F0"/>
              </a:solidFill>
              <a:latin typeface="微软雅黑" panose="020B0503020204020204" charset="-122"/>
              <a:ea typeface="微软雅黑" panose="020B0503020204020204" charset="-122"/>
            </a:endParaRPr>
          </a:p>
        </p:txBody>
      </p:sp>
      <p:sp>
        <p:nvSpPr>
          <p:cNvPr id="368" name="圆角矩形 367"/>
          <p:cNvSpPr/>
          <p:nvPr/>
        </p:nvSpPr>
        <p:spPr>
          <a:xfrm>
            <a:off x="609600" y="1828800"/>
            <a:ext cx="3524250" cy="3619500"/>
          </a:xfrm>
          <a:prstGeom prst="roundRect">
            <a:avLst>
              <a:gd name="adj" fmla="val 3784"/>
            </a:avLst>
          </a:prstGeom>
          <a:solidFill>
            <a:srgbClr val="111B2E"/>
          </a:solidFill>
        </p:spPr>
        <p:txBody>
          <a:bodyPr/>
          <a:p/>
        </p:txBody>
      </p:sp>
      <p:sp>
        <p:nvSpPr>
          <p:cNvPr id="369" name="文本框 368" descr="{&quot;isTemplate&quot;:true,&quot;type&quot;:&quot;text&quot;}"/>
          <p:cNvSpPr txBox="1"/>
          <p:nvPr/>
        </p:nvSpPr>
        <p:spPr>
          <a:xfrm>
            <a:off x="857250" y="2076450"/>
            <a:ext cx="3028950" cy="247650"/>
          </a:xfrm>
          <a:prstGeom prst="rect">
            <a:avLst/>
          </a:prstGeom>
        </p:spPr>
        <p:txBody>
          <a:bodyPr wrap="none" lIns="0" tIns="0" rIns="0" bIns="0"/>
          <a:p>
            <a:pPr>
              <a:lnSpc>
                <a:spcPct val="100000"/>
              </a:lnSpc>
            </a:pPr>
            <a:r>
              <a:rPr lang="zh-CN" sz="1575" b="1">
                <a:solidFill>
                  <a:srgbClr val="93C5FD"/>
                </a:solidFill>
                <a:latin typeface="微软雅黑" panose="020B0503020204020204" charset="-122"/>
                <a:ea typeface="微软雅黑" panose="020B0503020204020204" charset="-122"/>
              </a:rPr>
              <a:t>初步计划</a:t>
            </a:r>
            <a:endParaRPr lang="zh-CN" sz="1575" b="1">
              <a:solidFill>
                <a:srgbClr val="93C5FD"/>
              </a:solidFill>
              <a:latin typeface="微软雅黑" panose="020B0503020204020204" charset="-122"/>
              <a:ea typeface="微软雅黑" panose="020B0503020204020204" charset="-122"/>
            </a:endParaRPr>
          </a:p>
        </p:txBody>
      </p:sp>
      <p:sp>
        <p:nvSpPr>
          <p:cNvPr id="370" name="文本框 369" descr="{&quot;isTemplate&quot;:true,&quot;type&quot;:&quot;text&quot;}"/>
          <p:cNvSpPr txBox="1"/>
          <p:nvPr/>
        </p:nvSpPr>
        <p:spPr>
          <a:xfrm>
            <a:off x="857250" y="2438400"/>
            <a:ext cx="3028950" cy="1276350"/>
          </a:xfrm>
          <a:prstGeom prst="rect">
            <a:avLst/>
          </a:prstGeom>
        </p:spPr>
        <p:txBody>
          <a:bodyPr wrap="square" lIns="0" tIns="0" rIns="0" bIns="0">
            <a:normAutofit/>
          </a:bodyPr>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时机：项目开始</a:t>
            </a:r>
            <a:r>
              <a:rPr lang="en-US" sz="1125">
                <a:solidFill>
                  <a:srgbClr val="E2E8F0"/>
                </a:solidFill>
                <a:latin typeface="微软雅黑" panose="020B0503020204020204" charset="-122"/>
                <a:ea typeface="微软雅黑" panose="020B0503020204020204" charset="-122"/>
              </a:rPr>
              <a:t> 1–2 </a:t>
            </a:r>
            <a:r>
              <a:rPr lang="zh-CN" sz="1125">
                <a:solidFill>
                  <a:srgbClr val="E2E8F0"/>
                </a:solidFill>
                <a:latin typeface="微软雅黑" panose="020B0503020204020204" charset="-122"/>
                <a:ea typeface="微软雅黑" panose="020B0503020204020204" charset="-122"/>
              </a:rPr>
              <a:t>周内，需求尚未完整</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依据：项目初步描述、初步需求、剪裁过程、限制约束</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形式：只计划</a:t>
            </a:r>
            <a:r>
              <a:rPr lang="zh-CN" sz="1125" b="1">
                <a:solidFill>
                  <a:srgbClr val="E2E8F0"/>
                </a:solidFill>
                <a:latin typeface="微软雅黑" panose="020B0503020204020204" charset="-122"/>
                <a:ea typeface="微软雅黑" panose="020B0503020204020204" charset="-122"/>
              </a:rPr>
              <a:t>最近阶段</a:t>
            </a:r>
            <a:r>
              <a:rPr lang="zh-CN" sz="1125">
                <a:solidFill>
                  <a:srgbClr val="E2E8F0"/>
                </a:solidFill>
                <a:latin typeface="微软雅黑" panose="020B0503020204020204" charset="-122"/>
                <a:ea typeface="微软雅黑" panose="020B0503020204020204" charset="-122"/>
              </a:rPr>
              <a:t>（如需求分析</a:t>
            </a:r>
            <a:r>
              <a:rPr lang="en-US" sz="1125">
                <a:solidFill>
                  <a:srgbClr val="E2E8F0"/>
                </a:solidFill>
                <a:latin typeface="微软雅黑" panose="020B0503020204020204" charset="-122"/>
                <a:ea typeface="微软雅黑" panose="020B0503020204020204" charset="-122"/>
              </a:rPr>
              <a:t> 4–6 </a:t>
            </a:r>
            <a:r>
              <a:rPr lang="zh-CN" sz="1125">
                <a:solidFill>
                  <a:srgbClr val="E2E8F0"/>
                </a:solidFill>
                <a:latin typeface="微软雅黑" panose="020B0503020204020204" charset="-122"/>
                <a:ea typeface="微软雅黑" panose="020B0503020204020204" charset="-122"/>
              </a:rPr>
              <a:t>周）</a:t>
            </a:r>
            <a:endParaRPr lang="zh-CN" sz="1125">
              <a:solidFill>
                <a:srgbClr val="E2E8F0"/>
              </a:solidFill>
              <a:latin typeface="微软雅黑" panose="020B0503020204020204" charset="-122"/>
              <a:ea typeface="微软雅黑" panose="020B0503020204020204" charset="-122"/>
            </a:endParaRPr>
          </a:p>
        </p:txBody>
      </p:sp>
      <p:sp>
        <p:nvSpPr>
          <p:cNvPr id="371" name="圆角矩形 370"/>
          <p:cNvSpPr/>
          <p:nvPr/>
        </p:nvSpPr>
        <p:spPr>
          <a:xfrm>
            <a:off x="4381500" y="1828800"/>
            <a:ext cx="3524250" cy="3619500"/>
          </a:xfrm>
          <a:prstGeom prst="roundRect">
            <a:avLst>
              <a:gd name="adj" fmla="val 3784"/>
            </a:avLst>
          </a:prstGeom>
          <a:solidFill>
            <a:srgbClr val="8B5CF6">
              <a:alpha val="10000"/>
            </a:srgbClr>
          </a:solidFill>
          <a:ln w="12700">
            <a:solidFill>
              <a:srgbClr val="8B5CF6">
                <a:alpha val="50000"/>
              </a:srgbClr>
            </a:solidFill>
            <a:prstDash val="solid"/>
          </a:ln>
        </p:spPr>
        <p:txBody>
          <a:bodyPr/>
          <a:p/>
        </p:txBody>
      </p:sp>
      <p:sp>
        <p:nvSpPr>
          <p:cNvPr id="372" name="文本框 371" descr="{&quot;isTemplate&quot;:true,&quot;type&quot;:&quot;text&quot;}"/>
          <p:cNvSpPr txBox="1"/>
          <p:nvPr/>
        </p:nvSpPr>
        <p:spPr>
          <a:xfrm>
            <a:off x="4629150" y="2076450"/>
            <a:ext cx="3028950" cy="247650"/>
          </a:xfrm>
          <a:prstGeom prst="rect">
            <a:avLst/>
          </a:prstGeom>
        </p:spPr>
        <p:txBody>
          <a:bodyPr wrap="none" lIns="0" tIns="0" rIns="0" bIns="0"/>
          <a:p>
            <a:pPr>
              <a:lnSpc>
                <a:spcPct val="100000"/>
              </a:lnSpc>
            </a:pPr>
            <a:r>
              <a:rPr lang="zh-CN" sz="1575" b="1">
                <a:solidFill>
                  <a:srgbClr val="C4B5FD"/>
                </a:solidFill>
                <a:latin typeface="微软雅黑" panose="020B0503020204020204" charset="-122"/>
                <a:ea typeface="微软雅黑" panose="020B0503020204020204" charset="-122"/>
              </a:rPr>
              <a:t>详细计划</a:t>
            </a:r>
            <a:endParaRPr lang="zh-CN" sz="1575" b="1">
              <a:solidFill>
                <a:srgbClr val="C4B5FD"/>
              </a:solidFill>
              <a:latin typeface="微软雅黑" panose="020B0503020204020204" charset="-122"/>
              <a:ea typeface="微软雅黑" panose="020B0503020204020204" charset="-122"/>
            </a:endParaRPr>
          </a:p>
        </p:txBody>
      </p:sp>
      <p:sp>
        <p:nvSpPr>
          <p:cNvPr id="373" name="文本框 372" descr="{&quot;isTemplate&quot;:true,&quot;type&quot;:&quot;text&quot;}"/>
          <p:cNvSpPr txBox="1"/>
          <p:nvPr/>
        </p:nvSpPr>
        <p:spPr>
          <a:xfrm>
            <a:off x="4629150" y="2438400"/>
            <a:ext cx="3028950" cy="1276350"/>
          </a:xfrm>
          <a:prstGeom prst="rect">
            <a:avLst/>
          </a:prstGeom>
        </p:spPr>
        <p:txBody>
          <a:bodyPr wrap="square" lIns="0" tIns="0" rIns="0" bIns="0">
            <a:normAutofit/>
          </a:bodyPr>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时机：获取了详细完整的软件需求</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依据：</a:t>
            </a:r>
            <a:r>
              <a:rPr lang="zh-CN" sz="1125" b="1">
                <a:solidFill>
                  <a:srgbClr val="E2E8F0"/>
                </a:solidFill>
                <a:latin typeface="微软雅黑" panose="020B0503020204020204" charset="-122"/>
                <a:ea typeface="微软雅黑" panose="020B0503020204020204" charset="-122"/>
              </a:rPr>
              <a:t>软件需求规格说明书</a:t>
            </a:r>
            <a:r>
              <a:rPr lang="zh-CN" sz="1125">
                <a:solidFill>
                  <a:srgbClr val="E2E8F0"/>
                </a:solidFill>
                <a:latin typeface="微软雅黑" panose="020B0503020204020204" charset="-122"/>
                <a:ea typeface="微软雅黑" panose="020B0503020204020204" charset="-122"/>
              </a:rPr>
              <a:t>、剪裁过程、限制约束</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形式：提供项目后期的详细完整计划</a:t>
            </a:r>
            <a:endParaRPr lang="zh-CN" sz="1125">
              <a:solidFill>
                <a:srgbClr val="E2E8F0"/>
              </a:solidFill>
              <a:latin typeface="微软雅黑" panose="020B0503020204020204" charset="-122"/>
              <a:ea typeface="微软雅黑" panose="020B0503020204020204" charset="-122"/>
            </a:endParaRPr>
          </a:p>
        </p:txBody>
      </p:sp>
      <p:sp>
        <p:nvSpPr>
          <p:cNvPr id="374" name="圆角矩形 373"/>
          <p:cNvSpPr/>
          <p:nvPr/>
        </p:nvSpPr>
        <p:spPr>
          <a:xfrm>
            <a:off x="8153400" y="1828800"/>
            <a:ext cx="3429000" cy="3619500"/>
          </a:xfrm>
          <a:prstGeom prst="roundRect">
            <a:avLst>
              <a:gd name="adj" fmla="val 3889"/>
            </a:avLst>
          </a:prstGeom>
          <a:solidFill>
            <a:srgbClr val="111B2E"/>
          </a:solidFill>
        </p:spPr>
        <p:txBody>
          <a:bodyPr/>
          <a:p/>
        </p:txBody>
      </p:sp>
      <p:sp>
        <p:nvSpPr>
          <p:cNvPr id="375" name="文本框 374" descr="{&quot;isTemplate&quot;:true,&quot;type&quot;:&quot;text&quot;}"/>
          <p:cNvSpPr txBox="1"/>
          <p:nvPr/>
        </p:nvSpPr>
        <p:spPr>
          <a:xfrm>
            <a:off x="8401050" y="2943225"/>
            <a:ext cx="2933700" cy="1400175"/>
          </a:xfrm>
          <a:prstGeom prst="rect">
            <a:avLst/>
          </a:prstGeom>
        </p:spPr>
        <p:txBody>
          <a:bodyPr wrap="square" lIns="0" tIns="0" rIns="0" bIns="0">
            <a:normAutofit/>
          </a:bodyPr>
          <a:p>
            <a:pPr>
              <a:lnSpc>
                <a:spcPct val="180000"/>
              </a:lnSpc>
            </a:pPr>
            <a:r>
              <a:rPr lang="zh-CN" sz="1275" b="1">
                <a:solidFill>
                  <a:srgbClr val="22D3EE"/>
                </a:solidFill>
                <a:latin typeface="微软雅黑" panose="020B0503020204020204" charset="-122"/>
                <a:ea typeface="微软雅黑" panose="020B0503020204020204" charset="-122"/>
              </a:rPr>
              <a:t>为什么分两次：</a:t>
            </a:r>
            <a:r>
              <a:rPr lang="zh-CN" sz="1275">
                <a:solidFill>
                  <a:srgbClr val="E2E8F0"/>
                </a:solidFill>
                <a:latin typeface="微软雅黑" panose="020B0503020204020204" charset="-122"/>
                <a:ea typeface="微软雅黑" panose="020B0503020204020204" charset="-122"/>
              </a:rPr>
              <a:t>需求分析未完成前，无法准确估计后续工作——先做</a:t>
            </a:r>
            <a:r>
              <a:rPr lang="en-US" sz="1275">
                <a:solidFill>
                  <a:srgbClr val="E2E8F0"/>
                </a:solidFill>
                <a:latin typeface="微软雅黑" panose="020B0503020204020204" charset="-122"/>
                <a:ea typeface="微软雅黑" panose="020B0503020204020204" charset="-122"/>
              </a:rPr>
              <a:t>"</a:t>
            </a:r>
            <a:r>
              <a:rPr lang="zh-CN" sz="1275">
                <a:solidFill>
                  <a:srgbClr val="E2E8F0"/>
                </a:solidFill>
                <a:latin typeface="微软雅黑" panose="020B0503020204020204" charset="-122"/>
                <a:ea typeface="微软雅黑" panose="020B0503020204020204" charset="-122"/>
              </a:rPr>
              <a:t>滚动计划</a:t>
            </a:r>
            <a:r>
              <a:rPr lang="en-US" sz="1275">
                <a:solidFill>
                  <a:srgbClr val="E2E8F0"/>
                </a:solidFill>
                <a:latin typeface="微软雅黑" panose="020B0503020204020204" charset="-122"/>
                <a:ea typeface="微软雅黑" panose="020B0503020204020204" charset="-122"/>
              </a:rPr>
              <a:t>"</a:t>
            </a:r>
            <a:r>
              <a:rPr lang="zh-CN" sz="1275">
                <a:solidFill>
                  <a:srgbClr val="E2E8F0"/>
                </a:solidFill>
                <a:latin typeface="微软雅黑" panose="020B0503020204020204" charset="-122"/>
                <a:ea typeface="微软雅黑" panose="020B0503020204020204" charset="-122"/>
              </a:rPr>
              <a:t>，随需求澄清再细化，避免一上来就拍脑袋定全盘。</a:t>
            </a:r>
            <a:endParaRPr lang="zh-CN" sz="1275">
              <a:solidFill>
                <a:srgbClr val="E2E8F0"/>
              </a:solidFill>
              <a:latin typeface="微软雅黑" panose="020B0503020204020204" charset="-122"/>
              <a:ea typeface="微软雅黑" panose="020B0503020204020204" charset="-122"/>
            </a:endParaRPr>
          </a:p>
        </p:txBody>
      </p:sp>
      <p:sp>
        <p:nvSpPr>
          <p:cNvPr id="376" name="文本框 375"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377" name="文本框 376"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24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78"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为什么需要软件项目计划？&lt;/Text&gt;&#13;&#10;    &lt;/Box&gt;&#13;&#10;    &lt;Box style={{ flex: 1, flexDirection: 'row', gap: 24, alignItems: 'center' }}&gt;&#13;&#10;        &lt;Box style={{ flex: 1, height: 400, background: '#111B2E', borderRadius: 14, padding: 26, justifyContent: 'flex-start', gap: 12 }}&gt;&#13;&#10;            &lt;Text style={{ fontSize: 20, fontWeight: 'bold', color: '#93C5FD' }}&gt;对项目本身&lt;/Text&gt;&#13;&#10;            &lt;Text style={{ fontSize: 15, color: '#E2E8F0', lineHeight: 2.0 }}&gt;· 有序、可控制地管理项目&lt;br /&gt;· 生产高质量的软件产品&lt;br /&gt;· 及时交付 · 降低成本&lt;br /&gt;· 成功进入市场&lt;/Text&gt;&#13;&#10;        &lt;/Box&gt;&#13;&#10;        &lt;Box style={{ flex: 1, height: 400, background: '#111B2E', borderRadius: 14, padding: 26, justifyContent: 'flex-start', gap: 12 }}&gt;&#13;&#10;            &lt;Text style={{ fontSize: 20, fontWeight: 'bold', color: '#67E8F9' }}&gt;对团队&lt;/Text&gt;&#13;&#10;            &lt;Text style={{ fontSize: 15, color: '#E2E8F0', lineHeight: 2.0 }}&gt;· 确保员工士气高昂&lt;br /&gt;· 确保员工保持高生产率&lt;br /&gt;· 明确职责与期望&lt;br /&gt;· 减少无效返工与等待&lt;/Text&gt;&#13;&#10;        &lt;/Box&gt;&#13;&#10;        &lt;Box style={{ width: 340, height: 400, background: 'rgba(139,92,246,0.10)', borderRadius: 14, padding: 26, border: '1px solid rgba(139,92,246,0.5)', justifyContent: 'center', gap: 12 }}&gt;&#13;&#10;            &lt;Text style={{ fontSize: 20, fontWeight: 'bold', color: '#C4B5FD' }}&gt;对客户&lt;/Text&gt;&#13;&#10;            &lt;Text style={{ fontSize: 15, color: '#E2E8F0', lineHeight: 2.0 }}&gt;· 客户满意度&lt;br /&gt;· 及时发布产品新版本&lt;br /&gt;· 承诺可信、进度可预期&lt;/Text&gt;&#13;&#10;        &lt;/Box&gt;&#13;&#10;    &lt;/Box&gt;&#13;&#10;    &lt;Box style={{ height: 40, flexDirection: 'row', justifyContent: 'space-between', alignItems: 'center', marginTop: 16 }}&gt;&#13;&#10;        &lt;Text style={{ fontSize: 14, color: '#94A3B8' }}&gt;03 项目计划与工作分解&lt;/Text&gt;&#13;&#10;        &lt;Text style={{ fontSize: 14, color: '#94A3B8' }}&gt;25 / 47&lt;/Text&gt;&#13;&#10;    &lt;/Box&gt;&#13;&#10;&lt;/Slide&gt;&#13;&#10;"/>
        <p:cNvGrpSpPr/>
        <p:nvPr/>
      </p:nvGrpSpPr>
      <p:grpSpPr>
        <a:xfrm>
          <a:off x="0" y="0"/>
          <a:ext cx="0" cy="0"/>
          <a:chOff x="0" y="0"/>
          <a:chExt cx="0" cy="0"/>
        </a:xfrm>
      </p:grpSpPr>
      <p:sp>
        <p:nvSpPr>
          <p:cNvPr id="379" name="矩形 378"/>
          <p:cNvSpPr/>
          <p:nvPr/>
        </p:nvSpPr>
        <p:spPr>
          <a:xfrm>
            <a:off x="0" y="0"/>
            <a:ext cx="12192000" cy="6858000"/>
          </a:xfrm>
          <a:prstGeom prst="rect">
            <a:avLst/>
          </a:prstGeom>
          <a:solidFill>
            <a:srgbClr val="0B1220"/>
          </a:solidFill>
        </p:spPr>
        <p:txBody>
          <a:bodyPr/>
          <a:p/>
        </p:txBody>
      </p:sp>
      <p:sp>
        <p:nvSpPr>
          <p:cNvPr id="380" name="圆角矩形 379"/>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381" name="文本框 380" descr="{&quot;isTemplate&quot;:true,&quot;type&quot;:&quot;text&quot;}"/>
          <p:cNvSpPr txBox="1"/>
          <p:nvPr/>
        </p:nvSpPr>
        <p:spPr>
          <a:xfrm>
            <a:off x="857250" y="476250"/>
            <a:ext cx="38862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为什么需要软件项目计划？</a:t>
            </a:r>
            <a:endParaRPr lang="zh-CN" sz="2550" b="1">
              <a:solidFill>
                <a:srgbClr val="E2E8F0"/>
              </a:solidFill>
              <a:latin typeface="微软雅黑" panose="020B0503020204020204" charset="-122"/>
              <a:ea typeface="微软雅黑" panose="020B0503020204020204" charset="-122"/>
            </a:endParaRPr>
          </a:p>
        </p:txBody>
      </p:sp>
      <p:sp>
        <p:nvSpPr>
          <p:cNvPr id="382" name="圆角矩形 381"/>
          <p:cNvSpPr/>
          <p:nvPr/>
        </p:nvSpPr>
        <p:spPr>
          <a:xfrm>
            <a:off x="609600" y="1733550"/>
            <a:ext cx="3638550" cy="3810000"/>
          </a:xfrm>
          <a:prstGeom prst="roundRect">
            <a:avLst>
              <a:gd name="adj" fmla="val 3665"/>
            </a:avLst>
          </a:prstGeom>
          <a:solidFill>
            <a:srgbClr val="111B2E"/>
          </a:solidFill>
        </p:spPr>
        <p:txBody>
          <a:bodyPr/>
          <a:p/>
        </p:txBody>
      </p:sp>
      <p:sp>
        <p:nvSpPr>
          <p:cNvPr id="383" name="文本框 382" descr="{&quot;isTemplate&quot;:true,&quot;type&quot;:&quot;text&quot;}"/>
          <p:cNvSpPr txBox="1"/>
          <p:nvPr/>
        </p:nvSpPr>
        <p:spPr>
          <a:xfrm>
            <a:off x="857250" y="1981200"/>
            <a:ext cx="3143250" cy="228600"/>
          </a:xfrm>
          <a:prstGeom prst="rect">
            <a:avLst/>
          </a:prstGeom>
        </p:spPr>
        <p:txBody>
          <a:bodyPr wrap="none" lIns="0" tIns="0" rIns="0" bIns="0"/>
          <a:p>
            <a:pPr>
              <a:lnSpc>
                <a:spcPct val="100000"/>
              </a:lnSpc>
            </a:pPr>
            <a:r>
              <a:rPr lang="zh-CN" sz="1500" b="1">
                <a:solidFill>
                  <a:srgbClr val="93C5FD"/>
                </a:solidFill>
                <a:latin typeface="微软雅黑" panose="020B0503020204020204" charset="-122"/>
                <a:ea typeface="微软雅黑" panose="020B0503020204020204" charset="-122"/>
              </a:rPr>
              <a:t>对项目本身</a:t>
            </a:r>
            <a:endParaRPr lang="zh-CN" sz="1500" b="1">
              <a:solidFill>
                <a:srgbClr val="93C5FD"/>
              </a:solidFill>
              <a:latin typeface="微软雅黑" panose="020B0503020204020204" charset="-122"/>
              <a:ea typeface="微软雅黑" panose="020B0503020204020204" charset="-122"/>
            </a:endParaRPr>
          </a:p>
        </p:txBody>
      </p:sp>
      <p:sp>
        <p:nvSpPr>
          <p:cNvPr id="384" name="文本框 383" descr="{&quot;isTemplate&quot;:true,&quot;type&quot;:&quot;text&quot;}"/>
          <p:cNvSpPr txBox="1"/>
          <p:nvPr/>
        </p:nvSpPr>
        <p:spPr>
          <a:xfrm>
            <a:off x="857250" y="2324100"/>
            <a:ext cx="3143250" cy="1371600"/>
          </a:xfrm>
          <a:prstGeom prst="rect">
            <a:avLst/>
          </a:prstGeom>
        </p:spPr>
        <p:txBody>
          <a:bodyPr wrap="none" lIns="0" tIns="0" rIns="0" bIns="0"/>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有序、可控制地管理项目</a:t>
            </a:r>
            <a:endParaRPr lang="zh-CN" sz="1125">
              <a:solidFill>
                <a:srgbClr val="E2E8F0"/>
              </a:solidFill>
              <a:latin typeface="微软雅黑" panose="020B0503020204020204" charset="-122"/>
              <a:ea typeface="微软雅黑" panose="020B0503020204020204" charset="-122"/>
            </a:endParaRPr>
          </a:p>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生产高质量的软件产品</a:t>
            </a:r>
            <a:endParaRPr lang="zh-CN" sz="1125">
              <a:solidFill>
                <a:srgbClr val="E2E8F0"/>
              </a:solidFill>
              <a:latin typeface="微软雅黑" panose="020B0503020204020204" charset="-122"/>
              <a:ea typeface="微软雅黑" panose="020B0503020204020204" charset="-122"/>
            </a:endParaRPr>
          </a:p>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及时交付</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降低成本</a:t>
            </a:r>
            <a:endParaRPr lang="zh-CN" sz="1125">
              <a:solidFill>
                <a:srgbClr val="E2E8F0"/>
              </a:solidFill>
              <a:latin typeface="微软雅黑" panose="020B0503020204020204" charset="-122"/>
              <a:ea typeface="微软雅黑" panose="020B0503020204020204" charset="-122"/>
            </a:endParaRPr>
          </a:p>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成功进入市场</a:t>
            </a:r>
            <a:endParaRPr lang="zh-CN" sz="1125">
              <a:solidFill>
                <a:srgbClr val="E2E8F0"/>
              </a:solidFill>
              <a:latin typeface="微软雅黑" panose="020B0503020204020204" charset="-122"/>
              <a:ea typeface="微软雅黑" panose="020B0503020204020204" charset="-122"/>
            </a:endParaRPr>
          </a:p>
        </p:txBody>
      </p:sp>
      <p:sp>
        <p:nvSpPr>
          <p:cNvPr id="385" name="圆角矩形 384"/>
          <p:cNvSpPr/>
          <p:nvPr/>
        </p:nvSpPr>
        <p:spPr>
          <a:xfrm>
            <a:off x="4476750" y="1733550"/>
            <a:ext cx="3638550" cy="3810000"/>
          </a:xfrm>
          <a:prstGeom prst="roundRect">
            <a:avLst>
              <a:gd name="adj" fmla="val 3665"/>
            </a:avLst>
          </a:prstGeom>
          <a:solidFill>
            <a:srgbClr val="111B2E"/>
          </a:solidFill>
        </p:spPr>
        <p:txBody>
          <a:bodyPr/>
          <a:p/>
        </p:txBody>
      </p:sp>
      <p:sp>
        <p:nvSpPr>
          <p:cNvPr id="386" name="文本框 385" descr="{&quot;isTemplate&quot;:true,&quot;type&quot;:&quot;text&quot;}"/>
          <p:cNvSpPr txBox="1"/>
          <p:nvPr/>
        </p:nvSpPr>
        <p:spPr>
          <a:xfrm>
            <a:off x="4724400" y="1981200"/>
            <a:ext cx="3143250" cy="228600"/>
          </a:xfrm>
          <a:prstGeom prst="rect">
            <a:avLst/>
          </a:prstGeom>
        </p:spPr>
        <p:txBody>
          <a:bodyPr wrap="none" lIns="0" tIns="0" rIns="0" bIns="0"/>
          <a:p>
            <a:pPr>
              <a:lnSpc>
                <a:spcPct val="100000"/>
              </a:lnSpc>
            </a:pPr>
            <a:r>
              <a:rPr lang="zh-CN" sz="1500" b="1">
                <a:solidFill>
                  <a:srgbClr val="67E8F9"/>
                </a:solidFill>
                <a:latin typeface="微软雅黑" panose="020B0503020204020204" charset="-122"/>
                <a:ea typeface="微软雅黑" panose="020B0503020204020204" charset="-122"/>
              </a:rPr>
              <a:t>对团队</a:t>
            </a:r>
            <a:endParaRPr lang="zh-CN" sz="1500" b="1">
              <a:solidFill>
                <a:srgbClr val="67E8F9"/>
              </a:solidFill>
              <a:latin typeface="微软雅黑" panose="020B0503020204020204" charset="-122"/>
              <a:ea typeface="微软雅黑" panose="020B0503020204020204" charset="-122"/>
            </a:endParaRPr>
          </a:p>
        </p:txBody>
      </p:sp>
      <p:sp>
        <p:nvSpPr>
          <p:cNvPr id="387" name="文本框 386" descr="{&quot;isTemplate&quot;:true,&quot;type&quot;:&quot;text&quot;}"/>
          <p:cNvSpPr txBox="1"/>
          <p:nvPr/>
        </p:nvSpPr>
        <p:spPr>
          <a:xfrm>
            <a:off x="4724400" y="2324100"/>
            <a:ext cx="3143250" cy="1371600"/>
          </a:xfrm>
          <a:prstGeom prst="rect">
            <a:avLst/>
          </a:prstGeom>
        </p:spPr>
        <p:txBody>
          <a:bodyPr wrap="none" lIns="0" tIns="0" rIns="0" bIns="0"/>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确保员工士气高昂</a:t>
            </a:r>
            <a:endParaRPr lang="zh-CN" sz="1125">
              <a:solidFill>
                <a:srgbClr val="E2E8F0"/>
              </a:solidFill>
              <a:latin typeface="微软雅黑" panose="020B0503020204020204" charset="-122"/>
              <a:ea typeface="微软雅黑" panose="020B0503020204020204" charset="-122"/>
            </a:endParaRPr>
          </a:p>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确保员工保持高生产率</a:t>
            </a:r>
            <a:endParaRPr lang="zh-CN" sz="1125">
              <a:solidFill>
                <a:srgbClr val="E2E8F0"/>
              </a:solidFill>
              <a:latin typeface="微软雅黑" panose="020B0503020204020204" charset="-122"/>
              <a:ea typeface="微软雅黑" panose="020B0503020204020204" charset="-122"/>
            </a:endParaRPr>
          </a:p>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明确职责与期望</a:t>
            </a:r>
            <a:endParaRPr lang="zh-CN" sz="1125">
              <a:solidFill>
                <a:srgbClr val="E2E8F0"/>
              </a:solidFill>
              <a:latin typeface="微软雅黑" panose="020B0503020204020204" charset="-122"/>
              <a:ea typeface="微软雅黑" panose="020B0503020204020204" charset="-122"/>
            </a:endParaRPr>
          </a:p>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减少无效返工与等待</a:t>
            </a:r>
            <a:endParaRPr lang="zh-CN" sz="1125">
              <a:solidFill>
                <a:srgbClr val="E2E8F0"/>
              </a:solidFill>
              <a:latin typeface="微软雅黑" panose="020B0503020204020204" charset="-122"/>
              <a:ea typeface="微软雅黑" panose="020B0503020204020204" charset="-122"/>
            </a:endParaRPr>
          </a:p>
        </p:txBody>
      </p:sp>
      <p:sp>
        <p:nvSpPr>
          <p:cNvPr id="388" name="圆角矩形 387"/>
          <p:cNvSpPr/>
          <p:nvPr/>
        </p:nvSpPr>
        <p:spPr>
          <a:xfrm>
            <a:off x="8343900" y="1733550"/>
            <a:ext cx="3238500" cy="3810000"/>
          </a:xfrm>
          <a:prstGeom prst="roundRect">
            <a:avLst>
              <a:gd name="adj" fmla="val 4118"/>
            </a:avLst>
          </a:prstGeom>
          <a:solidFill>
            <a:srgbClr val="8B5CF6">
              <a:alpha val="10000"/>
            </a:srgbClr>
          </a:solidFill>
          <a:ln w="12700">
            <a:solidFill>
              <a:srgbClr val="8B5CF6">
                <a:alpha val="50000"/>
              </a:srgbClr>
            </a:solidFill>
            <a:prstDash val="solid"/>
          </a:ln>
        </p:spPr>
        <p:txBody>
          <a:bodyPr/>
          <a:p/>
        </p:txBody>
      </p:sp>
      <p:sp>
        <p:nvSpPr>
          <p:cNvPr id="389" name="文本框 388" descr="{&quot;isTemplate&quot;:true,&quot;type&quot;:&quot;text&quot;}"/>
          <p:cNvSpPr txBox="1"/>
          <p:nvPr/>
        </p:nvSpPr>
        <p:spPr>
          <a:xfrm>
            <a:off x="8591550" y="2952750"/>
            <a:ext cx="2743200" cy="228600"/>
          </a:xfrm>
          <a:prstGeom prst="rect">
            <a:avLst/>
          </a:prstGeom>
        </p:spPr>
        <p:txBody>
          <a:bodyPr wrap="none" lIns="0" tIns="0" rIns="0" bIns="0"/>
          <a:p>
            <a:pPr>
              <a:lnSpc>
                <a:spcPct val="100000"/>
              </a:lnSpc>
            </a:pPr>
            <a:r>
              <a:rPr lang="zh-CN" sz="1500" b="1">
                <a:solidFill>
                  <a:srgbClr val="C4B5FD"/>
                </a:solidFill>
                <a:latin typeface="微软雅黑" panose="020B0503020204020204" charset="-122"/>
                <a:ea typeface="微软雅黑" panose="020B0503020204020204" charset="-122"/>
              </a:rPr>
              <a:t>对客户</a:t>
            </a:r>
            <a:endParaRPr lang="zh-CN" sz="1500" b="1">
              <a:solidFill>
                <a:srgbClr val="C4B5FD"/>
              </a:solidFill>
              <a:latin typeface="微软雅黑" panose="020B0503020204020204" charset="-122"/>
              <a:ea typeface="微软雅黑" panose="020B0503020204020204" charset="-122"/>
            </a:endParaRPr>
          </a:p>
        </p:txBody>
      </p:sp>
      <p:sp>
        <p:nvSpPr>
          <p:cNvPr id="390" name="文本框 389" descr="{&quot;isTemplate&quot;:true,&quot;type&quot;:&quot;text&quot;}"/>
          <p:cNvSpPr txBox="1"/>
          <p:nvPr/>
        </p:nvSpPr>
        <p:spPr>
          <a:xfrm>
            <a:off x="8591550" y="3295650"/>
            <a:ext cx="2743200" cy="1028700"/>
          </a:xfrm>
          <a:prstGeom prst="rect">
            <a:avLst/>
          </a:prstGeom>
        </p:spPr>
        <p:txBody>
          <a:bodyPr wrap="none" lIns="0" tIns="0" rIns="0" bIns="0"/>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客户满意度</a:t>
            </a:r>
            <a:endParaRPr lang="zh-CN" sz="1125">
              <a:solidFill>
                <a:srgbClr val="E2E8F0"/>
              </a:solidFill>
              <a:latin typeface="微软雅黑" panose="020B0503020204020204" charset="-122"/>
              <a:ea typeface="微软雅黑" panose="020B0503020204020204" charset="-122"/>
            </a:endParaRPr>
          </a:p>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及时发布产品新版本</a:t>
            </a:r>
            <a:endParaRPr lang="zh-CN" sz="1125">
              <a:solidFill>
                <a:srgbClr val="E2E8F0"/>
              </a:solidFill>
              <a:latin typeface="微软雅黑" panose="020B0503020204020204" charset="-122"/>
              <a:ea typeface="微软雅黑" panose="020B0503020204020204" charset="-122"/>
            </a:endParaRPr>
          </a:p>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承诺可信、进度可预期</a:t>
            </a:r>
            <a:endParaRPr lang="zh-CN" sz="1125">
              <a:solidFill>
                <a:srgbClr val="E2E8F0"/>
              </a:solidFill>
              <a:latin typeface="微软雅黑" panose="020B0503020204020204" charset="-122"/>
              <a:ea typeface="微软雅黑" panose="020B0503020204020204" charset="-122"/>
            </a:endParaRPr>
          </a:p>
        </p:txBody>
      </p:sp>
      <p:sp>
        <p:nvSpPr>
          <p:cNvPr id="391" name="文本框 390"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392" name="文本框 391"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25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93"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第一章小结&lt;/Text&gt;&#13;&#10;    &lt;/Box&gt;&#13;&#10;    &lt;Box style={{ flex: 1, justifyContent: 'center', alignItems: 'center' }}&gt;&#13;&#10;        &lt;Box style={{ alignItems: 'center' }}&gt;&#13;&#10;            &lt;Text style={{ fontSize: 100, fontWeight: 'bold', backgroundImage: 'linear-gradient(135deg, #3B82F6 0%, #22D3EE 100%)', backgroundClip: 'text', color: 'transparent', lineHeight: 1.0 }}&gt;计划三要素&lt;/Text&gt;&#13;&#10;            &lt;Text style={{ fontSize: 24, color: '#E2E8F0', marginTop: 24, textAlign: 'center', lineHeight: 1.9 }}&gt;&lt;span style={{ fontWeight: 'bold', color: '#93C5FD' }}&gt;任务&lt;/span&gt;（做什么）　&lt;span style={{ fontWeight: 'bold', color: '#67E8F9' }}&gt;进度&lt;/span&gt;（何时做）　&lt;span style={{ fontWeight: 'bold', color: '#C4B5FD' }}&gt;资源&lt;/span&gt;（用什么做）&lt;/Text&gt;&#13;&#10;            &lt;Box style={{ width: 70, height: 4, background: 'linear-gradient(90deg, #3B82F6 0%, #22D3EE 100%)', borderRadius: 2, margin: '28px 0' }} /&gt;&#13;&#10;            &lt;Text style={{ fontSize: 17, color: '#94A3B8' }}&gt;小王的故事告诉我们：没有科学准确的计划，就没有可控的交付&lt;/Text&gt;&#13;&#10;        &lt;/Box&gt;&#13;&#10;    &lt;/Box&gt;&#13;&#10;    &lt;Box style={{ height: 40, flexDirection: 'row', justifyContent: 'space-between', alignItems: 'center', marginTop: 16 }}&gt;&#13;&#10;        &lt;Text style={{ fontSize: 14, color: '#94A3B8' }}&gt;03 项目计划与工作分解&lt;/Text&gt;&#13;&#10;        &lt;Text style={{ fontSize: 14, color: '#94A3B8' }}&gt;26 / 47&lt;/Text&gt;&#13;&#10;    &lt;/Box&gt;&#13;&#10;&lt;/Slide&gt;&#13;&#10;"/>
        <p:cNvGrpSpPr/>
        <p:nvPr/>
      </p:nvGrpSpPr>
      <p:grpSpPr>
        <a:xfrm>
          <a:off x="0" y="0"/>
          <a:ext cx="0" cy="0"/>
          <a:chOff x="0" y="0"/>
          <a:chExt cx="0" cy="0"/>
        </a:xfrm>
      </p:grpSpPr>
      <p:sp>
        <p:nvSpPr>
          <p:cNvPr id="394" name="矩形 393"/>
          <p:cNvSpPr/>
          <p:nvPr/>
        </p:nvSpPr>
        <p:spPr>
          <a:xfrm>
            <a:off x="0" y="0"/>
            <a:ext cx="12192000" cy="6858000"/>
          </a:xfrm>
          <a:prstGeom prst="rect">
            <a:avLst/>
          </a:prstGeom>
          <a:solidFill>
            <a:srgbClr val="0B1220"/>
          </a:solidFill>
        </p:spPr>
        <p:txBody>
          <a:bodyPr/>
          <a:p/>
        </p:txBody>
      </p:sp>
      <p:sp>
        <p:nvSpPr>
          <p:cNvPr id="395" name="圆角矩形 394"/>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396" name="文本框 395" descr="{&quot;isTemplate&quot;:true,&quot;type&quot;:&quot;text&quot;}"/>
          <p:cNvSpPr txBox="1"/>
          <p:nvPr/>
        </p:nvSpPr>
        <p:spPr>
          <a:xfrm>
            <a:off x="857250" y="476250"/>
            <a:ext cx="161925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第一章小结</a:t>
            </a:r>
            <a:endParaRPr lang="zh-CN" sz="2550" b="1">
              <a:solidFill>
                <a:srgbClr val="E2E8F0"/>
              </a:solidFill>
              <a:latin typeface="微软雅黑" panose="020B0503020204020204" charset="-122"/>
              <a:ea typeface="微软雅黑" panose="020B0503020204020204" charset="-122"/>
            </a:endParaRPr>
          </a:p>
        </p:txBody>
      </p:sp>
      <p:sp>
        <p:nvSpPr>
          <p:cNvPr id="397" name="文本框 396" descr="{&quot;isTemplate&quot;:true,&quot;type&quot;:&quot;text&quot;}"/>
          <p:cNvSpPr txBox="1"/>
          <p:nvPr/>
        </p:nvSpPr>
        <p:spPr>
          <a:xfrm>
            <a:off x="3714750" y="2305050"/>
            <a:ext cx="4762500" cy="1143000"/>
          </a:xfrm>
          <a:prstGeom prst="rect">
            <a:avLst/>
          </a:prstGeom>
        </p:spPr>
        <p:txBody>
          <a:bodyPr wrap="none" lIns="0" tIns="0" rIns="0" bIns="0"/>
          <a:p>
            <a:pPr>
              <a:lnSpc>
                <a:spcPct val="100000"/>
              </a:lnSpc>
            </a:pPr>
            <a:r>
              <a:rPr lang="zh-CN" sz="7500" b="1">
                <a:gradFill>
                  <a:gsLst>
                    <a:gs pos="0">
                      <a:srgbClr val="3B82F6"/>
                    </a:gs>
                    <a:gs pos="100000">
                      <a:srgbClr val="22D3EE"/>
                    </a:gs>
                  </a:gsLst>
                  <a:lin ang="2700000" scaled="1"/>
                </a:gradFill>
                <a:latin typeface="微软雅黑" panose="020B0503020204020204" charset="-122"/>
                <a:ea typeface="微软雅黑" panose="020B0503020204020204" charset="-122"/>
              </a:rPr>
              <a:t>计划三要素</a:t>
            </a:r>
            <a:endParaRPr lang="zh-CN" sz="7500" b="1">
              <a:gradFill>
                <a:gsLst>
                  <a:gs pos="0">
                    <a:srgbClr val="3B82F6"/>
                  </a:gs>
                  <a:gs pos="100000">
                    <a:srgbClr val="22D3EE"/>
                  </a:gs>
                </a:gsLst>
                <a:lin ang="2700000" scaled="1"/>
              </a:gradFill>
              <a:latin typeface="微软雅黑" panose="020B0503020204020204" charset="-122"/>
              <a:ea typeface="微软雅黑" panose="020B0503020204020204" charset="-122"/>
            </a:endParaRPr>
          </a:p>
        </p:txBody>
      </p:sp>
      <p:sp>
        <p:nvSpPr>
          <p:cNvPr id="398" name="文本框 397" descr="{&quot;isTemplate&quot;:true,&quot;type&quot;:&quot;text&quot;}"/>
          <p:cNvSpPr txBox="1"/>
          <p:nvPr/>
        </p:nvSpPr>
        <p:spPr>
          <a:xfrm>
            <a:off x="3352800" y="3676650"/>
            <a:ext cx="5486400" cy="523875"/>
          </a:xfrm>
          <a:prstGeom prst="rect">
            <a:avLst/>
          </a:prstGeom>
        </p:spPr>
        <p:txBody>
          <a:bodyPr wrap="none" lIns="0" tIns="0" rIns="0" bIns="0"/>
          <a:p>
            <a:pPr algn="ctr">
              <a:lnSpc>
                <a:spcPct val="190000"/>
              </a:lnSpc>
            </a:pPr>
            <a:r>
              <a:rPr lang="zh-CN" sz="1800" b="1">
                <a:solidFill>
                  <a:srgbClr val="93C5FD"/>
                </a:solidFill>
                <a:latin typeface="微软雅黑" panose="020B0503020204020204" charset="-122"/>
                <a:ea typeface="微软雅黑" panose="020B0503020204020204" charset="-122"/>
              </a:rPr>
              <a:t>任务</a:t>
            </a:r>
            <a:r>
              <a:rPr lang="zh-CN" sz="1800">
                <a:solidFill>
                  <a:srgbClr val="E2E8F0"/>
                </a:solidFill>
                <a:latin typeface="微软雅黑" panose="020B0503020204020204" charset="-122"/>
                <a:ea typeface="微软雅黑" panose="020B0503020204020204" charset="-122"/>
              </a:rPr>
              <a:t>（做什么）　</a:t>
            </a:r>
            <a:r>
              <a:rPr lang="zh-CN" sz="1800" b="1">
                <a:solidFill>
                  <a:srgbClr val="67E8F9"/>
                </a:solidFill>
                <a:latin typeface="微软雅黑" panose="020B0503020204020204" charset="-122"/>
                <a:ea typeface="微软雅黑" panose="020B0503020204020204" charset="-122"/>
              </a:rPr>
              <a:t>进度</a:t>
            </a:r>
            <a:r>
              <a:rPr lang="zh-CN" sz="1800">
                <a:solidFill>
                  <a:srgbClr val="E2E8F0"/>
                </a:solidFill>
                <a:latin typeface="微软雅黑" panose="020B0503020204020204" charset="-122"/>
                <a:ea typeface="微软雅黑" panose="020B0503020204020204" charset="-122"/>
              </a:rPr>
              <a:t>（何时做）　</a:t>
            </a:r>
            <a:r>
              <a:rPr lang="zh-CN" sz="1800" b="1">
                <a:solidFill>
                  <a:srgbClr val="C4B5FD"/>
                </a:solidFill>
                <a:latin typeface="微软雅黑" panose="020B0503020204020204" charset="-122"/>
                <a:ea typeface="微软雅黑" panose="020B0503020204020204" charset="-122"/>
              </a:rPr>
              <a:t>资源</a:t>
            </a:r>
            <a:r>
              <a:rPr lang="zh-CN" sz="1800">
                <a:solidFill>
                  <a:srgbClr val="E2E8F0"/>
                </a:solidFill>
                <a:latin typeface="微软雅黑" panose="020B0503020204020204" charset="-122"/>
                <a:ea typeface="微软雅黑" panose="020B0503020204020204" charset="-122"/>
              </a:rPr>
              <a:t>（用什么做）</a:t>
            </a:r>
            <a:endParaRPr lang="zh-CN" sz="1800">
              <a:solidFill>
                <a:srgbClr val="E2E8F0"/>
              </a:solidFill>
              <a:latin typeface="微软雅黑" panose="020B0503020204020204" charset="-122"/>
              <a:ea typeface="微软雅黑" panose="020B0503020204020204" charset="-122"/>
            </a:endParaRPr>
          </a:p>
        </p:txBody>
      </p:sp>
      <p:sp>
        <p:nvSpPr>
          <p:cNvPr id="399" name="圆角矩形 398"/>
          <p:cNvSpPr/>
          <p:nvPr/>
        </p:nvSpPr>
        <p:spPr>
          <a:xfrm>
            <a:off x="5762625" y="4467225"/>
            <a:ext cx="666750" cy="38100"/>
          </a:xfrm>
          <a:prstGeom prst="roundRect">
            <a:avLst>
              <a:gd name="adj" fmla="val 50000"/>
            </a:avLst>
          </a:prstGeom>
          <a:gradFill>
            <a:gsLst>
              <a:gs pos="0">
                <a:srgbClr val="3B82F6"/>
              </a:gs>
              <a:gs pos="100000">
                <a:srgbClr val="22D3EE"/>
              </a:gs>
            </a:gsLst>
            <a:lin ang="0" scaled="1"/>
          </a:gradFill>
        </p:spPr>
        <p:txBody>
          <a:bodyPr/>
          <a:p/>
        </p:txBody>
      </p:sp>
      <p:sp>
        <p:nvSpPr>
          <p:cNvPr id="400" name="文本框 399" descr="{&quot;isTemplate&quot;:true,&quot;type&quot;:&quot;text&quot;}"/>
          <p:cNvSpPr txBox="1"/>
          <p:nvPr/>
        </p:nvSpPr>
        <p:spPr>
          <a:xfrm>
            <a:off x="3829050" y="4772025"/>
            <a:ext cx="4533900" cy="200025"/>
          </a:xfrm>
          <a:prstGeom prst="rect">
            <a:avLst/>
          </a:prstGeom>
        </p:spPr>
        <p:txBody>
          <a:bodyPr wrap="none" lIns="0" tIns="0" rIns="0" bIns="0"/>
          <a:p>
            <a:pPr>
              <a:lnSpc>
                <a:spcPct val="100000"/>
              </a:lnSpc>
            </a:pPr>
            <a:r>
              <a:rPr lang="zh-CN" sz="1275">
                <a:solidFill>
                  <a:srgbClr val="94A3B8"/>
                </a:solidFill>
                <a:latin typeface="微软雅黑" panose="020B0503020204020204" charset="-122"/>
                <a:ea typeface="微软雅黑" panose="020B0503020204020204" charset="-122"/>
              </a:rPr>
              <a:t>小王的故事告诉我们：没有科学准确的计划，就没有可控的交付</a:t>
            </a:r>
            <a:endParaRPr lang="zh-CN" sz="1275">
              <a:solidFill>
                <a:srgbClr val="94A3B8"/>
              </a:solidFill>
              <a:latin typeface="微软雅黑" panose="020B0503020204020204" charset="-122"/>
              <a:ea typeface="微软雅黑" panose="020B0503020204020204" charset="-122"/>
            </a:endParaRPr>
          </a:p>
        </p:txBody>
      </p:sp>
      <p:sp>
        <p:nvSpPr>
          <p:cNvPr id="401" name="文本框 400"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402" name="文本框 401"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26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403" name="" descr="&lt;Slide style={{ width: 1280, height: 720, background: '#0B1220', position: 'relative', overflow: 'hidden' }}&gt;&#13;&#10;    &lt;Image src=&quot;assets/sec_bg.png&quot; style={{ position: 'absolute', top: 0, left: 0, width: 1280, height: 720, objectFit: 'cover', clipPath: 'inset(0 0 11% 0)' }} /&gt;&#13;&#10;    &lt;Box style={{ position: 'absolute', top: 0, left: 0, width: 1280, height: 720, background: 'linear-gradient(180deg, rgba(11,18,32,0.45) 0%, rgba(11,18,32,0.75) 100%)' }} /&gt;&#13;&#10;    &lt;Box style={{ position: 'absolute', left: 96, top: 200 }}&gt;&#13;&#10;        &lt;Text style={{ fontSize: 120, fontWeight: 'bold', color: 'rgba(34,211,238,0.28)' }}&gt;3.1&lt;/Text&gt;&#13;&#10;        &lt;Text style={{ fontSize: 62, fontWeight: 'bold', color: '#E2E8F0', marginTop: 8 }}&gt;制定计划的方法&lt;/Text&gt;&#13;&#10;        &lt;Box style={{ width: 90, height: 5, background: 'linear-gradient(90deg, #22D3EE 0%, #3B82F6 100%)', borderRadius: 3, marginTop: 26 }} /&gt;&#13;&#10;        &lt;Text style={{ fontSize: 20, color: '#94A3B8', marginTop: 26, letterSpacing: 2 }}&gt;活动关系 · 估算周期 · 里程碑 · 甘特图 · 关键路径&lt;/Text&gt;&#13;&#10;    &lt;/Box&gt;&#13;&#10;    &lt;Box style={{ position: 'absolute', right: 96, bottom: 72, flexDirection: 'row', gap: 12, alignItems: 'center' }}&gt;&#13;&#10;        &lt;Box style={{ width: 8, height: 8, borderRadius: 4, background: 'rgba(34,211,238,0.35)' }} /&gt;&#13;&#10;        &lt;Box style={{ width: 8, height: 8, borderRadius: 4, background: '#22D3EE' }} /&gt;&#13;&#10;        &lt;Box style={{ width: 8, height: 8, borderRadius: 4, background: 'rgba(34,211,238,0.35)' }} /&gt;&#13;&#10;    &lt;/Box&gt;&#13;&#10;&lt;/Slide&gt;&#13;&#10;"/>
        <p:cNvGrpSpPr/>
        <p:nvPr/>
      </p:nvGrpSpPr>
      <p:grpSpPr>
        <a:xfrm>
          <a:off x="0" y="0"/>
          <a:ext cx="0" cy="0"/>
          <a:chOff x="0" y="0"/>
          <a:chExt cx="0" cy="0"/>
        </a:xfrm>
      </p:grpSpPr>
      <p:sp>
        <p:nvSpPr>
          <p:cNvPr id="404" name="矩形 403"/>
          <p:cNvSpPr/>
          <p:nvPr/>
        </p:nvSpPr>
        <p:spPr>
          <a:xfrm>
            <a:off x="0" y="0"/>
            <a:ext cx="12192000" cy="6858000"/>
          </a:xfrm>
          <a:prstGeom prst="rect">
            <a:avLst/>
          </a:prstGeom>
          <a:solidFill>
            <a:srgbClr val="0B1220"/>
          </a:solidFill>
        </p:spPr>
        <p:txBody>
          <a:bodyPr/>
          <a:p/>
        </p:txBody>
      </p:sp>
      <p:pic>
        <p:nvPicPr>
          <p:cNvPr id="405" name="图片 404"/>
          <p:cNvPicPr>
            <a:picLocks noChangeAspect="1"/>
          </p:cNvPicPr>
          <p:nvPr/>
        </p:nvPicPr>
        <p:blipFill>
          <a:blip r:embed="rId1"/>
          <a:srcRect t="7812" b="7812"/>
          <a:stretch>
            <a:fillRect/>
          </a:stretch>
        </p:blipFill>
        <p:spPr>
          <a:xfrm>
            <a:off x="0" y="0"/>
            <a:ext cx="12192000" cy="6858000"/>
          </a:xfrm>
          <a:custGeom>
            <a:avLst/>
            <a:gdLst/>
            <a:ahLst/>
            <a:cxnLst/>
            <a:pathLst>
              <a:path w="1280" h="720">
                <a:moveTo>
                  <a:pt x="0" y="0"/>
                </a:moveTo>
                <a:lnTo>
                  <a:pt x="1280" y="0"/>
                </a:lnTo>
                <a:lnTo>
                  <a:pt x="1280" y="641"/>
                </a:lnTo>
                <a:lnTo>
                  <a:pt x="0" y="641"/>
                </a:lnTo>
                <a:close/>
              </a:path>
            </a:pathLst>
          </a:custGeom>
        </p:spPr>
      </p:pic>
      <p:sp>
        <p:nvSpPr>
          <p:cNvPr id="406" name="矩形 405"/>
          <p:cNvSpPr/>
          <p:nvPr/>
        </p:nvSpPr>
        <p:spPr>
          <a:xfrm>
            <a:off x="0" y="0"/>
            <a:ext cx="12192000" cy="6858000"/>
          </a:xfrm>
          <a:prstGeom prst="rect">
            <a:avLst/>
          </a:prstGeom>
          <a:gradFill>
            <a:gsLst>
              <a:gs pos="0">
                <a:srgbClr val="0B1220">
                  <a:alpha val="45000"/>
                </a:srgbClr>
              </a:gs>
              <a:gs pos="100000">
                <a:srgbClr val="0B1220">
                  <a:alpha val="75000"/>
                </a:srgbClr>
              </a:gs>
            </a:gsLst>
            <a:lin ang="5400000" scaled="1"/>
          </a:gradFill>
        </p:spPr>
        <p:txBody>
          <a:bodyPr/>
          <a:p/>
        </p:txBody>
      </p:sp>
      <p:sp>
        <p:nvSpPr>
          <p:cNvPr id="407" name="文本框 406" descr="{&quot;isTemplate&quot;:true,&quot;type&quot;:&quot;text&quot;}"/>
          <p:cNvSpPr txBox="1"/>
          <p:nvPr/>
        </p:nvSpPr>
        <p:spPr>
          <a:xfrm>
            <a:off x="914400" y="1905000"/>
            <a:ext cx="4638675" cy="1371600"/>
          </a:xfrm>
          <a:prstGeom prst="rect">
            <a:avLst/>
          </a:prstGeom>
        </p:spPr>
        <p:txBody>
          <a:bodyPr wrap="none" lIns="0" tIns="0" rIns="0" bIns="0"/>
          <a:p>
            <a:pPr>
              <a:lnSpc>
                <a:spcPct val="100000"/>
              </a:lnSpc>
            </a:pPr>
            <a:r>
              <a:rPr lang="en-US" sz="9000" b="1">
                <a:solidFill>
                  <a:srgbClr val="22D3EE">
                    <a:alpha val="28000"/>
                  </a:srgbClr>
                </a:solidFill>
                <a:latin typeface="微软雅黑" panose="020B0503020204020204" charset="-122"/>
                <a:ea typeface="微软雅黑" panose="020B0503020204020204" charset="-122"/>
              </a:rPr>
              <a:t>3.1</a:t>
            </a:r>
            <a:endParaRPr lang="en-US" sz="9000" b="1">
              <a:solidFill>
                <a:srgbClr val="22D3EE">
                  <a:alpha val="28000"/>
                </a:srgbClr>
              </a:solidFill>
              <a:latin typeface="微软雅黑" panose="020B0503020204020204" charset="-122"/>
              <a:ea typeface="微软雅黑" panose="020B0503020204020204" charset="-122"/>
            </a:endParaRPr>
          </a:p>
        </p:txBody>
      </p:sp>
      <p:sp>
        <p:nvSpPr>
          <p:cNvPr id="408" name="文本框 407" descr="{&quot;isTemplate&quot;:true,&quot;type&quot;:&quot;text&quot;}"/>
          <p:cNvSpPr txBox="1"/>
          <p:nvPr/>
        </p:nvSpPr>
        <p:spPr>
          <a:xfrm>
            <a:off x="914400" y="3352800"/>
            <a:ext cx="4638675" cy="714375"/>
          </a:xfrm>
          <a:prstGeom prst="rect">
            <a:avLst/>
          </a:prstGeom>
        </p:spPr>
        <p:txBody>
          <a:bodyPr wrap="none" lIns="0" tIns="0" rIns="0" bIns="0"/>
          <a:p>
            <a:pPr>
              <a:lnSpc>
                <a:spcPct val="100000"/>
              </a:lnSpc>
            </a:pPr>
            <a:r>
              <a:rPr lang="zh-CN" sz="4650" b="1">
                <a:solidFill>
                  <a:srgbClr val="E2E8F0"/>
                </a:solidFill>
                <a:latin typeface="微软雅黑" panose="020B0503020204020204" charset="-122"/>
                <a:ea typeface="微软雅黑" panose="020B0503020204020204" charset="-122"/>
              </a:rPr>
              <a:t>制定计划的方法</a:t>
            </a:r>
            <a:endParaRPr lang="zh-CN" sz="4650" b="1">
              <a:solidFill>
                <a:srgbClr val="E2E8F0"/>
              </a:solidFill>
              <a:latin typeface="微软雅黑" panose="020B0503020204020204" charset="-122"/>
              <a:ea typeface="微软雅黑" panose="020B0503020204020204" charset="-122"/>
            </a:endParaRPr>
          </a:p>
        </p:txBody>
      </p:sp>
      <p:sp>
        <p:nvSpPr>
          <p:cNvPr id="409" name="圆角矩形 408"/>
          <p:cNvSpPr/>
          <p:nvPr/>
        </p:nvSpPr>
        <p:spPr>
          <a:xfrm>
            <a:off x="914400" y="4314825"/>
            <a:ext cx="857250" cy="47625"/>
          </a:xfrm>
          <a:prstGeom prst="roundRect">
            <a:avLst>
              <a:gd name="adj" fmla="val 60000"/>
            </a:avLst>
          </a:prstGeom>
          <a:gradFill>
            <a:gsLst>
              <a:gs pos="0">
                <a:srgbClr val="22D3EE"/>
              </a:gs>
              <a:gs pos="100000">
                <a:srgbClr val="3B82F6"/>
              </a:gs>
            </a:gsLst>
            <a:lin ang="0" scaled="1"/>
          </a:gradFill>
        </p:spPr>
        <p:txBody>
          <a:bodyPr/>
          <a:p/>
        </p:txBody>
      </p:sp>
      <p:sp>
        <p:nvSpPr>
          <p:cNvPr id="410" name="文本框 409" descr="{&quot;isTemplate&quot;:true,&quot;type&quot;:&quot;text&quot;}"/>
          <p:cNvSpPr txBox="1"/>
          <p:nvPr/>
        </p:nvSpPr>
        <p:spPr>
          <a:xfrm>
            <a:off x="914400" y="4610100"/>
            <a:ext cx="4638675" cy="228600"/>
          </a:xfrm>
          <a:prstGeom prst="rect">
            <a:avLst/>
          </a:prstGeom>
        </p:spPr>
        <p:txBody>
          <a:bodyPr wrap="none" lIns="0" tIns="0" rIns="0" bIns="0"/>
          <a:p>
            <a:pPr>
              <a:lnSpc>
                <a:spcPct val="100000"/>
              </a:lnSpc>
            </a:pPr>
            <a:r>
              <a:rPr lang="zh-CN" sz="1500" spc="150">
                <a:solidFill>
                  <a:srgbClr val="94A3B8"/>
                </a:solidFill>
                <a:latin typeface="微软雅黑" panose="020B0503020204020204" charset="-122"/>
                <a:ea typeface="微软雅黑" panose="020B0503020204020204" charset="-122"/>
              </a:rPr>
              <a:t>活动关系</a:t>
            </a:r>
            <a:r>
              <a:rPr lang="en-US" sz="1500" spc="150">
                <a:solidFill>
                  <a:srgbClr val="94A3B8"/>
                </a:solidFill>
                <a:latin typeface="微软雅黑" panose="020B0503020204020204" charset="-122"/>
                <a:ea typeface="微软雅黑" panose="020B0503020204020204" charset="-122"/>
              </a:rPr>
              <a:t> · </a:t>
            </a:r>
            <a:r>
              <a:rPr lang="zh-CN" sz="1500" spc="150">
                <a:solidFill>
                  <a:srgbClr val="94A3B8"/>
                </a:solidFill>
                <a:latin typeface="微软雅黑" panose="020B0503020204020204" charset="-122"/>
                <a:ea typeface="微软雅黑" panose="020B0503020204020204" charset="-122"/>
              </a:rPr>
              <a:t>估算周期</a:t>
            </a:r>
            <a:r>
              <a:rPr lang="en-US" sz="1500" spc="150">
                <a:solidFill>
                  <a:srgbClr val="94A3B8"/>
                </a:solidFill>
                <a:latin typeface="微软雅黑" panose="020B0503020204020204" charset="-122"/>
                <a:ea typeface="微软雅黑" panose="020B0503020204020204" charset="-122"/>
              </a:rPr>
              <a:t> · </a:t>
            </a:r>
            <a:r>
              <a:rPr lang="zh-CN" sz="1500" spc="150">
                <a:solidFill>
                  <a:srgbClr val="94A3B8"/>
                </a:solidFill>
                <a:latin typeface="微软雅黑" panose="020B0503020204020204" charset="-122"/>
                <a:ea typeface="微软雅黑" panose="020B0503020204020204" charset="-122"/>
              </a:rPr>
              <a:t>里程碑</a:t>
            </a:r>
            <a:r>
              <a:rPr lang="en-US" sz="1500" spc="150">
                <a:solidFill>
                  <a:srgbClr val="94A3B8"/>
                </a:solidFill>
                <a:latin typeface="微软雅黑" panose="020B0503020204020204" charset="-122"/>
                <a:ea typeface="微软雅黑" panose="020B0503020204020204" charset="-122"/>
              </a:rPr>
              <a:t> · </a:t>
            </a:r>
            <a:r>
              <a:rPr lang="zh-CN" sz="1500" spc="150">
                <a:solidFill>
                  <a:srgbClr val="94A3B8"/>
                </a:solidFill>
                <a:latin typeface="微软雅黑" panose="020B0503020204020204" charset="-122"/>
                <a:ea typeface="微软雅黑" panose="020B0503020204020204" charset="-122"/>
              </a:rPr>
              <a:t>甘特图</a:t>
            </a:r>
            <a:r>
              <a:rPr lang="en-US" sz="1500" spc="150">
                <a:solidFill>
                  <a:srgbClr val="94A3B8"/>
                </a:solidFill>
                <a:latin typeface="微软雅黑" panose="020B0503020204020204" charset="-122"/>
                <a:ea typeface="微软雅黑" panose="020B0503020204020204" charset="-122"/>
              </a:rPr>
              <a:t> · </a:t>
            </a:r>
            <a:r>
              <a:rPr lang="zh-CN" sz="1500" spc="150">
                <a:solidFill>
                  <a:srgbClr val="94A3B8"/>
                </a:solidFill>
                <a:latin typeface="微软雅黑" panose="020B0503020204020204" charset="-122"/>
                <a:ea typeface="微软雅黑" panose="020B0503020204020204" charset="-122"/>
              </a:rPr>
              <a:t>关键路径</a:t>
            </a:r>
            <a:endParaRPr lang="zh-CN" sz="1500" spc="150">
              <a:solidFill>
                <a:srgbClr val="94A3B8"/>
              </a:solidFill>
              <a:latin typeface="微软雅黑" panose="020B0503020204020204" charset="-122"/>
              <a:ea typeface="微软雅黑" panose="020B0503020204020204" charset="-122"/>
            </a:endParaRPr>
          </a:p>
        </p:txBody>
      </p:sp>
      <p:sp>
        <p:nvSpPr>
          <p:cNvPr id="411" name="圆角矩形 410"/>
          <p:cNvSpPr/>
          <p:nvPr/>
        </p:nvSpPr>
        <p:spPr>
          <a:xfrm>
            <a:off x="10820400" y="6096000"/>
            <a:ext cx="76200" cy="76200"/>
          </a:xfrm>
          <a:prstGeom prst="roundRect">
            <a:avLst>
              <a:gd name="adj" fmla="val 50000"/>
            </a:avLst>
          </a:prstGeom>
          <a:solidFill>
            <a:srgbClr val="22D3EE">
              <a:alpha val="35000"/>
            </a:srgbClr>
          </a:solidFill>
        </p:spPr>
        <p:txBody>
          <a:bodyPr/>
          <a:p/>
        </p:txBody>
      </p:sp>
      <p:sp>
        <p:nvSpPr>
          <p:cNvPr id="412" name="圆角矩形 411"/>
          <p:cNvSpPr/>
          <p:nvPr/>
        </p:nvSpPr>
        <p:spPr>
          <a:xfrm>
            <a:off x="11010900" y="6096000"/>
            <a:ext cx="76200" cy="76200"/>
          </a:xfrm>
          <a:prstGeom prst="roundRect">
            <a:avLst>
              <a:gd name="adj" fmla="val 50000"/>
            </a:avLst>
          </a:prstGeom>
          <a:solidFill>
            <a:srgbClr val="22D3EE"/>
          </a:solidFill>
        </p:spPr>
        <p:txBody>
          <a:bodyPr/>
          <a:p/>
        </p:txBody>
      </p:sp>
      <p:sp>
        <p:nvSpPr>
          <p:cNvPr id="413" name="圆角矩形 412"/>
          <p:cNvSpPr/>
          <p:nvPr/>
        </p:nvSpPr>
        <p:spPr>
          <a:xfrm>
            <a:off x="11201400" y="6096000"/>
            <a:ext cx="76200" cy="76200"/>
          </a:xfrm>
          <a:prstGeom prst="roundRect">
            <a:avLst>
              <a:gd name="adj" fmla="val 50000"/>
            </a:avLst>
          </a:prstGeom>
          <a:solidFill>
            <a:srgbClr val="22D3EE">
              <a:alpha val="35000"/>
            </a:srgbClr>
          </a:solidFill>
        </p:spPr>
        <p:txBody>
          <a:body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414"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计划制定的两种方式&lt;/Text&gt;&#13;&#10;    &lt;/Box&gt;&#13;&#10;    &lt;Box style={{ flex: 1, flexDirection: 'row', gap: 28 }}&gt;&#13;&#10;        &lt;Box style={{ flex: 1, height: 400, background: '#111B2E', borderRadius: 14, padding: 26, justifyContent: 'flex-start', gap: 12 }}&gt;&#13;&#10;            &lt;Text style={{ fontSize: 22, fontWeight: 'bold', color: '#93C5FD' }}&gt;自顶向下 Top-down&lt;/Text&gt;&#13;&#10;            &lt;Text style={{ fontSize: 15.5, color: '#E2E8F0', lineHeight: 1.85 }}&gt;· 由一人或少数人单独完成&lt;br /&gt;· 服务于高层领导和用户&lt;br /&gt;· 针对重大活动制定&lt;span style={{ fontWeight: 'bold' }}&gt;粗略计划&lt;/span&gt;&lt;br /&gt;· 只能作&lt;span style={{ fontWeight: 'bold' }}&gt;目标进度表&lt;/span&gt;，不能作实施进度表&lt;/Text&gt;&#13;&#10;            &lt;Text style={{ fontSize: 14, color: '#3B82F6', marginTop: 6 }}&gt;用途：对齐目标、约束&lt;/Text&gt;&#13;&#10;        &lt;/Box&gt;&#13;&#10;        &lt;Box style={{ flex: 1, height: 400, background: 'rgba(139,92,246,0.10)', borderRadius: 14, padding: 26, border: '1px solid rgba(139,92,246,0.5)', justifyContent: 'flex-start', gap: 12 }}&gt;&#13;&#10;            &lt;Text style={{ fontSize: 22, fontWeight: 'bold', color: '#C4B5FD' }}&gt;自底向上 Bottom-up&lt;/Text&gt;&#13;&#10;            &lt;Text style={{ fontSize: 15.5, color: '#E2E8F0', lineHeight: 1.85 }}&gt;· 计划制订者负责，&lt;span style={{ fontWeight: 'bold' }}&gt;所有成员参与&lt;/span&gt;&lt;br /&gt;· 供项目组实际实施&lt;br /&gt;· 详细定义&lt;span style={{ fontWeight: 'bold' }}&gt;所有活动&lt;/span&gt;、参与者、持续时间、关系&lt;br /&gt;· 要求成员事先了解与认可&lt;/Text&gt;&#13;&#10;            &lt;Text style={{ fontSize: 14, color: '#8B5CF6', marginTop: 6 }}&gt;用途：实际执行&lt;/Text&gt;&#13;&#10;        &lt;/Box&gt;&#13;&#10;        &lt;Box style={{ width: 340, height: 400, background: '#111B2E', borderRadius: 14, padding: 26, justifyContent: 'center', gap: 12 }}&gt;&#13;&#10;            &lt;Text style={{ fontSize: 16.5, color: '#E2E8F0', lineHeight: 1.8 }}&gt;&lt;span style={{ fontWeight: 'bold', color: '#22D3EE' }}&gt;实践要点：&lt;/span&gt;两者结合——高层定目标与约束，团队自底向上细化执行计划，&lt;span style={{ fontWeight: 'bold' }}&gt;参与感带来承诺&lt;/span&gt;。&lt;/Text&gt;&#13;&#10;        &lt;/Box&gt;&#13;&#10;    &lt;/Box&gt;&#13;&#10;    &lt;Box style={{ height: 40, flexDirection: 'row', justifyContent: 'space-between', alignItems: 'center', marginTop: 16 }}&gt;&#13;&#10;        &lt;Text style={{ fontSize: 14, color: '#94A3B8' }}&gt;03 项目计划与工作分解&lt;/Text&gt;&#13;&#10;        &lt;Text style={{ fontSize: 14, color: '#94A3B8' }}&gt;28 / 47&lt;/Text&gt;&#13;&#10;    &lt;/Box&gt;&#13;&#10;&lt;/Slide&gt;&#13;&#10;"/>
        <p:cNvGrpSpPr/>
        <p:nvPr/>
      </p:nvGrpSpPr>
      <p:grpSpPr>
        <a:xfrm>
          <a:off x="0" y="0"/>
          <a:ext cx="0" cy="0"/>
          <a:chOff x="0" y="0"/>
          <a:chExt cx="0" cy="0"/>
        </a:xfrm>
      </p:grpSpPr>
      <p:sp>
        <p:nvSpPr>
          <p:cNvPr id="415" name="矩形 414"/>
          <p:cNvSpPr/>
          <p:nvPr/>
        </p:nvSpPr>
        <p:spPr>
          <a:xfrm>
            <a:off x="0" y="0"/>
            <a:ext cx="12192000" cy="6858000"/>
          </a:xfrm>
          <a:prstGeom prst="rect">
            <a:avLst/>
          </a:prstGeom>
          <a:solidFill>
            <a:srgbClr val="0B1220"/>
          </a:solidFill>
        </p:spPr>
        <p:txBody>
          <a:bodyPr/>
          <a:p/>
        </p:txBody>
      </p:sp>
      <p:sp>
        <p:nvSpPr>
          <p:cNvPr id="416" name="圆角矩形 415"/>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417" name="文本框 416" descr="{&quot;isTemplate&quot;:true,&quot;type&quot;:&quot;text&quot;}"/>
          <p:cNvSpPr txBox="1"/>
          <p:nvPr/>
        </p:nvSpPr>
        <p:spPr>
          <a:xfrm>
            <a:off x="857250" y="476250"/>
            <a:ext cx="291465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计划制定的两种方式</a:t>
            </a:r>
            <a:endParaRPr lang="zh-CN" sz="2550" b="1">
              <a:solidFill>
                <a:srgbClr val="E2E8F0"/>
              </a:solidFill>
              <a:latin typeface="微软雅黑" panose="020B0503020204020204" charset="-122"/>
              <a:ea typeface="微软雅黑" panose="020B0503020204020204" charset="-122"/>
            </a:endParaRPr>
          </a:p>
        </p:txBody>
      </p:sp>
      <p:sp>
        <p:nvSpPr>
          <p:cNvPr id="418" name="圆角矩形 417"/>
          <p:cNvSpPr/>
          <p:nvPr/>
        </p:nvSpPr>
        <p:spPr>
          <a:xfrm>
            <a:off x="609600" y="1143000"/>
            <a:ext cx="3600450" cy="3810000"/>
          </a:xfrm>
          <a:prstGeom prst="roundRect">
            <a:avLst>
              <a:gd name="adj" fmla="val 3704"/>
            </a:avLst>
          </a:prstGeom>
          <a:solidFill>
            <a:srgbClr val="111B2E"/>
          </a:solidFill>
        </p:spPr>
        <p:txBody>
          <a:bodyPr/>
          <a:p/>
        </p:txBody>
      </p:sp>
      <p:sp>
        <p:nvSpPr>
          <p:cNvPr id="419" name="文本框 418" descr="{&quot;isTemplate&quot;:true,&quot;type&quot;:&quot;text&quot;}"/>
          <p:cNvSpPr txBox="1"/>
          <p:nvPr/>
        </p:nvSpPr>
        <p:spPr>
          <a:xfrm>
            <a:off x="857250" y="1390650"/>
            <a:ext cx="3105150" cy="257175"/>
          </a:xfrm>
          <a:prstGeom prst="rect">
            <a:avLst/>
          </a:prstGeom>
        </p:spPr>
        <p:txBody>
          <a:bodyPr wrap="none" lIns="0" tIns="0" rIns="0" bIns="0"/>
          <a:p>
            <a:pPr>
              <a:lnSpc>
                <a:spcPct val="100000"/>
              </a:lnSpc>
            </a:pPr>
            <a:r>
              <a:rPr lang="zh-CN" sz="1650" b="1">
                <a:solidFill>
                  <a:srgbClr val="93C5FD"/>
                </a:solidFill>
                <a:latin typeface="微软雅黑" panose="020B0503020204020204" charset="-122"/>
                <a:ea typeface="微软雅黑" panose="020B0503020204020204" charset="-122"/>
              </a:rPr>
              <a:t>自顶向下</a:t>
            </a:r>
            <a:r>
              <a:rPr lang="en-US" sz="1650" b="1">
                <a:solidFill>
                  <a:srgbClr val="93C5FD"/>
                </a:solidFill>
                <a:latin typeface="微软雅黑" panose="020B0503020204020204" charset="-122"/>
                <a:ea typeface="微软雅黑" panose="020B0503020204020204" charset="-122"/>
              </a:rPr>
              <a:t> Top-down</a:t>
            </a:r>
            <a:endParaRPr lang="en-US" sz="1650" b="1">
              <a:solidFill>
                <a:srgbClr val="93C5FD"/>
              </a:solidFill>
              <a:latin typeface="微软雅黑" panose="020B0503020204020204" charset="-122"/>
              <a:ea typeface="微软雅黑" panose="020B0503020204020204" charset="-122"/>
            </a:endParaRPr>
          </a:p>
        </p:txBody>
      </p:sp>
      <p:sp>
        <p:nvSpPr>
          <p:cNvPr id="420" name="文本框 419" descr="{&quot;isTemplate&quot;:true,&quot;type&quot;:&quot;text&quot;}"/>
          <p:cNvSpPr txBox="1"/>
          <p:nvPr/>
        </p:nvSpPr>
        <p:spPr>
          <a:xfrm>
            <a:off x="857250" y="1762125"/>
            <a:ext cx="3105150" cy="1314450"/>
          </a:xfrm>
          <a:prstGeom prst="rect">
            <a:avLst/>
          </a:prstGeom>
        </p:spPr>
        <p:txBody>
          <a:bodyPr wrap="none" lIns="0" tIns="0" rIns="0" bIns="0"/>
          <a:p>
            <a:pPr>
              <a:lnSpc>
                <a:spcPct val="185000"/>
              </a:lnSpc>
            </a:pPr>
            <a:r>
              <a:rPr lang="en-US" sz="1165">
                <a:solidFill>
                  <a:srgbClr val="E2E8F0"/>
                </a:solidFill>
                <a:latin typeface="微软雅黑" panose="020B0503020204020204" charset="-122"/>
                <a:ea typeface="微软雅黑" panose="020B0503020204020204" charset="-122"/>
              </a:rPr>
              <a:t>· </a:t>
            </a:r>
            <a:r>
              <a:rPr lang="zh-CN" sz="1165">
                <a:solidFill>
                  <a:srgbClr val="E2E8F0"/>
                </a:solidFill>
                <a:latin typeface="微软雅黑" panose="020B0503020204020204" charset="-122"/>
                <a:ea typeface="微软雅黑" panose="020B0503020204020204" charset="-122"/>
              </a:rPr>
              <a:t>由一人或少数人单独完成</a:t>
            </a:r>
            <a:endParaRPr lang="zh-CN" sz="1165">
              <a:solidFill>
                <a:srgbClr val="E2E8F0"/>
              </a:solidFill>
              <a:latin typeface="微软雅黑" panose="020B0503020204020204" charset="-122"/>
              <a:ea typeface="微软雅黑" panose="020B0503020204020204" charset="-122"/>
            </a:endParaRPr>
          </a:p>
          <a:p>
            <a:pPr>
              <a:lnSpc>
                <a:spcPct val="185000"/>
              </a:lnSpc>
            </a:pPr>
            <a:r>
              <a:rPr lang="en-US" sz="1165">
                <a:solidFill>
                  <a:srgbClr val="E2E8F0"/>
                </a:solidFill>
                <a:latin typeface="微软雅黑" panose="020B0503020204020204" charset="-122"/>
                <a:ea typeface="微软雅黑" panose="020B0503020204020204" charset="-122"/>
              </a:rPr>
              <a:t>· </a:t>
            </a:r>
            <a:r>
              <a:rPr lang="zh-CN" sz="1165">
                <a:solidFill>
                  <a:srgbClr val="E2E8F0"/>
                </a:solidFill>
                <a:latin typeface="微软雅黑" panose="020B0503020204020204" charset="-122"/>
                <a:ea typeface="微软雅黑" panose="020B0503020204020204" charset="-122"/>
              </a:rPr>
              <a:t>服务于高层领导和用户</a:t>
            </a:r>
            <a:endParaRPr lang="zh-CN" sz="1165">
              <a:solidFill>
                <a:srgbClr val="E2E8F0"/>
              </a:solidFill>
              <a:latin typeface="微软雅黑" panose="020B0503020204020204" charset="-122"/>
              <a:ea typeface="微软雅黑" panose="020B0503020204020204" charset="-122"/>
            </a:endParaRPr>
          </a:p>
          <a:p>
            <a:pPr>
              <a:lnSpc>
                <a:spcPct val="185000"/>
              </a:lnSpc>
            </a:pPr>
            <a:r>
              <a:rPr lang="en-US" sz="1165">
                <a:solidFill>
                  <a:srgbClr val="E2E8F0"/>
                </a:solidFill>
                <a:latin typeface="微软雅黑" panose="020B0503020204020204" charset="-122"/>
                <a:ea typeface="微软雅黑" panose="020B0503020204020204" charset="-122"/>
              </a:rPr>
              <a:t>· </a:t>
            </a:r>
            <a:r>
              <a:rPr lang="zh-CN" sz="1165">
                <a:solidFill>
                  <a:srgbClr val="E2E8F0"/>
                </a:solidFill>
                <a:latin typeface="微软雅黑" panose="020B0503020204020204" charset="-122"/>
                <a:ea typeface="微软雅黑" panose="020B0503020204020204" charset="-122"/>
              </a:rPr>
              <a:t>针对重大活动制定</a:t>
            </a:r>
            <a:r>
              <a:rPr lang="zh-CN" sz="1165" b="1">
                <a:solidFill>
                  <a:srgbClr val="E2E8F0"/>
                </a:solidFill>
                <a:latin typeface="微软雅黑" panose="020B0503020204020204" charset="-122"/>
                <a:ea typeface="微软雅黑" panose="020B0503020204020204" charset="-122"/>
              </a:rPr>
              <a:t>粗略计划</a:t>
            </a:r>
            <a:endParaRPr lang="zh-CN" sz="1165" b="1">
              <a:solidFill>
                <a:srgbClr val="E2E8F0"/>
              </a:solidFill>
              <a:latin typeface="微软雅黑" panose="020B0503020204020204" charset="-122"/>
              <a:ea typeface="微软雅黑" panose="020B0503020204020204" charset="-122"/>
            </a:endParaRPr>
          </a:p>
          <a:p>
            <a:pPr>
              <a:lnSpc>
                <a:spcPct val="185000"/>
              </a:lnSpc>
            </a:pPr>
            <a:r>
              <a:rPr lang="en-US" sz="1165">
                <a:solidFill>
                  <a:srgbClr val="E2E8F0"/>
                </a:solidFill>
                <a:latin typeface="微软雅黑" panose="020B0503020204020204" charset="-122"/>
                <a:ea typeface="微软雅黑" panose="020B0503020204020204" charset="-122"/>
              </a:rPr>
              <a:t>· </a:t>
            </a:r>
            <a:r>
              <a:rPr lang="zh-CN" sz="1165">
                <a:solidFill>
                  <a:srgbClr val="E2E8F0"/>
                </a:solidFill>
                <a:latin typeface="微软雅黑" panose="020B0503020204020204" charset="-122"/>
                <a:ea typeface="微软雅黑" panose="020B0503020204020204" charset="-122"/>
              </a:rPr>
              <a:t>只能作</a:t>
            </a:r>
            <a:r>
              <a:rPr lang="zh-CN" sz="1165" b="1">
                <a:solidFill>
                  <a:srgbClr val="E2E8F0"/>
                </a:solidFill>
                <a:latin typeface="微软雅黑" panose="020B0503020204020204" charset="-122"/>
                <a:ea typeface="微软雅黑" panose="020B0503020204020204" charset="-122"/>
              </a:rPr>
              <a:t>目标进度表</a:t>
            </a:r>
            <a:r>
              <a:rPr lang="zh-CN" sz="1165">
                <a:solidFill>
                  <a:srgbClr val="E2E8F0"/>
                </a:solidFill>
                <a:latin typeface="微软雅黑" panose="020B0503020204020204" charset="-122"/>
                <a:ea typeface="微软雅黑" panose="020B0503020204020204" charset="-122"/>
              </a:rPr>
              <a:t>，不能作实施进度表</a:t>
            </a:r>
            <a:endParaRPr lang="zh-CN" sz="1165">
              <a:solidFill>
                <a:srgbClr val="E2E8F0"/>
              </a:solidFill>
              <a:latin typeface="微软雅黑" panose="020B0503020204020204" charset="-122"/>
              <a:ea typeface="微软雅黑" panose="020B0503020204020204" charset="-122"/>
            </a:endParaRPr>
          </a:p>
        </p:txBody>
      </p:sp>
      <p:sp>
        <p:nvSpPr>
          <p:cNvPr id="421" name="文本框 420" descr="{&quot;isTemplate&quot;:true,&quot;type&quot;:&quot;text&quot;}"/>
          <p:cNvSpPr txBox="1"/>
          <p:nvPr/>
        </p:nvSpPr>
        <p:spPr>
          <a:xfrm>
            <a:off x="857250" y="3248025"/>
            <a:ext cx="3105150" cy="161925"/>
          </a:xfrm>
          <a:prstGeom prst="rect">
            <a:avLst/>
          </a:prstGeom>
        </p:spPr>
        <p:txBody>
          <a:bodyPr wrap="none" lIns="0" tIns="0" rIns="0" bIns="0"/>
          <a:p>
            <a:pPr>
              <a:lnSpc>
                <a:spcPct val="100000"/>
              </a:lnSpc>
            </a:pPr>
            <a:r>
              <a:rPr lang="zh-CN" sz="1050">
                <a:solidFill>
                  <a:srgbClr val="3B82F6"/>
                </a:solidFill>
                <a:latin typeface="微软雅黑" panose="020B0503020204020204" charset="-122"/>
                <a:ea typeface="微软雅黑" panose="020B0503020204020204" charset="-122"/>
              </a:rPr>
              <a:t>用途：对齐目标、约束</a:t>
            </a:r>
            <a:endParaRPr lang="zh-CN" sz="1050">
              <a:solidFill>
                <a:srgbClr val="3B82F6"/>
              </a:solidFill>
              <a:latin typeface="微软雅黑" panose="020B0503020204020204" charset="-122"/>
              <a:ea typeface="微软雅黑" panose="020B0503020204020204" charset="-122"/>
            </a:endParaRPr>
          </a:p>
        </p:txBody>
      </p:sp>
      <p:sp>
        <p:nvSpPr>
          <p:cNvPr id="422" name="圆角矩形 421"/>
          <p:cNvSpPr/>
          <p:nvPr/>
        </p:nvSpPr>
        <p:spPr>
          <a:xfrm>
            <a:off x="4476750" y="1143000"/>
            <a:ext cx="3600450" cy="3810000"/>
          </a:xfrm>
          <a:prstGeom prst="roundRect">
            <a:avLst>
              <a:gd name="adj" fmla="val 3704"/>
            </a:avLst>
          </a:prstGeom>
          <a:solidFill>
            <a:srgbClr val="8B5CF6">
              <a:alpha val="10000"/>
            </a:srgbClr>
          </a:solidFill>
          <a:ln w="12700">
            <a:solidFill>
              <a:srgbClr val="8B5CF6">
                <a:alpha val="50000"/>
              </a:srgbClr>
            </a:solidFill>
            <a:prstDash val="solid"/>
          </a:ln>
        </p:spPr>
        <p:txBody>
          <a:bodyPr/>
          <a:p/>
        </p:txBody>
      </p:sp>
      <p:sp>
        <p:nvSpPr>
          <p:cNvPr id="423" name="文本框 422" descr="{&quot;isTemplate&quot;:true,&quot;type&quot;:&quot;text&quot;}"/>
          <p:cNvSpPr txBox="1"/>
          <p:nvPr/>
        </p:nvSpPr>
        <p:spPr>
          <a:xfrm>
            <a:off x="4724400" y="1390650"/>
            <a:ext cx="3105150" cy="257175"/>
          </a:xfrm>
          <a:prstGeom prst="rect">
            <a:avLst/>
          </a:prstGeom>
        </p:spPr>
        <p:txBody>
          <a:bodyPr wrap="none" lIns="0" tIns="0" rIns="0" bIns="0"/>
          <a:p>
            <a:pPr>
              <a:lnSpc>
                <a:spcPct val="100000"/>
              </a:lnSpc>
            </a:pPr>
            <a:r>
              <a:rPr lang="zh-CN" sz="1650" b="1">
                <a:solidFill>
                  <a:srgbClr val="C4B5FD"/>
                </a:solidFill>
                <a:latin typeface="微软雅黑" panose="020B0503020204020204" charset="-122"/>
                <a:ea typeface="微软雅黑" panose="020B0503020204020204" charset="-122"/>
              </a:rPr>
              <a:t>自底向上</a:t>
            </a:r>
            <a:r>
              <a:rPr lang="en-US" sz="1650" b="1">
                <a:solidFill>
                  <a:srgbClr val="C4B5FD"/>
                </a:solidFill>
                <a:latin typeface="微软雅黑" panose="020B0503020204020204" charset="-122"/>
                <a:ea typeface="微软雅黑" panose="020B0503020204020204" charset="-122"/>
              </a:rPr>
              <a:t> Bottom-up</a:t>
            </a:r>
            <a:endParaRPr lang="en-US" sz="1650" b="1">
              <a:solidFill>
                <a:srgbClr val="C4B5FD"/>
              </a:solidFill>
              <a:latin typeface="微软雅黑" panose="020B0503020204020204" charset="-122"/>
              <a:ea typeface="微软雅黑" panose="020B0503020204020204" charset="-122"/>
            </a:endParaRPr>
          </a:p>
        </p:txBody>
      </p:sp>
      <p:sp>
        <p:nvSpPr>
          <p:cNvPr id="424" name="文本框 423" descr="{&quot;isTemplate&quot;:true,&quot;type&quot;:&quot;text&quot;}"/>
          <p:cNvSpPr txBox="1"/>
          <p:nvPr/>
        </p:nvSpPr>
        <p:spPr>
          <a:xfrm>
            <a:off x="4724400" y="1762125"/>
            <a:ext cx="3105150" cy="1314450"/>
          </a:xfrm>
          <a:prstGeom prst="rect">
            <a:avLst/>
          </a:prstGeom>
        </p:spPr>
        <p:txBody>
          <a:bodyPr wrap="none" lIns="0" tIns="0" rIns="0" bIns="0"/>
          <a:p>
            <a:pPr>
              <a:lnSpc>
                <a:spcPct val="185000"/>
              </a:lnSpc>
            </a:pPr>
            <a:r>
              <a:rPr lang="en-US" sz="1165">
                <a:solidFill>
                  <a:srgbClr val="E2E8F0"/>
                </a:solidFill>
                <a:latin typeface="微软雅黑" panose="020B0503020204020204" charset="-122"/>
                <a:ea typeface="微软雅黑" panose="020B0503020204020204" charset="-122"/>
              </a:rPr>
              <a:t>· </a:t>
            </a:r>
            <a:r>
              <a:rPr lang="zh-CN" sz="1165">
                <a:solidFill>
                  <a:srgbClr val="E2E8F0"/>
                </a:solidFill>
                <a:latin typeface="微软雅黑" panose="020B0503020204020204" charset="-122"/>
                <a:ea typeface="微软雅黑" panose="020B0503020204020204" charset="-122"/>
              </a:rPr>
              <a:t>计划制订者负责，</a:t>
            </a:r>
            <a:r>
              <a:rPr lang="zh-CN" sz="1165" b="1">
                <a:solidFill>
                  <a:srgbClr val="E2E8F0"/>
                </a:solidFill>
                <a:latin typeface="微软雅黑" panose="020B0503020204020204" charset="-122"/>
                <a:ea typeface="微软雅黑" panose="020B0503020204020204" charset="-122"/>
              </a:rPr>
              <a:t>所有成员参与</a:t>
            </a:r>
            <a:endParaRPr lang="zh-CN" sz="1165" b="1">
              <a:solidFill>
                <a:srgbClr val="E2E8F0"/>
              </a:solidFill>
              <a:latin typeface="微软雅黑" panose="020B0503020204020204" charset="-122"/>
              <a:ea typeface="微软雅黑" panose="020B0503020204020204" charset="-122"/>
            </a:endParaRPr>
          </a:p>
          <a:p>
            <a:pPr>
              <a:lnSpc>
                <a:spcPct val="185000"/>
              </a:lnSpc>
            </a:pPr>
            <a:r>
              <a:rPr lang="en-US" sz="1165">
                <a:solidFill>
                  <a:srgbClr val="E2E8F0"/>
                </a:solidFill>
                <a:latin typeface="微软雅黑" panose="020B0503020204020204" charset="-122"/>
                <a:ea typeface="微软雅黑" panose="020B0503020204020204" charset="-122"/>
              </a:rPr>
              <a:t>· </a:t>
            </a:r>
            <a:r>
              <a:rPr lang="zh-CN" sz="1165">
                <a:solidFill>
                  <a:srgbClr val="E2E8F0"/>
                </a:solidFill>
                <a:latin typeface="微软雅黑" panose="020B0503020204020204" charset="-122"/>
                <a:ea typeface="微软雅黑" panose="020B0503020204020204" charset="-122"/>
              </a:rPr>
              <a:t>供项目组实际实施</a:t>
            </a:r>
            <a:endParaRPr lang="zh-CN" sz="1165">
              <a:solidFill>
                <a:srgbClr val="E2E8F0"/>
              </a:solidFill>
              <a:latin typeface="微软雅黑" panose="020B0503020204020204" charset="-122"/>
              <a:ea typeface="微软雅黑" panose="020B0503020204020204" charset="-122"/>
            </a:endParaRPr>
          </a:p>
          <a:p>
            <a:pPr>
              <a:lnSpc>
                <a:spcPct val="185000"/>
              </a:lnSpc>
            </a:pPr>
            <a:r>
              <a:rPr lang="en-US" sz="1165">
                <a:solidFill>
                  <a:srgbClr val="E2E8F0"/>
                </a:solidFill>
                <a:latin typeface="微软雅黑" panose="020B0503020204020204" charset="-122"/>
                <a:ea typeface="微软雅黑" panose="020B0503020204020204" charset="-122"/>
              </a:rPr>
              <a:t>· </a:t>
            </a:r>
            <a:r>
              <a:rPr lang="zh-CN" sz="1165">
                <a:solidFill>
                  <a:srgbClr val="E2E8F0"/>
                </a:solidFill>
                <a:latin typeface="微软雅黑" panose="020B0503020204020204" charset="-122"/>
                <a:ea typeface="微软雅黑" panose="020B0503020204020204" charset="-122"/>
              </a:rPr>
              <a:t>详细定义</a:t>
            </a:r>
            <a:r>
              <a:rPr lang="zh-CN" sz="1165" b="1">
                <a:solidFill>
                  <a:srgbClr val="E2E8F0"/>
                </a:solidFill>
                <a:latin typeface="微软雅黑" panose="020B0503020204020204" charset="-122"/>
                <a:ea typeface="微软雅黑" panose="020B0503020204020204" charset="-122"/>
              </a:rPr>
              <a:t>所有活动</a:t>
            </a:r>
            <a:r>
              <a:rPr lang="zh-CN" sz="1165">
                <a:solidFill>
                  <a:srgbClr val="E2E8F0"/>
                </a:solidFill>
                <a:latin typeface="微软雅黑" panose="020B0503020204020204" charset="-122"/>
                <a:ea typeface="微软雅黑" panose="020B0503020204020204" charset="-122"/>
              </a:rPr>
              <a:t>、参与者、持续时间、关系</a:t>
            </a:r>
            <a:endParaRPr lang="zh-CN" sz="1165">
              <a:solidFill>
                <a:srgbClr val="E2E8F0"/>
              </a:solidFill>
              <a:latin typeface="微软雅黑" panose="020B0503020204020204" charset="-122"/>
              <a:ea typeface="微软雅黑" panose="020B0503020204020204" charset="-122"/>
            </a:endParaRPr>
          </a:p>
          <a:p>
            <a:pPr>
              <a:lnSpc>
                <a:spcPct val="185000"/>
              </a:lnSpc>
            </a:pPr>
            <a:r>
              <a:rPr lang="en-US" sz="1165">
                <a:solidFill>
                  <a:srgbClr val="E2E8F0"/>
                </a:solidFill>
                <a:latin typeface="微软雅黑" panose="020B0503020204020204" charset="-122"/>
                <a:ea typeface="微软雅黑" panose="020B0503020204020204" charset="-122"/>
              </a:rPr>
              <a:t>· </a:t>
            </a:r>
            <a:r>
              <a:rPr lang="zh-CN" sz="1165">
                <a:solidFill>
                  <a:srgbClr val="E2E8F0"/>
                </a:solidFill>
                <a:latin typeface="微软雅黑" panose="020B0503020204020204" charset="-122"/>
                <a:ea typeface="微软雅黑" panose="020B0503020204020204" charset="-122"/>
              </a:rPr>
              <a:t>要求成员事先了解与认可</a:t>
            </a:r>
            <a:endParaRPr lang="zh-CN" sz="1165">
              <a:solidFill>
                <a:srgbClr val="E2E8F0"/>
              </a:solidFill>
              <a:latin typeface="微软雅黑" panose="020B0503020204020204" charset="-122"/>
              <a:ea typeface="微软雅黑" panose="020B0503020204020204" charset="-122"/>
            </a:endParaRPr>
          </a:p>
        </p:txBody>
      </p:sp>
      <p:sp>
        <p:nvSpPr>
          <p:cNvPr id="425" name="文本框 424" descr="{&quot;isTemplate&quot;:true,&quot;type&quot;:&quot;text&quot;}"/>
          <p:cNvSpPr txBox="1"/>
          <p:nvPr/>
        </p:nvSpPr>
        <p:spPr>
          <a:xfrm>
            <a:off x="4724400" y="3248025"/>
            <a:ext cx="3105150" cy="161925"/>
          </a:xfrm>
          <a:prstGeom prst="rect">
            <a:avLst/>
          </a:prstGeom>
        </p:spPr>
        <p:txBody>
          <a:bodyPr wrap="none" lIns="0" tIns="0" rIns="0" bIns="0"/>
          <a:p>
            <a:pPr>
              <a:lnSpc>
                <a:spcPct val="100000"/>
              </a:lnSpc>
            </a:pPr>
            <a:r>
              <a:rPr lang="zh-CN" sz="1050">
                <a:solidFill>
                  <a:srgbClr val="8B5CF6"/>
                </a:solidFill>
                <a:latin typeface="微软雅黑" panose="020B0503020204020204" charset="-122"/>
                <a:ea typeface="微软雅黑" panose="020B0503020204020204" charset="-122"/>
              </a:rPr>
              <a:t>用途：实际执行</a:t>
            </a:r>
            <a:endParaRPr lang="zh-CN" sz="1050">
              <a:solidFill>
                <a:srgbClr val="8B5CF6"/>
              </a:solidFill>
              <a:latin typeface="微软雅黑" panose="020B0503020204020204" charset="-122"/>
              <a:ea typeface="微软雅黑" panose="020B0503020204020204" charset="-122"/>
            </a:endParaRPr>
          </a:p>
        </p:txBody>
      </p:sp>
      <p:sp>
        <p:nvSpPr>
          <p:cNvPr id="426" name="圆角矩形 425"/>
          <p:cNvSpPr/>
          <p:nvPr/>
        </p:nvSpPr>
        <p:spPr>
          <a:xfrm>
            <a:off x="8343900" y="1143000"/>
            <a:ext cx="3238500" cy="3810000"/>
          </a:xfrm>
          <a:prstGeom prst="roundRect">
            <a:avLst>
              <a:gd name="adj" fmla="val 4118"/>
            </a:avLst>
          </a:prstGeom>
          <a:solidFill>
            <a:srgbClr val="111B2E"/>
          </a:solidFill>
        </p:spPr>
        <p:txBody>
          <a:bodyPr/>
          <a:p/>
        </p:txBody>
      </p:sp>
      <p:sp>
        <p:nvSpPr>
          <p:cNvPr id="427" name="文本框 426" descr="{&quot;isTemplate&quot;:true,&quot;type&quot;:&quot;text&quot;}"/>
          <p:cNvSpPr txBox="1"/>
          <p:nvPr/>
        </p:nvSpPr>
        <p:spPr>
          <a:xfrm>
            <a:off x="8591550" y="2543175"/>
            <a:ext cx="2743200" cy="1019175"/>
          </a:xfrm>
          <a:prstGeom prst="rect">
            <a:avLst/>
          </a:prstGeom>
        </p:spPr>
        <p:txBody>
          <a:bodyPr wrap="square" lIns="0" tIns="0" rIns="0" bIns="0">
            <a:normAutofit/>
          </a:bodyPr>
          <a:p>
            <a:pPr>
              <a:lnSpc>
                <a:spcPct val="180000"/>
              </a:lnSpc>
            </a:pPr>
            <a:r>
              <a:rPr lang="zh-CN" sz="1240" b="1">
                <a:solidFill>
                  <a:srgbClr val="22D3EE"/>
                </a:solidFill>
                <a:latin typeface="微软雅黑" panose="020B0503020204020204" charset="-122"/>
                <a:ea typeface="微软雅黑" panose="020B0503020204020204" charset="-122"/>
              </a:rPr>
              <a:t>实践要点：</a:t>
            </a:r>
            <a:r>
              <a:rPr lang="zh-CN" sz="1240">
                <a:solidFill>
                  <a:srgbClr val="E2E8F0"/>
                </a:solidFill>
                <a:latin typeface="微软雅黑" panose="020B0503020204020204" charset="-122"/>
                <a:ea typeface="微软雅黑" panose="020B0503020204020204" charset="-122"/>
              </a:rPr>
              <a:t>两者结合——高层定目标与约束，团队自底向上细化执行计划，</a:t>
            </a:r>
            <a:r>
              <a:rPr lang="zh-CN" sz="1240" b="1">
                <a:solidFill>
                  <a:srgbClr val="E2E8F0"/>
                </a:solidFill>
                <a:latin typeface="微软雅黑" panose="020B0503020204020204" charset="-122"/>
                <a:ea typeface="微软雅黑" panose="020B0503020204020204" charset="-122"/>
              </a:rPr>
              <a:t>参与感带来承诺</a:t>
            </a:r>
            <a:r>
              <a:rPr lang="zh-CN" sz="1240">
                <a:solidFill>
                  <a:srgbClr val="E2E8F0"/>
                </a:solidFill>
                <a:latin typeface="微软雅黑" panose="020B0503020204020204" charset="-122"/>
                <a:ea typeface="微软雅黑" panose="020B0503020204020204" charset="-122"/>
              </a:rPr>
              <a:t>。</a:t>
            </a:r>
            <a:endParaRPr lang="zh-CN" sz="1240">
              <a:solidFill>
                <a:srgbClr val="E2E8F0"/>
              </a:solidFill>
              <a:latin typeface="微软雅黑" panose="020B0503020204020204" charset="-122"/>
              <a:ea typeface="微软雅黑" panose="020B0503020204020204" charset="-122"/>
            </a:endParaRPr>
          </a:p>
        </p:txBody>
      </p:sp>
      <p:sp>
        <p:nvSpPr>
          <p:cNvPr id="428" name="文本框 427"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429" name="文本框 428"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28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430"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软件开发活动关系：四种类型&lt;/Text&gt;&#13;&#10;    &lt;/Box&gt;&#13;&#10;    &lt;Box style={{ flex: 1, flexDirection: 'row', flexWrap: 'wrap', gap: 16, alignContent: 'center' }}&gt;&#13;&#10;        &lt;Box style={{ width: 545, height: 150, background: '#111B2E', borderRadius: 12, padding: '18px 22px', flexDirection: 'row', gap: 20, alignItems: 'center' }}&gt;&#13;&#10;            &lt;svg width={130} height={70} viewBox='0 0 130 70'&gt;&#13;&#10;                &lt;rect x='10' y='10' width='45' height='30' rx='5' fill='rgba(59,130,246,0.5)' /&gt;&#13;&#10;                &lt;text x='32' y='30' textAnchor='middle' fill='#fff' fontSize='12'&gt;A&lt;/text&gt;&#13;&#10;                &lt;rect x='75' y='10' width='45' height='30' rx='5' fill='rgba(34,211,238,0.5)' /&gt;&#13;&#10;                &lt;text x='97' y='30' textAnchor='middle' fill='#fff' fontSize='12'&gt;B&lt;/text&gt;&#13;&#10;                &lt;path d='M55 25 L75 25' stroke='#94A3B8' strokeWidth='2' /&gt;&#13;&#10;            &lt;/svg&gt;&#13;&#10;            &lt;Box style={{ flex: 1 }}&gt;&#13;&#10;                &lt;Text style={{ fontSize: 17, fontWeight: 'bold', color: '#93C5FD' }}&gt;结束 → 开始（FS）&lt;/Text&gt;&#13;&#10;                &lt;Text style={{ fontSize: 14.5, color: '#E2E8F0', lineHeight: 1.6, marginTop: 4 }}&gt;A 完成，B 才能开始——最常用&lt;/Text&gt;&#13;&#10;            &lt;/Box&gt;&#13;&#10;        &lt;/Box&gt;&#13;&#10;        &lt;Box style={{ width: 545, height: 150, background: '#111B2E', borderRadius: 12, padding: '18px 22px', flexDirection: 'row', gap: 20, alignItems: 'center' }}&gt;&#13;&#10;            &lt;svg width={130} height={70} viewBox='0 0 130 70'&gt;&#13;&#10;                &lt;rect x='10' y='10' width='45' height='30' rx='5' fill='rgba(34,211,238,0.5)' /&gt;&#13;&#10;                &lt;text x='32' y='30' textAnchor='middle' fill='#fff' fontSize='12'&gt;A&lt;/text&gt;&#13;&#10;                &lt;rect x='75' y='10' width='45' height='30' rx='5' fill='rgba(139,92,246,0.5)' /&gt;&#13;&#10;                &lt;text x='97' y='30' textAnchor='middle' fill='#fff' fontSize='12'&gt;B&lt;/text&gt;&#13;&#10;                &lt;path d='M55 25 L75 25' stroke='#94A3B8' strokeWidth='2' /&gt;&#13;&#10;            &lt;/svg&gt;&#13;&#10;            &lt;Box style={{ flex: 1 }}&gt;&#13;&#10;                &lt;Text style={{ fontSize: 17, fontWeight: 'bold', color: '#67E8F9' }}&gt;开始 → 开始（SS）&lt;/Text&gt;&#13;&#10;                &lt;Text style={{ fontSize: 14.5, color: '#E2E8F0', lineHeight: 1.6, marginTop: 4 }}&gt;A 开始，B 才能开始——可并行起步&lt;/Text&gt;&#13;&#10;            &lt;/Box&gt;&#13;&#10;        &lt;/Box&gt;&#13;&#10;        &lt;Box style={{ width: 545, height: 150, background: '#111B2E', borderRadius: 12, padding: '18px 22px', flexDirection: 'row', gap: 20, alignItems: 'center' }}&gt;&#13;&#10;            &lt;svg width={130} height={70} viewBox='0 0 130 70'&gt;&#13;&#10;                &lt;rect x='10' y='10' width='45' height='30' rx='5' fill='rgba(139,92,246,0.5)' /&gt;&#13;&#10;                &lt;text x='32' y='30' textAnchor='middle' fill='#fff' fontSize='12'&gt;A&lt;/text&gt;&#13;&#10;                &lt;rect x='75' y='10' width='45' height='30' rx='5' fill='rgba(59,130,246,0.5)' /&gt;&#13;&#10;                &lt;text x='97' y='30' textAnchor='middle' fill='#fff' fontSize='12'&gt;B&lt;/text&gt;&#13;&#10;                &lt;path d='M55 25 L75 25' stroke='#94A3B8' strokeWidth='2' /&gt;&#13;&#10;            &lt;/svg&gt;&#13;&#10;            &lt;Box style={{ flex: 1 }}&gt;&#13;&#10;                &lt;Text style={{ fontSize: 17, fontWeight: 'bold', color: '#C4B5FD' }}&gt;结束 → 结束（FF）&lt;/Text&gt;&#13;&#10;                &lt;Text style={{ fontSize: 14.5, color: '#E2E8F0', lineHeight: 1.6, marginTop: 4 }}&gt;A 完成，B 才能完成——协同收口&lt;/Text&gt;&#13;&#10;            &lt;/Box&gt;&#13;&#10;        &lt;/Box&gt;&#13;&#10;        &lt;Box style={{ width: 545, height: 150, background: '#111B2E', borderRadius: 12, padding: '18px 22px', flexDirection: 'row', gap: 20, alignItems: 'center' }}&gt;&#13;&#10;            &lt;svg width={130} height={70} viewBox='0 0 130 70'&gt;&#13;&#10;                &lt;rect x='10' y='10' width='45' height='30' rx='5' fill='rgba(34,211,238,0.5)' /&gt;&#13;&#10;                &lt;text x='32' y='30' textAnchor='middle' fill='#fff' fontSize='12'&gt;A&lt;/text&gt;&#13;&#10;                &lt;rect x='75' y='10' width='45' height='30' rx='5' fill='rgba(139,92,246,0.5)' /&gt;&#13;&#10;                &lt;text x='97' y='30' textAnchor='middle' fill='#fff' fontSize='12'&gt;B&lt;/text&gt;&#13;&#10;                &lt;path d='M55 25 L75 25' stroke='#94A3B8' strokeWidth='2' /&gt;&#13;&#10;            &lt;/svg&gt;&#13;&#10;            &lt;Box style={{ flex: 1 }}&gt;&#13;&#10;                &lt;Text style={{ fontSize: 17, fontWeight: 'bold', color: '#67E8F9' }}&gt;开始 → 结束（SF）&lt;/Text&gt;&#13;&#10;                &lt;Text style={{ fontSize: 14.5, color: '#E2E8F0', lineHeight: 1.6, marginTop: 4 }}&gt;A 开始，B 才能结束——较少见&lt;/Text&gt;&#13;&#10;            &lt;/Box&gt;&#13;&#10;        &lt;/Box&gt;&#13;&#10;    &lt;/Box&gt;&#13;&#10;    &lt;Box style={{ height: 40, flexDirection: 'row', justifyContent: 'space-between', alignItems: 'center', marginTop: 16 }}&gt;&#13;&#10;        &lt;Text style={{ fontSize: 14, color: '#94A3B8' }}&gt;03 项目计划与工作分解&lt;/Text&gt;&#13;&#10;        &lt;Text style={{ fontSize: 14, color: '#94A3B8' }}&gt;29 / 47&lt;/Text&gt;&#13;&#10;    &lt;/Box&gt;&#13;&#10;&lt;/Slide&gt;&#13;&#10;"/>
        <p:cNvGrpSpPr/>
        <p:nvPr/>
      </p:nvGrpSpPr>
      <p:grpSpPr>
        <a:xfrm>
          <a:off x="0" y="0"/>
          <a:ext cx="0" cy="0"/>
          <a:chOff x="0" y="0"/>
          <a:chExt cx="0" cy="0"/>
        </a:xfrm>
      </p:grpSpPr>
      <p:sp>
        <p:nvSpPr>
          <p:cNvPr id="431" name="矩形 430"/>
          <p:cNvSpPr/>
          <p:nvPr/>
        </p:nvSpPr>
        <p:spPr>
          <a:xfrm>
            <a:off x="0" y="0"/>
            <a:ext cx="12192000" cy="6858000"/>
          </a:xfrm>
          <a:prstGeom prst="rect">
            <a:avLst/>
          </a:prstGeom>
          <a:solidFill>
            <a:srgbClr val="0B1220"/>
          </a:solidFill>
        </p:spPr>
        <p:txBody>
          <a:bodyPr/>
          <a:p/>
        </p:txBody>
      </p:sp>
      <p:sp>
        <p:nvSpPr>
          <p:cNvPr id="432" name="圆角矩形 431"/>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433" name="文本框 432" descr="{&quot;isTemplate&quot;:true,&quot;type&quot;:&quot;text&quot;}"/>
          <p:cNvSpPr txBox="1"/>
          <p:nvPr/>
        </p:nvSpPr>
        <p:spPr>
          <a:xfrm>
            <a:off x="857250" y="476250"/>
            <a:ext cx="421005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软件开发活动关系：四种类型</a:t>
            </a:r>
            <a:endParaRPr lang="zh-CN" sz="2550" b="1">
              <a:solidFill>
                <a:srgbClr val="E2E8F0"/>
              </a:solidFill>
              <a:latin typeface="微软雅黑" panose="020B0503020204020204" charset="-122"/>
              <a:ea typeface="微软雅黑" panose="020B0503020204020204" charset="-122"/>
            </a:endParaRPr>
          </a:p>
        </p:txBody>
      </p:sp>
      <p:sp>
        <p:nvSpPr>
          <p:cNvPr id="434" name="圆角矩形 433"/>
          <p:cNvSpPr/>
          <p:nvPr/>
        </p:nvSpPr>
        <p:spPr>
          <a:xfrm>
            <a:off x="609600" y="1143000"/>
            <a:ext cx="5191125" cy="1428750"/>
          </a:xfrm>
          <a:prstGeom prst="roundRect">
            <a:avLst>
              <a:gd name="adj" fmla="val 8000"/>
            </a:avLst>
          </a:prstGeom>
          <a:solidFill>
            <a:srgbClr val="111B2E"/>
          </a:solidFill>
        </p:spPr>
        <p:txBody>
          <a:bodyPr/>
          <a:p/>
        </p:txBody>
      </p:sp>
      <p:pic>
        <p:nvPicPr>
          <p:cNvPr id="435" name="图片 43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9150" y="1524000"/>
            <a:ext cx="1238250" cy="666750"/>
          </a:xfrm>
          <a:prstGeom prst="rect">
            <a:avLst/>
          </a:prstGeom>
        </p:spPr>
      </p:pic>
      <p:sp>
        <p:nvSpPr>
          <p:cNvPr id="436" name="文本框 435" descr="{&quot;isTemplate&quot;:true,&quot;type&quot;:&quot;text&quot;}"/>
          <p:cNvSpPr txBox="1"/>
          <p:nvPr/>
        </p:nvSpPr>
        <p:spPr>
          <a:xfrm>
            <a:off x="2247900" y="1609725"/>
            <a:ext cx="3343275" cy="200025"/>
          </a:xfrm>
          <a:prstGeom prst="rect">
            <a:avLst/>
          </a:prstGeom>
        </p:spPr>
        <p:txBody>
          <a:bodyPr wrap="none" lIns="0" tIns="0" rIns="0" bIns="0"/>
          <a:p>
            <a:pPr>
              <a:lnSpc>
                <a:spcPct val="100000"/>
              </a:lnSpc>
            </a:pPr>
            <a:r>
              <a:rPr lang="zh-CN" sz="1275" b="1">
                <a:solidFill>
                  <a:srgbClr val="93C5FD"/>
                </a:solidFill>
                <a:latin typeface="微软雅黑" panose="020B0503020204020204" charset="-122"/>
                <a:ea typeface="微软雅黑" panose="020B0503020204020204" charset="-122"/>
              </a:rPr>
              <a:t>结束</a:t>
            </a:r>
            <a:r>
              <a:rPr lang="en-US" sz="1275" b="1">
                <a:solidFill>
                  <a:srgbClr val="93C5FD"/>
                </a:solidFill>
                <a:latin typeface="微软雅黑" panose="020B0503020204020204" charset="-122"/>
                <a:ea typeface="微软雅黑" panose="020B0503020204020204" charset="-122"/>
              </a:rPr>
              <a:t> → </a:t>
            </a:r>
            <a:r>
              <a:rPr lang="zh-CN" sz="1275" b="1">
                <a:solidFill>
                  <a:srgbClr val="93C5FD"/>
                </a:solidFill>
                <a:latin typeface="微软雅黑" panose="020B0503020204020204" charset="-122"/>
                <a:ea typeface="微软雅黑" panose="020B0503020204020204" charset="-122"/>
              </a:rPr>
              <a:t>开始（</a:t>
            </a:r>
            <a:r>
              <a:rPr lang="en-US" sz="1275" b="1">
                <a:solidFill>
                  <a:srgbClr val="93C5FD"/>
                </a:solidFill>
                <a:latin typeface="微软雅黑" panose="020B0503020204020204" charset="-122"/>
                <a:ea typeface="微软雅黑" panose="020B0503020204020204" charset="-122"/>
              </a:rPr>
              <a:t>FS</a:t>
            </a:r>
            <a:r>
              <a:rPr lang="zh-CN" sz="1275" b="1">
                <a:solidFill>
                  <a:srgbClr val="93C5FD"/>
                </a:solidFill>
                <a:latin typeface="微软雅黑" panose="020B0503020204020204" charset="-122"/>
                <a:ea typeface="微软雅黑" panose="020B0503020204020204" charset="-122"/>
              </a:rPr>
              <a:t>）</a:t>
            </a:r>
            <a:endParaRPr lang="zh-CN" sz="1275" b="1">
              <a:solidFill>
                <a:srgbClr val="93C5FD"/>
              </a:solidFill>
              <a:latin typeface="微软雅黑" panose="020B0503020204020204" charset="-122"/>
              <a:ea typeface="微软雅黑" panose="020B0503020204020204" charset="-122"/>
            </a:endParaRPr>
          </a:p>
        </p:txBody>
      </p:sp>
      <p:sp>
        <p:nvSpPr>
          <p:cNvPr id="437" name="文本框 436" descr="{&quot;isTemplate&quot;:true,&quot;type&quot;:&quot;text&quot;}"/>
          <p:cNvSpPr txBox="1"/>
          <p:nvPr/>
        </p:nvSpPr>
        <p:spPr>
          <a:xfrm>
            <a:off x="2247900" y="1847850"/>
            <a:ext cx="3343275" cy="266700"/>
          </a:xfrm>
          <a:prstGeom prst="rect">
            <a:avLst/>
          </a:prstGeom>
        </p:spPr>
        <p:txBody>
          <a:bodyPr wrap="none" lIns="0" tIns="0" rIns="0" bIns="0"/>
          <a:p>
            <a:pPr>
              <a:lnSpc>
                <a:spcPct val="160000"/>
              </a:lnSpc>
            </a:pPr>
            <a:r>
              <a:rPr lang="en-US" sz="1090">
                <a:solidFill>
                  <a:srgbClr val="E2E8F0"/>
                </a:solidFill>
                <a:latin typeface="微软雅黑" panose="020B0503020204020204" charset="-122"/>
                <a:ea typeface="微软雅黑" panose="020B0503020204020204" charset="-122"/>
              </a:rPr>
              <a:t>A </a:t>
            </a:r>
            <a:r>
              <a:rPr lang="zh-CN" sz="1090">
                <a:solidFill>
                  <a:srgbClr val="E2E8F0"/>
                </a:solidFill>
                <a:latin typeface="微软雅黑" panose="020B0503020204020204" charset="-122"/>
                <a:ea typeface="微软雅黑" panose="020B0503020204020204" charset="-122"/>
              </a:rPr>
              <a:t>完成，</a:t>
            </a:r>
            <a:r>
              <a:rPr lang="en-US" sz="1090">
                <a:solidFill>
                  <a:srgbClr val="E2E8F0"/>
                </a:solidFill>
                <a:latin typeface="微软雅黑" panose="020B0503020204020204" charset="-122"/>
                <a:ea typeface="微软雅黑" panose="020B0503020204020204" charset="-122"/>
              </a:rPr>
              <a:t>B </a:t>
            </a:r>
            <a:r>
              <a:rPr lang="zh-CN" sz="1090">
                <a:solidFill>
                  <a:srgbClr val="E2E8F0"/>
                </a:solidFill>
                <a:latin typeface="微软雅黑" panose="020B0503020204020204" charset="-122"/>
                <a:ea typeface="微软雅黑" panose="020B0503020204020204" charset="-122"/>
              </a:rPr>
              <a:t>才能开始——最常用</a:t>
            </a:r>
            <a:endParaRPr lang="zh-CN" sz="1090">
              <a:solidFill>
                <a:srgbClr val="E2E8F0"/>
              </a:solidFill>
              <a:latin typeface="微软雅黑" panose="020B0503020204020204" charset="-122"/>
              <a:ea typeface="微软雅黑" panose="020B0503020204020204" charset="-122"/>
            </a:endParaRPr>
          </a:p>
        </p:txBody>
      </p:sp>
      <p:sp>
        <p:nvSpPr>
          <p:cNvPr id="438" name="圆角矩形 437"/>
          <p:cNvSpPr/>
          <p:nvPr/>
        </p:nvSpPr>
        <p:spPr>
          <a:xfrm>
            <a:off x="5953125" y="1143000"/>
            <a:ext cx="5191125" cy="1428750"/>
          </a:xfrm>
          <a:prstGeom prst="roundRect">
            <a:avLst>
              <a:gd name="adj" fmla="val 8000"/>
            </a:avLst>
          </a:prstGeom>
          <a:solidFill>
            <a:srgbClr val="111B2E"/>
          </a:solidFill>
        </p:spPr>
        <p:txBody>
          <a:bodyPr/>
          <a:p/>
        </p:txBody>
      </p:sp>
      <p:pic>
        <p:nvPicPr>
          <p:cNvPr id="439" name="图片 43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62675" y="1524000"/>
            <a:ext cx="1238250" cy="666750"/>
          </a:xfrm>
          <a:prstGeom prst="rect">
            <a:avLst/>
          </a:prstGeom>
        </p:spPr>
      </p:pic>
      <p:sp>
        <p:nvSpPr>
          <p:cNvPr id="440" name="文本框 439" descr="{&quot;isTemplate&quot;:true,&quot;type&quot;:&quot;text&quot;}"/>
          <p:cNvSpPr txBox="1"/>
          <p:nvPr/>
        </p:nvSpPr>
        <p:spPr>
          <a:xfrm>
            <a:off x="7591425" y="1609725"/>
            <a:ext cx="3343275" cy="200025"/>
          </a:xfrm>
          <a:prstGeom prst="rect">
            <a:avLst/>
          </a:prstGeom>
        </p:spPr>
        <p:txBody>
          <a:bodyPr wrap="none" lIns="0" tIns="0" rIns="0" bIns="0"/>
          <a:p>
            <a:pPr>
              <a:lnSpc>
                <a:spcPct val="100000"/>
              </a:lnSpc>
            </a:pPr>
            <a:r>
              <a:rPr lang="zh-CN" sz="1275" b="1">
                <a:solidFill>
                  <a:srgbClr val="67E8F9"/>
                </a:solidFill>
                <a:latin typeface="微软雅黑" panose="020B0503020204020204" charset="-122"/>
                <a:ea typeface="微软雅黑" panose="020B0503020204020204" charset="-122"/>
              </a:rPr>
              <a:t>开始</a:t>
            </a:r>
            <a:r>
              <a:rPr lang="en-US" sz="1275" b="1">
                <a:solidFill>
                  <a:srgbClr val="67E8F9"/>
                </a:solidFill>
                <a:latin typeface="微软雅黑" panose="020B0503020204020204" charset="-122"/>
                <a:ea typeface="微软雅黑" panose="020B0503020204020204" charset="-122"/>
              </a:rPr>
              <a:t> → </a:t>
            </a:r>
            <a:r>
              <a:rPr lang="zh-CN" sz="1275" b="1">
                <a:solidFill>
                  <a:srgbClr val="67E8F9"/>
                </a:solidFill>
                <a:latin typeface="微软雅黑" panose="020B0503020204020204" charset="-122"/>
                <a:ea typeface="微软雅黑" panose="020B0503020204020204" charset="-122"/>
              </a:rPr>
              <a:t>开始（</a:t>
            </a:r>
            <a:r>
              <a:rPr lang="en-US" sz="1275" b="1">
                <a:solidFill>
                  <a:srgbClr val="67E8F9"/>
                </a:solidFill>
                <a:latin typeface="微软雅黑" panose="020B0503020204020204" charset="-122"/>
                <a:ea typeface="微软雅黑" panose="020B0503020204020204" charset="-122"/>
              </a:rPr>
              <a:t>SS</a:t>
            </a:r>
            <a:r>
              <a:rPr lang="zh-CN" sz="1275" b="1">
                <a:solidFill>
                  <a:srgbClr val="67E8F9"/>
                </a:solidFill>
                <a:latin typeface="微软雅黑" panose="020B0503020204020204" charset="-122"/>
                <a:ea typeface="微软雅黑" panose="020B0503020204020204" charset="-122"/>
              </a:rPr>
              <a:t>）</a:t>
            </a:r>
            <a:endParaRPr lang="zh-CN" sz="1275" b="1">
              <a:solidFill>
                <a:srgbClr val="67E8F9"/>
              </a:solidFill>
              <a:latin typeface="微软雅黑" panose="020B0503020204020204" charset="-122"/>
              <a:ea typeface="微软雅黑" panose="020B0503020204020204" charset="-122"/>
            </a:endParaRPr>
          </a:p>
        </p:txBody>
      </p:sp>
      <p:sp>
        <p:nvSpPr>
          <p:cNvPr id="441" name="文本框 440" descr="{&quot;isTemplate&quot;:true,&quot;type&quot;:&quot;text&quot;}"/>
          <p:cNvSpPr txBox="1"/>
          <p:nvPr/>
        </p:nvSpPr>
        <p:spPr>
          <a:xfrm>
            <a:off x="7591425" y="1847850"/>
            <a:ext cx="3343275" cy="266700"/>
          </a:xfrm>
          <a:prstGeom prst="rect">
            <a:avLst/>
          </a:prstGeom>
        </p:spPr>
        <p:txBody>
          <a:bodyPr wrap="none" lIns="0" tIns="0" rIns="0" bIns="0"/>
          <a:p>
            <a:pPr>
              <a:lnSpc>
                <a:spcPct val="160000"/>
              </a:lnSpc>
            </a:pPr>
            <a:r>
              <a:rPr lang="en-US" sz="1090">
                <a:solidFill>
                  <a:srgbClr val="E2E8F0"/>
                </a:solidFill>
                <a:latin typeface="微软雅黑" panose="020B0503020204020204" charset="-122"/>
                <a:ea typeface="微软雅黑" panose="020B0503020204020204" charset="-122"/>
              </a:rPr>
              <a:t>A </a:t>
            </a:r>
            <a:r>
              <a:rPr lang="zh-CN" sz="1090">
                <a:solidFill>
                  <a:srgbClr val="E2E8F0"/>
                </a:solidFill>
                <a:latin typeface="微软雅黑" panose="020B0503020204020204" charset="-122"/>
                <a:ea typeface="微软雅黑" panose="020B0503020204020204" charset="-122"/>
              </a:rPr>
              <a:t>开始，</a:t>
            </a:r>
            <a:r>
              <a:rPr lang="en-US" sz="1090">
                <a:solidFill>
                  <a:srgbClr val="E2E8F0"/>
                </a:solidFill>
                <a:latin typeface="微软雅黑" panose="020B0503020204020204" charset="-122"/>
                <a:ea typeface="微软雅黑" panose="020B0503020204020204" charset="-122"/>
              </a:rPr>
              <a:t>B </a:t>
            </a:r>
            <a:r>
              <a:rPr lang="zh-CN" sz="1090">
                <a:solidFill>
                  <a:srgbClr val="E2E8F0"/>
                </a:solidFill>
                <a:latin typeface="微软雅黑" panose="020B0503020204020204" charset="-122"/>
                <a:ea typeface="微软雅黑" panose="020B0503020204020204" charset="-122"/>
              </a:rPr>
              <a:t>才能开始——可并行起步</a:t>
            </a:r>
            <a:endParaRPr lang="zh-CN" sz="1090">
              <a:solidFill>
                <a:srgbClr val="E2E8F0"/>
              </a:solidFill>
              <a:latin typeface="微软雅黑" panose="020B0503020204020204" charset="-122"/>
              <a:ea typeface="微软雅黑" panose="020B0503020204020204" charset="-122"/>
            </a:endParaRPr>
          </a:p>
        </p:txBody>
      </p:sp>
      <p:sp>
        <p:nvSpPr>
          <p:cNvPr id="442" name="圆角矩形 441"/>
          <p:cNvSpPr/>
          <p:nvPr/>
        </p:nvSpPr>
        <p:spPr>
          <a:xfrm>
            <a:off x="609600" y="3714750"/>
            <a:ext cx="5191125" cy="1428750"/>
          </a:xfrm>
          <a:prstGeom prst="roundRect">
            <a:avLst>
              <a:gd name="adj" fmla="val 8000"/>
            </a:avLst>
          </a:prstGeom>
          <a:solidFill>
            <a:srgbClr val="111B2E"/>
          </a:solidFill>
        </p:spPr>
        <p:txBody>
          <a:bodyPr/>
          <a:p/>
        </p:txBody>
      </p:sp>
      <p:pic>
        <p:nvPicPr>
          <p:cNvPr id="443" name="图片 44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150" y="4095750"/>
            <a:ext cx="1238250" cy="666750"/>
          </a:xfrm>
          <a:prstGeom prst="rect">
            <a:avLst/>
          </a:prstGeom>
        </p:spPr>
      </p:pic>
      <p:sp>
        <p:nvSpPr>
          <p:cNvPr id="444" name="文本框 443" descr="{&quot;isTemplate&quot;:true,&quot;type&quot;:&quot;text&quot;}"/>
          <p:cNvSpPr txBox="1"/>
          <p:nvPr/>
        </p:nvSpPr>
        <p:spPr>
          <a:xfrm>
            <a:off x="2247900" y="4181475"/>
            <a:ext cx="3343275" cy="200025"/>
          </a:xfrm>
          <a:prstGeom prst="rect">
            <a:avLst/>
          </a:prstGeom>
        </p:spPr>
        <p:txBody>
          <a:bodyPr wrap="none" lIns="0" tIns="0" rIns="0" bIns="0"/>
          <a:p>
            <a:pPr>
              <a:lnSpc>
                <a:spcPct val="100000"/>
              </a:lnSpc>
            </a:pPr>
            <a:r>
              <a:rPr lang="zh-CN" sz="1275" b="1">
                <a:solidFill>
                  <a:srgbClr val="C4B5FD"/>
                </a:solidFill>
                <a:latin typeface="微软雅黑" panose="020B0503020204020204" charset="-122"/>
                <a:ea typeface="微软雅黑" panose="020B0503020204020204" charset="-122"/>
              </a:rPr>
              <a:t>结束</a:t>
            </a:r>
            <a:r>
              <a:rPr lang="en-US" sz="1275" b="1">
                <a:solidFill>
                  <a:srgbClr val="C4B5FD"/>
                </a:solidFill>
                <a:latin typeface="微软雅黑" panose="020B0503020204020204" charset="-122"/>
                <a:ea typeface="微软雅黑" panose="020B0503020204020204" charset="-122"/>
              </a:rPr>
              <a:t> → </a:t>
            </a:r>
            <a:r>
              <a:rPr lang="zh-CN" sz="1275" b="1">
                <a:solidFill>
                  <a:srgbClr val="C4B5FD"/>
                </a:solidFill>
                <a:latin typeface="微软雅黑" panose="020B0503020204020204" charset="-122"/>
                <a:ea typeface="微软雅黑" panose="020B0503020204020204" charset="-122"/>
              </a:rPr>
              <a:t>结束（</a:t>
            </a:r>
            <a:r>
              <a:rPr lang="en-US" sz="1275" b="1">
                <a:solidFill>
                  <a:srgbClr val="C4B5FD"/>
                </a:solidFill>
                <a:latin typeface="微软雅黑" panose="020B0503020204020204" charset="-122"/>
                <a:ea typeface="微软雅黑" panose="020B0503020204020204" charset="-122"/>
              </a:rPr>
              <a:t>FF</a:t>
            </a:r>
            <a:r>
              <a:rPr lang="zh-CN" sz="1275" b="1">
                <a:solidFill>
                  <a:srgbClr val="C4B5FD"/>
                </a:solidFill>
                <a:latin typeface="微软雅黑" panose="020B0503020204020204" charset="-122"/>
                <a:ea typeface="微软雅黑" panose="020B0503020204020204" charset="-122"/>
              </a:rPr>
              <a:t>）</a:t>
            </a:r>
            <a:endParaRPr lang="zh-CN" sz="1275" b="1">
              <a:solidFill>
                <a:srgbClr val="C4B5FD"/>
              </a:solidFill>
              <a:latin typeface="微软雅黑" panose="020B0503020204020204" charset="-122"/>
              <a:ea typeface="微软雅黑" panose="020B0503020204020204" charset="-122"/>
            </a:endParaRPr>
          </a:p>
        </p:txBody>
      </p:sp>
      <p:sp>
        <p:nvSpPr>
          <p:cNvPr id="445" name="文本框 444" descr="{&quot;isTemplate&quot;:true,&quot;type&quot;:&quot;text&quot;}"/>
          <p:cNvSpPr txBox="1"/>
          <p:nvPr/>
        </p:nvSpPr>
        <p:spPr>
          <a:xfrm>
            <a:off x="2247900" y="4419600"/>
            <a:ext cx="3343275" cy="266700"/>
          </a:xfrm>
          <a:prstGeom prst="rect">
            <a:avLst/>
          </a:prstGeom>
        </p:spPr>
        <p:txBody>
          <a:bodyPr wrap="none" lIns="0" tIns="0" rIns="0" bIns="0"/>
          <a:p>
            <a:pPr>
              <a:lnSpc>
                <a:spcPct val="160000"/>
              </a:lnSpc>
            </a:pPr>
            <a:r>
              <a:rPr lang="en-US" sz="1090">
                <a:solidFill>
                  <a:srgbClr val="E2E8F0"/>
                </a:solidFill>
                <a:latin typeface="微软雅黑" panose="020B0503020204020204" charset="-122"/>
                <a:ea typeface="微软雅黑" panose="020B0503020204020204" charset="-122"/>
              </a:rPr>
              <a:t>A </a:t>
            </a:r>
            <a:r>
              <a:rPr lang="zh-CN" sz="1090">
                <a:solidFill>
                  <a:srgbClr val="E2E8F0"/>
                </a:solidFill>
                <a:latin typeface="微软雅黑" panose="020B0503020204020204" charset="-122"/>
                <a:ea typeface="微软雅黑" panose="020B0503020204020204" charset="-122"/>
              </a:rPr>
              <a:t>完成，</a:t>
            </a:r>
            <a:r>
              <a:rPr lang="en-US" sz="1090">
                <a:solidFill>
                  <a:srgbClr val="E2E8F0"/>
                </a:solidFill>
                <a:latin typeface="微软雅黑" panose="020B0503020204020204" charset="-122"/>
                <a:ea typeface="微软雅黑" panose="020B0503020204020204" charset="-122"/>
              </a:rPr>
              <a:t>B </a:t>
            </a:r>
            <a:r>
              <a:rPr lang="zh-CN" sz="1090">
                <a:solidFill>
                  <a:srgbClr val="E2E8F0"/>
                </a:solidFill>
                <a:latin typeface="微软雅黑" panose="020B0503020204020204" charset="-122"/>
                <a:ea typeface="微软雅黑" panose="020B0503020204020204" charset="-122"/>
              </a:rPr>
              <a:t>才能完成——协同收口</a:t>
            </a:r>
            <a:endParaRPr lang="zh-CN" sz="1090">
              <a:solidFill>
                <a:srgbClr val="E2E8F0"/>
              </a:solidFill>
              <a:latin typeface="微软雅黑" panose="020B0503020204020204" charset="-122"/>
              <a:ea typeface="微软雅黑" panose="020B0503020204020204" charset="-122"/>
            </a:endParaRPr>
          </a:p>
        </p:txBody>
      </p:sp>
      <p:sp>
        <p:nvSpPr>
          <p:cNvPr id="446" name="圆角矩形 445"/>
          <p:cNvSpPr/>
          <p:nvPr/>
        </p:nvSpPr>
        <p:spPr>
          <a:xfrm>
            <a:off x="5953125" y="3714750"/>
            <a:ext cx="5191125" cy="1428750"/>
          </a:xfrm>
          <a:prstGeom prst="roundRect">
            <a:avLst>
              <a:gd name="adj" fmla="val 8000"/>
            </a:avLst>
          </a:prstGeom>
          <a:solidFill>
            <a:srgbClr val="111B2E"/>
          </a:solidFill>
        </p:spPr>
        <p:txBody>
          <a:bodyPr/>
          <a:p/>
        </p:txBody>
      </p:sp>
      <p:pic>
        <p:nvPicPr>
          <p:cNvPr id="447" name="图片 44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62675" y="4095750"/>
            <a:ext cx="1238250" cy="666750"/>
          </a:xfrm>
          <a:prstGeom prst="rect">
            <a:avLst/>
          </a:prstGeom>
        </p:spPr>
      </p:pic>
      <p:sp>
        <p:nvSpPr>
          <p:cNvPr id="448" name="文本框 447" descr="{&quot;isTemplate&quot;:true,&quot;type&quot;:&quot;text&quot;}"/>
          <p:cNvSpPr txBox="1"/>
          <p:nvPr/>
        </p:nvSpPr>
        <p:spPr>
          <a:xfrm>
            <a:off x="7591425" y="4181475"/>
            <a:ext cx="3343275" cy="200025"/>
          </a:xfrm>
          <a:prstGeom prst="rect">
            <a:avLst/>
          </a:prstGeom>
        </p:spPr>
        <p:txBody>
          <a:bodyPr wrap="none" lIns="0" tIns="0" rIns="0" bIns="0"/>
          <a:p>
            <a:pPr>
              <a:lnSpc>
                <a:spcPct val="100000"/>
              </a:lnSpc>
            </a:pPr>
            <a:r>
              <a:rPr lang="zh-CN" sz="1275" b="1">
                <a:solidFill>
                  <a:srgbClr val="67E8F9"/>
                </a:solidFill>
                <a:latin typeface="微软雅黑" panose="020B0503020204020204" charset="-122"/>
                <a:ea typeface="微软雅黑" panose="020B0503020204020204" charset="-122"/>
              </a:rPr>
              <a:t>开始</a:t>
            </a:r>
            <a:r>
              <a:rPr lang="en-US" sz="1275" b="1">
                <a:solidFill>
                  <a:srgbClr val="67E8F9"/>
                </a:solidFill>
                <a:latin typeface="微软雅黑" panose="020B0503020204020204" charset="-122"/>
                <a:ea typeface="微软雅黑" panose="020B0503020204020204" charset="-122"/>
              </a:rPr>
              <a:t> → </a:t>
            </a:r>
            <a:r>
              <a:rPr lang="zh-CN" sz="1275" b="1">
                <a:solidFill>
                  <a:srgbClr val="67E8F9"/>
                </a:solidFill>
                <a:latin typeface="微软雅黑" panose="020B0503020204020204" charset="-122"/>
                <a:ea typeface="微软雅黑" panose="020B0503020204020204" charset="-122"/>
              </a:rPr>
              <a:t>结束（</a:t>
            </a:r>
            <a:r>
              <a:rPr lang="en-US" sz="1275" b="1">
                <a:solidFill>
                  <a:srgbClr val="67E8F9"/>
                </a:solidFill>
                <a:latin typeface="微软雅黑" panose="020B0503020204020204" charset="-122"/>
                <a:ea typeface="微软雅黑" panose="020B0503020204020204" charset="-122"/>
              </a:rPr>
              <a:t>SF</a:t>
            </a:r>
            <a:r>
              <a:rPr lang="zh-CN" sz="1275" b="1">
                <a:solidFill>
                  <a:srgbClr val="67E8F9"/>
                </a:solidFill>
                <a:latin typeface="微软雅黑" panose="020B0503020204020204" charset="-122"/>
                <a:ea typeface="微软雅黑" panose="020B0503020204020204" charset="-122"/>
              </a:rPr>
              <a:t>）</a:t>
            </a:r>
            <a:endParaRPr lang="zh-CN" sz="1275" b="1">
              <a:solidFill>
                <a:srgbClr val="67E8F9"/>
              </a:solidFill>
              <a:latin typeface="微软雅黑" panose="020B0503020204020204" charset="-122"/>
              <a:ea typeface="微软雅黑" panose="020B0503020204020204" charset="-122"/>
            </a:endParaRPr>
          </a:p>
        </p:txBody>
      </p:sp>
      <p:sp>
        <p:nvSpPr>
          <p:cNvPr id="449" name="文本框 448" descr="{&quot;isTemplate&quot;:true,&quot;type&quot;:&quot;text&quot;}"/>
          <p:cNvSpPr txBox="1"/>
          <p:nvPr/>
        </p:nvSpPr>
        <p:spPr>
          <a:xfrm>
            <a:off x="7591425" y="4419600"/>
            <a:ext cx="3343275" cy="266700"/>
          </a:xfrm>
          <a:prstGeom prst="rect">
            <a:avLst/>
          </a:prstGeom>
        </p:spPr>
        <p:txBody>
          <a:bodyPr wrap="none" lIns="0" tIns="0" rIns="0" bIns="0"/>
          <a:p>
            <a:pPr>
              <a:lnSpc>
                <a:spcPct val="160000"/>
              </a:lnSpc>
            </a:pPr>
            <a:r>
              <a:rPr lang="en-US" sz="1090">
                <a:solidFill>
                  <a:srgbClr val="E2E8F0"/>
                </a:solidFill>
                <a:latin typeface="微软雅黑" panose="020B0503020204020204" charset="-122"/>
                <a:ea typeface="微软雅黑" panose="020B0503020204020204" charset="-122"/>
              </a:rPr>
              <a:t>A </a:t>
            </a:r>
            <a:r>
              <a:rPr lang="zh-CN" sz="1090">
                <a:solidFill>
                  <a:srgbClr val="E2E8F0"/>
                </a:solidFill>
                <a:latin typeface="微软雅黑" panose="020B0503020204020204" charset="-122"/>
                <a:ea typeface="微软雅黑" panose="020B0503020204020204" charset="-122"/>
              </a:rPr>
              <a:t>开始，</a:t>
            </a:r>
            <a:r>
              <a:rPr lang="en-US" sz="1090">
                <a:solidFill>
                  <a:srgbClr val="E2E8F0"/>
                </a:solidFill>
                <a:latin typeface="微软雅黑" panose="020B0503020204020204" charset="-122"/>
                <a:ea typeface="微软雅黑" panose="020B0503020204020204" charset="-122"/>
              </a:rPr>
              <a:t>B </a:t>
            </a:r>
            <a:r>
              <a:rPr lang="zh-CN" sz="1090">
                <a:solidFill>
                  <a:srgbClr val="E2E8F0"/>
                </a:solidFill>
                <a:latin typeface="微软雅黑" panose="020B0503020204020204" charset="-122"/>
                <a:ea typeface="微软雅黑" panose="020B0503020204020204" charset="-122"/>
              </a:rPr>
              <a:t>才能结束——较少见</a:t>
            </a:r>
            <a:endParaRPr lang="zh-CN" sz="1090">
              <a:solidFill>
                <a:srgbClr val="E2E8F0"/>
              </a:solidFill>
              <a:latin typeface="微软雅黑" panose="020B0503020204020204" charset="-122"/>
              <a:ea typeface="微软雅黑" panose="020B0503020204020204" charset="-122"/>
            </a:endParaRPr>
          </a:p>
        </p:txBody>
      </p:sp>
      <p:sp>
        <p:nvSpPr>
          <p:cNvPr id="450" name="文本框 449"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451" name="文本框 450"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29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464"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估算活动的周期&lt;/Text&gt;&#13;&#10;    &lt;/Box&gt;&#13;&#10;    &lt;Box style={{ flex: 1, flexDirection: 'row', gap: 20, alignItems: 'center' }}&gt;&#13;&#10;        &lt;Box style={{ flex: 1, height: 380, background: '#111B2E', borderRadius: 14, padding: 24, justifyContent: 'flex-start', gap: 12 }}&gt;&#13;&#10;            &lt;Text style={{ fontSize: 18, fontWeight: 'bold', color: '#93C5FD' }}&gt;四个要点&lt;/Text&gt;&#13;&#10;            &lt;Text style={{ fontSize: 14.5, color: '#E2E8F0', lineHeight: 1.85 }}&gt;· &lt;span style={{ fontWeight: 'bold' }}&gt;细分活动&lt;/span&gt;：粒度越小越准&lt;br /&gt;· &lt;span style={{ fontWeight: 'bold' }}&gt;借鉴历史数据&lt;/span&gt;：积累经验库&lt;br /&gt;· &lt;span style={{ fontWeight: 'bold' }}&gt;考虑缓冲时间&lt;/span&gt;：意外、节假日&lt;br /&gt;· &lt;span style={{ fontWeight: 'bold' }}&gt;综合其他因素&lt;/span&gt;：培训、评审、迭代&lt;/Text&gt;&#13;&#10;        &lt;/Box&gt;&#13;&#10;        &lt;Box style={{ flex: 1, height: 380, background: '#111B2E', borderRadius: 14, padding: 24, justifyContent: 'flex-start', gap: 12 }}&gt;&#13;&#10;            &lt;Text style={{ fontSize: 18, fontWeight: 'bold', color: '#67E8F9' }}&gt;工作量的典型分布&lt;/Text&gt;&#13;&#10;            &lt;Text style={{ fontSize: 14.5, color: '#E2E8F0', lineHeight: 2.1 }}&gt;分析和设计　&lt;span style={{ fontWeight: 'bold', color: '#67E8F9' }}&gt;40%–50%&lt;/span&gt;&lt;br /&gt;测试和调试　&lt;span style={{ fontWeight: 'bold', color: '#67E8F9' }}&gt;30%–40%&lt;/span&gt;&lt;br /&gt;编码　&lt;span style={{ fontWeight: 'bold', color: '#67E8F9' }}&gt;10%–20%&lt;/span&gt;&lt;/Text&gt;&#13;&#10;            &lt;Text style={{ fontSize: 13.5, color: '#94A3B8', lineHeight: 1.7, marginTop: 6 }}&gt;编码只占小头——低估分析与测试是新手最常见的估算错误。&lt;/Text&gt;&#13;&#10;        &lt;/Box&gt;&#13;&#10;        &lt;Box style={{ width: 360, height: 380, background: 'rgba(139,92,246,0.10)', borderRadius: 14, padding: 24, border: '1px solid rgba(139,92,246,0.5)', justifyContent: 'center', gap: 12 }}&gt;&#13;&#10;            &lt;Text style={{ fontSize: 16, color: '#E2E8F0', lineHeight: 1.85 }}&gt;&lt;span style={{ fontWeight: 'bold', color: '#C4B5FD' }}&gt;重要提醒：&lt;/span&gt;&lt;br /&gt;· 以&lt;span style={{ fontWeight: 'bold' }}&gt;工作日&lt;/span&gt;（非星期）规定周期&lt;br /&gt;· 不要计划加班——考虑加班反而诱发更多加班&lt;br /&gt;· 考虑活动间的缓冲&lt;/Text&gt;&#13;&#10;        &lt;/Box&gt;&#13;&#10;    &lt;/Box&gt;&#13;&#10;    &lt;Box style={{ height: 40, flexDirection: 'row', justifyContent: 'space-between', alignItems: 'center', marginTop: 16 }}&gt;&#13;&#10;        &lt;Text style={{ fontSize: 14, color: '#94A3B8' }}&gt;03 项目计划与工作分解&lt;/Text&gt;&#13;&#10;        &lt;Text style={{ fontSize: 14, color: '#94A3B8' }}&gt;30 / 47&lt;/Text&gt;&#13;&#10;    &lt;/Box&gt;&#13;&#10;&lt;/Slide&gt;&#13;&#10;"/>
        <p:cNvGrpSpPr/>
        <p:nvPr/>
      </p:nvGrpSpPr>
      <p:grpSpPr>
        <a:xfrm>
          <a:off x="0" y="0"/>
          <a:ext cx="0" cy="0"/>
          <a:chOff x="0" y="0"/>
          <a:chExt cx="0" cy="0"/>
        </a:xfrm>
      </p:grpSpPr>
      <p:sp>
        <p:nvSpPr>
          <p:cNvPr id="465" name="矩形 464"/>
          <p:cNvSpPr/>
          <p:nvPr/>
        </p:nvSpPr>
        <p:spPr>
          <a:xfrm>
            <a:off x="0" y="0"/>
            <a:ext cx="12192000" cy="6858000"/>
          </a:xfrm>
          <a:prstGeom prst="rect">
            <a:avLst/>
          </a:prstGeom>
          <a:solidFill>
            <a:srgbClr val="0B1220"/>
          </a:solidFill>
        </p:spPr>
        <p:txBody>
          <a:bodyPr/>
          <a:p/>
        </p:txBody>
      </p:sp>
      <p:sp>
        <p:nvSpPr>
          <p:cNvPr id="466" name="圆角矩形 465"/>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467" name="文本框 466" descr="{&quot;isTemplate&quot;:true,&quot;type&quot;:&quot;text&quot;}"/>
          <p:cNvSpPr txBox="1"/>
          <p:nvPr/>
        </p:nvSpPr>
        <p:spPr>
          <a:xfrm>
            <a:off x="857250" y="476250"/>
            <a:ext cx="226695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估算活动的周期</a:t>
            </a:r>
            <a:endParaRPr lang="zh-CN" sz="2550" b="1">
              <a:solidFill>
                <a:srgbClr val="E2E8F0"/>
              </a:solidFill>
              <a:latin typeface="微软雅黑" panose="020B0503020204020204" charset="-122"/>
              <a:ea typeface="微软雅黑" panose="020B0503020204020204" charset="-122"/>
            </a:endParaRPr>
          </a:p>
        </p:txBody>
      </p:sp>
      <p:sp>
        <p:nvSpPr>
          <p:cNvPr id="468" name="圆角矩形 467"/>
          <p:cNvSpPr/>
          <p:nvPr/>
        </p:nvSpPr>
        <p:spPr>
          <a:xfrm>
            <a:off x="609600" y="1828800"/>
            <a:ext cx="3581400" cy="3619500"/>
          </a:xfrm>
          <a:prstGeom prst="roundRect">
            <a:avLst>
              <a:gd name="adj" fmla="val 3723"/>
            </a:avLst>
          </a:prstGeom>
          <a:solidFill>
            <a:srgbClr val="111B2E"/>
          </a:solidFill>
        </p:spPr>
        <p:txBody>
          <a:bodyPr/>
          <a:p/>
        </p:txBody>
      </p:sp>
      <p:sp>
        <p:nvSpPr>
          <p:cNvPr id="469" name="文本框 468" descr="{&quot;isTemplate&quot;:true,&quot;type&quot;:&quot;text&quot;}"/>
          <p:cNvSpPr txBox="1"/>
          <p:nvPr/>
        </p:nvSpPr>
        <p:spPr>
          <a:xfrm>
            <a:off x="838200" y="2057400"/>
            <a:ext cx="3124200" cy="209550"/>
          </a:xfrm>
          <a:prstGeom prst="rect">
            <a:avLst/>
          </a:prstGeom>
        </p:spPr>
        <p:txBody>
          <a:bodyPr wrap="none" lIns="0" tIns="0" rIns="0" bIns="0"/>
          <a:p>
            <a:pPr>
              <a:lnSpc>
                <a:spcPct val="100000"/>
              </a:lnSpc>
            </a:pPr>
            <a:r>
              <a:rPr lang="zh-CN" sz="1350" b="1">
                <a:solidFill>
                  <a:srgbClr val="93C5FD"/>
                </a:solidFill>
                <a:latin typeface="微软雅黑" panose="020B0503020204020204" charset="-122"/>
                <a:ea typeface="微软雅黑" panose="020B0503020204020204" charset="-122"/>
              </a:rPr>
              <a:t>四个要点</a:t>
            </a:r>
            <a:endParaRPr lang="zh-CN" sz="1350" b="1">
              <a:solidFill>
                <a:srgbClr val="93C5FD"/>
              </a:solidFill>
              <a:latin typeface="微软雅黑" panose="020B0503020204020204" charset="-122"/>
              <a:ea typeface="微软雅黑" panose="020B0503020204020204" charset="-122"/>
            </a:endParaRPr>
          </a:p>
        </p:txBody>
      </p:sp>
      <p:sp>
        <p:nvSpPr>
          <p:cNvPr id="470" name="文本框 469" descr="{&quot;isTemplate&quot;:true,&quot;type&quot;:&quot;text&quot;}"/>
          <p:cNvSpPr txBox="1"/>
          <p:nvPr/>
        </p:nvSpPr>
        <p:spPr>
          <a:xfrm>
            <a:off x="838200" y="2381250"/>
            <a:ext cx="3124200" cy="1228725"/>
          </a:xfrm>
          <a:prstGeom prst="rect">
            <a:avLst/>
          </a:prstGeom>
        </p:spPr>
        <p:txBody>
          <a:bodyPr wrap="none" lIns="0" tIns="0" rIns="0" bIns="0"/>
          <a:p>
            <a:pPr>
              <a:lnSpc>
                <a:spcPct val="185000"/>
              </a:lnSpc>
            </a:pPr>
            <a:r>
              <a:rPr lang="en-US" sz="1090">
                <a:solidFill>
                  <a:srgbClr val="E2E8F0"/>
                </a:solidFill>
                <a:latin typeface="微软雅黑" panose="020B0503020204020204" charset="-122"/>
                <a:ea typeface="微软雅黑" panose="020B0503020204020204" charset="-122"/>
              </a:rPr>
              <a:t>· </a:t>
            </a:r>
            <a:r>
              <a:rPr lang="zh-CN" sz="1090" b="1">
                <a:solidFill>
                  <a:srgbClr val="E2E8F0"/>
                </a:solidFill>
                <a:latin typeface="微软雅黑" panose="020B0503020204020204" charset="-122"/>
                <a:ea typeface="微软雅黑" panose="020B0503020204020204" charset="-122"/>
              </a:rPr>
              <a:t>细分活动</a:t>
            </a:r>
            <a:r>
              <a:rPr lang="zh-CN" sz="1090">
                <a:solidFill>
                  <a:srgbClr val="E2E8F0"/>
                </a:solidFill>
                <a:latin typeface="微软雅黑" panose="020B0503020204020204" charset="-122"/>
                <a:ea typeface="微软雅黑" panose="020B0503020204020204" charset="-122"/>
              </a:rPr>
              <a:t>：粒度越小越准</a:t>
            </a:r>
            <a:endParaRPr lang="zh-CN" sz="1090">
              <a:solidFill>
                <a:srgbClr val="E2E8F0"/>
              </a:solidFill>
              <a:latin typeface="微软雅黑" panose="020B0503020204020204" charset="-122"/>
              <a:ea typeface="微软雅黑" panose="020B0503020204020204" charset="-122"/>
            </a:endParaRPr>
          </a:p>
          <a:p>
            <a:pPr>
              <a:lnSpc>
                <a:spcPct val="185000"/>
              </a:lnSpc>
            </a:pPr>
            <a:r>
              <a:rPr lang="en-US" sz="1090">
                <a:solidFill>
                  <a:srgbClr val="E2E8F0"/>
                </a:solidFill>
                <a:latin typeface="微软雅黑" panose="020B0503020204020204" charset="-122"/>
                <a:ea typeface="微软雅黑" panose="020B0503020204020204" charset="-122"/>
              </a:rPr>
              <a:t>· </a:t>
            </a:r>
            <a:r>
              <a:rPr lang="zh-CN" sz="1090" b="1">
                <a:solidFill>
                  <a:srgbClr val="E2E8F0"/>
                </a:solidFill>
                <a:latin typeface="微软雅黑" panose="020B0503020204020204" charset="-122"/>
                <a:ea typeface="微软雅黑" panose="020B0503020204020204" charset="-122"/>
              </a:rPr>
              <a:t>借鉴历史数据</a:t>
            </a:r>
            <a:r>
              <a:rPr lang="zh-CN" sz="1090">
                <a:solidFill>
                  <a:srgbClr val="E2E8F0"/>
                </a:solidFill>
                <a:latin typeface="微软雅黑" panose="020B0503020204020204" charset="-122"/>
                <a:ea typeface="微软雅黑" panose="020B0503020204020204" charset="-122"/>
              </a:rPr>
              <a:t>：积累经验库</a:t>
            </a:r>
            <a:endParaRPr lang="zh-CN" sz="1090">
              <a:solidFill>
                <a:srgbClr val="E2E8F0"/>
              </a:solidFill>
              <a:latin typeface="微软雅黑" panose="020B0503020204020204" charset="-122"/>
              <a:ea typeface="微软雅黑" panose="020B0503020204020204" charset="-122"/>
            </a:endParaRPr>
          </a:p>
          <a:p>
            <a:pPr>
              <a:lnSpc>
                <a:spcPct val="185000"/>
              </a:lnSpc>
            </a:pPr>
            <a:r>
              <a:rPr lang="en-US" sz="1090">
                <a:solidFill>
                  <a:srgbClr val="E2E8F0"/>
                </a:solidFill>
                <a:latin typeface="微软雅黑" panose="020B0503020204020204" charset="-122"/>
                <a:ea typeface="微软雅黑" panose="020B0503020204020204" charset="-122"/>
              </a:rPr>
              <a:t>· </a:t>
            </a:r>
            <a:r>
              <a:rPr lang="zh-CN" sz="1090" b="1">
                <a:solidFill>
                  <a:srgbClr val="E2E8F0"/>
                </a:solidFill>
                <a:latin typeface="微软雅黑" panose="020B0503020204020204" charset="-122"/>
                <a:ea typeface="微软雅黑" panose="020B0503020204020204" charset="-122"/>
              </a:rPr>
              <a:t>考虑缓冲时间</a:t>
            </a:r>
            <a:r>
              <a:rPr lang="zh-CN" sz="1090">
                <a:solidFill>
                  <a:srgbClr val="E2E8F0"/>
                </a:solidFill>
                <a:latin typeface="微软雅黑" panose="020B0503020204020204" charset="-122"/>
                <a:ea typeface="微软雅黑" panose="020B0503020204020204" charset="-122"/>
              </a:rPr>
              <a:t>：意外、节假日</a:t>
            </a:r>
            <a:endParaRPr lang="zh-CN" sz="1090">
              <a:solidFill>
                <a:srgbClr val="E2E8F0"/>
              </a:solidFill>
              <a:latin typeface="微软雅黑" panose="020B0503020204020204" charset="-122"/>
              <a:ea typeface="微软雅黑" panose="020B0503020204020204" charset="-122"/>
            </a:endParaRPr>
          </a:p>
          <a:p>
            <a:pPr>
              <a:lnSpc>
                <a:spcPct val="185000"/>
              </a:lnSpc>
            </a:pPr>
            <a:r>
              <a:rPr lang="en-US" sz="1090">
                <a:solidFill>
                  <a:srgbClr val="E2E8F0"/>
                </a:solidFill>
                <a:latin typeface="微软雅黑" panose="020B0503020204020204" charset="-122"/>
                <a:ea typeface="微软雅黑" panose="020B0503020204020204" charset="-122"/>
              </a:rPr>
              <a:t>· </a:t>
            </a:r>
            <a:r>
              <a:rPr lang="zh-CN" sz="1090" b="1">
                <a:solidFill>
                  <a:srgbClr val="E2E8F0"/>
                </a:solidFill>
                <a:latin typeface="微软雅黑" panose="020B0503020204020204" charset="-122"/>
                <a:ea typeface="微软雅黑" panose="020B0503020204020204" charset="-122"/>
              </a:rPr>
              <a:t>综合其他因素</a:t>
            </a:r>
            <a:r>
              <a:rPr lang="zh-CN" sz="1090">
                <a:solidFill>
                  <a:srgbClr val="E2E8F0"/>
                </a:solidFill>
                <a:latin typeface="微软雅黑" panose="020B0503020204020204" charset="-122"/>
                <a:ea typeface="微软雅黑" panose="020B0503020204020204" charset="-122"/>
              </a:rPr>
              <a:t>：培训、评审、迭代</a:t>
            </a:r>
            <a:endParaRPr lang="zh-CN" sz="1090">
              <a:solidFill>
                <a:srgbClr val="E2E8F0"/>
              </a:solidFill>
              <a:latin typeface="微软雅黑" panose="020B0503020204020204" charset="-122"/>
              <a:ea typeface="微软雅黑" panose="020B0503020204020204" charset="-122"/>
            </a:endParaRPr>
          </a:p>
        </p:txBody>
      </p:sp>
      <p:sp>
        <p:nvSpPr>
          <p:cNvPr id="471" name="圆角矩形 470"/>
          <p:cNvSpPr/>
          <p:nvPr/>
        </p:nvSpPr>
        <p:spPr>
          <a:xfrm>
            <a:off x="4381500" y="1828800"/>
            <a:ext cx="3581400" cy="3619500"/>
          </a:xfrm>
          <a:prstGeom prst="roundRect">
            <a:avLst>
              <a:gd name="adj" fmla="val 3723"/>
            </a:avLst>
          </a:prstGeom>
          <a:solidFill>
            <a:srgbClr val="111B2E"/>
          </a:solidFill>
        </p:spPr>
        <p:txBody>
          <a:bodyPr/>
          <a:p/>
        </p:txBody>
      </p:sp>
      <p:sp>
        <p:nvSpPr>
          <p:cNvPr id="472" name="文本框 471" descr="{&quot;isTemplate&quot;:true,&quot;type&quot;:&quot;text&quot;}"/>
          <p:cNvSpPr txBox="1"/>
          <p:nvPr/>
        </p:nvSpPr>
        <p:spPr>
          <a:xfrm>
            <a:off x="4610100" y="2057400"/>
            <a:ext cx="3124200" cy="209550"/>
          </a:xfrm>
          <a:prstGeom prst="rect">
            <a:avLst/>
          </a:prstGeom>
        </p:spPr>
        <p:txBody>
          <a:bodyPr wrap="none" lIns="0" tIns="0" rIns="0" bIns="0"/>
          <a:p>
            <a:pPr>
              <a:lnSpc>
                <a:spcPct val="100000"/>
              </a:lnSpc>
            </a:pPr>
            <a:r>
              <a:rPr lang="zh-CN" sz="1350" b="1">
                <a:solidFill>
                  <a:srgbClr val="67E8F9"/>
                </a:solidFill>
                <a:latin typeface="微软雅黑" panose="020B0503020204020204" charset="-122"/>
                <a:ea typeface="微软雅黑" panose="020B0503020204020204" charset="-122"/>
              </a:rPr>
              <a:t>工作量的典型分布</a:t>
            </a:r>
            <a:endParaRPr lang="zh-CN" sz="1350" b="1">
              <a:solidFill>
                <a:srgbClr val="67E8F9"/>
              </a:solidFill>
              <a:latin typeface="微软雅黑" panose="020B0503020204020204" charset="-122"/>
              <a:ea typeface="微软雅黑" panose="020B0503020204020204" charset="-122"/>
            </a:endParaRPr>
          </a:p>
        </p:txBody>
      </p:sp>
      <p:sp>
        <p:nvSpPr>
          <p:cNvPr id="473" name="文本框 472" descr="{&quot;isTemplate&quot;:true,&quot;type&quot;:&quot;text&quot;}"/>
          <p:cNvSpPr txBox="1"/>
          <p:nvPr/>
        </p:nvSpPr>
        <p:spPr>
          <a:xfrm>
            <a:off x="4610100" y="2381250"/>
            <a:ext cx="3124200" cy="1047750"/>
          </a:xfrm>
          <a:prstGeom prst="rect">
            <a:avLst/>
          </a:prstGeom>
        </p:spPr>
        <p:txBody>
          <a:bodyPr wrap="none" lIns="0" tIns="0" rIns="0" bIns="0"/>
          <a:p>
            <a:pPr>
              <a:lnSpc>
                <a:spcPct val="210000"/>
              </a:lnSpc>
            </a:pPr>
            <a:r>
              <a:rPr lang="zh-CN" sz="1090">
                <a:solidFill>
                  <a:srgbClr val="E2E8F0"/>
                </a:solidFill>
                <a:latin typeface="微软雅黑" panose="020B0503020204020204" charset="-122"/>
                <a:ea typeface="微软雅黑" panose="020B0503020204020204" charset="-122"/>
              </a:rPr>
              <a:t>分析和设计　</a:t>
            </a:r>
            <a:r>
              <a:rPr lang="en-US" sz="1090" b="1">
                <a:solidFill>
                  <a:srgbClr val="67E8F9"/>
                </a:solidFill>
                <a:latin typeface="微软雅黑" panose="020B0503020204020204" charset="-122"/>
                <a:ea typeface="微软雅黑" panose="020B0503020204020204" charset="-122"/>
              </a:rPr>
              <a:t>40%–50%</a:t>
            </a:r>
            <a:endParaRPr lang="en-US" sz="1090" b="1">
              <a:solidFill>
                <a:srgbClr val="67E8F9"/>
              </a:solidFill>
              <a:latin typeface="微软雅黑" panose="020B0503020204020204" charset="-122"/>
              <a:ea typeface="微软雅黑" panose="020B0503020204020204" charset="-122"/>
            </a:endParaRPr>
          </a:p>
          <a:p>
            <a:pPr>
              <a:lnSpc>
                <a:spcPct val="210000"/>
              </a:lnSpc>
            </a:pPr>
            <a:r>
              <a:rPr lang="zh-CN" sz="1090">
                <a:solidFill>
                  <a:srgbClr val="E2E8F0"/>
                </a:solidFill>
                <a:latin typeface="微软雅黑" panose="020B0503020204020204" charset="-122"/>
                <a:ea typeface="微软雅黑" panose="020B0503020204020204" charset="-122"/>
              </a:rPr>
              <a:t>测试和调试　</a:t>
            </a:r>
            <a:r>
              <a:rPr lang="en-US" sz="1090" b="1">
                <a:solidFill>
                  <a:srgbClr val="67E8F9"/>
                </a:solidFill>
                <a:latin typeface="微软雅黑" panose="020B0503020204020204" charset="-122"/>
                <a:ea typeface="微软雅黑" panose="020B0503020204020204" charset="-122"/>
              </a:rPr>
              <a:t>30%–40%</a:t>
            </a:r>
            <a:endParaRPr lang="en-US" sz="1090" b="1">
              <a:solidFill>
                <a:srgbClr val="67E8F9"/>
              </a:solidFill>
              <a:latin typeface="微软雅黑" panose="020B0503020204020204" charset="-122"/>
              <a:ea typeface="微软雅黑" panose="020B0503020204020204" charset="-122"/>
            </a:endParaRPr>
          </a:p>
          <a:p>
            <a:pPr>
              <a:lnSpc>
                <a:spcPct val="210000"/>
              </a:lnSpc>
            </a:pPr>
            <a:r>
              <a:rPr lang="zh-CN" sz="1090">
                <a:solidFill>
                  <a:srgbClr val="E2E8F0"/>
                </a:solidFill>
                <a:latin typeface="微软雅黑" panose="020B0503020204020204" charset="-122"/>
                <a:ea typeface="微软雅黑" panose="020B0503020204020204" charset="-122"/>
              </a:rPr>
              <a:t>编码　</a:t>
            </a:r>
            <a:r>
              <a:rPr lang="en-US" sz="1090" b="1">
                <a:solidFill>
                  <a:srgbClr val="67E8F9"/>
                </a:solidFill>
                <a:latin typeface="微软雅黑" panose="020B0503020204020204" charset="-122"/>
                <a:ea typeface="微软雅黑" panose="020B0503020204020204" charset="-122"/>
              </a:rPr>
              <a:t>10%–20%</a:t>
            </a:r>
            <a:endParaRPr lang="en-US" sz="1090" b="1">
              <a:solidFill>
                <a:srgbClr val="67E8F9"/>
              </a:solidFill>
              <a:latin typeface="微软雅黑" panose="020B0503020204020204" charset="-122"/>
              <a:ea typeface="微软雅黑" panose="020B0503020204020204" charset="-122"/>
            </a:endParaRPr>
          </a:p>
        </p:txBody>
      </p:sp>
      <p:sp>
        <p:nvSpPr>
          <p:cNvPr id="474" name="文本框 473" descr="{&quot;isTemplate&quot;:true,&quot;type&quot;:&quot;text&quot;}"/>
          <p:cNvSpPr txBox="1"/>
          <p:nvPr/>
        </p:nvSpPr>
        <p:spPr>
          <a:xfrm>
            <a:off x="4610100" y="3600450"/>
            <a:ext cx="3124200" cy="533400"/>
          </a:xfrm>
          <a:prstGeom prst="rect">
            <a:avLst/>
          </a:prstGeom>
        </p:spPr>
        <p:txBody>
          <a:bodyPr wrap="square" lIns="0" tIns="0" rIns="0" bIns="0">
            <a:normAutofit/>
          </a:bodyPr>
          <a:p>
            <a:pPr>
              <a:lnSpc>
                <a:spcPct val="170000"/>
              </a:lnSpc>
            </a:pPr>
            <a:r>
              <a:rPr lang="zh-CN" sz="1015">
                <a:solidFill>
                  <a:srgbClr val="94A3B8"/>
                </a:solidFill>
                <a:latin typeface="微软雅黑" panose="020B0503020204020204" charset="-122"/>
                <a:ea typeface="微软雅黑" panose="020B0503020204020204" charset="-122"/>
              </a:rPr>
              <a:t>编码只占小头——低估分析与测试是新手最常见的估算错误。</a:t>
            </a:r>
            <a:endParaRPr lang="zh-CN" sz="1015">
              <a:solidFill>
                <a:srgbClr val="94A3B8"/>
              </a:solidFill>
              <a:latin typeface="微软雅黑" panose="020B0503020204020204" charset="-122"/>
              <a:ea typeface="微软雅黑" panose="020B0503020204020204" charset="-122"/>
            </a:endParaRPr>
          </a:p>
        </p:txBody>
      </p:sp>
      <p:sp>
        <p:nvSpPr>
          <p:cNvPr id="475" name="圆角矩形 474"/>
          <p:cNvSpPr/>
          <p:nvPr/>
        </p:nvSpPr>
        <p:spPr>
          <a:xfrm>
            <a:off x="8153400" y="1828800"/>
            <a:ext cx="3429000" cy="3619500"/>
          </a:xfrm>
          <a:prstGeom prst="roundRect">
            <a:avLst>
              <a:gd name="adj" fmla="val 3889"/>
            </a:avLst>
          </a:prstGeom>
          <a:solidFill>
            <a:srgbClr val="8B5CF6">
              <a:alpha val="10000"/>
            </a:srgbClr>
          </a:solidFill>
          <a:ln w="12700">
            <a:solidFill>
              <a:srgbClr val="8B5CF6">
                <a:alpha val="50000"/>
              </a:srgbClr>
            </a:solidFill>
            <a:prstDash val="solid"/>
          </a:ln>
        </p:spPr>
        <p:txBody>
          <a:bodyPr/>
          <a:p/>
        </p:txBody>
      </p:sp>
      <p:sp>
        <p:nvSpPr>
          <p:cNvPr id="476" name="文本框 475" descr="{&quot;isTemplate&quot;:true,&quot;type&quot;:&quot;text&quot;}"/>
          <p:cNvSpPr txBox="1"/>
          <p:nvPr/>
        </p:nvSpPr>
        <p:spPr>
          <a:xfrm>
            <a:off x="8382000" y="2790825"/>
            <a:ext cx="2971800" cy="1695450"/>
          </a:xfrm>
          <a:prstGeom prst="rect">
            <a:avLst/>
          </a:prstGeom>
        </p:spPr>
        <p:txBody>
          <a:bodyPr wrap="square" lIns="0" tIns="0" rIns="0" bIns="0">
            <a:normAutofit/>
          </a:bodyPr>
          <a:p>
            <a:pPr>
              <a:lnSpc>
                <a:spcPct val="185000"/>
              </a:lnSpc>
            </a:pPr>
            <a:r>
              <a:rPr lang="zh-CN" sz="1200" b="1">
                <a:solidFill>
                  <a:srgbClr val="C4B5FD"/>
                </a:solidFill>
                <a:latin typeface="微软雅黑" panose="020B0503020204020204" charset="-122"/>
                <a:ea typeface="微软雅黑" panose="020B0503020204020204" charset="-122"/>
              </a:rPr>
              <a:t>重要提醒：</a:t>
            </a:r>
            <a:endParaRPr lang="zh-CN" sz="1200" b="1">
              <a:solidFill>
                <a:srgbClr val="C4B5FD"/>
              </a:solidFill>
              <a:latin typeface="微软雅黑" panose="020B0503020204020204" charset="-122"/>
              <a:ea typeface="微软雅黑" panose="020B0503020204020204" charset="-122"/>
            </a:endParaRPr>
          </a:p>
          <a:p>
            <a:pPr>
              <a:lnSpc>
                <a:spcPct val="185000"/>
              </a:lnSpc>
            </a:pPr>
            <a:r>
              <a:rPr lang="en-US" sz="1200">
                <a:solidFill>
                  <a:srgbClr val="E2E8F0"/>
                </a:solidFill>
                <a:latin typeface="微软雅黑" panose="020B0503020204020204" charset="-122"/>
                <a:ea typeface="微软雅黑" panose="020B0503020204020204" charset="-122"/>
              </a:rPr>
              <a:t>· </a:t>
            </a:r>
            <a:r>
              <a:rPr lang="zh-CN" sz="1200">
                <a:solidFill>
                  <a:srgbClr val="E2E8F0"/>
                </a:solidFill>
                <a:latin typeface="微软雅黑" panose="020B0503020204020204" charset="-122"/>
                <a:ea typeface="微软雅黑" panose="020B0503020204020204" charset="-122"/>
              </a:rPr>
              <a:t>以</a:t>
            </a:r>
            <a:r>
              <a:rPr lang="zh-CN" sz="1200" b="1">
                <a:solidFill>
                  <a:srgbClr val="E2E8F0"/>
                </a:solidFill>
                <a:latin typeface="微软雅黑" panose="020B0503020204020204" charset="-122"/>
                <a:ea typeface="微软雅黑" panose="020B0503020204020204" charset="-122"/>
              </a:rPr>
              <a:t>工作日</a:t>
            </a:r>
            <a:r>
              <a:rPr lang="zh-CN" sz="1200">
                <a:solidFill>
                  <a:srgbClr val="E2E8F0"/>
                </a:solidFill>
                <a:latin typeface="微软雅黑" panose="020B0503020204020204" charset="-122"/>
                <a:ea typeface="微软雅黑" panose="020B0503020204020204" charset="-122"/>
              </a:rPr>
              <a:t>（非星期）规定周期</a:t>
            </a:r>
            <a:endParaRPr lang="zh-CN" sz="1200">
              <a:solidFill>
                <a:srgbClr val="E2E8F0"/>
              </a:solidFill>
              <a:latin typeface="微软雅黑" panose="020B0503020204020204" charset="-122"/>
              <a:ea typeface="微软雅黑" panose="020B0503020204020204" charset="-122"/>
            </a:endParaRPr>
          </a:p>
          <a:p>
            <a:pPr>
              <a:lnSpc>
                <a:spcPct val="185000"/>
              </a:lnSpc>
            </a:pPr>
            <a:r>
              <a:rPr lang="en-US" sz="1200">
                <a:solidFill>
                  <a:srgbClr val="E2E8F0"/>
                </a:solidFill>
                <a:latin typeface="微软雅黑" panose="020B0503020204020204" charset="-122"/>
                <a:ea typeface="微软雅黑" panose="020B0503020204020204" charset="-122"/>
              </a:rPr>
              <a:t>· </a:t>
            </a:r>
            <a:r>
              <a:rPr lang="zh-CN" sz="1200">
                <a:solidFill>
                  <a:srgbClr val="E2E8F0"/>
                </a:solidFill>
                <a:latin typeface="微软雅黑" panose="020B0503020204020204" charset="-122"/>
                <a:ea typeface="微软雅黑" panose="020B0503020204020204" charset="-122"/>
              </a:rPr>
              <a:t>不要计划加班——考虑加班反而诱发更多加班</a:t>
            </a:r>
            <a:endParaRPr lang="zh-CN" sz="1200">
              <a:solidFill>
                <a:srgbClr val="E2E8F0"/>
              </a:solidFill>
              <a:latin typeface="微软雅黑" panose="020B0503020204020204" charset="-122"/>
              <a:ea typeface="微软雅黑" panose="020B0503020204020204" charset="-122"/>
            </a:endParaRPr>
          </a:p>
          <a:p>
            <a:pPr>
              <a:lnSpc>
                <a:spcPct val="185000"/>
              </a:lnSpc>
            </a:pPr>
            <a:r>
              <a:rPr lang="en-US" sz="1200">
                <a:solidFill>
                  <a:srgbClr val="E2E8F0"/>
                </a:solidFill>
                <a:latin typeface="微软雅黑" panose="020B0503020204020204" charset="-122"/>
                <a:ea typeface="微软雅黑" panose="020B0503020204020204" charset="-122"/>
              </a:rPr>
              <a:t>· </a:t>
            </a:r>
            <a:r>
              <a:rPr lang="zh-CN" sz="1200">
                <a:solidFill>
                  <a:srgbClr val="E2E8F0"/>
                </a:solidFill>
                <a:latin typeface="微软雅黑" panose="020B0503020204020204" charset="-122"/>
                <a:ea typeface="微软雅黑" panose="020B0503020204020204" charset="-122"/>
              </a:rPr>
              <a:t>考虑活动间的缓冲</a:t>
            </a:r>
            <a:endParaRPr lang="zh-CN" sz="1200">
              <a:solidFill>
                <a:srgbClr val="E2E8F0"/>
              </a:solidFill>
              <a:latin typeface="微软雅黑" panose="020B0503020204020204" charset="-122"/>
              <a:ea typeface="微软雅黑" panose="020B0503020204020204" charset="-122"/>
            </a:endParaRPr>
          </a:p>
        </p:txBody>
      </p:sp>
      <p:sp>
        <p:nvSpPr>
          <p:cNvPr id="477" name="文本框 476"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478" name="文本框 477"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30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479"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确定里程碑（Milestone）&lt;/Text&gt;&#13;&#10;    &lt;/Box&gt;&#13;&#10;    &lt;Box style={{ flex: 1, flexDirection: 'row', gap: 28 }}&gt;&#13;&#10;        &lt;Box style={{ flex: 1, justifyContent: 'center' }}&gt;&#13;&#10;            &lt;Text style={{ fontSize: 17, color: '#E2E8F0', lineHeight: 1.85 }}&gt;里程碑是软件项目实施过程中的&lt;span style={{ fontWeight: 'bold', color: '#22D3EE' }}&gt;重大事件&lt;/span&gt;——如某个重要活动的开始和结束，帮助了解项目进展。&lt;/Text&gt;&#13;&#10;            &lt;Box style={{ background: '#111B2E', borderRadius: 12, padding: '16px 22px', marginTop: 18, borderLeft: '4px solid #22D3EE' }}&gt;&#13;&#10;                &lt;Text style={{ fontSize: 15.5, color: '#E2E8F0', lineHeight: 1.7 }}&gt;&lt;span style={{ fontWeight: 'bold', color: '#67E8F9' }}&gt;典型里程碑：&lt;/span&gt;需求分析通过评审并正式批准（标志需求完成、设计开始）；设计规格说明书评审批准。&lt;/Text&gt;&#13;&#10;            &lt;/Box&gt;&#13;&#10;        &lt;/Box&gt;&#13;&#10;        &lt;Box style={{ width: 430, justifyContent: 'center', alignItems: 'center' }}&gt;&#13;&#10;            &lt;svg width={420} height={340} viewBox='0 0 420 340'&gt;&#13;&#10;                &lt;line x1='30' y1='120' x2='390' y2='120' stroke='rgba(59,130,246,0.5)' strokeWidth='3' /&gt;&#13;&#10;                &lt;circle cx='80' cy='120' r='13' fill='#22D3EE' /&gt;&#13;&#10;                &lt;text x='80' y='160' textAnchor='middle' fill='#E2E8F0' fontSize='13'&gt;需求评审通过&lt;/text&gt;&#13;&#10;                &lt;circle cx='200' cy='120' r='13' fill='#22D3EE' /&gt;&#13;&#10;                &lt;text x='200' y='160' textAnchor='middle' fill='#E2E8F0' fontSize='13'&gt;设计评审通过&lt;/text&gt;&#13;&#10;                &lt;circle cx='320' cy='120' r='13' fill='#22D3EE' /&gt;&#13;&#10;                &lt;text x='320' y='160' textAnchor='middle' fill='#E2E8F0' fontSize='13'&gt;编码完成&lt;/text&gt;&#13;&#10;                &lt;circle cx='370' cy='120' r='16' fill='#8B5CF6' /&gt;&#13;&#10;                &lt;text x='370' y='188' textAnchor='middle' fill='#C4B5FD' fontSize='13' fontWeight='bold'&gt;交付&lt;/text&gt;&#13;&#10;                &lt;text x='210' y='240' textAnchor='middle' fill='#E2E8F0' fontSize='15'&gt;里程碑 = 可检查的&quot;控制点&quot;&lt;/text&gt;&#13;&#10;                &lt;text x='210' y='272' textAnchor='middle' fill='#94A3B8' fontSize='13.5'&gt;便于向高层汇报进展，便于获取对项目的整体了解&lt;/text&gt;&#13;&#10;            &lt;/svg&gt;&#13;&#10;        &lt;/Box&gt;&#13;&#10;    &lt;/Box&gt;&#13;&#10;    &lt;Box style={{ height: 40, flexDirection: 'row', justifyContent: 'space-between', alignItems: 'center', marginTop: 16 }}&gt;&#13;&#10;        &lt;Text style={{ fontSize: 14, color: '#94A3B8' }}&gt;03 项目计划与工作分解&lt;/Text&gt;&#13;&#10;        &lt;Text style={{ fontSize: 14, color: '#94A3B8' }}&gt;31 / 47&lt;/Text&gt;&#13;&#10;    &lt;/Box&gt;&#13;&#10;&lt;/Slide&gt;&#13;&#10;"/>
        <p:cNvGrpSpPr/>
        <p:nvPr/>
      </p:nvGrpSpPr>
      <p:grpSpPr>
        <a:xfrm>
          <a:off x="0" y="0"/>
          <a:ext cx="0" cy="0"/>
          <a:chOff x="0" y="0"/>
          <a:chExt cx="0" cy="0"/>
        </a:xfrm>
      </p:grpSpPr>
      <p:sp>
        <p:nvSpPr>
          <p:cNvPr id="480" name="矩形 479"/>
          <p:cNvSpPr/>
          <p:nvPr/>
        </p:nvSpPr>
        <p:spPr>
          <a:xfrm>
            <a:off x="0" y="0"/>
            <a:ext cx="12192000" cy="6858000"/>
          </a:xfrm>
          <a:prstGeom prst="rect">
            <a:avLst/>
          </a:prstGeom>
          <a:solidFill>
            <a:srgbClr val="0B1220"/>
          </a:solidFill>
        </p:spPr>
        <p:txBody>
          <a:bodyPr/>
          <a:p/>
        </p:txBody>
      </p:sp>
      <p:sp>
        <p:nvSpPr>
          <p:cNvPr id="481" name="圆角矩形 480"/>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482" name="文本框 481" descr="{&quot;isTemplate&quot;:true,&quot;type&quot;:&quot;text&quot;}"/>
          <p:cNvSpPr txBox="1"/>
          <p:nvPr/>
        </p:nvSpPr>
        <p:spPr>
          <a:xfrm>
            <a:off x="857250" y="476250"/>
            <a:ext cx="38862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确定里程碑（</a:t>
            </a:r>
            <a:r>
              <a:rPr lang="en-US" sz="2550" b="1">
                <a:solidFill>
                  <a:srgbClr val="E2E8F0"/>
                </a:solidFill>
                <a:latin typeface="微软雅黑" panose="020B0503020204020204" charset="-122"/>
                <a:ea typeface="微软雅黑" panose="020B0503020204020204" charset="-122"/>
              </a:rPr>
              <a:t>Milestone</a:t>
            </a:r>
            <a:r>
              <a:rPr lang="zh-CN" sz="2550" b="1">
                <a:solidFill>
                  <a:srgbClr val="E2E8F0"/>
                </a:solidFill>
                <a:latin typeface="微软雅黑" panose="020B0503020204020204" charset="-122"/>
                <a:ea typeface="微软雅黑" panose="020B0503020204020204" charset="-122"/>
              </a:rPr>
              <a:t>）</a:t>
            </a:r>
            <a:endParaRPr lang="zh-CN" sz="2550" b="1">
              <a:solidFill>
                <a:srgbClr val="E2E8F0"/>
              </a:solidFill>
              <a:latin typeface="微软雅黑" panose="020B0503020204020204" charset="-122"/>
              <a:ea typeface="微软雅黑" panose="020B0503020204020204" charset="-122"/>
            </a:endParaRPr>
          </a:p>
        </p:txBody>
      </p:sp>
      <p:sp>
        <p:nvSpPr>
          <p:cNvPr id="483" name="文本框 482" descr="{&quot;isTemplate&quot;:true,&quot;type&quot;:&quot;text&quot;}"/>
          <p:cNvSpPr txBox="1"/>
          <p:nvPr/>
        </p:nvSpPr>
        <p:spPr>
          <a:xfrm>
            <a:off x="609600" y="2733675"/>
            <a:ext cx="6610350" cy="723900"/>
          </a:xfrm>
          <a:prstGeom prst="rect">
            <a:avLst/>
          </a:prstGeom>
        </p:spPr>
        <p:txBody>
          <a:bodyPr wrap="square" lIns="0" tIns="0" rIns="0" bIns="0">
            <a:normAutofit/>
          </a:bodyPr>
          <a:p>
            <a:pPr>
              <a:lnSpc>
                <a:spcPct val="185000"/>
              </a:lnSpc>
            </a:pPr>
            <a:r>
              <a:rPr lang="zh-CN" sz="1275">
                <a:solidFill>
                  <a:srgbClr val="E2E8F0"/>
                </a:solidFill>
                <a:latin typeface="微软雅黑" panose="020B0503020204020204" charset="-122"/>
                <a:ea typeface="微软雅黑" panose="020B0503020204020204" charset="-122"/>
              </a:rPr>
              <a:t>里程碑是软件项目实施过程中的</a:t>
            </a:r>
            <a:r>
              <a:rPr lang="zh-CN" sz="1275" b="1">
                <a:solidFill>
                  <a:srgbClr val="22D3EE"/>
                </a:solidFill>
                <a:latin typeface="微软雅黑" panose="020B0503020204020204" charset="-122"/>
                <a:ea typeface="微软雅黑" panose="020B0503020204020204" charset="-122"/>
              </a:rPr>
              <a:t>重大事件</a:t>
            </a:r>
            <a:r>
              <a:rPr lang="zh-CN" sz="1275">
                <a:solidFill>
                  <a:srgbClr val="E2E8F0"/>
                </a:solidFill>
                <a:latin typeface="微软雅黑" panose="020B0503020204020204" charset="-122"/>
                <a:ea typeface="微软雅黑" panose="020B0503020204020204" charset="-122"/>
              </a:rPr>
              <a:t>——如某个重要活动的开始和结束，帮助了解项目进展。</a:t>
            </a:r>
            <a:endParaRPr lang="zh-CN" sz="1275">
              <a:solidFill>
                <a:srgbClr val="E2E8F0"/>
              </a:solidFill>
              <a:latin typeface="微软雅黑" panose="020B0503020204020204" charset="-122"/>
              <a:ea typeface="微软雅黑" panose="020B0503020204020204" charset="-122"/>
            </a:endParaRPr>
          </a:p>
        </p:txBody>
      </p:sp>
      <p:sp>
        <p:nvSpPr>
          <p:cNvPr id="484" name="圆角矩形 483"/>
          <p:cNvSpPr/>
          <p:nvPr/>
        </p:nvSpPr>
        <p:spPr>
          <a:xfrm>
            <a:off x="647700" y="3629025"/>
            <a:ext cx="6610350" cy="914400"/>
          </a:xfrm>
          <a:prstGeom prst="roundRect">
            <a:avLst>
              <a:gd name="adj" fmla="val 12500"/>
            </a:avLst>
          </a:prstGeom>
          <a:solidFill>
            <a:srgbClr val="111B2E"/>
          </a:solidFill>
        </p:spPr>
        <p:txBody>
          <a:bodyPr/>
          <a:p/>
        </p:txBody>
      </p:sp>
      <p:sp>
        <p:nvSpPr>
          <p:cNvPr id="485" name="任意多边形 484"/>
          <p:cNvSpPr/>
          <p:nvPr/>
        </p:nvSpPr>
        <p:spPr>
          <a:xfrm>
            <a:off x="647700" y="3629025"/>
            <a:ext cx="6610350" cy="914400"/>
          </a:xfrm>
          <a:custGeom>
            <a:avLst/>
            <a:gdLst/>
            <a:ahLst/>
            <a:cxnLst/>
            <a:pathLst>
              <a:path w="694" h="96">
                <a:moveTo>
                  <a:pt x="11" y="0"/>
                </a:moveTo>
                <a:cubicBezTo>
                  <a:pt x="7" y="0"/>
                  <a:pt x="4" y="4"/>
                  <a:pt x="4" y="8"/>
                </a:cubicBezTo>
                <a:lnTo>
                  <a:pt x="4" y="88"/>
                </a:lnTo>
                <a:cubicBezTo>
                  <a:pt x="4" y="92"/>
                  <a:pt x="7" y="95"/>
                  <a:pt x="10" y="96"/>
                </a:cubicBezTo>
                <a:cubicBezTo>
                  <a:pt x="4" y="95"/>
                  <a:pt x="0" y="90"/>
                  <a:pt x="0" y="84"/>
                </a:cubicBezTo>
                <a:lnTo>
                  <a:pt x="0" y="12"/>
                </a:lnTo>
                <a:cubicBezTo>
                  <a:pt x="0" y="6"/>
                  <a:pt x="5" y="0"/>
                  <a:pt x="12" y="0"/>
                </a:cubicBezTo>
                <a:close/>
              </a:path>
            </a:pathLst>
          </a:custGeom>
          <a:solidFill>
            <a:srgbClr val="22D3EE"/>
          </a:solidFill>
        </p:spPr>
        <p:txBody>
          <a:bodyPr/>
          <a:p/>
        </p:txBody>
      </p:sp>
      <p:sp>
        <p:nvSpPr>
          <p:cNvPr id="486" name="文本框 485" descr="{&quot;isTemplate&quot;:true,&quot;type&quot;:&quot;text&quot;}"/>
          <p:cNvSpPr txBox="1"/>
          <p:nvPr/>
        </p:nvSpPr>
        <p:spPr>
          <a:xfrm>
            <a:off x="857250" y="3781425"/>
            <a:ext cx="6153150" cy="609600"/>
          </a:xfrm>
          <a:prstGeom prst="rect">
            <a:avLst/>
          </a:prstGeom>
        </p:spPr>
        <p:txBody>
          <a:bodyPr wrap="square" lIns="0" tIns="0" rIns="0" bIns="0">
            <a:normAutofit/>
          </a:bodyPr>
          <a:p>
            <a:pPr>
              <a:lnSpc>
                <a:spcPct val="170000"/>
              </a:lnSpc>
            </a:pPr>
            <a:r>
              <a:rPr lang="zh-CN" sz="1165" b="1">
                <a:solidFill>
                  <a:srgbClr val="67E8F9"/>
                </a:solidFill>
                <a:latin typeface="微软雅黑" panose="020B0503020204020204" charset="-122"/>
                <a:ea typeface="微软雅黑" panose="020B0503020204020204" charset="-122"/>
              </a:rPr>
              <a:t>典型里程碑：</a:t>
            </a:r>
            <a:r>
              <a:rPr lang="zh-CN" sz="1165">
                <a:solidFill>
                  <a:srgbClr val="E2E8F0"/>
                </a:solidFill>
                <a:latin typeface="微软雅黑" panose="020B0503020204020204" charset="-122"/>
                <a:ea typeface="微软雅黑" panose="020B0503020204020204" charset="-122"/>
              </a:rPr>
              <a:t>需求分析通过评审并正式批准（标志需求完成、设计开始）；设计规格说明书评审批准。</a:t>
            </a:r>
            <a:endParaRPr lang="zh-CN" sz="1165">
              <a:solidFill>
                <a:srgbClr val="E2E8F0"/>
              </a:solidFill>
              <a:latin typeface="微软雅黑" panose="020B0503020204020204" charset="-122"/>
              <a:ea typeface="微软雅黑" panose="020B0503020204020204" charset="-122"/>
            </a:endParaRPr>
          </a:p>
        </p:txBody>
      </p:sp>
      <p:pic>
        <p:nvPicPr>
          <p:cNvPr id="487" name="图片 48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34275" y="2019300"/>
            <a:ext cx="4000500" cy="3238500"/>
          </a:xfrm>
          <a:prstGeom prst="rect">
            <a:avLst/>
          </a:prstGeom>
        </p:spPr>
      </p:pic>
      <p:sp>
        <p:nvSpPr>
          <p:cNvPr id="488" name="文本框 487"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489" name="文本框 488"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31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490"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活动责任矩阵&lt;/Text&gt;&#13;&#10;        &lt;Text style={{ fontSize: 15, color: '#94A3B8', marginLeft: 18 }}&gt;谁执行 · 谁评审 · 谁批准&lt;/Text&gt;&#13;&#10;    &lt;/Box&gt;&#13;&#10;    &lt;Box style={{ flex: 1, flexDirection: 'row', gap: 28 }}&gt;&#13;&#10;        &lt;Box style={{ width: 420, justifyContent: 'center' }}&gt;&#13;&#10;            &lt;Text style={{ fontSize: 17, color: '#E2E8F0', lineHeight: 1.8 }}&gt;活动责任矩阵定义&lt;span style={{ fontWeight: 'bold', color: '#22D3EE' }}&gt;执行、评审和批准&lt;/span&gt;项目活动及其工作产品的角色和人员。&lt;/Text&gt;&#13;&#10;            &lt;Box style={{ background: '#111B2E', borderRadius: 12, padding: '16px 22px', marginTop: 18, borderLeft: '4px solid #22D3EE' }}&gt;&#13;&#10;                &lt;Text style={{ fontSize: 15.5, color: '#E2E8F0', lineHeight: 1.7 }}&gt;&lt;span style={{ fontWeight: 'bold', color: '#67E8F9' }}&gt;为什么需要：&lt;/span&gt;明确职责区域，帮成员了解自己的任务、相关的人，以及预计工作量——避免&quot;三个和尚没水喝&quot;。&lt;/Text&gt;&#13;&#10;            &lt;/Box&gt;&#13;&#10;        &lt;/Box&gt;&#13;&#10;        &lt;Box style={{ flex: 1, background: '#111B2E', borderRadius: 14, padding: 20, justifyContent: 'center' }}&gt;&#13;&#10;            &lt;Box style={{ flexDirection: 'row', background: 'rgba(59,130,246,0.15)', borderRadius: 8, padding: '10px 14px', marginBottom: 6 }}&gt;&#13;&#10;                &lt;Text style={{ flex: 2, fontSize: 14, fontWeight: 'bold', color: '#93C5FD' }}&gt;活动&lt;/Text&gt;&#13;&#10;                &lt;Text style={{ flex: 1, fontSize: 14, fontWeight: 'bold', color: '#93C5FD', textAlign: 'center' }}&gt;小王&lt;/Text&gt;&#13;&#10;                &lt;Text style={{ flex: 1, fontSize: 14, fontWeight: 'bold', color: '#93C5FD', textAlign: 'center' }}&gt;小李&lt;/Text&gt;&#13;&#10;                &lt;Text style={{ flex: 1, fontSize: 14, fontWeight: 'bold', color: '#93C5FD', textAlign: 'center' }}&gt;老赵&lt;/Text&gt;&#13;&#10;            &lt;/Box&gt;&#13;&#10;            &lt;Box style={{ flexDirection: 'row', borderBottom: '1px solid rgba(59,130,246,0.15)', padding: '8px 14px' }}&gt;&#13;&#10;                &lt;Text style={{ flex: 2, fontSize: 14, color: '#E2E8F0' }}&gt;需求分析&lt;/Text&gt;&#13;&#10;                &lt;Text style={{ flex: 1, fontSize: 14, color: '#C4B5FD', textAlign: 'center' }}&gt;批准&lt;/Text&gt;&#13;&#10;                &lt;Text style={{ flex: 1, fontSize: 14, color: '#67E8F9', textAlign: 'center' }}&gt;评审&lt;/Text&gt;&#13;&#10;                &lt;Text style={{ flex: 1, fontSize: 14, color: '#3B82F6', textAlign: 'center' }}&gt;执行&lt;/Text&gt;&#13;&#10;            &lt;/Box&gt;&#13;&#10;            &lt;Box style={{ flexDirection: 'row', borderBottom: '1px solid rgba(59,130,246,0.15)', padding: '8px 14px' }}&gt;&#13;&#10;                &lt;Text style={{ flex: 2, fontSize: 14, color: '#E2E8F0' }}&gt;概要设计&lt;/Text&gt;&#13;&#10;                &lt;Text style={{ flex: 1, fontSize: 14, color: '#C4B5FD', textAlign: 'center' }}&gt;批准&lt;/Text&gt;&#13;&#10;                &lt;Text style={{ flex: 1, fontSize: 14, color: '#67E8F9', textAlign: 'center' }}&gt;执行&lt;/Text&gt;&#13;&#10;                &lt;Text style={{ flex: 1, fontSize: 14, color: '#94A3B8', textAlign: 'center' }}&gt;—&lt;/Text&gt;&#13;&#10;            &lt;/Box&gt;&#13;&#10;            &lt;Box style={{ flexDirection: 'row', padding: '8px 14px' }}&gt;&#13;&#10;                &lt;Text style={{ flex: 2, fontSize: 14, color: '#E2E8F0' }}&gt;编码&lt;/Text&gt;&#13;&#10;                &lt;Text style={{ flex: 1, fontSize: 14, color: '#94A3B8', textAlign: 'center' }}&gt;—&lt;/Text&gt;&#13;&#10;                &lt;Text style={{ flex: 1, fontSize: 14, color: '#3B82F6', textAlign: 'center' }}&gt;执行&lt;/Text&gt;&#13;&#10;                &lt;Text style={{ flex: 1, fontSize: 14, color: '#67E8F9', textAlign: 'center' }}&gt;评审&lt;/Text&gt;&#13;&#10;            &lt;/Box&gt;&#13;&#10;            &lt;Text style={{ fontSize: 13, color: '#94A3B8', marginTop: 10, textAlign: 'center' }}&gt;RACI 精神：每个活动都有明确的责任人（Responsible）与把关人（Accountable）&lt;/Text&gt;&#13;&#10;        &lt;/Box&gt;&#13;&#10;    &lt;/Box&gt;&#13;&#10;    &lt;Box style={{ height: 40, flexDirection: 'row', justifyContent: 'space-between', alignItems: 'center', marginTop: 16 }}&gt;&#13;&#10;        &lt;Text style={{ fontSize: 14, color: '#94A3B8' }}&gt;03 项目计划与工作分解&lt;/Text&gt;&#13;&#10;        &lt;Text style={{ fontSize: 14, color: '#94A3B8' }}&gt;32 / 47&lt;/Text&gt;&#13;&#10;    &lt;/Box&gt;&#13;&#10;&lt;/Slide&gt;&#13;&#10;"/>
        <p:cNvGrpSpPr/>
        <p:nvPr/>
      </p:nvGrpSpPr>
      <p:grpSpPr>
        <a:xfrm>
          <a:off x="0" y="0"/>
          <a:ext cx="0" cy="0"/>
          <a:chOff x="0" y="0"/>
          <a:chExt cx="0" cy="0"/>
        </a:xfrm>
      </p:grpSpPr>
      <p:sp>
        <p:nvSpPr>
          <p:cNvPr id="491" name="矩形 490"/>
          <p:cNvSpPr/>
          <p:nvPr/>
        </p:nvSpPr>
        <p:spPr>
          <a:xfrm>
            <a:off x="0" y="0"/>
            <a:ext cx="12192000" cy="6858000"/>
          </a:xfrm>
          <a:prstGeom prst="rect">
            <a:avLst/>
          </a:prstGeom>
          <a:solidFill>
            <a:srgbClr val="0B1220"/>
          </a:solidFill>
        </p:spPr>
        <p:txBody>
          <a:bodyPr/>
          <a:p/>
        </p:txBody>
      </p:sp>
      <p:sp>
        <p:nvSpPr>
          <p:cNvPr id="492" name="圆角矩形 491"/>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493" name="文本框 492" descr="{&quot;isTemplate&quot;:true,&quot;type&quot;:&quot;text&quot;}"/>
          <p:cNvSpPr txBox="1"/>
          <p:nvPr/>
        </p:nvSpPr>
        <p:spPr>
          <a:xfrm>
            <a:off x="857250" y="476250"/>
            <a:ext cx="19431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活动责任矩阵</a:t>
            </a:r>
            <a:endParaRPr lang="zh-CN" sz="2550" b="1">
              <a:solidFill>
                <a:srgbClr val="E2E8F0"/>
              </a:solidFill>
              <a:latin typeface="微软雅黑" panose="020B0503020204020204" charset="-122"/>
              <a:ea typeface="微软雅黑" panose="020B0503020204020204" charset="-122"/>
            </a:endParaRPr>
          </a:p>
        </p:txBody>
      </p:sp>
      <p:sp>
        <p:nvSpPr>
          <p:cNvPr id="494" name="文本框 493" descr="{&quot;isTemplate&quot;:true,&quot;type&quot;:&quot;text&quot;}"/>
          <p:cNvSpPr txBox="1"/>
          <p:nvPr/>
        </p:nvSpPr>
        <p:spPr>
          <a:xfrm>
            <a:off x="2971800" y="581025"/>
            <a:ext cx="1524000" cy="171450"/>
          </a:xfrm>
          <a:prstGeom prst="rect">
            <a:avLst/>
          </a:prstGeom>
        </p:spPr>
        <p:txBody>
          <a:bodyPr wrap="none" lIns="0" tIns="0" rIns="0" bIns="0"/>
          <a:p>
            <a:pPr>
              <a:lnSpc>
                <a:spcPct val="100000"/>
              </a:lnSpc>
            </a:pPr>
            <a:r>
              <a:rPr lang="zh-CN" sz="1125">
                <a:solidFill>
                  <a:srgbClr val="94A3B8"/>
                </a:solidFill>
                <a:latin typeface="微软雅黑" panose="020B0503020204020204" charset="-122"/>
                <a:ea typeface="微软雅黑" panose="020B0503020204020204" charset="-122"/>
              </a:rPr>
              <a:t>谁执行</a:t>
            </a:r>
            <a:r>
              <a:rPr lang="en-US" sz="1125">
                <a:solidFill>
                  <a:srgbClr val="94A3B8"/>
                </a:solidFill>
                <a:latin typeface="微软雅黑" panose="020B0503020204020204" charset="-122"/>
                <a:ea typeface="微软雅黑" panose="020B0503020204020204" charset="-122"/>
              </a:rPr>
              <a:t> · </a:t>
            </a:r>
            <a:r>
              <a:rPr lang="zh-CN" sz="1125">
                <a:solidFill>
                  <a:srgbClr val="94A3B8"/>
                </a:solidFill>
                <a:latin typeface="微软雅黑" panose="020B0503020204020204" charset="-122"/>
                <a:ea typeface="微软雅黑" panose="020B0503020204020204" charset="-122"/>
              </a:rPr>
              <a:t>谁评审</a:t>
            </a:r>
            <a:r>
              <a:rPr lang="en-US" sz="1125">
                <a:solidFill>
                  <a:srgbClr val="94A3B8"/>
                </a:solidFill>
                <a:latin typeface="微软雅黑" panose="020B0503020204020204" charset="-122"/>
                <a:ea typeface="微软雅黑" panose="020B0503020204020204" charset="-122"/>
              </a:rPr>
              <a:t> · </a:t>
            </a:r>
            <a:r>
              <a:rPr lang="zh-CN" sz="1125">
                <a:solidFill>
                  <a:srgbClr val="94A3B8"/>
                </a:solidFill>
                <a:latin typeface="微软雅黑" panose="020B0503020204020204" charset="-122"/>
                <a:ea typeface="微软雅黑" panose="020B0503020204020204" charset="-122"/>
              </a:rPr>
              <a:t>谁批准</a:t>
            </a:r>
            <a:endParaRPr lang="zh-CN" sz="1125">
              <a:solidFill>
                <a:srgbClr val="94A3B8"/>
              </a:solidFill>
              <a:latin typeface="微软雅黑" panose="020B0503020204020204" charset="-122"/>
              <a:ea typeface="微软雅黑" panose="020B0503020204020204" charset="-122"/>
            </a:endParaRPr>
          </a:p>
        </p:txBody>
      </p:sp>
      <p:sp>
        <p:nvSpPr>
          <p:cNvPr id="495" name="文本框 494" descr="{&quot;isTemplate&quot;:true,&quot;type&quot;:&quot;text&quot;}"/>
          <p:cNvSpPr txBox="1"/>
          <p:nvPr/>
        </p:nvSpPr>
        <p:spPr>
          <a:xfrm>
            <a:off x="609600" y="2600325"/>
            <a:ext cx="4000500" cy="704850"/>
          </a:xfrm>
          <a:prstGeom prst="rect">
            <a:avLst/>
          </a:prstGeom>
        </p:spPr>
        <p:txBody>
          <a:bodyPr wrap="square" lIns="0" tIns="0" rIns="0" bIns="0">
            <a:normAutofit/>
          </a:bodyPr>
          <a:p>
            <a:pPr>
              <a:lnSpc>
                <a:spcPct val="180000"/>
              </a:lnSpc>
            </a:pPr>
            <a:r>
              <a:rPr lang="zh-CN" sz="1275">
                <a:solidFill>
                  <a:srgbClr val="E2E8F0"/>
                </a:solidFill>
                <a:latin typeface="微软雅黑" panose="020B0503020204020204" charset="-122"/>
                <a:ea typeface="微软雅黑" panose="020B0503020204020204" charset="-122"/>
              </a:rPr>
              <a:t>活动责任矩阵定义</a:t>
            </a:r>
            <a:r>
              <a:rPr lang="zh-CN" sz="1275" b="1">
                <a:solidFill>
                  <a:srgbClr val="22D3EE"/>
                </a:solidFill>
                <a:latin typeface="微软雅黑" panose="020B0503020204020204" charset="-122"/>
                <a:ea typeface="微软雅黑" panose="020B0503020204020204" charset="-122"/>
              </a:rPr>
              <a:t>执行、评审和批准</a:t>
            </a:r>
            <a:r>
              <a:rPr lang="zh-CN" sz="1275">
                <a:solidFill>
                  <a:srgbClr val="E2E8F0"/>
                </a:solidFill>
                <a:latin typeface="微软雅黑" panose="020B0503020204020204" charset="-122"/>
                <a:ea typeface="微软雅黑" panose="020B0503020204020204" charset="-122"/>
              </a:rPr>
              <a:t>项目活动及其工作产品的角色和人员。</a:t>
            </a:r>
            <a:endParaRPr lang="zh-CN" sz="1275">
              <a:solidFill>
                <a:srgbClr val="E2E8F0"/>
              </a:solidFill>
              <a:latin typeface="微软雅黑" panose="020B0503020204020204" charset="-122"/>
              <a:ea typeface="微软雅黑" panose="020B0503020204020204" charset="-122"/>
            </a:endParaRPr>
          </a:p>
        </p:txBody>
      </p:sp>
      <p:sp>
        <p:nvSpPr>
          <p:cNvPr id="496" name="圆角矩形 495"/>
          <p:cNvSpPr/>
          <p:nvPr/>
        </p:nvSpPr>
        <p:spPr>
          <a:xfrm>
            <a:off x="647700" y="3476625"/>
            <a:ext cx="4000500" cy="1209675"/>
          </a:xfrm>
          <a:prstGeom prst="roundRect">
            <a:avLst>
              <a:gd name="adj" fmla="val 9449"/>
            </a:avLst>
          </a:prstGeom>
          <a:solidFill>
            <a:srgbClr val="111B2E"/>
          </a:solidFill>
        </p:spPr>
        <p:txBody>
          <a:bodyPr/>
          <a:p/>
        </p:txBody>
      </p:sp>
      <p:sp>
        <p:nvSpPr>
          <p:cNvPr id="497" name="任意多边形 496"/>
          <p:cNvSpPr/>
          <p:nvPr/>
        </p:nvSpPr>
        <p:spPr>
          <a:xfrm>
            <a:off x="647700" y="3476625"/>
            <a:ext cx="4000500" cy="1209675"/>
          </a:xfrm>
          <a:custGeom>
            <a:avLst/>
            <a:gdLst/>
            <a:ahLst/>
            <a:cxnLst/>
            <a:pathLst>
              <a:path w="420" h="127">
                <a:moveTo>
                  <a:pt x="11" y="0"/>
                </a:moveTo>
                <a:cubicBezTo>
                  <a:pt x="7" y="0"/>
                  <a:pt x="4" y="4"/>
                  <a:pt x="4" y="8"/>
                </a:cubicBezTo>
                <a:lnTo>
                  <a:pt x="4" y="119"/>
                </a:lnTo>
                <a:cubicBezTo>
                  <a:pt x="4" y="123"/>
                  <a:pt x="7" y="126"/>
                  <a:pt x="10" y="127"/>
                </a:cubicBezTo>
                <a:cubicBezTo>
                  <a:pt x="4" y="126"/>
                  <a:pt x="0" y="121"/>
                  <a:pt x="0" y="115"/>
                </a:cubicBezTo>
                <a:lnTo>
                  <a:pt x="0" y="12"/>
                </a:lnTo>
                <a:cubicBezTo>
                  <a:pt x="0" y="6"/>
                  <a:pt x="5" y="0"/>
                  <a:pt x="12" y="0"/>
                </a:cubicBezTo>
                <a:close/>
              </a:path>
            </a:pathLst>
          </a:custGeom>
          <a:solidFill>
            <a:srgbClr val="22D3EE"/>
          </a:solidFill>
        </p:spPr>
        <p:txBody>
          <a:bodyPr/>
          <a:p/>
        </p:txBody>
      </p:sp>
      <p:sp>
        <p:nvSpPr>
          <p:cNvPr id="498" name="文本框 497" descr="{&quot;isTemplate&quot;:true,&quot;type&quot;:&quot;text&quot;}"/>
          <p:cNvSpPr txBox="1"/>
          <p:nvPr/>
        </p:nvSpPr>
        <p:spPr>
          <a:xfrm>
            <a:off x="857250" y="3629025"/>
            <a:ext cx="3543300" cy="904875"/>
          </a:xfrm>
          <a:prstGeom prst="rect">
            <a:avLst/>
          </a:prstGeom>
        </p:spPr>
        <p:txBody>
          <a:bodyPr wrap="square" lIns="0" tIns="0" rIns="0" bIns="0">
            <a:normAutofit/>
          </a:bodyPr>
          <a:p>
            <a:pPr>
              <a:lnSpc>
                <a:spcPct val="170000"/>
              </a:lnSpc>
            </a:pPr>
            <a:r>
              <a:rPr lang="zh-CN" sz="1165" b="1">
                <a:solidFill>
                  <a:srgbClr val="67E8F9"/>
                </a:solidFill>
                <a:latin typeface="微软雅黑" panose="020B0503020204020204" charset="-122"/>
                <a:ea typeface="微软雅黑" panose="020B0503020204020204" charset="-122"/>
              </a:rPr>
              <a:t>为什么需要：</a:t>
            </a:r>
            <a:r>
              <a:rPr lang="zh-CN" sz="1165">
                <a:solidFill>
                  <a:srgbClr val="E2E8F0"/>
                </a:solidFill>
                <a:latin typeface="微软雅黑" panose="020B0503020204020204" charset="-122"/>
                <a:ea typeface="微软雅黑" panose="020B0503020204020204" charset="-122"/>
              </a:rPr>
              <a:t>明确职责区域，帮成员了解自己的任务、相关的人，以及预计工作量——避免</a:t>
            </a:r>
            <a:r>
              <a:rPr lang="en-US" sz="1165">
                <a:solidFill>
                  <a:srgbClr val="E2E8F0"/>
                </a:solidFill>
                <a:latin typeface="微软雅黑" panose="020B0503020204020204" charset="-122"/>
                <a:ea typeface="微软雅黑" panose="020B0503020204020204" charset="-122"/>
              </a:rPr>
              <a:t>"</a:t>
            </a:r>
            <a:r>
              <a:rPr lang="zh-CN" sz="1165">
                <a:solidFill>
                  <a:srgbClr val="E2E8F0"/>
                </a:solidFill>
                <a:latin typeface="微软雅黑" panose="020B0503020204020204" charset="-122"/>
                <a:ea typeface="微软雅黑" panose="020B0503020204020204" charset="-122"/>
              </a:rPr>
              <a:t>三个和尚没水喝</a:t>
            </a:r>
            <a:r>
              <a:rPr lang="en-US" sz="1165">
                <a:solidFill>
                  <a:srgbClr val="E2E8F0"/>
                </a:solidFill>
                <a:latin typeface="微软雅黑" panose="020B0503020204020204" charset="-122"/>
                <a:ea typeface="微软雅黑" panose="020B0503020204020204" charset="-122"/>
              </a:rPr>
              <a:t>"</a:t>
            </a:r>
            <a:r>
              <a:rPr lang="zh-CN" sz="1165">
                <a:solidFill>
                  <a:srgbClr val="E2E8F0"/>
                </a:solidFill>
                <a:latin typeface="微软雅黑" panose="020B0503020204020204" charset="-122"/>
                <a:ea typeface="微软雅黑" panose="020B0503020204020204" charset="-122"/>
              </a:rPr>
              <a:t>。</a:t>
            </a:r>
            <a:endParaRPr lang="zh-CN" sz="1165">
              <a:solidFill>
                <a:srgbClr val="E2E8F0"/>
              </a:solidFill>
              <a:latin typeface="微软雅黑" panose="020B0503020204020204" charset="-122"/>
              <a:ea typeface="微软雅黑" panose="020B0503020204020204" charset="-122"/>
            </a:endParaRPr>
          </a:p>
        </p:txBody>
      </p:sp>
      <p:sp>
        <p:nvSpPr>
          <p:cNvPr id="499" name="圆角矩形 498"/>
          <p:cNvSpPr/>
          <p:nvPr/>
        </p:nvSpPr>
        <p:spPr>
          <a:xfrm>
            <a:off x="4876800" y="1143000"/>
            <a:ext cx="6705600" cy="4991100"/>
          </a:xfrm>
          <a:prstGeom prst="roundRect">
            <a:avLst>
              <a:gd name="adj" fmla="val 2672"/>
            </a:avLst>
          </a:prstGeom>
          <a:solidFill>
            <a:srgbClr val="111B2E"/>
          </a:solidFill>
        </p:spPr>
        <p:txBody>
          <a:bodyPr/>
          <a:p/>
        </p:txBody>
      </p:sp>
      <p:sp>
        <p:nvSpPr>
          <p:cNvPr id="500" name="圆角矩形 499"/>
          <p:cNvSpPr/>
          <p:nvPr/>
        </p:nvSpPr>
        <p:spPr>
          <a:xfrm>
            <a:off x="5067300" y="2828925"/>
            <a:ext cx="6324600" cy="352425"/>
          </a:xfrm>
          <a:prstGeom prst="roundRect">
            <a:avLst>
              <a:gd name="adj" fmla="val 21622"/>
            </a:avLst>
          </a:prstGeom>
          <a:solidFill>
            <a:srgbClr val="3B82F6">
              <a:alpha val="15000"/>
            </a:srgbClr>
          </a:solidFill>
        </p:spPr>
        <p:txBody>
          <a:bodyPr/>
          <a:p/>
        </p:txBody>
      </p:sp>
      <p:sp>
        <p:nvSpPr>
          <p:cNvPr id="501" name="文本框 500" descr="{&quot;isTemplate&quot;:true,&quot;type&quot;:&quot;text&quot;}"/>
          <p:cNvSpPr txBox="1"/>
          <p:nvPr/>
        </p:nvSpPr>
        <p:spPr>
          <a:xfrm>
            <a:off x="5200650" y="2924175"/>
            <a:ext cx="2419350" cy="161925"/>
          </a:xfrm>
          <a:prstGeom prst="rect">
            <a:avLst/>
          </a:prstGeom>
        </p:spPr>
        <p:txBody>
          <a:bodyPr wrap="none" lIns="0" tIns="0" rIns="0" bIns="0"/>
          <a:p>
            <a:pPr>
              <a:lnSpc>
                <a:spcPct val="100000"/>
              </a:lnSpc>
            </a:pPr>
            <a:r>
              <a:rPr lang="zh-CN" sz="1050" b="1">
                <a:solidFill>
                  <a:srgbClr val="93C5FD"/>
                </a:solidFill>
                <a:latin typeface="微软雅黑" panose="020B0503020204020204" charset="-122"/>
                <a:ea typeface="微软雅黑" panose="020B0503020204020204" charset="-122"/>
              </a:rPr>
              <a:t>活动</a:t>
            </a:r>
            <a:endParaRPr lang="zh-CN" sz="1050" b="1">
              <a:solidFill>
                <a:srgbClr val="93C5FD"/>
              </a:solidFill>
              <a:latin typeface="微软雅黑" panose="020B0503020204020204" charset="-122"/>
              <a:ea typeface="微软雅黑" panose="020B0503020204020204" charset="-122"/>
            </a:endParaRPr>
          </a:p>
        </p:txBody>
      </p:sp>
      <p:sp>
        <p:nvSpPr>
          <p:cNvPr id="502" name="文本框 501" descr="{&quot;isTemplate&quot;:true,&quot;type&quot;:&quot;text&quot;}"/>
          <p:cNvSpPr txBox="1"/>
          <p:nvPr/>
        </p:nvSpPr>
        <p:spPr>
          <a:xfrm>
            <a:off x="7620000" y="2924175"/>
            <a:ext cx="1219200" cy="161925"/>
          </a:xfrm>
          <a:prstGeom prst="rect">
            <a:avLst/>
          </a:prstGeom>
        </p:spPr>
        <p:txBody>
          <a:bodyPr wrap="none" lIns="0" tIns="0" rIns="0" bIns="0"/>
          <a:p>
            <a:pPr algn="ctr">
              <a:lnSpc>
                <a:spcPct val="100000"/>
              </a:lnSpc>
            </a:pPr>
            <a:r>
              <a:rPr lang="zh-CN" sz="1050" b="1">
                <a:solidFill>
                  <a:srgbClr val="93C5FD"/>
                </a:solidFill>
                <a:latin typeface="微软雅黑" panose="020B0503020204020204" charset="-122"/>
                <a:ea typeface="微软雅黑" panose="020B0503020204020204" charset="-122"/>
              </a:rPr>
              <a:t>小王</a:t>
            </a:r>
            <a:endParaRPr lang="zh-CN" sz="1050" b="1">
              <a:solidFill>
                <a:srgbClr val="93C5FD"/>
              </a:solidFill>
              <a:latin typeface="微软雅黑" panose="020B0503020204020204" charset="-122"/>
              <a:ea typeface="微软雅黑" panose="020B0503020204020204" charset="-122"/>
            </a:endParaRPr>
          </a:p>
        </p:txBody>
      </p:sp>
      <p:sp>
        <p:nvSpPr>
          <p:cNvPr id="503" name="文本框 502" descr="{&quot;isTemplate&quot;:true,&quot;type&quot;:&quot;text&quot;}"/>
          <p:cNvSpPr txBox="1"/>
          <p:nvPr/>
        </p:nvSpPr>
        <p:spPr>
          <a:xfrm>
            <a:off x="8839200" y="2924175"/>
            <a:ext cx="1209675" cy="161925"/>
          </a:xfrm>
          <a:prstGeom prst="rect">
            <a:avLst/>
          </a:prstGeom>
        </p:spPr>
        <p:txBody>
          <a:bodyPr wrap="none" lIns="0" tIns="0" rIns="0" bIns="0"/>
          <a:p>
            <a:pPr algn="ctr">
              <a:lnSpc>
                <a:spcPct val="100000"/>
              </a:lnSpc>
            </a:pPr>
            <a:r>
              <a:rPr lang="zh-CN" sz="1050" b="1">
                <a:solidFill>
                  <a:srgbClr val="93C5FD"/>
                </a:solidFill>
                <a:latin typeface="微软雅黑" panose="020B0503020204020204" charset="-122"/>
                <a:ea typeface="微软雅黑" panose="020B0503020204020204" charset="-122"/>
              </a:rPr>
              <a:t>小李</a:t>
            </a:r>
            <a:endParaRPr lang="zh-CN" sz="1050" b="1">
              <a:solidFill>
                <a:srgbClr val="93C5FD"/>
              </a:solidFill>
              <a:latin typeface="微软雅黑" panose="020B0503020204020204" charset="-122"/>
              <a:ea typeface="微软雅黑" panose="020B0503020204020204" charset="-122"/>
            </a:endParaRPr>
          </a:p>
        </p:txBody>
      </p:sp>
      <p:sp>
        <p:nvSpPr>
          <p:cNvPr id="504" name="文本框 503" descr="{&quot;isTemplate&quot;:true,&quot;type&quot;:&quot;text&quot;}"/>
          <p:cNvSpPr txBox="1"/>
          <p:nvPr/>
        </p:nvSpPr>
        <p:spPr>
          <a:xfrm>
            <a:off x="10048875" y="2924175"/>
            <a:ext cx="1209675" cy="161925"/>
          </a:xfrm>
          <a:prstGeom prst="rect">
            <a:avLst/>
          </a:prstGeom>
        </p:spPr>
        <p:txBody>
          <a:bodyPr wrap="none" lIns="0" tIns="0" rIns="0" bIns="0"/>
          <a:p>
            <a:pPr algn="ctr">
              <a:lnSpc>
                <a:spcPct val="100000"/>
              </a:lnSpc>
            </a:pPr>
            <a:r>
              <a:rPr lang="zh-CN" sz="1050" b="1">
                <a:solidFill>
                  <a:srgbClr val="93C5FD"/>
                </a:solidFill>
                <a:latin typeface="微软雅黑" panose="020B0503020204020204" charset="-122"/>
                <a:ea typeface="微软雅黑" panose="020B0503020204020204" charset="-122"/>
              </a:rPr>
              <a:t>老赵</a:t>
            </a:r>
            <a:endParaRPr lang="zh-CN" sz="1050" b="1">
              <a:solidFill>
                <a:srgbClr val="93C5FD"/>
              </a:solidFill>
              <a:latin typeface="微软雅黑" panose="020B0503020204020204" charset="-122"/>
              <a:ea typeface="微软雅黑" panose="020B0503020204020204" charset="-122"/>
            </a:endParaRPr>
          </a:p>
        </p:txBody>
      </p:sp>
      <p:sp>
        <p:nvSpPr>
          <p:cNvPr id="505" name="任意多边形 504"/>
          <p:cNvSpPr/>
          <p:nvPr/>
        </p:nvSpPr>
        <p:spPr>
          <a:xfrm>
            <a:off x="5067300" y="3238500"/>
            <a:ext cx="6324600" cy="333375"/>
          </a:xfrm>
          <a:custGeom>
            <a:avLst/>
            <a:gdLst/>
            <a:ahLst/>
            <a:cxnLst/>
            <a:pathLst>
              <a:path w="664" h="35">
                <a:moveTo>
                  <a:pt x="0" y="34"/>
                </a:moveTo>
                <a:lnTo>
                  <a:pt x="664" y="34"/>
                </a:lnTo>
                <a:lnTo>
                  <a:pt x="664" y="35"/>
                </a:lnTo>
                <a:lnTo>
                  <a:pt x="0" y="35"/>
                </a:lnTo>
                <a:close/>
              </a:path>
            </a:pathLst>
          </a:custGeom>
          <a:solidFill>
            <a:srgbClr val="3B82F6">
              <a:alpha val="15000"/>
            </a:srgbClr>
          </a:solidFill>
        </p:spPr>
        <p:txBody>
          <a:bodyPr/>
          <a:p/>
        </p:txBody>
      </p:sp>
      <p:sp>
        <p:nvSpPr>
          <p:cNvPr id="506" name="文本框 505" descr="{&quot;isTemplate&quot;:true,&quot;type&quot;:&quot;text&quot;}"/>
          <p:cNvSpPr txBox="1"/>
          <p:nvPr/>
        </p:nvSpPr>
        <p:spPr>
          <a:xfrm>
            <a:off x="5200650" y="3314700"/>
            <a:ext cx="2419350" cy="161925"/>
          </a:xfrm>
          <a:prstGeom prst="rect">
            <a:avLst/>
          </a:prstGeom>
        </p:spPr>
        <p:txBody>
          <a:bodyPr wrap="none" lIns="0" tIns="0" rIns="0" bIns="0"/>
          <a:p>
            <a:pPr>
              <a:lnSpc>
                <a:spcPct val="100000"/>
              </a:lnSpc>
            </a:pPr>
            <a:r>
              <a:rPr lang="zh-CN" sz="1050">
                <a:solidFill>
                  <a:srgbClr val="E2E8F0"/>
                </a:solidFill>
                <a:latin typeface="微软雅黑" panose="020B0503020204020204" charset="-122"/>
                <a:ea typeface="微软雅黑" panose="020B0503020204020204" charset="-122"/>
              </a:rPr>
              <a:t>需求分析</a:t>
            </a:r>
            <a:endParaRPr lang="zh-CN" sz="1050">
              <a:solidFill>
                <a:srgbClr val="E2E8F0"/>
              </a:solidFill>
              <a:latin typeface="微软雅黑" panose="020B0503020204020204" charset="-122"/>
              <a:ea typeface="微软雅黑" panose="020B0503020204020204" charset="-122"/>
            </a:endParaRPr>
          </a:p>
        </p:txBody>
      </p:sp>
      <p:sp>
        <p:nvSpPr>
          <p:cNvPr id="507" name="文本框 506" descr="{&quot;isTemplate&quot;:true,&quot;type&quot;:&quot;text&quot;}"/>
          <p:cNvSpPr txBox="1"/>
          <p:nvPr/>
        </p:nvSpPr>
        <p:spPr>
          <a:xfrm>
            <a:off x="7620000" y="3314700"/>
            <a:ext cx="1219200" cy="161925"/>
          </a:xfrm>
          <a:prstGeom prst="rect">
            <a:avLst/>
          </a:prstGeom>
        </p:spPr>
        <p:txBody>
          <a:bodyPr wrap="none" lIns="0" tIns="0" rIns="0" bIns="0"/>
          <a:p>
            <a:pPr algn="ctr">
              <a:lnSpc>
                <a:spcPct val="100000"/>
              </a:lnSpc>
            </a:pPr>
            <a:r>
              <a:rPr lang="zh-CN" sz="1050">
                <a:solidFill>
                  <a:srgbClr val="C4B5FD"/>
                </a:solidFill>
                <a:latin typeface="微软雅黑" panose="020B0503020204020204" charset="-122"/>
                <a:ea typeface="微软雅黑" panose="020B0503020204020204" charset="-122"/>
              </a:rPr>
              <a:t>批准</a:t>
            </a:r>
            <a:endParaRPr lang="zh-CN" sz="1050">
              <a:solidFill>
                <a:srgbClr val="C4B5FD"/>
              </a:solidFill>
              <a:latin typeface="微软雅黑" panose="020B0503020204020204" charset="-122"/>
              <a:ea typeface="微软雅黑" panose="020B0503020204020204" charset="-122"/>
            </a:endParaRPr>
          </a:p>
        </p:txBody>
      </p:sp>
      <p:sp>
        <p:nvSpPr>
          <p:cNvPr id="508" name="文本框 507" descr="{&quot;isTemplate&quot;:true,&quot;type&quot;:&quot;text&quot;}"/>
          <p:cNvSpPr txBox="1"/>
          <p:nvPr/>
        </p:nvSpPr>
        <p:spPr>
          <a:xfrm>
            <a:off x="8839200" y="3314700"/>
            <a:ext cx="1209675" cy="161925"/>
          </a:xfrm>
          <a:prstGeom prst="rect">
            <a:avLst/>
          </a:prstGeom>
        </p:spPr>
        <p:txBody>
          <a:bodyPr wrap="none" lIns="0" tIns="0" rIns="0" bIns="0"/>
          <a:p>
            <a:pPr algn="ctr">
              <a:lnSpc>
                <a:spcPct val="100000"/>
              </a:lnSpc>
            </a:pPr>
            <a:r>
              <a:rPr lang="zh-CN" sz="1050">
                <a:solidFill>
                  <a:srgbClr val="67E8F9"/>
                </a:solidFill>
                <a:latin typeface="微软雅黑" panose="020B0503020204020204" charset="-122"/>
                <a:ea typeface="微软雅黑" panose="020B0503020204020204" charset="-122"/>
              </a:rPr>
              <a:t>评审</a:t>
            </a:r>
            <a:endParaRPr lang="zh-CN" sz="1050">
              <a:solidFill>
                <a:srgbClr val="67E8F9"/>
              </a:solidFill>
              <a:latin typeface="微软雅黑" panose="020B0503020204020204" charset="-122"/>
              <a:ea typeface="微软雅黑" panose="020B0503020204020204" charset="-122"/>
            </a:endParaRPr>
          </a:p>
        </p:txBody>
      </p:sp>
      <p:sp>
        <p:nvSpPr>
          <p:cNvPr id="509" name="文本框 508" descr="{&quot;isTemplate&quot;:true,&quot;type&quot;:&quot;text&quot;}"/>
          <p:cNvSpPr txBox="1"/>
          <p:nvPr/>
        </p:nvSpPr>
        <p:spPr>
          <a:xfrm>
            <a:off x="10048875" y="3314700"/>
            <a:ext cx="1209675" cy="161925"/>
          </a:xfrm>
          <a:prstGeom prst="rect">
            <a:avLst/>
          </a:prstGeom>
        </p:spPr>
        <p:txBody>
          <a:bodyPr wrap="none" lIns="0" tIns="0" rIns="0" bIns="0"/>
          <a:p>
            <a:pPr algn="ctr">
              <a:lnSpc>
                <a:spcPct val="100000"/>
              </a:lnSpc>
            </a:pPr>
            <a:r>
              <a:rPr lang="zh-CN" sz="1050">
                <a:solidFill>
                  <a:srgbClr val="3B82F6"/>
                </a:solidFill>
                <a:latin typeface="微软雅黑" panose="020B0503020204020204" charset="-122"/>
                <a:ea typeface="微软雅黑" panose="020B0503020204020204" charset="-122"/>
              </a:rPr>
              <a:t>执行</a:t>
            </a:r>
            <a:endParaRPr lang="zh-CN" sz="1050">
              <a:solidFill>
                <a:srgbClr val="3B82F6"/>
              </a:solidFill>
              <a:latin typeface="微软雅黑" panose="020B0503020204020204" charset="-122"/>
              <a:ea typeface="微软雅黑" panose="020B0503020204020204" charset="-122"/>
            </a:endParaRPr>
          </a:p>
        </p:txBody>
      </p:sp>
      <p:sp>
        <p:nvSpPr>
          <p:cNvPr id="510" name="任意多边形 509"/>
          <p:cNvSpPr/>
          <p:nvPr/>
        </p:nvSpPr>
        <p:spPr>
          <a:xfrm>
            <a:off x="5067300" y="3562350"/>
            <a:ext cx="6324600" cy="333375"/>
          </a:xfrm>
          <a:custGeom>
            <a:avLst/>
            <a:gdLst/>
            <a:ahLst/>
            <a:cxnLst/>
            <a:pathLst>
              <a:path w="664" h="35">
                <a:moveTo>
                  <a:pt x="0" y="34"/>
                </a:moveTo>
                <a:lnTo>
                  <a:pt x="664" y="34"/>
                </a:lnTo>
                <a:lnTo>
                  <a:pt x="664" y="35"/>
                </a:lnTo>
                <a:lnTo>
                  <a:pt x="0" y="35"/>
                </a:lnTo>
                <a:close/>
              </a:path>
            </a:pathLst>
          </a:custGeom>
          <a:solidFill>
            <a:srgbClr val="3B82F6">
              <a:alpha val="15000"/>
            </a:srgbClr>
          </a:solidFill>
        </p:spPr>
        <p:txBody>
          <a:bodyPr/>
          <a:p/>
        </p:txBody>
      </p:sp>
      <p:sp>
        <p:nvSpPr>
          <p:cNvPr id="511" name="文本框 510" descr="{&quot;isTemplate&quot;:true,&quot;type&quot;:&quot;text&quot;}"/>
          <p:cNvSpPr txBox="1"/>
          <p:nvPr/>
        </p:nvSpPr>
        <p:spPr>
          <a:xfrm>
            <a:off x="5200650" y="3638550"/>
            <a:ext cx="2419350" cy="161925"/>
          </a:xfrm>
          <a:prstGeom prst="rect">
            <a:avLst/>
          </a:prstGeom>
        </p:spPr>
        <p:txBody>
          <a:bodyPr wrap="none" lIns="0" tIns="0" rIns="0" bIns="0"/>
          <a:p>
            <a:pPr>
              <a:lnSpc>
                <a:spcPct val="100000"/>
              </a:lnSpc>
            </a:pPr>
            <a:r>
              <a:rPr lang="zh-CN" sz="1050">
                <a:solidFill>
                  <a:srgbClr val="E2E8F0"/>
                </a:solidFill>
                <a:latin typeface="微软雅黑" panose="020B0503020204020204" charset="-122"/>
                <a:ea typeface="微软雅黑" panose="020B0503020204020204" charset="-122"/>
              </a:rPr>
              <a:t>概要设计</a:t>
            </a:r>
            <a:endParaRPr lang="zh-CN" sz="1050">
              <a:solidFill>
                <a:srgbClr val="E2E8F0"/>
              </a:solidFill>
              <a:latin typeface="微软雅黑" panose="020B0503020204020204" charset="-122"/>
              <a:ea typeface="微软雅黑" panose="020B0503020204020204" charset="-122"/>
            </a:endParaRPr>
          </a:p>
        </p:txBody>
      </p:sp>
      <p:sp>
        <p:nvSpPr>
          <p:cNvPr id="512" name="文本框 511" descr="{&quot;isTemplate&quot;:true,&quot;type&quot;:&quot;text&quot;}"/>
          <p:cNvSpPr txBox="1"/>
          <p:nvPr/>
        </p:nvSpPr>
        <p:spPr>
          <a:xfrm>
            <a:off x="7620000" y="3638550"/>
            <a:ext cx="1219200" cy="161925"/>
          </a:xfrm>
          <a:prstGeom prst="rect">
            <a:avLst/>
          </a:prstGeom>
        </p:spPr>
        <p:txBody>
          <a:bodyPr wrap="none" lIns="0" tIns="0" rIns="0" bIns="0"/>
          <a:p>
            <a:pPr algn="ctr">
              <a:lnSpc>
                <a:spcPct val="100000"/>
              </a:lnSpc>
            </a:pPr>
            <a:r>
              <a:rPr lang="zh-CN" sz="1050">
                <a:solidFill>
                  <a:srgbClr val="C4B5FD"/>
                </a:solidFill>
                <a:latin typeface="微软雅黑" panose="020B0503020204020204" charset="-122"/>
                <a:ea typeface="微软雅黑" panose="020B0503020204020204" charset="-122"/>
              </a:rPr>
              <a:t>批准</a:t>
            </a:r>
            <a:endParaRPr lang="zh-CN" sz="1050">
              <a:solidFill>
                <a:srgbClr val="C4B5FD"/>
              </a:solidFill>
              <a:latin typeface="微软雅黑" panose="020B0503020204020204" charset="-122"/>
              <a:ea typeface="微软雅黑" panose="020B0503020204020204" charset="-122"/>
            </a:endParaRPr>
          </a:p>
        </p:txBody>
      </p:sp>
      <p:sp>
        <p:nvSpPr>
          <p:cNvPr id="513" name="文本框 512" descr="{&quot;isTemplate&quot;:true,&quot;type&quot;:&quot;text&quot;}"/>
          <p:cNvSpPr txBox="1"/>
          <p:nvPr/>
        </p:nvSpPr>
        <p:spPr>
          <a:xfrm>
            <a:off x="8839200" y="3638550"/>
            <a:ext cx="1209675" cy="161925"/>
          </a:xfrm>
          <a:prstGeom prst="rect">
            <a:avLst/>
          </a:prstGeom>
        </p:spPr>
        <p:txBody>
          <a:bodyPr wrap="none" lIns="0" tIns="0" rIns="0" bIns="0"/>
          <a:p>
            <a:pPr algn="ctr">
              <a:lnSpc>
                <a:spcPct val="100000"/>
              </a:lnSpc>
            </a:pPr>
            <a:r>
              <a:rPr lang="zh-CN" sz="1050">
                <a:solidFill>
                  <a:srgbClr val="67E8F9"/>
                </a:solidFill>
                <a:latin typeface="微软雅黑" panose="020B0503020204020204" charset="-122"/>
                <a:ea typeface="微软雅黑" panose="020B0503020204020204" charset="-122"/>
              </a:rPr>
              <a:t>执行</a:t>
            </a:r>
            <a:endParaRPr lang="zh-CN" sz="1050">
              <a:solidFill>
                <a:srgbClr val="67E8F9"/>
              </a:solidFill>
              <a:latin typeface="微软雅黑" panose="020B0503020204020204" charset="-122"/>
              <a:ea typeface="微软雅黑" panose="020B0503020204020204" charset="-122"/>
            </a:endParaRPr>
          </a:p>
        </p:txBody>
      </p:sp>
      <p:sp>
        <p:nvSpPr>
          <p:cNvPr id="514" name="文本框 513" descr="{&quot;isTemplate&quot;:true,&quot;type&quot;:&quot;text&quot;}"/>
          <p:cNvSpPr txBox="1"/>
          <p:nvPr/>
        </p:nvSpPr>
        <p:spPr>
          <a:xfrm>
            <a:off x="10048875" y="3638550"/>
            <a:ext cx="1209675" cy="161925"/>
          </a:xfrm>
          <a:prstGeom prst="rect">
            <a:avLst/>
          </a:prstGeom>
        </p:spPr>
        <p:txBody>
          <a:bodyPr wrap="none" lIns="0" tIns="0" rIns="0" bIns="0"/>
          <a:p>
            <a:pPr algn="ctr">
              <a:lnSpc>
                <a:spcPct val="100000"/>
              </a:lnSpc>
            </a:pPr>
            <a:r>
              <a:rPr sz="1050">
                <a:solidFill>
                  <a:srgbClr val="94A3B8"/>
                </a:solidFill>
                <a:latin typeface="微软雅黑" panose="020B0503020204020204" charset="-122"/>
                <a:ea typeface="微软雅黑" panose="020B0503020204020204" charset="-122"/>
              </a:rPr>
              <a:t>—</a:t>
            </a:r>
            <a:endParaRPr sz="1050">
              <a:solidFill>
                <a:srgbClr val="94A3B8"/>
              </a:solidFill>
              <a:latin typeface="微软雅黑" panose="020B0503020204020204" charset="-122"/>
              <a:ea typeface="微软雅黑" panose="020B0503020204020204" charset="-122"/>
            </a:endParaRPr>
          </a:p>
        </p:txBody>
      </p:sp>
      <p:sp>
        <p:nvSpPr>
          <p:cNvPr id="515" name="文本框 514" descr="{&quot;isTemplate&quot;:true,&quot;type&quot;:&quot;text&quot;}"/>
          <p:cNvSpPr txBox="1"/>
          <p:nvPr/>
        </p:nvSpPr>
        <p:spPr>
          <a:xfrm>
            <a:off x="5200650" y="3962400"/>
            <a:ext cx="2419350" cy="161925"/>
          </a:xfrm>
          <a:prstGeom prst="rect">
            <a:avLst/>
          </a:prstGeom>
        </p:spPr>
        <p:txBody>
          <a:bodyPr wrap="none" lIns="0" tIns="0" rIns="0" bIns="0"/>
          <a:p>
            <a:pPr>
              <a:lnSpc>
                <a:spcPct val="100000"/>
              </a:lnSpc>
            </a:pPr>
            <a:r>
              <a:rPr lang="zh-CN" sz="1050">
                <a:solidFill>
                  <a:srgbClr val="E2E8F0"/>
                </a:solidFill>
                <a:latin typeface="微软雅黑" panose="020B0503020204020204" charset="-122"/>
                <a:ea typeface="微软雅黑" panose="020B0503020204020204" charset="-122"/>
              </a:rPr>
              <a:t>编码</a:t>
            </a:r>
            <a:endParaRPr lang="zh-CN" sz="1050">
              <a:solidFill>
                <a:srgbClr val="E2E8F0"/>
              </a:solidFill>
              <a:latin typeface="微软雅黑" panose="020B0503020204020204" charset="-122"/>
              <a:ea typeface="微软雅黑" panose="020B0503020204020204" charset="-122"/>
            </a:endParaRPr>
          </a:p>
        </p:txBody>
      </p:sp>
      <p:sp>
        <p:nvSpPr>
          <p:cNvPr id="516" name="文本框 515" descr="{&quot;isTemplate&quot;:true,&quot;type&quot;:&quot;text&quot;}"/>
          <p:cNvSpPr txBox="1"/>
          <p:nvPr/>
        </p:nvSpPr>
        <p:spPr>
          <a:xfrm>
            <a:off x="7620000" y="3962400"/>
            <a:ext cx="1219200" cy="161925"/>
          </a:xfrm>
          <a:prstGeom prst="rect">
            <a:avLst/>
          </a:prstGeom>
        </p:spPr>
        <p:txBody>
          <a:bodyPr wrap="none" lIns="0" tIns="0" rIns="0" bIns="0"/>
          <a:p>
            <a:pPr algn="ctr">
              <a:lnSpc>
                <a:spcPct val="100000"/>
              </a:lnSpc>
            </a:pPr>
            <a:r>
              <a:rPr sz="1050">
                <a:solidFill>
                  <a:srgbClr val="94A3B8"/>
                </a:solidFill>
                <a:latin typeface="微软雅黑" panose="020B0503020204020204" charset="-122"/>
                <a:ea typeface="微软雅黑" panose="020B0503020204020204" charset="-122"/>
              </a:rPr>
              <a:t>—</a:t>
            </a:r>
            <a:endParaRPr sz="1050">
              <a:solidFill>
                <a:srgbClr val="94A3B8"/>
              </a:solidFill>
              <a:latin typeface="微软雅黑" panose="020B0503020204020204" charset="-122"/>
              <a:ea typeface="微软雅黑" panose="020B0503020204020204" charset="-122"/>
            </a:endParaRPr>
          </a:p>
        </p:txBody>
      </p:sp>
      <p:sp>
        <p:nvSpPr>
          <p:cNvPr id="517" name="文本框 516" descr="{&quot;isTemplate&quot;:true,&quot;type&quot;:&quot;text&quot;}"/>
          <p:cNvSpPr txBox="1"/>
          <p:nvPr/>
        </p:nvSpPr>
        <p:spPr>
          <a:xfrm>
            <a:off x="8839200" y="3962400"/>
            <a:ext cx="1209675" cy="161925"/>
          </a:xfrm>
          <a:prstGeom prst="rect">
            <a:avLst/>
          </a:prstGeom>
        </p:spPr>
        <p:txBody>
          <a:bodyPr wrap="none" lIns="0" tIns="0" rIns="0" bIns="0"/>
          <a:p>
            <a:pPr algn="ctr">
              <a:lnSpc>
                <a:spcPct val="100000"/>
              </a:lnSpc>
            </a:pPr>
            <a:r>
              <a:rPr lang="zh-CN" sz="1050">
                <a:solidFill>
                  <a:srgbClr val="3B82F6"/>
                </a:solidFill>
                <a:latin typeface="微软雅黑" panose="020B0503020204020204" charset="-122"/>
                <a:ea typeface="微软雅黑" panose="020B0503020204020204" charset="-122"/>
              </a:rPr>
              <a:t>执行</a:t>
            </a:r>
            <a:endParaRPr lang="zh-CN" sz="1050">
              <a:solidFill>
                <a:srgbClr val="3B82F6"/>
              </a:solidFill>
              <a:latin typeface="微软雅黑" panose="020B0503020204020204" charset="-122"/>
              <a:ea typeface="微软雅黑" panose="020B0503020204020204" charset="-122"/>
            </a:endParaRPr>
          </a:p>
        </p:txBody>
      </p:sp>
      <p:sp>
        <p:nvSpPr>
          <p:cNvPr id="518" name="文本框 517" descr="{&quot;isTemplate&quot;:true,&quot;type&quot;:&quot;text&quot;}"/>
          <p:cNvSpPr txBox="1"/>
          <p:nvPr/>
        </p:nvSpPr>
        <p:spPr>
          <a:xfrm>
            <a:off x="10048875" y="3962400"/>
            <a:ext cx="1209675" cy="161925"/>
          </a:xfrm>
          <a:prstGeom prst="rect">
            <a:avLst/>
          </a:prstGeom>
        </p:spPr>
        <p:txBody>
          <a:bodyPr wrap="none" lIns="0" tIns="0" rIns="0" bIns="0"/>
          <a:p>
            <a:pPr algn="ctr">
              <a:lnSpc>
                <a:spcPct val="100000"/>
              </a:lnSpc>
            </a:pPr>
            <a:r>
              <a:rPr lang="zh-CN" sz="1050">
                <a:solidFill>
                  <a:srgbClr val="67E8F9"/>
                </a:solidFill>
                <a:latin typeface="微软雅黑" panose="020B0503020204020204" charset="-122"/>
                <a:ea typeface="微软雅黑" panose="020B0503020204020204" charset="-122"/>
              </a:rPr>
              <a:t>评审</a:t>
            </a:r>
            <a:endParaRPr lang="zh-CN" sz="1050">
              <a:solidFill>
                <a:srgbClr val="67E8F9"/>
              </a:solidFill>
              <a:latin typeface="微软雅黑" panose="020B0503020204020204" charset="-122"/>
              <a:ea typeface="微软雅黑" panose="020B0503020204020204" charset="-122"/>
            </a:endParaRPr>
          </a:p>
        </p:txBody>
      </p:sp>
      <p:sp>
        <p:nvSpPr>
          <p:cNvPr id="519" name="文本框 518" descr="{&quot;isTemplate&quot;:true,&quot;type&quot;:&quot;text&quot;}"/>
          <p:cNvSpPr txBox="1"/>
          <p:nvPr/>
        </p:nvSpPr>
        <p:spPr>
          <a:xfrm>
            <a:off x="5067300" y="4295775"/>
            <a:ext cx="6324600" cy="152400"/>
          </a:xfrm>
          <a:prstGeom prst="rect">
            <a:avLst/>
          </a:prstGeom>
        </p:spPr>
        <p:txBody>
          <a:bodyPr wrap="none" lIns="0" tIns="0" rIns="0" bIns="0"/>
          <a:p>
            <a:pPr algn="ctr">
              <a:lnSpc>
                <a:spcPct val="100000"/>
              </a:lnSpc>
            </a:pPr>
            <a:r>
              <a:rPr lang="en-US" sz="975">
                <a:solidFill>
                  <a:srgbClr val="94A3B8"/>
                </a:solidFill>
                <a:latin typeface="微软雅黑" panose="020B0503020204020204" charset="-122"/>
                <a:ea typeface="微软雅黑" panose="020B0503020204020204" charset="-122"/>
              </a:rPr>
              <a:t>RACI </a:t>
            </a:r>
            <a:r>
              <a:rPr lang="zh-CN" sz="975">
                <a:solidFill>
                  <a:srgbClr val="94A3B8"/>
                </a:solidFill>
                <a:latin typeface="微软雅黑" panose="020B0503020204020204" charset="-122"/>
                <a:ea typeface="微软雅黑" panose="020B0503020204020204" charset="-122"/>
              </a:rPr>
              <a:t>精神：每个活动都有明确的责任人（</a:t>
            </a:r>
            <a:r>
              <a:rPr lang="en-US" sz="975">
                <a:solidFill>
                  <a:srgbClr val="94A3B8"/>
                </a:solidFill>
                <a:latin typeface="微软雅黑" panose="020B0503020204020204" charset="-122"/>
                <a:ea typeface="微软雅黑" panose="020B0503020204020204" charset="-122"/>
              </a:rPr>
              <a:t>Responsible</a:t>
            </a:r>
            <a:r>
              <a:rPr lang="zh-CN" sz="975">
                <a:solidFill>
                  <a:srgbClr val="94A3B8"/>
                </a:solidFill>
                <a:latin typeface="微软雅黑" panose="020B0503020204020204" charset="-122"/>
                <a:ea typeface="微软雅黑" panose="020B0503020204020204" charset="-122"/>
              </a:rPr>
              <a:t>）与把关人（</a:t>
            </a:r>
            <a:r>
              <a:rPr lang="en-US" sz="975">
                <a:solidFill>
                  <a:srgbClr val="94A3B8"/>
                </a:solidFill>
                <a:latin typeface="微软雅黑" panose="020B0503020204020204" charset="-122"/>
                <a:ea typeface="微软雅黑" panose="020B0503020204020204" charset="-122"/>
              </a:rPr>
              <a:t>Accountable</a:t>
            </a:r>
            <a:r>
              <a:rPr lang="zh-CN" sz="975">
                <a:solidFill>
                  <a:srgbClr val="94A3B8"/>
                </a:solidFill>
                <a:latin typeface="微软雅黑" panose="020B0503020204020204" charset="-122"/>
                <a:ea typeface="微软雅黑" panose="020B0503020204020204" charset="-122"/>
              </a:rPr>
              <a:t>）</a:t>
            </a:r>
            <a:endParaRPr lang="zh-CN" sz="975">
              <a:solidFill>
                <a:srgbClr val="94A3B8"/>
              </a:solidFill>
              <a:latin typeface="微软雅黑" panose="020B0503020204020204" charset="-122"/>
              <a:ea typeface="微软雅黑" panose="020B0503020204020204" charset="-122"/>
            </a:endParaRPr>
          </a:p>
        </p:txBody>
      </p:sp>
      <p:sp>
        <p:nvSpPr>
          <p:cNvPr id="520" name="文本框 519"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521" name="文本框 520"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32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522"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甘特图 vs 网络图&lt;/Text&gt;&#13;&#10;    &lt;/Box&gt;&#13;&#10;    &lt;Box style={{ flex: 1, flexDirection: 'row', gap: 26, alignItems: 'center' }}&gt;&#13;&#10;        &lt;Box style={{ flex: 1, height: 400, background: '#111B2E', borderRadius: 14, padding: 24, justifyContent: 'flex-start', gap: 12 }}&gt;&#13;&#10;            &lt;Text style={{ fontSize: 20, fontWeight: 'bold', color: '#93C5FD' }}&gt;甘特图 Gantt&lt;/Text&gt;&#13;&#10;            &lt;Text style={{ fontSize: 14.5, color: '#E2E8F0', lineHeight: 1.8 }}&gt;左部工作表显示任务信息，右部条形图显示时间——&lt;span style={{ fontWeight: 'bold' }}&gt;直观显示任务进程&lt;/span&gt;。&lt;/Text&gt;&#13;&#10;            &lt;svg width={380} height={150} viewBox='0 0 380 150'&gt;&#13;&#10;                &lt;rect x='80' y='15' width='80' height='24' rx='4' fill='rgba(59,130,246,0.6)' /&gt;&#13;&#10;                &lt;rect x='80' y='50' width='130' height='24' rx='4' fill='rgba(34,211,238,0.55)' /&gt;&#13;&#10;                &lt;rect x='210' y='85' width='110' height='24' rx='4' fill='rgba(139,92,246,0.55)' /&gt;&#13;&#10;                &lt;text x='72' y='33' textAnchor='end' fill='#94A3B8' fontSize='12'&gt;需求&lt;/text&gt;&#13;&#10;                &lt;text x='72' y='68' textAnchor='end' fill='#94A3B8' fontSize='12'&gt;设计&lt;/text&gt;&#13;&#10;                &lt;text x='72' y='103' textAnchor='end' fill='#94A3B8' fontSize='12'&gt;编码&lt;/text&gt;&#13;&#10;                &lt;line x1='80' y1='120' x2='360' y2='120' stroke='rgba(148,163,184,0.4)' strokeWidth='1.5' /&gt;&#13;&#10;            &lt;/svg&gt;&#13;&#10;        &lt;/Box&gt;&#13;&#10;        &lt;Box style={{ flex: 1, height: 400, background: '#111B2E', borderRadius: 14, padding: 24, justifyContent: 'flex-start', gap: 12 }}&gt;&#13;&#10;            &lt;Text style={{ fontSize: 20, fontWeight: 'bold', color: '#67E8F9' }}&gt;网络图 Network&lt;/Text&gt;&#13;&#10;            &lt;Text style={{ fontSize: 14.5, color: '#E2E8F0', lineHeight: 1.8 }}&gt;框表示任务、连接表示依赖——&lt;span style={{ fontWeight: 'bold' }}&gt;更能展示任务之间的相关性&lt;/span&gt;。&lt;/Text&gt;&#13;&#10;            &lt;svg width={380} height={150} viewBox='0 0 380 150'&gt;&#13;&#10;                &lt;rect x='40' y='55' width='70' height='40' rx='6' fill='rgba(59,130,246,0.5)' /&gt;&#13;&#10;                &lt;text x='75' y='80' textAnchor='middle' fill='#fff' fontSize='13'&gt;需求&lt;/text&gt;&#13;&#10;                &lt;rect x='160' y='55' width='70' height='40' rx='6' fill='rgba(34,211,238,0.5)' /&gt;&#13;&#10;                &lt;text x='195' y='80' textAnchor='middle' fill='#fff' fontSize='13'&gt;设计&lt;/text&gt;&#13;&#10;                &lt;rect x='280' y='55' width='70' height='40' rx='6' fill='rgba(139,92,246,0.5)' /&gt;&#13;&#10;                &lt;text x='315' y='80' textAnchor='middle' fill='#fff' fontSize='13'&gt;编码&lt;/text&gt;&#13;&#10;                &lt;path d='M110 75 L160 75 M230 75 L280 75' stroke='#94A3B8' strokeWidth='2' /&gt;&#13;&#10;            &lt;/svg&gt;&#13;&#10;            &lt;Text style={{ fontSize: 14, color: '#94A3B8', marginTop: 4 }}&gt;甘特图与网络图等价，可相互转换——选哪种看想强调&quot;进程&quot;还是&quot;依赖&quot;。&lt;/Text&gt;&#13;&#10;        &lt;/Box&gt;&#13;&#10;    &lt;/Box&gt;&#13;&#10;    &lt;Box style={{ height: 40, flexDirection: 'row', justifyContent: 'space-between', alignItems: 'center', marginTop: 16 }}&gt;&#13;&#10;        &lt;Text style={{ fontSize: 14, color: '#94A3B8' }}&gt;03 项目计划与工作分解&lt;/Text&gt;&#13;&#10;        &lt;Text style={{ fontSize: 14, color: '#94A3B8' }}&gt;33 / 47&lt;/Text&gt;&#13;&#10;    &lt;/Box&gt;&#13;&#10;&lt;/Slide&gt;&#13;&#10;"/>
        <p:cNvGrpSpPr/>
        <p:nvPr/>
      </p:nvGrpSpPr>
      <p:grpSpPr>
        <a:xfrm>
          <a:off x="0" y="0"/>
          <a:ext cx="0" cy="0"/>
          <a:chOff x="0" y="0"/>
          <a:chExt cx="0" cy="0"/>
        </a:xfrm>
      </p:grpSpPr>
      <p:sp>
        <p:nvSpPr>
          <p:cNvPr id="523" name="矩形 522"/>
          <p:cNvSpPr/>
          <p:nvPr/>
        </p:nvSpPr>
        <p:spPr>
          <a:xfrm>
            <a:off x="0" y="0"/>
            <a:ext cx="12192000" cy="6858000"/>
          </a:xfrm>
          <a:prstGeom prst="rect">
            <a:avLst/>
          </a:prstGeom>
          <a:solidFill>
            <a:srgbClr val="0B1220"/>
          </a:solidFill>
        </p:spPr>
        <p:txBody>
          <a:bodyPr/>
          <a:p/>
        </p:txBody>
      </p:sp>
      <p:sp>
        <p:nvSpPr>
          <p:cNvPr id="524" name="圆角矩形 523"/>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525" name="文本框 524" descr="{&quot;isTemplate&quot;:true,&quot;type&quot;:&quot;text&quot;}"/>
          <p:cNvSpPr txBox="1"/>
          <p:nvPr/>
        </p:nvSpPr>
        <p:spPr>
          <a:xfrm>
            <a:off x="857250" y="476250"/>
            <a:ext cx="2486025"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甘特图</a:t>
            </a:r>
            <a:r>
              <a:rPr lang="en-US" sz="2550" b="1">
                <a:solidFill>
                  <a:srgbClr val="E2E8F0"/>
                </a:solidFill>
                <a:latin typeface="微软雅黑" panose="020B0503020204020204" charset="-122"/>
                <a:ea typeface="微软雅黑" panose="020B0503020204020204" charset="-122"/>
              </a:rPr>
              <a:t> vs </a:t>
            </a:r>
            <a:r>
              <a:rPr lang="zh-CN" sz="2550" b="1">
                <a:solidFill>
                  <a:srgbClr val="E2E8F0"/>
                </a:solidFill>
                <a:latin typeface="微软雅黑" panose="020B0503020204020204" charset="-122"/>
                <a:ea typeface="微软雅黑" panose="020B0503020204020204" charset="-122"/>
              </a:rPr>
              <a:t>网络图</a:t>
            </a:r>
            <a:endParaRPr lang="zh-CN" sz="2550" b="1">
              <a:solidFill>
                <a:srgbClr val="E2E8F0"/>
              </a:solidFill>
              <a:latin typeface="微软雅黑" panose="020B0503020204020204" charset="-122"/>
              <a:ea typeface="微软雅黑" panose="020B0503020204020204" charset="-122"/>
            </a:endParaRPr>
          </a:p>
        </p:txBody>
      </p:sp>
      <p:sp>
        <p:nvSpPr>
          <p:cNvPr id="526" name="圆角矩形 525"/>
          <p:cNvSpPr/>
          <p:nvPr/>
        </p:nvSpPr>
        <p:spPr>
          <a:xfrm>
            <a:off x="609600" y="1733550"/>
            <a:ext cx="5362575" cy="3810000"/>
          </a:xfrm>
          <a:prstGeom prst="roundRect">
            <a:avLst>
              <a:gd name="adj" fmla="val 3500"/>
            </a:avLst>
          </a:prstGeom>
          <a:solidFill>
            <a:srgbClr val="111B2E"/>
          </a:solidFill>
        </p:spPr>
        <p:txBody>
          <a:bodyPr/>
          <a:p/>
        </p:txBody>
      </p:sp>
      <p:sp>
        <p:nvSpPr>
          <p:cNvPr id="527" name="文本框 526" descr="{&quot;isTemplate&quot;:true,&quot;type&quot;:&quot;text&quot;}"/>
          <p:cNvSpPr txBox="1"/>
          <p:nvPr/>
        </p:nvSpPr>
        <p:spPr>
          <a:xfrm>
            <a:off x="838200" y="1962150"/>
            <a:ext cx="4905375" cy="228600"/>
          </a:xfrm>
          <a:prstGeom prst="rect">
            <a:avLst/>
          </a:prstGeom>
        </p:spPr>
        <p:txBody>
          <a:bodyPr wrap="none" lIns="0" tIns="0" rIns="0" bIns="0"/>
          <a:p>
            <a:pPr>
              <a:lnSpc>
                <a:spcPct val="100000"/>
              </a:lnSpc>
            </a:pPr>
            <a:r>
              <a:rPr lang="zh-CN" sz="1500" b="1">
                <a:solidFill>
                  <a:srgbClr val="93C5FD"/>
                </a:solidFill>
                <a:latin typeface="微软雅黑" panose="020B0503020204020204" charset="-122"/>
                <a:ea typeface="微软雅黑" panose="020B0503020204020204" charset="-122"/>
              </a:rPr>
              <a:t>甘特图</a:t>
            </a:r>
            <a:r>
              <a:rPr lang="en-US" sz="1500" b="1">
                <a:solidFill>
                  <a:srgbClr val="93C5FD"/>
                </a:solidFill>
                <a:latin typeface="微软雅黑" panose="020B0503020204020204" charset="-122"/>
                <a:ea typeface="微软雅黑" panose="020B0503020204020204" charset="-122"/>
              </a:rPr>
              <a:t> Gantt</a:t>
            </a:r>
            <a:endParaRPr lang="en-US" sz="1500" b="1">
              <a:solidFill>
                <a:srgbClr val="93C5FD"/>
              </a:solidFill>
              <a:latin typeface="微软雅黑" panose="020B0503020204020204" charset="-122"/>
              <a:ea typeface="微软雅黑" panose="020B0503020204020204" charset="-122"/>
            </a:endParaRPr>
          </a:p>
        </p:txBody>
      </p:sp>
      <p:sp>
        <p:nvSpPr>
          <p:cNvPr id="528" name="文本框 527" descr="{&quot;isTemplate&quot;:true,&quot;type&quot;:&quot;text&quot;}"/>
          <p:cNvSpPr txBox="1"/>
          <p:nvPr/>
        </p:nvSpPr>
        <p:spPr>
          <a:xfrm>
            <a:off x="838200" y="2305050"/>
            <a:ext cx="4905375" cy="304800"/>
          </a:xfrm>
          <a:prstGeom prst="rect">
            <a:avLst/>
          </a:prstGeom>
        </p:spPr>
        <p:txBody>
          <a:bodyPr wrap="none" lIns="0" tIns="0" rIns="0" bIns="0"/>
          <a:p>
            <a:pPr>
              <a:lnSpc>
                <a:spcPct val="180000"/>
              </a:lnSpc>
            </a:pPr>
            <a:r>
              <a:rPr lang="zh-CN" sz="1090">
                <a:solidFill>
                  <a:srgbClr val="E2E8F0"/>
                </a:solidFill>
                <a:latin typeface="微软雅黑" panose="020B0503020204020204" charset="-122"/>
                <a:ea typeface="微软雅黑" panose="020B0503020204020204" charset="-122"/>
              </a:rPr>
              <a:t>左部工作表显示任务信息，右部条形图显示时间——</a:t>
            </a:r>
            <a:r>
              <a:rPr lang="zh-CN" sz="1090" b="1">
                <a:solidFill>
                  <a:srgbClr val="E2E8F0"/>
                </a:solidFill>
                <a:latin typeface="微软雅黑" panose="020B0503020204020204" charset="-122"/>
                <a:ea typeface="微软雅黑" panose="020B0503020204020204" charset="-122"/>
              </a:rPr>
              <a:t>直观显示任务进程</a:t>
            </a:r>
            <a:r>
              <a:rPr lang="zh-CN" sz="1090">
                <a:solidFill>
                  <a:srgbClr val="E2E8F0"/>
                </a:solidFill>
                <a:latin typeface="微软雅黑" panose="020B0503020204020204" charset="-122"/>
                <a:ea typeface="微软雅黑" panose="020B0503020204020204" charset="-122"/>
              </a:rPr>
              <a:t>。</a:t>
            </a:r>
            <a:endParaRPr lang="zh-CN" sz="1090">
              <a:solidFill>
                <a:srgbClr val="E2E8F0"/>
              </a:solidFill>
              <a:latin typeface="微软雅黑" panose="020B0503020204020204" charset="-122"/>
              <a:ea typeface="微软雅黑" panose="020B0503020204020204" charset="-122"/>
            </a:endParaRPr>
          </a:p>
        </p:txBody>
      </p:sp>
      <p:pic>
        <p:nvPicPr>
          <p:cNvPr id="529" name="图片 52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8200" y="2724150"/>
            <a:ext cx="3619500" cy="1428750"/>
          </a:xfrm>
          <a:prstGeom prst="rect">
            <a:avLst/>
          </a:prstGeom>
        </p:spPr>
      </p:pic>
      <p:sp>
        <p:nvSpPr>
          <p:cNvPr id="530" name="圆角矩形 529"/>
          <p:cNvSpPr/>
          <p:nvPr/>
        </p:nvSpPr>
        <p:spPr>
          <a:xfrm>
            <a:off x="6219825" y="1733550"/>
            <a:ext cx="5362575" cy="3810000"/>
          </a:xfrm>
          <a:prstGeom prst="roundRect">
            <a:avLst>
              <a:gd name="adj" fmla="val 3500"/>
            </a:avLst>
          </a:prstGeom>
          <a:solidFill>
            <a:srgbClr val="111B2E"/>
          </a:solidFill>
        </p:spPr>
        <p:txBody>
          <a:bodyPr/>
          <a:p/>
        </p:txBody>
      </p:sp>
      <p:sp>
        <p:nvSpPr>
          <p:cNvPr id="531" name="文本框 530" descr="{&quot;isTemplate&quot;:true,&quot;type&quot;:&quot;text&quot;}"/>
          <p:cNvSpPr txBox="1"/>
          <p:nvPr/>
        </p:nvSpPr>
        <p:spPr>
          <a:xfrm>
            <a:off x="6448425" y="1962150"/>
            <a:ext cx="4905375" cy="228600"/>
          </a:xfrm>
          <a:prstGeom prst="rect">
            <a:avLst/>
          </a:prstGeom>
        </p:spPr>
        <p:txBody>
          <a:bodyPr wrap="none" lIns="0" tIns="0" rIns="0" bIns="0"/>
          <a:p>
            <a:pPr>
              <a:lnSpc>
                <a:spcPct val="100000"/>
              </a:lnSpc>
            </a:pPr>
            <a:r>
              <a:rPr lang="zh-CN" sz="1500" b="1">
                <a:solidFill>
                  <a:srgbClr val="67E8F9"/>
                </a:solidFill>
                <a:latin typeface="微软雅黑" panose="020B0503020204020204" charset="-122"/>
                <a:ea typeface="微软雅黑" panose="020B0503020204020204" charset="-122"/>
              </a:rPr>
              <a:t>网络图</a:t>
            </a:r>
            <a:r>
              <a:rPr lang="en-US" sz="1500" b="1">
                <a:solidFill>
                  <a:srgbClr val="67E8F9"/>
                </a:solidFill>
                <a:latin typeface="微软雅黑" panose="020B0503020204020204" charset="-122"/>
                <a:ea typeface="微软雅黑" panose="020B0503020204020204" charset="-122"/>
              </a:rPr>
              <a:t> Network</a:t>
            </a:r>
            <a:endParaRPr lang="en-US" sz="1500" b="1">
              <a:solidFill>
                <a:srgbClr val="67E8F9"/>
              </a:solidFill>
              <a:latin typeface="微软雅黑" panose="020B0503020204020204" charset="-122"/>
              <a:ea typeface="微软雅黑" panose="020B0503020204020204" charset="-122"/>
            </a:endParaRPr>
          </a:p>
        </p:txBody>
      </p:sp>
      <p:sp>
        <p:nvSpPr>
          <p:cNvPr id="532" name="文本框 531" descr="{&quot;isTemplate&quot;:true,&quot;type&quot;:&quot;text&quot;}"/>
          <p:cNvSpPr txBox="1"/>
          <p:nvPr/>
        </p:nvSpPr>
        <p:spPr>
          <a:xfrm>
            <a:off x="6448425" y="2305050"/>
            <a:ext cx="4905375" cy="304800"/>
          </a:xfrm>
          <a:prstGeom prst="rect">
            <a:avLst/>
          </a:prstGeom>
        </p:spPr>
        <p:txBody>
          <a:bodyPr wrap="none" lIns="0" tIns="0" rIns="0" bIns="0"/>
          <a:p>
            <a:pPr>
              <a:lnSpc>
                <a:spcPct val="180000"/>
              </a:lnSpc>
            </a:pPr>
            <a:r>
              <a:rPr lang="zh-CN" sz="1090">
                <a:solidFill>
                  <a:srgbClr val="E2E8F0"/>
                </a:solidFill>
                <a:latin typeface="微软雅黑" panose="020B0503020204020204" charset="-122"/>
                <a:ea typeface="微软雅黑" panose="020B0503020204020204" charset="-122"/>
              </a:rPr>
              <a:t>框表示任务、连接表示依赖——</a:t>
            </a:r>
            <a:r>
              <a:rPr lang="zh-CN" sz="1090" b="1">
                <a:solidFill>
                  <a:srgbClr val="E2E8F0"/>
                </a:solidFill>
                <a:latin typeface="微软雅黑" panose="020B0503020204020204" charset="-122"/>
                <a:ea typeface="微软雅黑" panose="020B0503020204020204" charset="-122"/>
              </a:rPr>
              <a:t>更能展示任务之间的相关性</a:t>
            </a:r>
            <a:r>
              <a:rPr lang="zh-CN" sz="1090">
                <a:solidFill>
                  <a:srgbClr val="E2E8F0"/>
                </a:solidFill>
                <a:latin typeface="微软雅黑" panose="020B0503020204020204" charset="-122"/>
                <a:ea typeface="微软雅黑" panose="020B0503020204020204" charset="-122"/>
              </a:rPr>
              <a:t>。</a:t>
            </a:r>
            <a:endParaRPr lang="zh-CN" sz="1090">
              <a:solidFill>
                <a:srgbClr val="E2E8F0"/>
              </a:solidFill>
              <a:latin typeface="微软雅黑" panose="020B0503020204020204" charset="-122"/>
              <a:ea typeface="微软雅黑" panose="020B0503020204020204" charset="-122"/>
            </a:endParaRPr>
          </a:p>
        </p:txBody>
      </p:sp>
      <p:pic>
        <p:nvPicPr>
          <p:cNvPr id="533" name="图片 53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48425" y="2724150"/>
            <a:ext cx="3619500" cy="1428750"/>
          </a:xfrm>
          <a:prstGeom prst="rect">
            <a:avLst/>
          </a:prstGeom>
        </p:spPr>
      </p:pic>
      <p:sp>
        <p:nvSpPr>
          <p:cNvPr id="534" name="文本框 533" descr="{&quot;isTemplate&quot;:true,&quot;type&quot;:&quot;text&quot;}"/>
          <p:cNvSpPr txBox="1"/>
          <p:nvPr/>
        </p:nvSpPr>
        <p:spPr>
          <a:xfrm>
            <a:off x="6448425" y="4305300"/>
            <a:ext cx="4905375" cy="161925"/>
          </a:xfrm>
          <a:prstGeom prst="rect">
            <a:avLst/>
          </a:prstGeom>
        </p:spPr>
        <p:txBody>
          <a:bodyPr wrap="none" lIns="0" tIns="0" rIns="0" bIns="0"/>
          <a:p>
            <a:pPr>
              <a:lnSpc>
                <a:spcPct val="100000"/>
              </a:lnSpc>
            </a:pPr>
            <a:r>
              <a:rPr lang="zh-CN" sz="1050">
                <a:solidFill>
                  <a:srgbClr val="94A3B8"/>
                </a:solidFill>
                <a:latin typeface="微软雅黑" panose="020B0503020204020204" charset="-122"/>
                <a:ea typeface="微软雅黑" panose="020B0503020204020204" charset="-122"/>
              </a:rPr>
              <a:t>甘特图与网络图等价，可相互转换——选哪种看想强调</a:t>
            </a:r>
            <a:r>
              <a:rPr lang="en-US" sz="1050">
                <a:solidFill>
                  <a:srgbClr val="94A3B8"/>
                </a:solidFill>
                <a:latin typeface="微软雅黑" panose="020B0503020204020204" charset="-122"/>
                <a:ea typeface="微软雅黑" panose="020B0503020204020204" charset="-122"/>
              </a:rPr>
              <a:t>"</a:t>
            </a:r>
            <a:r>
              <a:rPr lang="zh-CN" sz="1050">
                <a:solidFill>
                  <a:srgbClr val="94A3B8"/>
                </a:solidFill>
                <a:latin typeface="微软雅黑" panose="020B0503020204020204" charset="-122"/>
                <a:ea typeface="微软雅黑" panose="020B0503020204020204" charset="-122"/>
              </a:rPr>
              <a:t>进程</a:t>
            </a:r>
            <a:r>
              <a:rPr lang="en-US" sz="1050">
                <a:solidFill>
                  <a:srgbClr val="94A3B8"/>
                </a:solidFill>
                <a:latin typeface="微软雅黑" panose="020B0503020204020204" charset="-122"/>
                <a:ea typeface="微软雅黑" panose="020B0503020204020204" charset="-122"/>
              </a:rPr>
              <a:t>"</a:t>
            </a:r>
            <a:r>
              <a:rPr lang="zh-CN" sz="1050">
                <a:solidFill>
                  <a:srgbClr val="94A3B8"/>
                </a:solidFill>
                <a:latin typeface="微软雅黑" panose="020B0503020204020204" charset="-122"/>
                <a:ea typeface="微软雅黑" panose="020B0503020204020204" charset="-122"/>
              </a:rPr>
              <a:t>还是</a:t>
            </a:r>
            <a:r>
              <a:rPr lang="en-US" sz="1050">
                <a:solidFill>
                  <a:srgbClr val="94A3B8"/>
                </a:solidFill>
                <a:latin typeface="微软雅黑" panose="020B0503020204020204" charset="-122"/>
                <a:ea typeface="微软雅黑" panose="020B0503020204020204" charset="-122"/>
              </a:rPr>
              <a:t>"</a:t>
            </a:r>
            <a:r>
              <a:rPr lang="zh-CN" sz="1050">
                <a:solidFill>
                  <a:srgbClr val="94A3B8"/>
                </a:solidFill>
                <a:latin typeface="微软雅黑" panose="020B0503020204020204" charset="-122"/>
                <a:ea typeface="微软雅黑" panose="020B0503020204020204" charset="-122"/>
              </a:rPr>
              <a:t>依赖</a:t>
            </a:r>
            <a:r>
              <a:rPr lang="en-US" sz="1050">
                <a:solidFill>
                  <a:srgbClr val="94A3B8"/>
                </a:solidFill>
                <a:latin typeface="微软雅黑" panose="020B0503020204020204" charset="-122"/>
                <a:ea typeface="微软雅黑" panose="020B0503020204020204" charset="-122"/>
              </a:rPr>
              <a:t>"</a:t>
            </a:r>
            <a:r>
              <a:rPr lang="zh-CN" sz="1050">
                <a:solidFill>
                  <a:srgbClr val="94A3B8"/>
                </a:solidFill>
                <a:latin typeface="微软雅黑" panose="020B0503020204020204" charset="-122"/>
                <a:ea typeface="微软雅黑" panose="020B0503020204020204" charset="-122"/>
              </a:rPr>
              <a:t>。</a:t>
            </a:r>
            <a:endParaRPr lang="zh-CN" sz="1050">
              <a:solidFill>
                <a:srgbClr val="94A3B8"/>
              </a:solidFill>
              <a:latin typeface="微软雅黑" panose="020B0503020204020204" charset="-122"/>
              <a:ea typeface="微软雅黑" panose="020B0503020204020204" charset="-122"/>
            </a:endParaRPr>
          </a:p>
        </p:txBody>
      </p:sp>
      <p:sp>
        <p:nvSpPr>
          <p:cNvPr id="535" name="文本框 534"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536" name="文本框 535"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33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537"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关键路径（Critical Path）&lt;/Text&gt;&#13;&#10;    &lt;/Box&gt;&#13;&#10;    &lt;Box style={{ flex: 1, flexDirection: 'row', gap: 28 }}&gt;&#13;&#10;        &lt;Box style={{ flex: 1, justifyContent: 'center', alignItems: 'center' }}&gt;&#13;&#10;            &lt;svg width={560} height={360} viewBox='0 0 560 360'&gt;&#13;&#10;                &lt;defs&gt;&#13;&#10;                    &lt;linearGradient id='cp2' x1='0' y1='0' x2='1' y2='0'&gt;&#13;&#10;                        &lt;stop offset='0%' stopColor='#8B5CF6' /&gt;&#13;&#10;                        &lt;stop offset='100%' stopColor='#3B82F6' /&gt;&#13;&#10;                    &lt;/linearGradient&gt;&#13;&#10;                &lt;/defs&gt;&#13;&#10;                &lt;rect x='30' y='40' width='80' height='50' rx='8' fill='rgba(59,130,246,0.3)' /&gt;&#13;&#10;                &lt;text x='70' y='70' textAnchor='middle' fill='#fff' fontSize='14'&gt;A&lt;/text&gt;&#13;&#10;                &lt;rect x='150' y='40' width='80' height='50' rx='8' fill='url(#cp2)' /&gt;&#13;&#10;                &lt;text x='190' y='70' textAnchor='middle' fill='#fff' fontSize='14' fontWeight='bold'&gt;D&lt;/text&gt;&#13;&#10;                &lt;rect x='270' y='40' width='80' height='50' rx='8' fill='url(#cp2)' /&gt;&#13;&#10;                &lt;text x='310' y='70' textAnchor='middle' fill='#fff' fontSize='14' fontWeight='bold'&gt;H&lt;/text&gt;&#13;&#10;                &lt;rect x='150' y='140' width='80' height='50' rx='8' fill='url(#cp2)' /&gt;&#13;&#10;                &lt;text x='190' y='170' textAnchor='middle' fill='#fff' fontSize='14' fontWeight='bold'&gt;E&lt;/text&gt;&#13;&#10;                &lt;rect x='270' y='140' width='80' height='50' rx='8' fill='url(#cp2)' /&gt;&#13;&#10;                &lt;text x='310' y='170' textAnchor='middle' fill='#fff' fontSize='14' fontWeight='bold'&gt;F&lt;/text&gt;&#13;&#10;                &lt;rect x='390' y='140' width='80' height='50' rx='8' fill='url(#cp2)' /&gt;&#13;&#10;                &lt;text x='430' y='170' textAnchor='middle' fill='#fff' fontSize='14' fontWeight='bold'&gt;G&lt;/text&gt;&#13;&#10;                &lt;rect x='390' y='40' width='80' height='50' rx='8' fill='rgba(59,130,246,0.3)' /&gt;&#13;&#10;                &lt;text x='430' y='70' textAnchor='middle' fill='#fff' fontSize='14'&gt;H&lt;/text&gt;&#13;&#10;                &lt;path d='M110 65 L150 65 M230 65 L270 65 M350 65 L390 65 M110 65 L150 165 M230 165 L270 165 M350 165 L390 165 M230 65 L230 140 M350 165 L350 90' stroke='#94A3B8' strokeWidth='2' /&gt;&#13;&#10;                &lt;text x='280' y='260' textAnchor='middle' fill='#C4B5FD' fontSize='15'&gt;关键路径 = 最长路径：A-D-H 或 A-E-F-G-H&lt;/text&gt;&#13;&#10;            &lt;/svg&gt;&#13;&#10;        &lt;/Box&gt;&#13;&#10;        &lt;Box style={{ width: 420, flexDirection: 'column', justifyContent: 'center', gap: 14 }}&gt;&#13;&#10;            &lt;Box style={{ background: '#111B2E', borderRadius: 12, padding: '16px 22px', borderLeft: '4px solid #8B5CF6' }}&gt;&#13;&#10;                &lt;Text style={{ fontSize: 15.5, color: '#E2E8F0', lineHeight: 1.7 }}&gt;&lt;span style={{ fontWeight: 'bold', color: '#C4B5FD' }}&gt;为什么关键：&lt;/span&gt;关键路径上活动的进度&lt;span style={{ fontWeight: 'bold' }}&gt;直接影响整个项目进度&lt;/span&gt;；要缩短工期，必须加快关键路径上的活动。&lt;/Text&gt;&#13;&#10;            &lt;/Box&gt;&#13;&#10;            &lt;Box style={{ background: '#111B2E', borderRadius: 12, padding: '16px 22px', borderLeft: '4px solid #22D3EE' }}&gt;&#13;&#10;                &lt;Text style={{ fontSize: 15.5, color: '#E2E8F0', lineHeight: 1.7 }}&gt;&lt;span style={{ fontWeight: 'bold', color: '#67E8F9' }}&gt;管理动作：&lt;/span&gt;监控时优先盯关键路径，非关键路径有浮动时间，可适度缓冲。&lt;/Text&gt;&#13;&#10;            &lt;/Box&gt;&#13;&#10;            &lt;Box style={{ background: 'rgba(34,211,238,0.08)', borderRadius: 12, padding: '14px 22px', border: '1px solid rgba(34,211,238,0.35)' }}&gt;&#13;&#10;                &lt;Text style={{ fontSize: 15, color: '#E2E8F0', lineHeight: 1.65 }}&gt;&lt;span style={{ fontWeight: 'bold', color: '#67E8F9' }}&gt;AI 时代注脚：&lt;/span&gt;项目工具可自动计算关键路径与浮动时间，人要做的判断是&quot;值不值得为此加资源&quot;。&lt;/Text&gt;&#13;&#10;            &lt;/Box&gt;&#13;&#10;        &lt;/Box&gt;&#13;&#10;    &lt;/Box&gt;&#13;&#10;    &lt;Box style={{ height: 40, flexDirection: 'row', justifyContent: 'space-between', alignItems: 'center', marginTop: 16 }}&gt;&#13;&#10;        &lt;Text style={{ fontSize: 14, color: '#94A3B8' }}&gt;03 项目计划与工作分解&lt;/Text&gt;&#13;&#10;        &lt;Text style={{ fontSize: 14, color: '#94A3B8' }}&gt;34 / 47&lt;/Text&gt;&#13;&#10;    &lt;/Box&gt;&#13;&#10;&lt;/Slide&gt;&#13;&#10;"/>
        <p:cNvGrpSpPr/>
        <p:nvPr/>
      </p:nvGrpSpPr>
      <p:grpSpPr>
        <a:xfrm>
          <a:off x="0" y="0"/>
          <a:ext cx="0" cy="0"/>
          <a:chOff x="0" y="0"/>
          <a:chExt cx="0" cy="0"/>
        </a:xfrm>
      </p:grpSpPr>
      <p:sp>
        <p:nvSpPr>
          <p:cNvPr id="538" name="矩形 537"/>
          <p:cNvSpPr/>
          <p:nvPr/>
        </p:nvSpPr>
        <p:spPr>
          <a:xfrm>
            <a:off x="0" y="0"/>
            <a:ext cx="12192000" cy="6858000"/>
          </a:xfrm>
          <a:prstGeom prst="rect">
            <a:avLst/>
          </a:prstGeom>
          <a:solidFill>
            <a:srgbClr val="0B1220"/>
          </a:solidFill>
        </p:spPr>
        <p:txBody>
          <a:bodyPr/>
          <a:p/>
        </p:txBody>
      </p:sp>
      <p:sp>
        <p:nvSpPr>
          <p:cNvPr id="539" name="圆角矩形 538"/>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540" name="文本框 539" descr="{&quot;isTemplate&quot;:true,&quot;type&quot;:&quot;text&quot;}"/>
          <p:cNvSpPr txBox="1"/>
          <p:nvPr/>
        </p:nvSpPr>
        <p:spPr>
          <a:xfrm>
            <a:off x="857250" y="476250"/>
            <a:ext cx="3914775"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关键路径（</a:t>
            </a:r>
            <a:r>
              <a:rPr lang="en-US" sz="2550" b="1">
                <a:solidFill>
                  <a:srgbClr val="E2E8F0"/>
                </a:solidFill>
                <a:latin typeface="微软雅黑" panose="020B0503020204020204" charset="-122"/>
                <a:ea typeface="微软雅黑" panose="020B0503020204020204" charset="-122"/>
              </a:rPr>
              <a:t>Critical Path</a:t>
            </a:r>
            <a:r>
              <a:rPr lang="zh-CN" sz="2550" b="1">
                <a:solidFill>
                  <a:srgbClr val="E2E8F0"/>
                </a:solidFill>
                <a:latin typeface="微软雅黑" panose="020B0503020204020204" charset="-122"/>
                <a:ea typeface="微软雅黑" panose="020B0503020204020204" charset="-122"/>
              </a:rPr>
              <a:t>）</a:t>
            </a:r>
            <a:endParaRPr lang="zh-CN" sz="2550" b="1">
              <a:solidFill>
                <a:srgbClr val="E2E8F0"/>
              </a:solidFill>
              <a:latin typeface="微软雅黑" panose="020B0503020204020204" charset="-122"/>
              <a:ea typeface="微软雅黑" panose="020B0503020204020204" charset="-122"/>
            </a:endParaRPr>
          </a:p>
        </p:txBody>
      </p:sp>
      <p:pic>
        <p:nvPicPr>
          <p:cNvPr id="541" name="图片 54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95400" y="1924050"/>
            <a:ext cx="5334000" cy="3429000"/>
          </a:xfrm>
          <a:prstGeom prst="rect">
            <a:avLst/>
          </a:prstGeom>
        </p:spPr>
      </p:pic>
      <p:sp>
        <p:nvSpPr>
          <p:cNvPr id="542" name="圆角矩形 541"/>
          <p:cNvSpPr/>
          <p:nvPr/>
        </p:nvSpPr>
        <p:spPr>
          <a:xfrm>
            <a:off x="7620000" y="2171700"/>
            <a:ext cx="4000500" cy="914400"/>
          </a:xfrm>
          <a:prstGeom prst="roundRect">
            <a:avLst>
              <a:gd name="adj" fmla="val 12500"/>
            </a:avLst>
          </a:prstGeom>
          <a:solidFill>
            <a:srgbClr val="111B2E"/>
          </a:solidFill>
        </p:spPr>
        <p:txBody>
          <a:bodyPr/>
          <a:p/>
        </p:txBody>
      </p:sp>
      <p:sp>
        <p:nvSpPr>
          <p:cNvPr id="543" name="任意多边形 542"/>
          <p:cNvSpPr/>
          <p:nvPr/>
        </p:nvSpPr>
        <p:spPr>
          <a:xfrm>
            <a:off x="7620000" y="2171700"/>
            <a:ext cx="4000500" cy="914400"/>
          </a:xfrm>
          <a:custGeom>
            <a:avLst/>
            <a:gdLst/>
            <a:ahLst/>
            <a:cxnLst/>
            <a:pathLst>
              <a:path w="420" h="96">
                <a:moveTo>
                  <a:pt x="11" y="0"/>
                </a:moveTo>
                <a:cubicBezTo>
                  <a:pt x="7" y="0"/>
                  <a:pt x="4" y="4"/>
                  <a:pt x="4" y="8"/>
                </a:cubicBezTo>
                <a:lnTo>
                  <a:pt x="4" y="88"/>
                </a:lnTo>
                <a:cubicBezTo>
                  <a:pt x="4" y="92"/>
                  <a:pt x="7" y="95"/>
                  <a:pt x="10" y="96"/>
                </a:cubicBezTo>
                <a:cubicBezTo>
                  <a:pt x="4" y="95"/>
                  <a:pt x="0" y="90"/>
                  <a:pt x="0" y="84"/>
                </a:cubicBezTo>
                <a:lnTo>
                  <a:pt x="0" y="12"/>
                </a:lnTo>
                <a:cubicBezTo>
                  <a:pt x="0" y="6"/>
                  <a:pt x="5" y="0"/>
                  <a:pt x="12" y="0"/>
                </a:cubicBezTo>
                <a:close/>
              </a:path>
            </a:pathLst>
          </a:custGeom>
          <a:solidFill>
            <a:srgbClr val="8B5CF6"/>
          </a:solidFill>
        </p:spPr>
        <p:txBody>
          <a:bodyPr/>
          <a:p/>
        </p:txBody>
      </p:sp>
      <p:sp>
        <p:nvSpPr>
          <p:cNvPr id="544" name="文本框 543" descr="{&quot;isTemplate&quot;:true,&quot;type&quot;:&quot;text&quot;}"/>
          <p:cNvSpPr txBox="1"/>
          <p:nvPr/>
        </p:nvSpPr>
        <p:spPr>
          <a:xfrm>
            <a:off x="7829550" y="2324100"/>
            <a:ext cx="3543300" cy="609600"/>
          </a:xfrm>
          <a:prstGeom prst="rect">
            <a:avLst/>
          </a:prstGeom>
        </p:spPr>
        <p:txBody>
          <a:bodyPr wrap="square" lIns="0" tIns="0" rIns="0" bIns="0">
            <a:normAutofit/>
          </a:bodyPr>
          <a:p>
            <a:pPr>
              <a:lnSpc>
                <a:spcPct val="170000"/>
              </a:lnSpc>
            </a:pPr>
            <a:r>
              <a:rPr lang="zh-CN" sz="1165" b="1">
                <a:solidFill>
                  <a:srgbClr val="C4B5FD"/>
                </a:solidFill>
                <a:latin typeface="微软雅黑" panose="020B0503020204020204" charset="-122"/>
                <a:ea typeface="微软雅黑" panose="020B0503020204020204" charset="-122"/>
              </a:rPr>
              <a:t>为什么关键：</a:t>
            </a:r>
            <a:r>
              <a:rPr lang="zh-CN" sz="1165">
                <a:solidFill>
                  <a:srgbClr val="E2E8F0"/>
                </a:solidFill>
                <a:latin typeface="微软雅黑" panose="020B0503020204020204" charset="-122"/>
                <a:ea typeface="微软雅黑" panose="020B0503020204020204" charset="-122"/>
              </a:rPr>
              <a:t>关键路径上活动的进度</a:t>
            </a:r>
            <a:r>
              <a:rPr lang="zh-CN" sz="1165" b="1">
                <a:solidFill>
                  <a:srgbClr val="E2E8F0"/>
                </a:solidFill>
                <a:latin typeface="微软雅黑" panose="020B0503020204020204" charset="-122"/>
                <a:ea typeface="微软雅黑" panose="020B0503020204020204" charset="-122"/>
              </a:rPr>
              <a:t>直接影响整个项目进度</a:t>
            </a:r>
            <a:r>
              <a:rPr lang="zh-CN" sz="1165">
                <a:solidFill>
                  <a:srgbClr val="E2E8F0"/>
                </a:solidFill>
                <a:latin typeface="微软雅黑" panose="020B0503020204020204" charset="-122"/>
                <a:ea typeface="微软雅黑" panose="020B0503020204020204" charset="-122"/>
              </a:rPr>
              <a:t>；要缩短工期，必须加快关键路径上的活动。</a:t>
            </a:r>
            <a:endParaRPr lang="zh-CN" sz="1165">
              <a:solidFill>
                <a:srgbClr val="E2E8F0"/>
              </a:solidFill>
              <a:latin typeface="微软雅黑" panose="020B0503020204020204" charset="-122"/>
              <a:ea typeface="微软雅黑" panose="020B0503020204020204" charset="-122"/>
            </a:endParaRPr>
          </a:p>
        </p:txBody>
      </p:sp>
      <p:sp>
        <p:nvSpPr>
          <p:cNvPr id="545" name="圆角矩形 544"/>
          <p:cNvSpPr/>
          <p:nvPr/>
        </p:nvSpPr>
        <p:spPr>
          <a:xfrm>
            <a:off x="7620000" y="3219450"/>
            <a:ext cx="4000500" cy="914400"/>
          </a:xfrm>
          <a:prstGeom prst="roundRect">
            <a:avLst>
              <a:gd name="adj" fmla="val 12500"/>
            </a:avLst>
          </a:prstGeom>
          <a:solidFill>
            <a:srgbClr val="111B2E"/>
          </a:solidFill>
        </p:spPr>
        <p:txBody>
          <a:bodyPr/>
          <a:p/>
        </p:txBody>
      </p:sp>
      <p:sp>
        <p:nvSpPr>
          <p:cNvPr id="546" name="任意多边形 545"/>
          <p:cNvSpPr/>
          <p:nvPr/>
        </p:nvSpPr>
        <p:spPr>
          <a:xfrm>
            <a:off x="7620000" y="3219450"/>
            <a:ext cx="4000500" cy="914400"/>
          </a:xfrm>
          <a:custGeom>
            <a:avLst/>
            <a:gdLst/>
            <a:ahLst/>
            <a:cxnLst/>
            <a:pathLst>
              <a:path w="420" h="96">
                <a:moveTo>
                  <a:pt x="11" y="0"/>
                </a:moveTo>
                <a:cubicBezTo>
                  <a:pt x="7" y="0"/>
                  <a:pt x="4" y="4"/>
                  <a:pt x="4" y="8"/>
                </a:cubicBezTo>
                <a:lnTo>
                  <a:pt x="4" y="88"/>
                </a:lnTo>
                <a:cubicBezTo>
                  <a:pt x="4" y="92"/>
                  <a:pt x="7" y="95"/>
                  <a:pt x="10" y="96"/>
                </a:cubicBezTo>
                <a:cubicBezTo>
                  <a:pt x="4" y="95"/>
                  <a:pt x="0" y="90"/>
                  <a:pt x="0" y="84"/>
                </a:cubicBezTo>
                <a:lnTo>
                  <a:pt x="0" y="12"/>
                </a:lnTo>
                <a:cubicBezTo>
                  <a:pt x="0" y="6"/>
                  <a:pt x="5" y="0"/>
                  <a:pt x="12" y="0"/>
                </a:cubicBezTo>
                <a:close/>
              </a:path>
            </a:pathLst>
          </a:custGeom>
          <a:solidFill>
            <a:srgbClr val="22D3EE"/>
          </a:solidFill>
        </p:spPr>
        <p:txBody>
          <a:bodyPr/>
          <a:p/>
        </p:txBody>
      </p:sp>
      <p:sp>
        <p:nvSpPr>
          <p:cNvPr id="547" name="文本框 546" descr="{&quot;isTemplate&quot;:true,&quot;type&quot;:&quot;text&quot;}"/>
          <p:cNvSpPr txBox="1"/>
          <p:nvPr/>
        </p:nvSpPr>
        <p:spPr>
          <a:xfrm>
            <a:off x="7829550" y="3371850"/>
            <a:ext cx="3543300" cy="609600"/>
          </a:xfrm>
          <a:prstGeom prst="rect">
            <a:avLst/>
          </a:prstGeom>
        </p:spPr>
        <p:txBody>
          <a:bodyPr wrap="square" lIns="0" tIns="0" rIns="0" bIns="0">
            <a:normAutofit/>
          </a:bodyPr>
          <a:p>
            <a:pPr>
              <a:lnSpc>
                <a:spcPct val="170000"/>
              </a:lnSpc>
            </a:pPr>
            <a:r>
              <a:rPr lang="zh-CN" sz="1165" b="1">
                <a:solidFill>
                  <a:srgbClr val="67E8F9"/>
                </a:solidFill>
                <a:latin typeface="微软雅黑" panose="020B0503020204020204" charset="-122"/>
                <a:ea typeface="微软雅黑" panose="020B0503020204020204" charset="-122"/>
              </a:rPr>
              <a:t>管理动作：</a:t>
            </a:r>
            <a:r>
              <a:rPr lang="zh-CN" sz="1165">
                <a:solidFill>
                  <a:srgbClr val="E2E8F0"/>
                </a:solidFill>
                <a:latin typeface="微软雅黑" panose="020B0503020204020204" charset="-122"/>
                <a:ea typeface="微软雅黑" panose="020B0503020204020204" charset="-122"/>
              </a:rPr>
              <a:t>监控时优先盯关键路径，非关键路径有浮动时间，可适度缓冲。</a:t>
            </a:r>
            <a:endParaRPr lang="zh-CN" sz="1165">
              <a:solidFill>
                <a:srgbClr val="E2E8F0"/>
              </a:solidFill>
              <a:latin typeface="微软雅黑" panose="020B0503020204020204" charset="-122"/>
              <a:ea typeface="微软雅黑" panose="020B0503020204020204" charset="-122"/>
            </a:endParaRPr>
          </a:p>
        </p:txBody>
      </p:sp>
      <p:sp>
        <p:nvSpPr>
          <p:cNvPr id="548" name="圆角矩形 547"/>
          <p:cNvSpPr/>
          <p:nvPr/>
        </p:nvSpPr>
        <p:spPr>
          <a:xfrm>
            <a:off x="7581900" y="4267200"/>
            <a:ext cx="4000500" cy="838200"/>
          </a:xfrm>
          <a:prstGeom prst="roundRect">
            <a:avLst>
              <a:gd name="adj" fmla="val 13636"/>
            </a:avLst>
          </a:prstGeom>
          <a:solidFill>
            <a:srgbClr val="22D3EE">
              <a:alpha val="8000"/>
            </a:srgbClr>
          </a:solidFill>
          <a:ln w="12700">
            <a:solidFill>
              <a:srgbClr val="22D3EE">
                <a:alpha val="35000"/>
              </a:srgbClr>
            </a:solidFill>
            <a:prstDash val="solid"/>
          </a:ln>
        </p:spPr>
        <p:txBody>
          <a:bodyPr/>
          <a:p/>
        </p:txBody>
      </p:sp>
      <p:sp>
        <p:nvSpPr>
          <p:cNvPr id="549" name="文本框 548" descr="{&quot;isTemplate&quot;:true,&quot;type&quot;:&quot;text&quot;}"/>
          <p:cNvSpPr txBox="1"/>
          <p:nvPr/>
        </p:nvSpPr>
        <p:spPr>
          <a:xfrm>
            <a:off x="7791450" y="4400550"/>
            <a:ext cx="3581400" cy="571500"/>
          </a:xfrm>
          <a:prstGeom prst="rect">
            <a:avLst/>
          </a:prstGeom>
        </p:spPr>
        <p:txBody>
          <a:bodyPr wrap="square" lIns="0" tIns="0" rIns="0" bIns="0">
            <a:normAutofit/>
          </a:bodyPr>
          <a:p>
            <a:pPr>
              <a:lnSpc>
                <a:spcPct val="165000"/>
              </a:lnSpc>
            </a:pPr>
            <a:r>
              <a:rPr lang="en-US" sz="1125" b="1">
                <a:solidFill>
                  <a:srgbClr val="67E8F9"/>
                </a:solidFill>
                <a:latin typeface="微软雅黑" panose="020B0503020204020204" charset="-122"/>
                <a:ea typeface="微软雅黑" panose="020B0503020204020204" charset="-122"/>
              </a:rPr>
              <a:t>AI </a:t>
            </a:r>
            <a:r>
              <a:rPr lang="zh-CN" sz="1125" b="1">
                <a:solidFill>
                  <a:srgbClr val="67E8F9"/>
                </a:solidFill>
                <a:latin typeface="微软雅黑" panose="020B0503020204020204" charset="-122"/>
                <a:ea typeface="微软雅黑" panose="020B0503020204020204" charset="-122"/>
              </a:rPr>
              <a:t>时代注脚：</a:t>
            </a:r>
            <a:r>
              <a:rPr lang="zh-CN" sz="1125">
                <a:solidFill>
                  <a:srgbClr val="E2E8F0"/>
                </a:solidFill>
                <a:latin typeface="微软雅黑" panose="020B0503020204020204" charset="-122"/>
                <a:ea typeface="微软雅黑" panose="020B0503020204020204" charset="-122"/>
              </a:rPr>
              <a:t>项目工具可自动计算关键路径与浮动时间，人要做的判断是</a:t>
            </a:r>
            <a:r>
              <a:rPr lang="en-US" sz="1125">
                <a:solidFill>
                  <a:srgbClr val="E2E8F0"/>
                </a:solidFill>
                <a:latin typeface="微软雅黑" panose="020B0503020204020204" charset="-122"/>
                <a:ea typeface="微软雅黑" panose="020B0503020204020204" charset="-122"/>
              </a:rPr>
              <a:t>"</a:t>
            </a:r>
            <a:r>
              <a:rPr lang="zh-CN" sz="1125">
                <a:solidFill>
                  <a:srgbClr val="E2E8F0"/>
                </a:solidFill>
                <a:latin typeface="微软雅黑" panose="020B0503020204020204" charset="-122"/>
                <a:ea typeface="微软雅黑" panose="020B0503020204020204" charset="-122"/>
              </a:rPr>
              <a:t>值不值得为此加资源</a:t>
            </a:r>
            <a:r>
              <a:rPr lang="en-US" sz="1125">
                <a:solidFill>
                  <a:srgbClr val="E2E8F0"/>
                </a:solidFill>
                <a:latin typeface="微软雅黑" panose="020B0503020204020204" charset="-122"/>
                <a:ea typeface="微软雅黑" panose="020B0503020204020204" charset="-122"/>
              </a:rPr>
              <a:t>"</a:t>
            </a:r>
            <a:r>
              <a:rPr lang="zh-CN" sz="1125">
                <a:solidFill>
                  <a:srgbClr val="E2E8F0"/>
                </a:solidFill>
                <a:latin typeface="微软雅黑" panose="020B0503020204020204" charset="-122"/>
                <a:ea typeface="微软雅黑" panose="020B0503020204020204" charset="-122"/>
              </a:rPr>
              <a:t>。</a:t>
            </a:r>
            <a:endParaRPr lang="zh-CN" sz="1125">
              <a:solidFill>
                <a:srgbClr val="E2E8F0"/>
              </a:solidFill>
              <a:latin typeface="微软雅黑" panose="020B0503020204020204" charset="-122"/>
              <a:ea typeface="微软雅黑" panose="020B0503020204020204" charset="-122"/>
            </a:endParaRPr>
          </a:p>
        </p:txBody>
      </p:sp>
      <p:sp>
        <p:nvSpPr>
          <p:cNvPr id="550" name="文本框 549"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551" name="文本框 550"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34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552"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第二章小结&lt;/Text&gt;&#13;&#10;    &lt;/Box&gt;&#13;&#10;    &lt;Box style={{ flex: 1, justifyContent: 'center', alignItems: 'center' }}&gt;&#13;&#10;        &lt;Box style={{ flexDirection: 'row', gap: 40, alignItems: 'center' }}&gt;&#13;&#10;            &lt;Box style={{ alignItems: 'center' }}&gt;&#13;&#10;                &lt;Text style={{ fontSize: 72, fontWeight: 'bold', color: '#3B82F6', lineHeight: 1.0 }}&gt;4&lt;/Text&gt;&#13;&#10;                &lt;Text style={{ fontSize: 16, color: '#94A3B8', marginTop: 8 }}&gt;活动关系类型&lt;br /&gt;FS / SS / FF / SF&lt;/Text&gt;&#13;&#10;            &lt;/Box&gt;&#13;&#10;            &lt;Box style={{ width: 2, height: 120, background: 'rgba(59,130,246,0.3)' }} /&gt;&#13;&#10;            &lt;Box style={{ alignItems: 'center' }}&gt;&#13;&#10;                &lt;Text style={{ fontSize: 72, fontWeight: 'bold', color: '#22D3EE', lineHeight: 1.0 }}&gt;2&lt;/Text&gt;&#13;&#10;                &lt;Text style={{ fontSize: 16, color: '#94A3B8', marginTop: 8 }}&gt;图形工具&lt;br /&gt;甘特图 / 网络图&lt;/Text&gt;&#13;&#10;            &lt;/Box&gt;&#13;&#10;            &lt;Box style={{ width: 2, height: 120, background: 'rgba(59,130,246,0.3)' }} /&gt;&#13;&#10;            &lt;Box style={{ alignItems: 'center' }}&gt;&#13;&#10;                &lt;Text style={{ fontSize: 72, fontWeight: 'bold', color: '#8B5CF6', lineHeight: 1.0 }}&gt;1&lt;/Text&gt;&#13;&#10;                &lt;Text style={{ fontSize: 16, color: '#94A3B8', marginTop: 8 }}&gt;关键路径&lt;br /&gt;决定总工期&lt;/Text&gt;&#13;&#10;            &lt;/Box&gt;&#13;&#10;        &lt;/Box&gt;&#13;&#10;        &lt;Text style={{ fontSize: 19, color: '#E2E8F0', marginTop: 40, textAlign: 'center' }}&gt;方法都掌握后，还需要&lt;span style={{ fontWeight: 'bold', color: '#22D3EE' }}&gt;一套规范的过程与步骤&lt;/span&gt;把计划做出来——下一节展开&lt;/Text&gt;&#13;&#10;    &lt;/Box&gt;&#13;&#10;    &lt;Box style={{ height: 40, flexDirection: 'row', justifyContent: 'space-between', alignItems: 'center', marginTop: 16 }}&gt;&#13;&#10;        &lt;Text style={{ fontSize: 14, color: '#94A3B8' }}&gt;03 项目计划与工作分解&lt;/Text&gt;&#13;&#10;        &lt;Text style={{ fontSize: 14, color: '#94A3B8' }}&gt;35 / 47&lt;/Text&gt;&#13;&#10;    &lt;/Box&gt;&#13;&#10;&lt;/Slide&gt;&#13;&#10;"/>
        <p:cNvGrpSpPr/>
        <p:nvPr/>
      </p:nvGrpSpPr>
      <p:grpSpPr>
        <a:xfrm>
          <a:off x="0" y="0"/>
          <a:ext cx="0" cy="0"/>
          <a:chOff x="0" y="0"/>
          <a:chExt cx="0" cy="0"/>
        </a:xfrm>
      </p:grpSpPr>
      <p:sp>
        <p:nvSpPr>
          <p:cNvPr id="553" name="矩形 552"/>
          <p:cNvSpPr/>
          <p:nvPr/>
        </p:nvSpPr>
        <p:spPr>
          <a:xfrm>
            <a:off x="0" y="0"/>
            <a:ext cx="12192000" cy="6858000"/>
          </a:xfrm>
          <a:prstGeom prst="rect">
            <a:avLst/>
          </a:prstGeom>
          <a:solidFill>
            <a:srgbClr val="0B1220"/>
          </a:solidFill>
        </p:spPr>
        <p:txBody>
          <a:bodyPr/>
          <a:p/>
        </p:txBody>
      </p:sp>
      <p:sp>
        <p:nvSpPr>
          <p:cNvPr id="554" name="圆角矩形 553"/>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555" name="文本框 554" descr="{&quot;isTemplate&quot;:true,&quot;type&quot;:&quot;text&quot;}"/>
          <p:cNvSpPr txBox="1"/>
          <p:nvPr/>
        </p:nvSpPr>
        <p:spPr>
          <a:xfrm>
            <a:off x="857250" y="476250"/>
            <a:ext cx="161925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第二章小结</a:t>
            </a:r>
            <a:endParaRPr lang="zh-CN" sz="2550" b="1">
              <a:solidFill>
                <a:srgbClr val="E2E8F0"/>
              </a:solidFill>
              <a:latin typeface="微软雅黑" panose="020B0503020204020204" charset="-122"/>
              <a:ea typeface="微软雅黑" panose="020B0503020204020204" charset="-122"/>
            </a:endParaRPr>
          </a:p>
        </p:txBody>
      </p:sp>
      <p:sp>
        <p:nvSpPr>
          <p:cNvPr id="556" name="文本框 555" descr="{&quot;isTemplate&quot;:true,&quot;type&quot;:&quot;text&quot;}"/>
          <p:cNvSpPr txBox="1"/>
          <p:nvPr/>
        </p:nvSpPr>
        <p:spPr>
          <a:xfrm>
            <a:off x="4191000" y="2705100"/>
            <a:ext cx="428625" cy="828675"/>
          </a:xfrm>
          <a:prstGeom prst="rect">
            <a:avLst/>
          </a:prstGeom>
        </p:spPr>
        <p:txBody>
          <a:bodyPr wrap="none" lIns="0" tIns="0" rIns="0" bIns="0"/>
          <a:p>
            <a:pPr>
              <a:lnSpc>
                <a:spcPct val="100000"/>
              </a:lnSpc>
            </a:pPr>
            <a:r>
              <a:rPr lang="en-US" sz="5400" b="1">
                <a:solidFill>
                  <a:srgbClr val="3B82F6"/>
                </a:solidFill>
                <a:latin typeface="微软雅黑" panose="020B0503020204020204" charset="-122"/>
                <a:ea typeface="微软雅黑" panose="020B0503020204020204" charset="-122"/>
              </a:rPr>
              <a:t>4</a:t>
            </a:r>
            <a:endParaRPr lang="en-US" sz="5400" b="1">
              <a:solidFill>
                <a:srgbClr val="3B82F6"/>
              </a:solidFill>
              <a:latin typeface="微软雅黑" panose="020B0503020204020204" charset="-122"/>
              <a:ea typeface="微软雅黑" panose="020B0503020204020204" charset="-122"/>
            </a:endParaRPr>
          </a:p>
        </p:txBody>
      </p:sp>
      <p:sp>
        <p:nvSpPr>
          <p:cNvPr id="557" name="文本框 556" descr="{&quot;isTemplate&quot;:true,&quot;type&quot;:&quot;text&quot;}"/>
          <p:cNvSpPr txBox="1"/>
          <p:nvPr/>
        </p:nvSpPr>
        <p:spPr>
          <a:xfrm>
            <a:off x="3829050" y="3609975"/>
            <a:ext cx="1143000" cy="371475"/>
          </a:xfrm>
          <a:prstGeom prst="rect">
            <a:avLst/>
          </a:prstGeom>
        </p:spPr>
        <p:txBody>
          <a:bodyPr wrap="none" lIns="0" tIns="0" rIns="0" bIns="0"/>
          <a:p>
            <a:pPr>
              <a:lnSpc>
                <a:spcPct val="100000"/>
              </a:lnSpc>
            </a:pPr>
            <a:r>
              <a:rPr lang="zh-CN" sz="1200">
                <a:solidFill>
                  <a:srgbClr val="94A3B8"/>
                </a:solidFill>
                <a:latin typeface="微软雅黑" panose="020B0503020204020204" charset="-122"/>
                <a:ea typeface="微软雅黑" panose="020B0503020204020204" charset="-122"/>
              </a:rPr>
              <a:t>活动关系类型</a:t>
            </a:r>
            <a:endParaRPr lang="zh-CN" sz="1200">
              <a:solidFill>
                <a:srgbClr val="94A3B8"/>
              </a:solidFill>
              <a:latin typeface="微软雅黑" panose="020B0503020204020204" charset="-122"/>
              <a:ea typeface="微软雅黑" panose="020B0503020204020204" charset="-122"/>
            </a:endParaRPr>
          </a:p>
          <a:p>
            <a:pPr>
              <a:lnSpc>
                <a:spcPct val="100000"/>
              </a:lnSpc>
            </a:pPr>
            <a:r>
              <a:rPr lang="en-US" sz="1200">
                <a:solidFill>
                  <a:srgbClr val="94A3B8"/>
                </a:solidFill>
                <a:latin typeface="微软雅黑" panose="020B0503020204020204" charset="-122"/>
                <a:ea typeface="微软雅黑" panose="020B0503020204020204" charset="-122"/>
              </a:rPr>
              <a:t>FS / SS / FF / SF</a:t>
            </a:r>
            <a:endParaRPr lang="en-US" sz="1200">
              <a:solidFill>
                <a:srgbClr val="94A3B8"/>
              </a:solidFill>
              <a:latin typeface="微软雅黑" panose="020B0503020204020204" charset="-122"/>
              <a:ea typeface="微软雅黑" panose="020B0503020204020204" charset="-122"/>
            </a:endParaRPr>
          </a:p>
        </p:txBody>
      </p:sp>
      <p:sp>
        <p:nvSpPr>
          <p:cNvPr id="558" name="矩形 557"/>
          <p:cNvSpPr/>
          <p:nvPr/>
        </p:nvSpPr>
        <p:spPr>
          <a:xfrm>
            <a:off x="5353050" y="2771775"/>
            <a:ext cx="19050" cy="1143000"/>
          </a:xfrm>
          <a:prstGeom prst="rect">
            <a:avLst/>
          </a:prstGeom>
          <a:solidFill>
            <a:srgbClr val="3B82F6">
              <a:alpha val="30000"/>
            </a:srgbClr>
          </a:solidFill>
        </p:spPr>
        <p:txBody>
          <a:bodyPr/>
          <a:p/>
        </p:txBody>
      </p:sp>
      <p:sp>
        <p:nvSpPr>
          <p:cNvPr id="559" name="文本框 558" descr="{&quot;isTemplate&quot;:true,&quot;type&quot;:&quot;text&quot;}"/>
          <p:cNvSpPr txBox="1"/>
          <p:nvPr/>
        </p:nvSpPr>
        <p:spPr>
          <a:xfrm>
            <a:off x="6076950" y="2705100"/>
            <a:ext cx="428625" cy="828675"/>
          </a:xfrm>
          <a:prstGeom prst="rect">
            <a:avLst/>
          </a:prstGeom>
        </p:spPr>
        <p:txBody>
          <a:bodyPr wrap="none" lIns="0" tIns="0" rIns="0" bIns="0"/>
          <a:p>
            <a:pPr>
              <a:lnSpc>
                <a:spcPct val="100000"/>
              </a:lnSpc>
            </a:pPr>
            <a:r>
              <a:rPr lang="en-US" sz="5400" b="1">
                <a:solidFill>
                  <a:srgbClr val="22D3EE"/>
                </a:solidFill>
                <a:latin typeface="微软雅黑" panose="020B0503020204020204" charset="-122"/>
                <a:ea typeface="微软雅黑" panose="020B0503020204020204" charset="-122"/>
              </a:rPr>
              <a:t>2</a:t>
            </a:r>
            <a:endParaRPr lang="en-US" sz="5400" b="1">
              <a:solidFill>
                <a:srgbClr val="22D3EE"/>
              </a:solidFill>
              <a:latin typeface="微软雅黑" panose="020B0503020204020204" charset="-122"/>
              <a:ea typeface="微软雅黑" panose="020B0503020204020204" charset="-122"/>
            </a:endParaRPr>
          </a:p>
        </p:txBody>
      </p:sp>
      <p:sp>
        <p:nvSpPr>
          <p:cNvPr id="560" name="文本框 559" descr="{&quot;isTemplate&quot;:true,&quot;type&quot;:&quot;text&quot;}"/>
          <p:cNvSpPr txBox="1"/>
          <p:nvPr/>
        </p:nvSpPr>
        <p:spPr>
          <a:xfrm>
            <a:off x="5753100" y="3609975"/>
            <a:ext cx="1076325" cy="371475"/>
          </a:xfrm>
          <a:prstGeom prst="rect">
            <a:avLst/>
          </a:prstGeom>
        </p:spPr>
        <p:txBody>
          <a:bodyPr wrap="none" lIns="0" tIns="0" rIns="0" bIns="0"/>
          <a:p>
            <a:pPr>
              <a:lnSpc>
                <a:spcPct val="100000"/>
              </a:lnSpc>
            </a:pPr>
            <a:r>
              <a:rPr lang="zh-CN" sz="1200">
                <a:solidFill>
                  <a:srgbClr val="94A3B8"/>
                </a:solidFill>
                <a:latin typeface="微软雅黑" panose="020B0503020204020204" charset="-122"/>
                <a:ea typeface="微软雅黑" panose="020B0503020204020204" charset="-122"/>
              </a:rPr>
              <a:t>图形工具</a:t>
            </a:r>
            <a:endParaRPr lang="zh-CN" sz="1200">
              <a:solidFill>
                <a:srgbClr val="94A3B8"/>
              </a:solidFill>
              <a:latin typeface="微软雅黑" panose="020B0503020204020204" charset="-122"/>
              <a:ea typeface="微软雅黑" panose="020B0503020204020204" charset="-122"/>
            </a:endParaRPr>
          </a:p>
          <a:p>
            <a:pPr>
              <a:lnSpc>
                <a:spcPct val="100000"/>
              </a:lnSpc>
            </a:pPr>
            <a:r>
              <a:rPr lang="zh-CN" sz="1200">
                <a:solidFill>
                  <a:srgbClr val="94A3B8"/>
                </a:solidFill>
                <a:latin typeface="微软雅黑" panose="020B0503020204020204" charset="-122"/>
                <a:ea typeface="微软雅黑" panose="020B0503020204020204" charset="-122"/>
              </a:rPr>
              <a:t>甘特图</a:t>
            </a:r>
            <a:r>
              <a:rPr lang="en-US" sz="1200">
                <a:solidFill>
                  <a:srgbClr val="94A3B8"/>
                </a:solidFill>
                <a:latin typeface="微软雅黑" panose="020B0503020204020204" charset="-122"/>
                <a:ea typeface="微软雅黑" panose="020B0503020204020204" charset="-122"/>
              </a:rPr>
              <a:t> / </a:t>
            </a:r>
            <a:r>
              <a:rPr lang="zh-CN" sz="1200">
                <a:solidFill>
                  <a:srgbClr val="94A3B8"/>
                </a:solidFill>
                <a:latin typeface="微软雅黑" panose="020B0503020204020204" charset="-122"/>
                <a:ea typeface="微软雅黑" panose="020B0503020204020204" charset="-122"/>
              </a:rPr>
              <a:t>网络图</a:t>
            </a:r>
            <a:endParaRPr lang="zh-CN" sz="1200">
              <a:solidFill>
                <a:srgbClr val="94A3B8"/>
              </a:solidFill>
              <a:latin typeface="微软雅黑" panose="020B0503020204020204" charset="-122"/>
              <a:ea typeface="微软雅黑" panose="020B0503020204020204" charset="-122"/>
            </a:endParaRPr>
          </a:p>
        </p:txBody>
      </p:sp>
      <p:sp>
        <p:nvSpPr>
          <p:cNvPr id="561" name="矩形 560"/>
          <p:cNvSpPr/>
          <p:nvPr/>
        </p:nvSpPr>
        <p:spPr>
          <a:xfrm>
            <a:off x="7210425" y="2771775"/>
            <a:ext cx="19050" cy="1143000"/>
          </a:xfrm>
          <a:prstGeom prst="rect">
            <a:avLst/>
          </a:prstGeom>
          <a:solidFill>
            <a:srgbClr val="3B82F6">
              <a:alpha val="30000"/>
            </a:srgbClr>
          </a:solidFill>
        </p:spPr>
        <p:txBody>
          <a:bodyPr/>
          <a:p/>
        </p:txBody>
      </p:sp>
      <p:sp>
        <p:nvSpPr>
          <p:cNvPr id="562" name="文本框 561" descr="{&quot;isTemplate&quot;:true,&quot;type&quot;:&quot;text&quot;}"/>
          <p:cNvSpPr txBox="1"/>
          <p:nvPr/>
        </p:nvSpPr>
        <p:spPr>
          <a:xfrm>
            <a:off x="7781925" y="2705100"/>
            <a:ext cx="428625" cy="828675"/>
          </a:xfrm>
          <a:prstGeom prst="rect">
            <a:avLst/>
          </a:prstGeom>
        </p:spPr>
        <p:txBody>
          <a:bodyPr wrap="none" lIns="0" tIns="0" rIns="0" bIns="0"/>
          <a:p>
            <a:pPr>
              <a:lnSpc>
                <a:spcPct val="100000"/>
              </a:lnSpc>
            </a:pPr>
            <a:r>
              <a:rPr lang="en-US" sz="5400" b="1">
                <a:solidFill>
                  <a:srgbClr val="8B5CF6"/>
                </a:solidFill>
                <a:latin typeface="微软雅黑" panose="020B0503020204020204" charset="-122"/>
                <a:ea typeface="微软雅黑" panose="020B0503020204020204" charset="-122"/>
              </a:rPr>
              <a:t>1</a:t>
            </a:r>
            <a:endParaRPr lang="en-US" sz="5400" b="1">
              <a:solidFill>
                <a:srgbClr val="8B5CF6"/>
              </a:solidFill>
              <a:latin typeface="微软雅黑" panose="020B0503020204020204" charset="-122"/>
              <a:ea typeface="微软雅黑" panose="020B0503020204020204" charset="-122"/>
            </a:endParaRPr>
          </a:p>
        </p:txBody>
      </p:sp>
      <p:sp>
        <p:nvSpPr>
          <p:cNvPr id="563" name="文本框 562" descr="{&quot;isTemplate&quot;:true,&quot;type&quot;:&quot;text&quot;}"/>
          <p:cNvSpPr txBox="1"/>
          <p:nvPr/>
        </p:nvSpPr>
        <p:spPr>
          <a:xfrm>
            <a:off x="7610475" y="3609975"/>
            <a:ext cx="762000" cy="371475"/>
          </a:xfrm>
          <a:prstGeom prst="rect">
            <a:avLst/>
          </a:prstGeom>
        </p:spPr>
        <p:txBody>
          <a:bodyPr wrap="none" lIns="0" tIns="0" rIns="0" bIns="0"/>
          <a:p>
            <a:pPr>
              <a:lnSpc>
                <a:spcPct val="100000"/>
              </a:lnSpc>
            </a:pPr>
            <a:r>
              <a:rPr lang="zh-CN" sz="1200">
                <a:solidFill>
                  <a:srgbClr val="94A3B8"/>
                </a:solidFill>
                <a:latin typeface="微软雅黑" panose="020B0503020204020204" charset="-122"/>
                <a:ea typeface="微软雅黑" panose="020B0503020204020204" charset="-122"/>
              </a:rPr>
              <a:t>关键路径</a:t>
            </a:r>
            <a:endParaRPr lang="zh-CN" sz="1200">
              <a:solidFill>
                <a:srgbClr val="94A3B8"/>
              </a:solidFill>
              <a:latin typeface="微软雅黑" panose="020B0503020204020204" charset="-122"/>
              <a:ea typeface="微软雅黑" panose="020B0503020204020204" charset="-122"/>
            </a:endParaRPr>
          </a:p>
          <a:p>
            <a:pPr>
              <a:lnSpc>
                <a:spcPct val="100000"/>
              </a:lnSpc>
            </a:pPr>
            <a:r>
              <a:rPr lang="zh-CN" sz="1200">
                <a:solidFill>
                  <a:srgbClr val="94A3B8"/>
                </a:solidFill>
                <a:latin typeface="微软雅黑" panose="020B0503020204020204" charset="-122"/>
                <a:ea typeface="微软雅黑" panose="020B0503020204020204" charset="-122"/>
              </a:rPr>
              <a:t>决定总工期</a:t>
            </a:r>
            <a:endParaRPr lang="zh-CN" sz="1200">
              <a:solidFill>
                <a:srgbClr val="94A3B8"/>
              </a:solidFill>
              <a:latin typeface="微软雅黑" panose="020B0503020204020204" charset="-122"/>
              <a:ea typeface="微软雅黑" panose="020B0503020204020204" charset="-122"/>
            </a:endParaRPr>
          </a:p>
        </p:txBody>
      </p:sp>
      <p:sp>
        <p:nvSpPr>
          <p:cNvPr id="564" name="文本框 563" descr="{&quot;isTemplate&quot;:true,&quot;type&quot;:&quot;text&quot;}"/>
          <p:cNvSpPr txBox="1"/>
          <p:nvPr/>
        </p:nvSpPr>
        <p:spPr>
          <a:xfrm>
            <a:off x="3095625" y="4362450"/>
            <a:ext cx="6010275" cy="219075"/>
          </a:xfrm>
          <a:prstGeom prst="rect">
            <a:avLst/>
          </a:prstGeom>
        </p:spPr>
        <p:txBody>
          <a:bodyPr wrap="none" lIns="0" tIns="0" rIns="0" bIns="0"/>
          <a:p>
            <a:pPr algn="ctr">
              <a:lnSpc>
                <a:spcPct val="100000"/>
              </a:lnSpc>
            </a:pPr>
            <a:r>
              <a:rPr lang="zh-CN" sz="1425">
                <a:solidFill>
                  <a:srgbClr val="E2E8F0"/>
                </a:solidFill>
                <a:latin typeface="微软雅黑" panose="020B0503020204020204" charset="-122"/>
                <a:ea typeface="微软雅黑" panose="020B0503020204020204" charset="-122"/>
              </a:rPr>
              <a:t>方法都掌握后，还需要</a:t>
            </a:r>
            <a:r>
              <a:rPr lang="zh-CN" sz="1425" b="1">
                <a:solidFill>
                  <a:srgbClr val="22D3EE"/>
                </a:solidFill>
                <a:latin typeface="微软雅黑" panose="020B0503020204020204" charset="-122"/>
                <a:ea typeface="微软雅黑" panose="020B0503020204020204" charset="-122"/>
              </a:rPr>
              <a:t>一套规范的过程与步骤</a:t>
            </a:r>
            <a:r>
              <a:rPr lang="zh-CN" sz="1425">
                <a:solidFill>
                  <a:srgbClr val="E2E8F0"/>
                </a:solidFill>
                <a:latin typeface="微软雅黑" panose="020B0503020204020204" charset="-122"/>
                <a:ea typeface="微软雅黑" panose="020B0503020204020204" charset="-122"/>
              </a:rPr>
              <a:t>把计划做出来——下一节展开</a:t>
            </a:r>
            <a:endParaRPr lang="zh-CN" sz="1425">
              <a:solidFill>
                <a:srgbClr val="E2E8F0"/>
              </a:solidFill>
              <a:latin typeface="微软雅黑" panose="020B0503020204020204" charset="-122"/>
              <a:ea typeface="微软雅黑" panose="020B0503020204020204" charset="-122"/>
            </a:endParaRPr>
          </a:p>
        </p:txBody>
      </p:sp>
      <p:sp>
        <p:nvSpPr>
          <p:cNvPr id="565" name="文本框 564"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566" name="文本框 565"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35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567" name="" descr="&lt;Slide style={{ width: 1280, height: 720, background: '#0B1220', position: 'relative', overflow: 'hidden' }}&gt;&#13;&#10;    &lt;Image src=&quot;assets/sec_bg.png&quot; style={{ position: 'absolute', top: 0, left: 0, width: 1280, height: 720, objectFit: 'cover', clipPath: 'inset(0 0 11% 0)' }} /&gt;&#13;&#10;    &lt;Box style={{ position: 'absolute', top: 0, left: 0, width: 1280, height: 720, background: 'linear-gradient(180deg, rgba(11,18,32,0.45) 0%, rgba(11,18,32,0.75) 100%)' }} /&gt;&#13;&#10;    &lt;Box style={{ position: 'absolute', left: 96, top: 200 }}&gt;&#13;&#10;        &lt;Text style={{ fontSize: 120, fontWeight: 'bold', color: 'rgba(139,92,246,0.32)' }}&gt;3.2&lt;/Text&gt;&#13;&#10;        &lt;Text style={{ fontSize: 58, fontWeight: 'bold', color: '#E2E8F0', marginTop: 8 }}&gt;制定步骤与 CMM 要求&lt;/Text&gt;&#13;&#10;        &lt;Box style={{ width: 90, height: 5, background: 'linear-gradient(90deg, #8B5CF6 0%, #22D3EE 100%)', borderRadius: 3, marginTop: 26 }} /&gt;&#13;&#10;        &lt;Text style={{ fontSize: 20, color: '#94A3B8', marginTop: 26, letterSpacing: 2 }}&gt;十个步骤 · 乐观计划 · 案例 · AI 辅助&lt;/Text&gt;&#13;&#10;    &lt;/Box&gt;&#13;&#10;    &lt;Box style={{ position: 'absolute', right: 96, bottom: 72, flexDirection: 'row', gap: 12, alignItems: 'center' }}&gt;&#13;&#10;        &lt;Box style={{ width: 8, height: 8, borderRadius: 4, background: 'rgba(139,92,246,0.35)' }} /&gt;&#13;&#10;        &lt;Box style={{ width: 8, height: 8, borderRadius: 4, background: '#8B5CF6' }} /&gt;&#13;&#10;        &lt;Box style={{ width: 8, height: 8, borderRadius: 4, background: 'rgba(139,92,246,0.35)' }} /&gt;&#13;&#10;    &lt;/Box&gt;&#13;&#10;&lt;/Slide&gt;&#13;&#10;"/>
        <p:cNvGrpSpPr/>
        <p:nvPr/>
      </p:nvGrpSpPr>
      <p:grpSpPr>
        <a:xfrm>
          <a:off x="0" y="0"/>
          <a:ext cx="0" cy="0"/>
          <a:chOff x="0" y="0"/>
          <a:chExt cx="0" cy="0"/>
        </a:xfrm>
      </p:grpSpPr>
      <p:sp>
        <p:nvSpPr>
          <p:cNvPr id="568" name="矩形 567"/>
          <p:cNvSpPr/>
          <p:nvPr/>
        </p:nvSpPr>
        <p:spPr>
          <a:xfrm>
            <a:off x="0" y="0"/>
            <a:ext cx="12192000" cy="6858000"/>
          </a:xfrm>
          <a:prstGeom prst="rect">
            <a:avLst/>
          </a:prstGeom>
          <a:solidFill>
            <a:srgbClr val="0B1220"/>
          </a:solidFill>
        </p:spPr>
        <p:txBody>
          <a:bodyPr/>
          <a:p/>
        </p:txBody>
      </p:sp>
      <p:pic>
        <p:nvPicPr>
          <p:cNvPr id="569" name="图片 568"/>
          <p:cNvPicPr>
            <a:picLocks noChangeAspect="1"/>
          </p:cNvPicPr>
          <p:nvPr/>
        </p:nvPicPr>
        <p:blipFill>
          <a:blip r:embed="rId1"/>
          <a:srcRect t="7812" b="7812"/>
          <a:stretch>
            <a:fillRect/>
          </a:stretch>
        </p:blipFill>
        <p:spPr>
          <a:xfrm>
            <a:off x="0" y="0"/>
            <a:ext cx="12192000" cy="6858000"/>
          </a:xfrm>
          <a:custGeom>
            <a:avLst/>
            <a:gdLst/>
            <a:ahLst/>
            <a:cxnLst/>
            <a:pathLst>
              <a:path w="1280" h="720">
                <a:moveTo>
                  <a:pt x="0" y="0"/>
                </a:moveTo>
                <a:lnTo>
                  <a:pt x="1280" y="0"/>
                </a:lnTo>
                <a:lnTo>
                  <a:pt x="1280" y="641"/>
                </a:lnTo>
                <a:lnTo>
                  <a:pt x="0" y="641"/>
                </a:lnTo>
                <a:close/>
              </a:path>
            </a:pathLst>
          </a:custGeom>
        </p:spPr>
      </p:pic>
      <p:sp>
        <p:nvSpPr>
          <p:cNvPr id="570" name="矩形 569"/>
          <p:cNvSpPr/>
          <p:nvPr/>
        </p:nvSpPr>
        <p:spPr>
          <a:xfrm>
            <a:off x="0" y="0"/>
            <a:ext cx="12192000" cy="6858000"/>
          </a:xfrm>
          <a:prstGeom prst="rect">
            <a:avLst/>
          </a:prstGeom>
          <a:gradFill>
            <a:gsLst>
              <a:gs pos="0">
                <a:srgbClr val="0B1220">
                  <a:alpha val="45000"/>
                </a:srgbClr>
              </a:gs>
              <a:gs pos="100000">
                <a:srgbClr val="0B1220">
                  <a:alpha val="75000"/>
                </a:srgbClr>
              </a:gs>
            </a:gsLst>
            <a:lin ang="5400000" scaled="1"/>
          </a:gradFill>
        </p:spPr>
        <p:txBody>
          <a:bodyPr/>
          <a:p/>
        </p:txBody>
      </p:sp>
      <p:sp>
        <p:nvSpPr>
          <p:cNvPr id="571" name="文本框 570" descr="{&quot;isTemplate&quot;:true,&quot;type&quot;:&quot;text&quot;}"/>
          <p:cNvSpPr txBox="1"/>
          <p:nvPr/>
        </p:nvSpPr>
        <p:spPr>
          <a:xfrm>
            <a:off x="914400" y="1905000"/>
            <a:ext cx="5705475" cy="1371600"/>
          </a:xfrm>
          <a:prstGeom prst="rect">
            <a:avLst/>
          </a:prstGeom>
        </p:spPr>
        <p:txBody>
          <a:bodyPr wrap="none" lIns="0" tIns="0" rIns="0" bIns="0"/>
          <a:p>
            <a:pPr>
              <a:lnSpc>
                <a:spcPct val="100000"/>
              </a:lnSpc>
            </a:pPr>
            <a:r>
              <a:rPr lang="en-US" sz="9000" b="1">
                <a:solidFill>
                  <a:srgbClr val="8B5CF6">
                    <a:alpha val="32000"/>
                  </a:srgbClr>
                </a:solidFill>
                <a:latin typeface="微软雅黑" panose="020B0503020204020204" charset="-122"/>
                <a:ea typeface="微软雅黑" panose="020B0503020204020204" charset="-122"/>
              </a:rPr>
              <a:t>3.2</a:t>
            </a:r>
            <a:endParaRPr lang="en-US" sz="9000" b="1">
              <a:solidFill>
                <a:srgbClr val="8B5CF6">
                  <a:alpha val="32000"/>
                </a:srgbClr>
              </a:solidFill>
              <a:latin typeface="微软雅黑" panose="020B0503020204020204" charset="-122"/>
              <a:ea typeface="微软雅黑" panose="020B0503020204020204" charset="-122"/>
            </a:endParaRPr>
          </a:p>
        </p:txBody>
      </p:sp>
      <p:sp>
        <p:nvSpPr>
          <p:cNvPr id="572" name="文本框 571" descr="{&quot;isTemplate&quot;:true,&quot;type&quot;:&quot;text&quot;}"/>
          <p:cNvSpPr txBox="1"/>
          <p:nvPr/>
        </p:nvSpPr>
        <p:spPr>
          <a:xfrm>
            <a:off x="914400" y="3352800"/>
            <a:ext cx="5705475" cy="666750"/>
          </a:xfrm>
          <a:prstGeom prst="rect">
            <a:avLst/>
          </a:prstGeom>
        </p:spPr>
        <p:txBody>
          <a:bodyPr wrap="none" lIns="0" tIns="0" rIns="0" bIns="0"/>
          <a:p>
            <a:pPr>
              <a:lnSpc>
                <a:spcPct val="100000"/>
              </a:lnSpc>
            </a:pPr>
            <a:r>
              <a:rPr lang="zh-CN" sz="4350" b="1">
                <a:solidFill>
                  <a:srgbClr val="E2E8F0"/>
                </a:solidFill>
                <a:latin typeface="微软雅黑" panose="020B0503020204020204" charset="-122"/>
                <a:ea typeface="微软雅黑" panose="020B0503020204020204" charset="-122"/>
              </a:rPr>
              <a:t>制定步骤与</a:t>
            </a:r>
            <a:r>
              <a:rPr lang="en-US" sz="4350" b="1">
                <a:solidFill>
                  <a:srgbClr val="E2E8F0"/>
                </a:solidFill>
                <a:latin typeface="微软雅黑" panose="020B0503020204020204" charset="-122"/>
                <a:ea typeface="微软雅黑" panose="020B0503020204020204" charset="-122"/>
              </a:rPr>
              <a:t> CMM </a:t>
            </a:r>
            <a:r>
              <a:rPr lang="zh-CN" sz="4350" b="1">
                <a:solidFill>
                  <a:srgbClr val="E2E8F0"/>
                </a:solidFill>
                <a:latin typeface="微软雅黑" panose="020B0503020204020204" charset="-122"/>
                <a:ea typeface="微软雅黑" panose="020B0503020204020204" charset="-122"/>
              </a:rPr>
              <a:t>要求</a:t>
            </a:r>
            <a:endParaRPr lang="zh-CN" sz="4350" b="1">
              <a:solidFill>
                <a:srgbClr val="E2E8F0"/>
              </a:solidFill>
              <a:latin typeface="微软雅黑" panose="020B0503020204020204" charset="-122"/>
              <a:ea typeface="微软雅黑" panose="020B0503020204020204" charset="-122"/>
            </a:endParaRPr>
          </a:p>
        </p:txBody>
      </p:sp>
      <p:sp>
        <p:nvSpPr>
          <p:cNvPr id="573" name="圆角矩形 572"/>
          <p:cNvSpPr/>
          <p:nvPr/>
        </p:nvSpPr>
        <p:spPr>
          <a:xfrm>
            <a:off x="914400" y="4267200"/>
            <a:ext cx="857250" cy="47625"/>
          </a:xfrm>
          <a:prstGeom prst="roundRect">
            <a:avLst>
              <a:gd name="adj" fmla="val 60000"/>
            </a:avLst>
          </a:prstGeom>
          <a:gradFill>
            <a:gsLst>
              <a:gs pos="0">
                <a:srgbClr val="8B5CF6"/>
              </a:gs>
              <a:gs pos="100000">
                <a:srgbClr val="22D3EE"/>
              </a:gs>
            </a:gsLst>
            <a:lin ang="0" scaled="1"/>
          </a:gradFill>
        </p:spPr>
        <p:txBody>
          <a:bodyPr/>
          <a:p/>
        </p:txBody>
      </p:sp>
      <p:sp>
        <p:nvSpPr>
          <p:cNvPr id="574" name="文本框 573" descr="{&quot;isTemplate&quot;:true,&quot;type&quot;:&quot;text&quot;}"/>
          <p:cNvSpPr txBox="1"/>
          <p:nvPr/>
        </p:nvSpPr>
        <p:spPr>
          <a:xfrm>
            <a:off x="914400" y="4562475"/>
            <a:ext cx="5705475" cy="228600"/>
          </a:xfrm>
          <a:prstGeom prst="rect">
            <a:avLst/>
          </a:prstGeom>
        </p:spPr>
        <p:txBody>
          <a:bodyPr wrap="none" lIns="0" tIns="0" rIns="0" bIns="0"/>
          <a:p>
            <a:pPr>
              <a:lnSpc>
                <a:spcPct val="100000"/>
              </a:lnSpc>
            </a:pPr>
            <a:r>
              <a:rPr lang="zh-CN" sz="1500" spc="150">
                <a:solidFill>
                  <a:srgbClr val="94A3B8"/>
                </a:solidFill>
                <a:latin typeface="微软雅黑" panose="020B0503020204020204" charset="-122"/>
                <a:ea typeface="微软雅黑" panose="020B0503020204020204" charset="-122"/>
              </a:rPr>
              <a:t>十个步骤</a:t>
            </a:r>
            <a:r>
              <a:rPr lang="en-US" sz="1500" spc="150">
                <a:solidFill>
                  <a:srgbClr val="94A3B8"/>
                </a:solidFill>
                <a:latin typeface="微软雅黑" panose="020B0503020204020204" charset="-122"/>
                <a:ea typeface="微软雅黑" panose="020B0503020204020204" charset="-122"/>
              </a:rPr>
              <a:t> · </a:t>
            </a:r>
            <a:r>
              <a:rPr lang="zh-CN" sz="1500" spc="150">
                <a:solidFill>
                  <a:srgbClr val="94A3B8"/>
                </a:solidFill>
                <a:latin typeface="微软雅黑" panose="020B0503020204020204" charset="-122"/>
                <a:ea typeface="微软雅黑" panose="020B0503020204020204" charset="-122"/>
              </a:rPr>
              <a:t>乐观计划</a:t>
            </a:r>
            <a:r>
              <a:rPr lang="en-US" sz="1500" spc="150">
                <a:solidFill>
                  <a:srgbClr val="94A3B8"/>
                </a:solidFill>
                <a:latin typeface="微软雅黑" panose="020B0503020204020204" charset="-122"/>
                <a:ea typeface="微软雅黑" panose="020B0503020204020204" charset="-122"/>
              </a:rPr>
              <a:t> · </a:t>
            </a:r>
            <a:r>
              <a:rPr lang="zh-CN" sz="1500" spc="150">
                <a:solidFill>
                  <a:srgbClr val="94A3B8"/>
                </a:solidFill>
                <a:latin typeface="微软雅黑" panose="020B0503020204020204" charset="-122"/>
                <a:ea typeface="微软雅黑" panose="020B0503020204020204" charset="-122"/>
              </a:rPr>
              <a:t>案例</a:t>
            </a:r>
            <a:r>
              <a:rPr lang="en-US" sz="1500" spc="150">
                <a:solidFill>
                  <a:srgbClr val="94A3B8"/>
                </a:solidFill>
                <a:latin typeface="微软雅黑" panose="020B0503020204020204" charset="-122"/>
                <a:ea typeface="微软雅黑" panose="020B0503020204020204" charset="-122"/>
              </a:rPr>
              <a:t> · AI </a:t>
            </a:r>
            <a:r>
              <a:rPr lang="zh-CN" sz="1500" spc="150">
                <a:solidFill>
                  <a:srgbClr val="94A3B8"/>
                </a:solidFill>
                <a:latin typeface="微软雅黑" panose="020B0503020204020204" charset="-122"/>
                <a:ea typeface="微软雅黑" panose="020B0503020204020204" charset="-122"/>
              </a:rPr>
              <a:t>辅助</a:t>
            </a:r>
            <a:endParaRPr lang="zh-CN" sz="1500" spc="150">
              <a:solidFill>
                <a:srgbClr val="94A3B8"/>
              </a:solidFill>
              <a:latin typeface="微软雅黑" panose="020B0503020204020204" charset="-122"/>
              <a:ea typeface="微软雅黑" panose="020B0503020204020204" charset="-122"/>
            </a:endParaRPr>
          </a:p>
        </p:txBody>
      </p:sp>
      <p:sp>
        <p:nvSpPr>
          <p:cNvPr id="575" name="圆角矩形 574"/>
          <p:cNvSpPr/>
          <p:nvPr/>
        </p:nvSpPr>
        <p:spPr>
          <a:xfrm>
            <a:off x="10820400" y="6096000"/>
            <a:ext cx="76200" cy="76200"/>
          </a:xfrm>
          <a:prstGeom prst="roundRect">
            <a:avLst>
              <a:gd name="adj" fmla="val 50000"/>
            </a:avLst>
          </a:prstGeom>
          <a:solidFill>
            <a:srgbClr val="8B5CF6">
              <a:alpha val="35000"/>
            </a:srgbClr>
          </a:solidFill>
        </p:spPr>
        <p:txBody>
          <a:bodyPr/>
          <a:p/>
        </p:txBody>
      </p:sp>
      <p:sp>
        <p:nvSpPr>
          <p:cNvPr id="576" name="圆角矩形 575"/>
          <p:cNvSpPr/>
          <p:nvPr/>
        </p:nvSpPr>
        <p:spPr>
          <a:xfrm>
            <a:off x="11010900" y="6096000"/>
            <a:ext cx="76200" cy="76200"/>
          </a:xfrm>
          <a:prstGeom prst="roundRect">
            <a:avLst>
              <a:gd name="adj" fmla="val 50000"/>
            </a:avLst>
          </a:prstGeom>
          <a:solidFill>
            <a:srgbClr val="8B5CF6"/>
          </a:solidFill>
        </p:spPr>
        <p:txBody>
          <a:bodyPr/>
          <a:p/>
        </p:txBody>
      </p:sp>
      <p:sp>
        <p:nvSpPr>
          <p:cNvPr id="577" name="圆角矩形 576"/>
          <p:cNvSpPr/>
          <p:nvPr/>
        </p:nvSpPr>
        <p:spPr>
          <a:xfrm>
            <a:off x="11201400" y="6096000"/>
            <a:ext cx="76200" cy="76200"/>
          </a:xfrm>
          <a:prstGeom prst="roundRect">
            <a:avLst>
              <a:gd name="adj" fmla="val 50000"/>
            </a:avLst>
          </a:prstGeom>
          <a:solidFill>
            <a:srgbClr val="8B5CF6">
              <a:alpha val="35000"/>
            </a:srgbClr>
          </a:solidFill>
        </p:spPr>
        <p:txBody>
          <a:body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578"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制定软件项目计划的十个步骤&lt;/Text&gt;&#13;&#10;    &lt;/Box&gt;&#13;&#10;    &lt;Box style={{ flex: 1, flexDirection: 'row', flexWrap: 'wrap', gap: 12, alignContent: 'center' }}&gt;&#13;&#10;        &lt;Box style={{ width: 270, height: 120, background: '#111B2E', borderRadius: 10, padding: '14px 18px', borderLeft: '4px solid #3B82F6' }}&gt;&#13;&#10;            &lt;Text style={{ fontSize: 15, fontWeight: 'bold', color: '#93C5FD' }}&gt;① 指定计划协调者&lt;/Text&gt;&#13;&#10;            &lt;Text style={{ fontSize: 13, color: '#94A3B8', marginTop: 4 }}&gt;专人负责，1 天&lt;/Text&gt;&#13;&#10;        &lt;/Box&gt;&#13;&#10;        &lt;Box style={{ width: 270, height: 120, background: '#111B2E', borderRadius: 10, padding: '14px 18px', borderLeft: '4px solid #3B82F6' }}&gt;&#13;&#10;            &lt;Text style={{ fontSize: 15, fontWeight: 'bold', color: '#93C5FD' }}&gt;② 确定使用工具&lt;/Text&gt;&#13;&#10;            &lt;Text style={{ fontSize: 13, color: '#94A3B8', marginTop: 4 }}&gt;如 MS Project，0–5 天&lt;/Text&gt;&#13;&#10;        &lt;/Box&gt;&#13;&#10;        &lt;Box style={{ width: 270, height: 120, background: '#111B2E', borderRadius: 10, padding: '14px 18px', borderLeft: '4px solid #3B82F6' }}&gt;&#13;&#10;            &lt;Text style={{ fontSize: 15, fontWeight: 'bold', color: '#93C5FD' }}&gt;③ 准备计划会议&lt;/Text&gt;&#13;&#10;            &lt;Text style={{ fontSize: 13, color: '#94A3B8', marginTop: 4 }}&gt;主题、日程、草案、历史数据&lt;/Text&gt;&#13;&#10;        &lt;/Box&gt;&#13;&#10;        &lt;Box style={{ width: 270, height: 120, background: '#111B2E', borderRadius: 10, padding: '14px 18px', borderLeft: '4px solid #3B82F6' }}&gt;&#13;&#10;            &lt;Text style={{ fontSize: 15, fontWeight: 'bold', color: '#93C5FD' }}&gt;④ 召开计划会议&lt;/Text&gt;&#13;&#10;            &lt;Text style={{ fontSize: 13, color: '#94A3B8', marginTop: 4 }}&gt;定活动与负责人，2–3 天&lt;/Text&gt;&#13;&#10;        &lt;/Box&gt;&#13;&#10;        &lt;Box style={{ width: 270, height: 120, background: '#111B2E', borderRadius: 10, padding: '14px 18px', borderLeft: '4px solid #22D3EE' }}&gt;&#13;&#10;            &lt;Text style={{ fontSize: 15, fontWeight: 'bold', color: '#67E8F9' }}&gt;⑤ 提交和分析数据&lt;/Text&gt;&#13;&#10;            &lt;Text style={{ fontSize: 13, color: '#94A3B8', marginTop: 4 }}&gt;各负责人提交，1 周&lt;/Text&gt;&#13;&#10;        &lt;/Box&gt;&#13;&#10;        &lt;Box style={{ width: 270, height: 120, background: '#111B2E', borderRadius: 10, padding: '14px 18px', borderLeft: '4px solid #22D3EE' }}&gt;&#13;&#10;            &lt;Text style={{ fontSize: 15, fontWeight: 'bold', color: '#67E8F9' }}&gt;⑥ 用工具创建计划&lt;/Text&gt;&#13;&#10;            &lt;Text style={{ fontSize: 13, color: '#94A3B8', marginTop: 4 }}&gt;生成初步计划，1–5 天&lt;/Text&gt;&#13;&#10;        &lt;/Box&gt;&#13;&#10;        &lt;Box style={{ width: 270, height: 120, background: '#111B2E', borderRadius: 10, padding: '14px 18px', borderLeft: '4px solid #22D3EE' }}&gt;&#13;&#10;            &lt;Text style={{ fontSize: 15, fontWeight: 'bold', color: '#67E8F9' }}&gt;⑦ 评审计划&lt;/Text&gt;&#13;&#10;            &lt;Text style={{ fontSize: 13, color: '#94A3B8', marginTop: 4 }}&gt;管理层、QA、用户参与&lt;/Text&gt;&#13;&#10;        &lt;/Box&gt;&#13;&#10;        &lt;Box style={{ width: 270, height: 120, background: '#111B2E', borderRadius: 10, padding: '14px 18px', borderLeft: '4px solid #8B5CF6' }}&gt;&#13;&#10;            &lt;Text style={{ fontSize: 15, fontWeight: 'bold', color: '#C4B5FD' }}&gt;⑧ 更改计划&lt;/Text&gt;&#13;&#10;            &lt;Text style={{ fontSize: 13, color: '#94A3B8', marginTop: 4 }}&gt;按评审意见修改，1–5 天&lt;/Text&gt;&#13;&#10;        &lt;/Box&gt;&#13;&#10;        &lt;Box style={{ width: 270, height: 120, background: '#111B2E', borderRadius: 10, padding: '14px 18px', borderLeft: '4px solid #8B5CF6' }}&gt;&#13;&#10;            &lt;Text style={{ fontSize: 15, fontWeight: 'bold', color: '#C4B5FD' }}&gt;⑨ 批准计划&lt;/Text&gt;&#13;&#10;            &lt;Text style={{ fontSize: 13, color: '#94A3B8', marginTop: 4 }}&gt;项目经理批准，1 天&lt;/Text&gt;&#13;&#10;        &lt;/Box&gt;&#13;&#10;        &lt;Box style={{ width: 270, height: 120, background: '#111B2E', borderRadius: 10, padding: '14px 18px', borderLeft: '4px solid #8B5CF6' }}&gt;&#13;&#10;            &lt;Text style={{ fontSize: 15, fontWeight: 'bold', color: '#C4B5FD' }}&gt;⑩ 分发计划&lt;/Text&gt;&#13;&#10;            &lt;Text style={{ fontSize: 13, color: '#94A3B8', marginTop: 4 }}&gt;分发给全体成员，1 天&lt;/Text&gt;&#13;&#10;        &lt;/Box&gt;&#13;&#10;    &lt;/Box&gt;&#13;&#10;    &lt;Box style={{ height: 40, flexDirection: 'row', justifyContent: 'space-between', alignItems: 'center', marginTop: 16 }}&gt;&#13;&#10;        &lt;Text style={{ fontSize: 14, color: '#94A3B8' }}&gt;03 项目计划与工作分解&lt;/Text&gt;&#13;&#10;        &lt;Text style={{ fontSize: 14, color: '#94A3B8' }}&gt;37 / 47&lt;/Text&gt;&#13;&#10;    &lt;/Box&gt;&#13;&#10;&lt;/Slide&gt;&#13;&#10;"/>
        <p:cNvGrpSpPr/>
        <p:nvPr/>
      </p:nvGrpSpPr>
      <p:grpSpPr>
        <a:xfrm>
          <a:off x="0" y="0"/>
          <a:ext cx="0" cy="0"/>
          <a:chOff x="0" y="0"/>
          <a:chExt cx="0" cy="0"/>
        </a:xfrm>
      </p:grpSpPr>
      <p:sp>
        <p:nvSpPr>
          <p:cNvPr id="579" name="矩形 578"/>
          <p:cNvSpPr/>
          <p:nvPr/>
        </p:nvSpPr>
        <p:spPr>
          <a:xfrm>
            <a:off x="0" y="0"/>
            <a:ext cx="12192000" cy="6858000"/>
          </a:xfrm>
          <a:prstGeom prst="rect">
            <a:avLst/>
          </a:prstGeom>
          <a:solidFill>
            <a:srgbClr val="0B1220"/>
          </a:solidFill>
        </p:spPr>
        <p:txBody>
          <a:bodyPr/>
          <a:p/>
        </p:txBody>
      </p:sp>
      <p:sp>
        <p:nvSpPr>
          <p:cNvPr id="580" name="圆角矩形 579"/>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581" name="文本框 580" descr="{&quot;isTemplate&quot;:true,&quot;type&quot;:&quot;text&quot;}"/>
          <p:cNvSpPr txBox="1"/>
          <p:nvPr/>
        </p:nvSpPr>
        <p:spPr>
          <a:xfrm>
            <a:off x="857250" y="476250"/>
            <a:ext cx="421005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制定软件项目计划的十个步骤</a:t>
            </a:r>
            <a:endParaRPr lang="zh-CN" sz="2550" b="1">
              <a:solidFill>
                <a:srgbClr val="E2E8F0"/>
              </a:solidFill>
              <a:latin typeface="微软雅黑" panose="020B0503020204020204" charset="-122"/>
              <a:ea typeface="微软雅黑" panose="020B0503020204020204" charset="-122"/>
            </a:endParaRPr>
          </a:p>
        </p:txBody>
      </p:sp>
      <p:sp>
        <p:nvSpPr>
          <p:cNvPr id="582" name="圆角矩形 581"/>
          <p:cNvSpPr/>
          <p:nvPr/>
        </p:nvSpPr>
        <p:spPr>
          <a:xfrm>
            <a:off x="647700" y="1143000"/>
            <a:ext cx="2533650" cy="1143000"/>
          </a:xfrm>
          <a:prstGeom prst="roundRect">
            <a:avLst>
              <a:gd name="adj" fmla="val 8333"/>
            </a:avLst>
          </a:prstGeom>
          <a:solidFill>
            <a:srgbClr val="111B2E"/>
          </a:solidFill>
        </p:spPr>
        <p:txBody>
          <a:bodyPr/>
          <a:p/>
        </p:txBody>
      </p:sp>
      <p:sp>
        <p:nvSpPr>
          <p:cNvPr id="583" name="任意多边形 582"/>
          <p:cNvSpPr/>
          <p:nvPr/>
        </p:nvSpPr>
        <p:spPr>
          <a:xfrm>
            <a:off x="647700" y="1143000"/>
            <a:ext cx="2533650" cy="1143000"/>
          </a:xfrm>
          <a:custGeom>
            <a:avLst/>
            <a:gdLst/>
            <a:ahLst/>
            <a:cxnLst/>
            <a:pathLst>
              <a:path w="266"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3B82F6"/>
          </a:solidFill>
        </p:spPr>
        <p:txBody>
          <a:bodyPr/>
          <a:p/>
        </p:txBody>
      </p:sp>
      <p:sp>
        <p:nvSpPr>
          <p:cNvPr id="584" name="文本框 583" descr="{&quot;isTemplate&quot;:true,&quot;type&quot;:&quot;text&quot;}"/>
          <p:cNvSpPr txBox="1"/>
          <p:nvPr/>
        </p:nvSpPr>
        <p:spPr>
          <a:xfrm>
            <a:off x="819150" y="1276350"/>
            <a:ext cx="2190750" cy="171450"/>
          </a:xfrm>
          <a:prstGeom prst="rect">
            <a:avLst/>
          </a:prstGeom>
        </p:spPr>
        <p:txBody>
          <a:bodyPr wrap="none" lIns="0" tIns="0" rIns="0" bIns="0"/>
          <a:p>
            <a:pPr>
              <a:lnSpc>
                <a:spcPct val="100000"/>
              </a:lnSpc>
            </a:pPr>
            <a:r>
              <a:rPr lang="en-US" sz="1125" b="1">
                <a:solidFill>
                  <a:srgbClr val="93C5FD"/>
                </a:solidFill>
                <a:latin typeface="微软雅黑" panose="020B0503020204020204" charset="-122"/>
                <a:ea typeface="微软雅黑" panose="020B0503020204020204" charset="-122"/>
              </a:rPr>
              <a:t>① </a:t>
            </a:r>
            <a:r>
              <a:rPr lang="zh-CN" sz="1125" b="1">
                <a:solidFill>
                  <a:srgbClr val="93C5FD"/>
                </a:solidFill>
                <a:latin typeface="微软雅黑" panose="020B0503020204020204" charset="-122"/>
                <a:ea typeface="微软雅黑" panose="020B0503020204020204" charset="-122"/>
              </a:rPr>
              <a:t>指定计划协调者</a:t>
            </a:r>
            <a:endParaRPr lang="zh-CN" sz="1125" b="1">
              <a:solidFill>
                <a:srgbClr val="93C5FD"/>
              </a:solidFill>
              <a:latin typeface="微软雅黑" panose="020B0503020204020204" charset="-122"/>
              <a:ea typeface="微软雅黑" panose="020B0503020204020204" charset="-122"/>
            </a:endParaRPr>
          </a:p>
        </p:txBody>
      </p:sp>
      <p:sp>
        <p:nvSpPr>
          <p:cNvPr id="585" name="文本框 584" descr="{&quot;isTemplate&quot;:true,&quot;type&quot;:&quot;text&quot;}"/>
          <p:cNvSpPr txBox="1"/>
          <p:nvPr/>
        </p:nvSpPr>
        <p:spPr>
          <a:xfrm>
            <a:off x="819150" y="1485900"/>
            <a:ext cx="2190750"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专人负责，</a:t>
            </a:r>
            <a:r>
              <a:rPr lang="en-US" sz="975">
                <a:solidFill>
                  <a:srgbClr val="94A3B8"/>
                </a:solidFill>
                <a:latin typeface="微软雅黑" panose="020B0503020204020204" charset="-122"/>
                <a:ea typeface="微软雅黑" panose="020B0503020204020204" charset="-122"/>
              </a:rPr>
              <a:t>1 </a:t>
            </a:r>
            <a:r>
              <a:rPr lang="zh-CN" sz="975">
                <a:solidFill>
                  <a:srgbClr val="94A3B8"/>
                </a:solidFill>
                <a:latin typeface="微软雅黑" panose="020B0503020204020204" charset="-122"/>
                <a:ea typeface="微软雅黑" panose="020B0503020204020204" charset="-122"/>
              </a:rPr>
              <a:t>天</a:t>
            </a:r>
            <a:endParaRPr lang="zh-CN" sz="975">
              <a:solidFill>
                <a:srgbClr val="94A3B8"/>
              </a:solidFill>
              <a:latin typeface="微软雅黑" panose="020B0503020204020204" charset="-122"/>
              <a:ea typeface="微软雅黑" panose="020B0503020204020204" charset="-122"/>
            </a:endParaRPr>
          </a:p>
        </p:txBody>
      </p:sp>
      <p:sp>
        <p:nvSpPr>
          <p:cNvPr id="586" name="圆角矩形 585"/>
          <p:cNvSpPr/>
          <p:nvPr/>
        </p:nvSpPr>
        <p:spPr>
          <a:xfrm>
            <a:off x="3333750" y="1143000"/>
            <a:ext cx="2533650" cy="1143000"/>
          </a:xfrm>
          <a:prstGeom prst="roundRect">
            <a:avLst>
              <a:gd name="adj" fmla="val 8333"/>
            </a:avLst>
          </a:prstGeom>
          <a:solidFill>
            <a:srgbClr val="111B2E"/>
          </a:solidFill>
        </p:spPr>
        <p:txBody>
          <a:bodyPr/>
          <a:p/>
        </p:txBody>
      </p:sp>
      <p:sp>
        <p:nvSpPr>
          <p:cNvPr id="587" name="任意多边形 586"/>
          <p:cNvSpPr/>
          <p:nvPr/>
        </p:nvSpPr>
        <p:spPr>
          <a:xfrm>
            <a:off x="3333750" y="1143000"/>
            <a:ext cx="2533650" cy="1143000"/>
          </a:xfrm>
          <a:custGeom>
            <a:avLst/>
            <a:gdLst/>
            <a:ahLst/>
            <a:cxnLst/>
            <a:pathLst>
              <a:path w="266"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3B82F6"/>
          </a:solidFill>
        </p:spPr>
        <p:txBody>
          <a:bodyPr/>
          <a:p/>
        </p:txBody>
      </p:sp>
      <p:sp>
        <p:nvSpPr>
          <p:cNvPr id="588" name="文本框 587" descr="{&quot;isTemplate&quot;:true,&quot;type&quot;:&quot;text&quot;}"/>
          <p:cNvSpPr txBox="1"/>
          <p:nvPr/>
        </p:nvSpPr>
        <p:spPr>
          <a:xfrm>
            <a:off x="3505200" y="1276350"/>
            <a:ext cx="2190750" cy="171450"/>
          </a:xfrm>
          <a:prstGeom prst="rect">
            <a:avLst/>
          </a:prstGeom>
        </p:spPr>
        <p:txBody>
          <a:bodyPr wrap="none" lIns="0" tIns="0" rIns="0" bIns="0"/>
          <a:p>
            <a:pPr>
              <a:lnSpc>
                <a:spcPct val="100000"/>
              </a:lnSpc>
            </a:pPr>
            <a:r>
              <a:rPr lang="en-US" sz="1125" b="1">
                <a:solidFill>
                  <a:srgbClr val="93C5FD"/>
                </a:solidFill>
                <a:latin typeface="微软雅黑" panose="020B0503020204020204" charset="-122"/>
                <a:ea typeface="微软雅黑" panose="020B0503020204020204" charset="-122"/>
              </a:rPr>
              <a:t>② </a:t>
            </a:r>
            <a:r>
              <a:rPr lang="zh-CN" sz="1125" b="1">
                <a:solidFill>
                  <a:srgbClr val="93C5FD"/>
                </a:solidFill>
                <a:latin typeface="微软雅黑" panose="020B0503020204020204" charset="-122"/>
                <a:ea typeface="微软雅黑" panose="020B0503020204020204" charset="-122"/>
              </a:rPr>
              <a:t>确定使用工具</a:t>
            </a:r>
            <a:endParaRPr lang="zh-CN" sz="1125" b="1">
              <a:solidFill>
                <a:srgbClr val="93C5FD"/>
              </a:solidFill>
              <a:latin typeface="微软雅黑" panose="020B0503020204020204" charset="-122"/>
              <a:ea typeface="微软雅黑" panose="020B0503020204020204" charset="-122"/>
            </a:endParaRPr>
          </a:p>
        </p:txBody>
      </p:sp>
      <p:sp>
        <p:nvSpPr>
          <p:cNvPr id="589" name="文本框 588" descr="{&quot;isTemplate&quot;:true,&quot;type&quot;:&quot;text&quot;}"/>
          <p:cNvSpPr txBox="1"/>
          <p:nvPr/>
        </p:nvSpPr>
        <p:spPr>
          <a:xfrm>
            <a:off x="3505200" y="1485900"/>
            <a:ext cx="2190750"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如</a:t>
            </a:r>
            <a:r>
              <a:rPr lang="en-US" sz="975">
                <a:solidFill>
                  <a:srgbClr val="94A3B8"/>
                </a:solidFill>
                <a:latin typeface="微软雅黑" panose="020B0503020204020204" charset="-122"/>
                <a:ea typeface="微软雅黑" panose="020B0503020204020204" charset="-122"/>
              </a:rPr>
              <a:t> MS Project</a:t>
            </a:r>
            <a:r>
              <a:rPr lang="zh-CN" sz="975">
                <a:solidFill>
                  <a:srgbClr val="94A3B8"/>
                </a:solidFill>
                <a:latin typeface="微软雅黑" panose="020B0503020204020204" charset="-122"/>
                <a:ea typeface="微软雅黑" panose="020B0503020204020204" charset="-122"/>
              </a:rPr>
              <a:t>，</a:t>
            </a:r>
            <a:r>
              <a:rPr lang="en-US" sz="975">
                <a:solidFill>
                  <a:srgbClr val="94A3B8"/>
                </a:solidFill>
                <a:latin typeface="微软雅黑" panose="020B0503020204020204" charset="-122"/>
                <a:ea typeface="微软雅黑" panose="020B0503020204020204" charset="-122"/>
              </a:rPr>
              <a:t>0–5 </a:t>
            </a:r>
            <a:r>
              <a:rPr lang="zh-CN" sz="975">
                <a:solidFill>
                  <a:srgbClr val="94A3B8"/>
                </a:solidFill>
                <a:latin typeface="微软雅黑" panose="020B0503020204020204" charset="-122"/>
                <a:ea typeface="微软雅黑" panose="020B0503020204020204" charset="-122"/>
              </a:rPr>
              <a:t>天</a:t>
            </a:r>
            <a:endParaRPr lang="zh-CN" sz="975">
              <a:solidFill>
                <a:srgbClr val="94A3B8"/>
              </a:solidFill>
              <a:latin typeface="微软雅黑" panose="020B0503020204020204" charset="-122"/>
              <a:ea typeface="微软雅黑" panose="020B0503020204020204" charset="-122"/>
            </a:endParaRPr>
          </a:p>
        </p:txBody>
      </p:sp>
      <p:sp>
        <p:nvSpPr>
          <p:cNvPr id="590" name="圆角矩形 589"/>
          <p:cNvSpPr/>
          <p:nvPr/>
        </p:nvSpPr>
        <p:spPr>
          <a:xfrm>
            <a:off x="6019800" y="1143000"/>
            <a:ext cx="2533650" cy="1143000"/>
          </a:xfrm>
          <a:prstGeom prst="roundRect">
            <a:avLst>
              <a:gd name="adj" fmla="val 8333"/>
            </a:avLst>
          </a:prstGeom>
          <a:solidFill>
            <a:srgbClr val="111B2E"/>
          </a:solidFill>
        </p:spPr>
        <p:txBody>
          <a:bodyPr/>
          <a:p/>
        </p:txBody>
      </p:sp>
      <p:sp>
        <p:nvSpPr>
          <p:cNvPr id="591" name="任意多边形 590"/>
          <p:cNvSpPr/>
          <p:nvPr/>
        </p:nvSpPr>
        <p:spPr>
          <a:xfrm>
            <a:off x="6019800" y="1143000"/>
            <a:ext cx="2533650" cy="1143000"/>
          </a:xfrm>
          <a:custGeom>
            <a:avLst/>
            <a:gdLst/>
            <a:ahLst/>
            <a:cxnLst/>
            <a:pathLst>
              <a:path w="266"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3B82F6"/>
          </a:solidFill>
        </p:spPr>
        <p:txBody>
          <a:bodyPr/>
          <a:p/>
        </p:txBody>
      </p:sp>
      <p:sp>
        <p:nvSpPr>
          <p:cNvPr id="592" name="文本框 591" descr="{&quot;isTemplate&quot;:true,&quot;type&quot;:&quot;text&quot;}"/>
          <p:cNvSpPr txBox="1"/>
          <p:nvPr/>
        </p:nvSpPr>
        <p:spPr>
          <a:xfrm>
            <a:off x="6191250" y="1276350"/>
            <a:ext cx="2190750" cy="171450"/>
          </a:xfrm>
          <a:prstGeom prst="rect">
            <a:avLst/>
          </a:prstGeom>
        </p:spPr>
        <p:txBody>
          <a:bodyPr wrap="none" lIns="0" tIns="0" rIns="0" bIns="0"/>
          <a:p>
            <a:pPr>
              <a:lnSpc>
                <a:spcPct val="100000"/>
              </a:lnSpc>
            </a:pPr>
            <a:r>
              <a:rPr lang="en-US" sz="1125" b="1">
                <a:solidFill>
                  <a:srgbClr val="93C5FD"/>
                </a:solidFill>
                <a:latin typeface="微软雅黑" panose="020B0503020204020204" charset="-122"/>
                <a:ea typeface="微软雅黑" panose="020B0503020204020204" charset="-122"/>
              </a:rPr>
              <a:t>③ </a:t>
            </a:r>
            <a:r>
              <a:rPr lang="zh-CN" sz="1125" b="1">
                <a:solidFill>
                  <a:srgbClr val="93C5FD"/>
                </a:solidFill>
                <a:latin typeface="微软雅黑" panose="020B0503020204020204" charset="-122"/>
                <a:ea typeface="微软雅黑" panose="020B0503020204020204" charset="-122"/>
              </a:rPr>
              <a:t>准备计划会议</a:t>
            </a:r>
            <a:endParaRPr lang="zh-CN" sz="1125" b="1">
              <a:solidFill>
                <a:srgbClr val="93C5FD"/>
              </a:solidFill>
              <a:latin typeface="微软雅黑" panose="020B0503020204020204" charset="-122"/>
              <a:ea typeface="微软雅黑" panose="020B0503020204020204" charset="-122"/>
            </a:endParaRPr>
          </a:p>
        </p:txBody>
      </p:sp>
      <p:sp>
        <p:nvSpPr>
          <p:cNvPr id="593" name="文本框 592" descr="{&quot;isTemplate&quot;:true,&quot;type&quot;:&quot;text&quot;}"/>
          <p:cNvSpPr txBox="1"/>
          <p:nvPr/>
        </p:nvSpPr>
        <p:spPr>
          <a:xfrm>
            <a:off x="6191250" y="1485900"/>
            <a:ext cx="2190750"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主题、日程、草案、历史数据</a:t>
            </a:r>
            <a:endParaRPr lang="zh-CN" sz="975">
              <a:solidFill>
                <a:srgbClr val="94A3B8"/>
              </a:solidFill>
              <a:latin typeface="微软雅黑" panose="020B0503020204020204" charset="-122"/>
              <a:ea typeface="微软雅黑" panose="020B0503020204020204" charset="-122"/>
            </a:endParaRPr>
          </a:p>
        </p:txBody>
      </p:sp>
      <p:sp>
        <p:nvSpPr>
          <p:cNvPr id="594" name="圆角矩形 593"/>
          <p:cNvSpPr/>
          <p:nvPr/>
        </p:nvSpPr>
        <p:spPr>
          <a:xfrm>
            <a:off x="8705850" y="1143000"/>
            <a:ext cx="2533650" cy="1143000"/>
          </a:xfrm>
          <a:prstGeom prst="roundRect">
            <a:avLst>
              <a:gd name="adj" fmla="val 8333"/>
            </a:avLst>
          </a:prstGeom>
          <a:solidFill>
            <a:srgbClr val="111B2E"/>
          </a:solidFill>
        </p:spPr>
        <p:txBody>
          <a:bodyPr/>
          <a:p/>
        </p:txBody>
      </p:sp>
      <p:sp>
        <p:nvSpPr>
          <p:cNvPr id="595" name="任意多边形 594"/>
          <p:cNvSpPr/>
          <p:nvPr/>
        </p:nvSpPr>
        <p:spPr>
          <a:xfrm>
            <a:off x="8705850" y="1143000"/>
            <a:ext cx="2533650" cy="1143000"/>
          </a:xfrm>
          <a:custGeom>
            <a:avLst/>
            <a:gdLst/>
            <a:ahLst/>
            <a:cxnLst/>
            <a:pathLst>
              <a:path w="266"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3B82F6"/>
          </a:solidFill>
        </p:spPr>
        <p:txBody>
          <a:bodyPr/>
          <a:p/>
        </p:txBody>
      </p:sp>
      <p:sp>
        <p:nvSpPr>
          <p:cNvPr id="596" name="文本框 595" descr="{&quot;isTemplate&quot;:true,&quot;type&quot;:&quot;text&quot;}"/>
          <p:cNvSpPr txBox="1"/>
          <p:nvPr/>
        </p:nvSpPr>
        <p:spPr>
          <a:xfrm>
            <a:off x="8877300" y="1276350"/>
            <a:ext cx="2190750" cy="171450"/>
          </a:xfrm>
          <a:prstGeom prst="rect">
            <a:avLst/>
          </a:prstGeom>
        </p:spPr>
        <p:txBody>
          <a:bodyPr wrap="none" lIns="0" tIns="0" rIns="0" bIns="0"/>
          <a:p>
            <a:pPr>
              <a:lnSpc>
                <a:spcPct val="100000"/>
              </a:lnSpc>
            </a:pPr>
            <a:r>
              <a:rPr lang="en-US" sz="1125" b="1">
                <a:solidFill>
                  <a:srgbClr val="93C5FD"/>
                </a:solidFill>
                <a:latin typeface="微软雅黑" panose="020B0503020204020204" charset="-122"/>
                <a:ea typeface="微软雅黑" panose="020B0503020204020204" charset="-122"/>
              </a:rPr>
              <a:t>④ </a:t>
            </a:r>
            <a:r>
              <a:rPr lang="zh-CN" sz="1125" b="1">
                <a:solidFill>
                  <a:srgbClr val="93C5FD"/>
                </a:solidFill>
                <a:latin typeface="微软雅黑" panose="020B0503020204020204" charset="-122"/>
                <a:ea typeface="微软雅黑" panose="020B0503020204020204" charset="-122"/>
              </a:rPr>
              <a:t>召开计划会议</a:t>
            </a:r>
            <a:endParaRPr lang="zh-CN" sz="1125" b="1">
              <a:solidFill>
                <a:srgbClr val="93C5FD"/>
              </a:solidFill>
              <a:latin typeface="微软雅黑" panose="020B0503020204020204" charset="-122"/>
              <a:ea typeface="微软雅黑" panose="020B0503020204020204" charset="-122"/>
            </a:endParaRPr>
          </a:p>
        </p:txBody>
      </p:sp>
      <p:sp>
        <p:nvSpPr>
          <p:cNvPr id="597" name="文本框 596" descr="{&quot;isTemplate&quot;:true,&quot;type&quot;:&quot;text&quot;}"/>
          <p:cNvSpPr txBox="1"/>
          <p:nvPr/>
        </p:nvSpPr>
        <p:spPr>
          <a:xfrm>
            <a:off x="8877300" y="1485900"/>
            <a:ext cx="2190750"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定活动与负责人，</a:t>
            </a:r>
            <a:r>
              <a:rPr lang="en-US" sz="975">
                <a:solidFill>
                  <a:srgbClr val="94A3B8"/>
                </a:solidFill>
                <a:latin typeface="微软雅黑" panose="020B0503020204020204" charset="-122"/>
                <a:ea typeface="微软雅黑" panose="020B0503020204020204" charset="-122"/>
              </a:rPr>
              <a:t>2–3 </a:t>
            </a:r>
            <a:r>
              <a:rPr lang="zh-CN" sz="975">
                <a:solidFill>
                  <a:srgbClr val="94A3B8"/>
                </a:solidFill>
                <a:latin typeface="微软雅黑" panose="020B0503020204020204" charset="-122"/>
                <a:ea typeface="微软雅黑" panose="020B0503020204020204" charset="-122"/>
              </a:rPr>
              <a:t>天</a:t>
            </a:r>
            <a:endParaRPr lang="zh-CN" sz="975">
              <a:solidFill>
                <a:srgbClr val="94A3B8"/>
              </a:solidFill>
              <a:latin typeface="微软雅黑" panose="020B0503020204020204" charset="-122"/>
              <a:ea typeface="微软雅黑" panose="020B0503020204020204" charset="-122"/>
            </a:endParaRPr>
          </a:p>
        </p:txBody>
      </p:sp>
      <p:sp>
        <p:nvSpPr>
          <p:cNvPr id="598" name="圆角矩形 597"/>
          <p:cNvSpPr/>
          <p:nvPr/>
        </p:nvSpPr>
        <p:spPr>
          <a:xfrm>
            <a:off x="647700" y="2847975"/>
            <a:ext cx="2533650" cy="1143000"/>
          </a:xfrm>
          <a:prstGeom prst="roundRect">
            <a:avLst>
              <a:gd name="adj" fmla="val 8333"/>
            </a:avLst>
          </a:prstGeom>
          <a:solidFill>
            <a:srgbClr val="111B2E"/>
          </a:solidFill>
        </p:spPr>
        <p:txBody>
          <a:bodyPr/>
          <a:p/>
        </p:txBody>
      </p:sp>
      <p:sp>
        <p:nvSpPr>
          <p:cNvPr id="599" name="任意多边形 598"/>
          <p:cNvSpPr/>
          <p:nvPr/>
        </p:nvSpPr>
        <p:spPr>
          <a:xfrm>
            <a:off x="647700" y="2847975"/>
            <a:ext cx="2533650" cy="1143000"/>
          </a:xfrm>
          <a:custGeom>
            <a:avLst/>
            <a:gdLst/>
            <a:ahLst/>
            <a:cxnLst/>
            <a:pathLst>
              <a:path w="266"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22D3EE"/>
          </a:solidFill>
        </p:spPr>
        <p:txBody>
          <a:bodyPr/>
          <a:p/>
        </p:txBody>
      </p:sp>
      <p:sp>
        <p:nvSpPr>
          <p:cNvPr id="600" name="文本框 599" descr="{&quot;isTemplate&quot;:true,&quot;type&quot;:&quot;text&quot;}"/>
          <p:cNvSpPr txBox="1"/>
          <p:nvPr/>
        </p:nvSpPr>
        <p:spPr>
          <a:xfrm>
            <a:off x="819150" y="2981325"/>
            <a:ext cx="2190750" cy="171450"/>
          </a:xfrm>
          <a:prstGeom prst="rect">
            <a:avLst/>
          </a:prstGeom>
        </p:spPr>
        <p:txBody>
          <a:bodyPr wrap="none" lIns="0" tIns="0" rIns="0" bIns="0"/>
          <a:p>
            <a:pPr>
              <a:lnSpc>
                <a:spcPct val="100000"/>
              </a:lnSpc>
            </a:pPr>
            <a:r>
              <a:rPr lang="en-US" sz="1125" b="1">
                <a:solidFill>
                  <a:srgbClr val="67E8F9"/>
                </a:solidFill>
                <a:latin typeface="微软雅黑" panose="020B0503020204020204" charset="-122"/>
                <a:ea typeface="微软雅黑" panose="020B0503020204020204" charset="-122"/>
              </a:rPr>
              <a:t>⑤ </a:t>
            </a:r>
            <a:r>
              <a:rPr lang="zh-CN" sz="1125" b="1">
                <a:solidFill>
                  <a:srgbClr val="67E8F9"/>
                </a:solidFill>
                <a:latin typeface="微软雅黑" panose="020B0503020204020204" charset="-122"/>
                <a:ea typeface="微软雅黑" panose="020B0503020204020204" charset="-122"/>
              </a:rPr>
              <a:t>提交和分析数据</a:t>
            </a:r>
            <a:endParaRPr lang="zh-CN" sz="1125" b="1">
              <a:solidFill>
                <a:srgbClr val="67E8F9"/>
              </a:solidFill>
              <a:latin typeface="微软雅黑" panose="020B0503020204020204" charset="-122"/>
              <a:ea typeface="微软雅黑" panose="020B0503020204020204" charset="-122"/>
            </a:endParaRPr>
          </a:p>
        </p:txBody>
      </p:sp>
      <p:sp>
        <p:nvSpPr>
          <p:cNvPr id="601" name="文本框 600" descr="{&quot;isTemplate&quot;:true,&quot;type&quot;:&quot;text&quot;}"/>
          <p:cNvSpPr txBox="1"/>
          <p:nvPr/>
        </p:nvSpPr>
        <p:spPr>
          <a:xfrm>
            <a:off x="819150" y="3190875"/>
            <a:ext cx="2190750"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各负责人提交，</a:t>
            </a:r>
            <a:r>
              <a:rPr lang="en-US" sz="975">
                <a:solidFill>
                  <a:srgbClr val="94A3B8"/>
                </a:solidFill>
                <a:latin typeface="微软雅黑" panose="020B0503020204020204" charset="-122"/>
                <a:ea typeface="微软雅黑" panose="020B0503020204020204" charset="-122"/>
              </a:rPr>
              <a:t>1 </a:t>
            </a:r>
            <a:r>
              <a:rPr lang="zh-CN" sz="975">
                <a:solidFill>
                  <a:srgbClr val="94A3B8"/>
                </a:solidFill>
                <a:latin typeface="微软雅黑" panose="020B0503020204020204" charset="-122"/>
                <a:ea typeface="微软雅黑" panose="020B0503020204020204" charset="-122"/>
              </a:rPr>
              <a:t>周</a:t>
            </a:r>
            <a:endParaRPr lang="zh-CN" sz="975">
              <a:solidFill>
                <a:srgbClr val="94A3B8"/>
              </a:solidFill>
              <a:latin typeface="微软雅黑" panose="020B0503020204020204" charset="-122"/>
              <a:ea typeface="微软雅黑" panose="020B0503020204020204" charset="-122"/>
            </a:endParaRPr>
          </a:p>
        </p:txBody>
      </p:sp>
      <p:sp>
        <p:nvSpPr>
          <p:cNvPr id="602" name="圆角矩形 601"/>
          <p:cNvSpPr/>
          <p:nvPr/>
        </p:nvSpPr>
        <p:spPr>
          <a:xfrm>
            <a:off x="3333750" y="2847975"/>
            <a:ext cx="2533650" cy="1143000"/>
          </a:xfrm>
          <a:prstGeom prst="roundRect">
            <a:avLst>
              <a:gd name="adj" fmla="val 8333"/>
            </a:avLst>
          </a:prstGeom>
          <a:solidFill>
            <a:srgbClr val="111B2E"/>
          </a:solidFill>
        </p:spPr>
        <p:txBody>
          <a:bodyPr/>
          <a:p/>
        </p:txBody>
      </p:sp>
      <p:sp>
        <p:nvSpPr>
          <p:cNvPr id="603" name="任意多边形 602"/>
          <p:cNvSpPr/>
          <p:nvPr/>
        </p:nvSpPr>
        <p:spPr>
          <a:xfrm>
            <a:off x="3333750" y="2847975"/>
            <a:ext cx="2533650" cy="1143000"/>
          </a:xfrm>
          <a:custGeom>
            <a:avLst/>
            <a:gdLst/>
            <a:ahLst/>
            <a:cxnLst/>
            <a:pathLst>
              <a:path w="266"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22D3EE"/>
          </a:solidFill>
        </p:spPr>
        <p:txBody>
          <a:bodyPr/>
          <a:p/>
        </p:txBody>
      </p:sp>
      <p:sp>
        <p:nvSpPr>
          <p:cNvPr id="604" name="文本框 603" descr="{&quot;isTemplate&quot;:true,&quot;type&quot;:&quot;text&quot;}"/>
          <p:cNvSpPr txBox="1"/>
          <p:nvPr/>
        </p:nvSpPr>
        <p:spPr>
          <a:xfrm>
            <a:off x="3505200" y="2981325"/>
            <a:ext cx="2190750" cy="171450"/>
          </a:xfrm>
          <a:prstGeom prst="rect">
            <a:avLst/>
          </a:prstGeom>
        </p:spPr>
        <p:txBody>
          <a:bodyPr wrap="none" lIns="0" tIns="0" rIns="0" bIns="0"/>
          <a:p>
            <a:pPr>
              <a:lnSpc>
                <a:spcPct val="100000"/>
              </a:lnSpc>
            </a:pPr>
            <a:r>
              <a:rPr lang="en-US" sz="1125" b="1">
                <a:solidFill>
                  <a:srgbClr val="67E8F9"/>
                </a:solidFill>
                <a:latin typeface="微软雅黑" panose="020B0503020204020204" charset="-122"/>
                <a:ea typeface="微软雅黑" panose="020B0503020204020204" charset="-122"/>
              </a:rPr>
              <a:t>⑥ </a:t>
            </a:r>
            <a:r>
              <a:rPr lang="zh-CN" sz="1125" b="1">
                <a:solidFill>
                  <a:srgbClr val="67E8F9"/>
                </a:solidFill>
                <a:latin typeface="微软雅黑" panose="020B0503020204020204" charset="-122"/>
                <a:ea typeface="微软雅黑" panose="020B0503020204020204" charset="-122"/>
              </a:rPr>
              <a:t>用工具创建计划</a:t>
            </a:r>
            <a:endParaRPr lang="zh-CN" sz="1125" b="1">
              <a:solidFill>
                <a:srgbClr val="67E8F9"/>
              </a:solidFill>
              <a:latin typeface="微软雅黑" panose="020B0503020204020204" charset="-122"/>
              <a:ea typeface="微软雅黑" panose="020B0503020204020204" charset="-122"/>
            </a:endParaRPr>
          </a:p>
        </p:txBody>
      </p:sp>
      <p:sp>
        <p:nvSpPr>
          <p:cNvPr id="605" name="文本框 604" descr="{&quot;isTemplate&quot;:true,&quot;type&quot;:&quot;text&quot;}"/>
          <p:cNvSpPr txBox="1"/>
          <p:nvPr/>
        </p:nvSpPr>
        <p:spPr>
          <a:xfrm>
            <a:off x="3505200" y="3190875"/>
            <a:ext cx="2190750"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生成初步计划，</a:t>
            </a:r>
            <a:r>
              <a:rPr lang="en-US" sz="975">
                <a:solidFill>
                  <a:srgbClr val="94A3B8"/>
                </a:solidFill>
                <a:latin typeface="微软雅黑" panose="020B0503020204020204" charset="-122"/>
                <a:ea typeface="微软雅黑" panose="020B0503020204020204" charset="-122"/>
              </a:rPr>
              <a:t>1–5 </a:t>
            </a:r>
            <a:r>
              <a:rPr lang="zh-CN" sz="975">
                <a:solidFill>
                  <a:srgbClr val="94A3B8"/>
                </a:solidFill>
                <a:latin typeface="微软雅黑" panose="020B0503020204020204" charset="-122"/>
                <a:ea typeface="微软雅黑" panose="020B0503020204020204" charset="-122"/>
              </a:rPr>
              <a:t>天</a:t>
            </a:r>
            <a:endParaRPr lang="zh-CN" sz="975">
              <a:solidFill>
                <a:srgbClr val="94A3B8"/>
              </a:solidFill>
              <a:latin typeface="微软雅黑" panose="020B0503020204020204" charset="-122"/>
              <a:ea typeface="微软雅黑" panose="020B0503020204020204" charset="-122"/>
            </a:endParaRPr>
          </a:p>
        </p:txBody>
      </p:sp>
      <p:sp>
        <p:nvSpPr>
          <p:cNvPr id="606" name="圆角矩形 605"/>
          <p:cNvSpPr/>
          <p:nvPr/>
        </p:nvSpPr>
        <p:spPr>
          <a:xfrm>
            <a:off x="6019800" y="2847975"/>
            <a:ext cx="2533650" cy="1143000"/>
          </a:xfrm>
          <a:prstGeom prst="roundRect">
            <a:avLst>
              <a:gd name="adj" fmla="val 8333"/>
            </a:avLst>
          </a:prstGeom>
          <a:solidFill>
            <a:srgbClr val="111B2E"/>
          </a:solidFill>
        </p:spPr>
        <p:txBody>
          <a:bodyPr/>
          <a:p/>
        </p:txBody>
      </p:sp>
      <p:sp>
        <p:nvSpPr>
          <p:cNvPr id="607" name="任意多边形 606"/>
          <p:cNvSpPr/>
          <p:nvPr/>
        </p:nvSpPr>
        <p:spPr>
          <a:xfrm>
            <a:off x="6019800" y="2847975"/>
            <a:ext cx="2533650" cy="1143000"/>
          </a:xfrm>
          <a:custGeom>
            <a:avLst/>
            <a:gdLst/>
            <a:ahLst/>
            <a:cxnLst/>
            <a:pathLst>
              <a:path w="266"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22D3EE"/>
          </a:solidFill>
        </p:spPr>
        <p:txBody>
          <a:bodyPr/>
          <a:p/>
        </p:txBody>
      </p:sp>
      <p:sp>
        <p:nvSpPr>
          <p:cNvPr id="608" name="文本框 607" descr="{&quot;isTemplate&quot;:true,&quot;type&quot;:&quot;text&quot;}"/>
          <p:cNvSpPr txBox="1"/>
          <p:nvPr/>
        </p:nvSpPr>
        <p:spPr>
          <a:xfrm>
            <a:off x="6191250" y="2981325"/>
            <a:ext cx="2190750" cy="171450"/>
          </a:xfrm>
          <a:prstGeom prst="rect">
            <a:avLst/>
          </a:prstGeom>
        </p:spPr>
        <p:txBody>
          <a:bodyPr wrap="none" lIns="0" tIns="0" rIns="0" bIns="0"/>
          <a:p>
            <a:pPr>
              <a:lnSpc>
                <a:spcPct val="100000"/>
              </a:lnSpc>
            </a:pPr>
            <a:r>
              <a:rPr lang="en-US" sz="1125" b="1">
                <a:solidFill>
                  <a:srgbClr val="67E8F9"/>
                </a:solidFill>
                <a:latin typeface="微软雅黑" panose="020B0503020204020204" charset="-122"/>
                <a:ea typeface="微软雅黑" panose="020B0503020204020204" charset="-122"/>
              </a:rPr>
              <a:t>⑦ </a:t>
            </a:r>
            <a:r>
              <a:rPr lang="zh-CN" sz="1125" b="1">
                <a:solidFill>
                  <a:srgbClr val="67E8F9"/>
                </a:solidFill>
                <a:latin typeface="微软雅黑" panose="020B0503020204020204" charset="-122"/>
                <a:ea typeface="微软雅黑" panose="020B0503020204020204" charset="-122"/>
              </a:rPr>
              <a:t>评审计划</a:t>
            </a:r>
            <a:endParaRPr lang="zh-CN" sz="1125" b="1">
              <a:solidFill>
                <a:srgbClr val="67E8F9"/>
              </a:solidFill>
              <a:latin typeface="微软雅黑" panose="020B0503020204020204" charset="-122"/>
              <a:ea typeface="微软雅黑" panose="020B0503020204020204" charset="-122"/>
            </a:endParaRPr>
          </a:p>
        </p:txBody>
      </p:sp>
      <p:sp>
        <p:nvSpPr>
          <p:cNvPr id="609" name="文本框 608" descr="{&quot;isTemplate&quot;:true,&quot;type&quot;:&quot;text&quot;}"/>
          <p:cNvSpPr txBox="1"/>
          <p:nvPr/>
        </p:nvSpPr>
        <p:spPr>
          <a:xfrm>
            <a:off x="6191250" y="3190875"/>
            <a:ext cx="2190750"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管理层、</a:t>
            </a:r>
            <a:r>
              <a:rPr lang="en-US" sz="975">
                <a:solidFill>
                  <a:srgbClr val="94A3B8"/>
                </a:solidFill>
                <a:latin typeface="微软雅黑" panose="020B0503020204020204" charset="-122"/>
                <a:ea typeface="微软雅黑" panose="020B0503020204020204" charset="-122"/>
              </a:rPr>
              <a:t>QA</a:t>
            </a:r>
            <a:r>
              <a:rPr lang="zh-CN" sz="975">
                <a:solidFill>
                  <a:srgbClr val="94A3B8"/>
                </a:solidFill>
                <a:latin typeface="微软雅黑" panose="020B0503020204020204" charset="-122"/>
                <a:ea typeface="微软雅黑" panose="020B0503020204020204" charset="-122"/>
              </a:rPr>
              <a:t>、用户参与</a:t>
            </a:r>
            <a:endParaRPr lang="zh-CN" sz="975">
              <a:solidFill>
                <a:srgbClr val="94A3B8"/>
              </a:solidFill>
              <a:latin typeface="微软雅黑" panose="020B0503020204020204" charset="-122"/>
              <a:ea typeface="微软雅黑" panose="020B0503020204020204" charset="-122"/>
            </a:endParaRPr>
          </a:p>
        </p:txBody>
      </p:sp>
      <p:sp>
        <p:nvSpPr>
          <p:cNvPr id="610" name="圆角矩形 609"/>
          <p:cNvSpPr/>
          <p:nvPr/>
        </p:nvSpPr>
        <p:spPr>
          <a:xfrm>
            <a:off x="8705850" y="2847975"/>
            <a:ext cx="2533650" cy="1143000"/>
          </a:xfrm>
          <a:prstGeom prst="roundRect">
            <a:avLst>
              <a:gd name="adj" fmla="val 8333"/>
            </a:avLst>
          </a:prstGeom>
          <a:solidFill>
            <a:srgbClr val="111B2E"/>
          </a:solidFill>
        </p:spPr>
        <p:txBody>
          <a:bodyPr/>
          <a:p/>
        </p:txBody>
      </p:sp>
      <p:sp>
        <p:nvSpPr>
          <p:cNvPr id="611" name="任意多边形 610"/>
          <p:cNvSpPr/>
          <p:nvPr/>
        </p:nvSpPr>
        <p:spPr>
          <a:xfrm>
            <a:off x="8705850" y="2847975"/>
            <a:ext cx="2533650" cy="1143000"/>
          </a:xfrm>
          <a:custGeom>
            <a:avLst/>
            <a:gdLst/>
            <a:ahLst/>
            <a:cxnLst/>
            <a:pathLst>
              <a:path w="266"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8B5CF6"/>
          </a:solidFill>
        </p:spPr>
        <p:txBody>
          <a:bodyPr/>
          <a:p/>
        </p:txBody>
      </p:sp>
      <p:sp>
        <p:nvSpPr>
          <p:cNvPr id="612" name="文本框 611" descr="{&quot;isTemplate&quot;:true,&quot;type&quot;:&quot;text&quot;}"/>
          <p:cNvSpPr txBox="1"/>
          <p:nvPr/>
        </p:nvSpPr>
        <p:spPr>
          <a:xfrm>
            <a:off x="8877300" y="2981325"/>
            <a:ext cx="2190750" cy="171450"/>
          </a:xfrm>
          <a:prstGeom prst="rect">
            <a:avLst/>
          </a:prstGeom>
        </p:spPr>
        <p:txBody>
          <a:bodyPr wrap="none" lIns="0" tIns="0" rIns="0" bIns="0"/>
          <a:p>
            <a:pPr>
              <a:lnSpc>
                <a:spcPct val="100000"/>
              </a:lnSpc>
            </a:pPr>
            <a:r>
              <a:rPr lang="en-US" sz="1125" b="1">
                <a:solidFill>
                  <a:srgbClr val="C4B5FD"/>
                </a:solidFill>
                <a:latin typeface="微软雅黑" panose="020B0503020204020204" charset="-122"/>
                <a:ea typeface="微软雅黑" panose="020B0503020204020204" charset="-122"/>
              </a:rPr>
              <a:t>⑧ </a:t>
            </a:r>
            <a:r>
              <a:rPr lang="zh-CN" sz="1125" b="1">
                <a:solidFill>
                  <a:srgbClr val="C4B5FD"/>
                </a:solidFill>
                <a:latin typeface="微软雅黑" panose="020B0503020204020204" charset="-122"/>
                <a:ea typeface="微软雅黑" panose="020B0503020204020204" charset="-122"/>
              </a:rPr>
              <a:t>更改计划</a:t>
            </a:r>
            <a:endParaRPr lang="zh-CN" sz="1125" b="1">
              <a:solidFill>
                <a:srgbClr val="C4B5FD"/>
              </a:solidFill>
              <a:latin typeface="微软雅黑" panose="020B0503020204020204" charset="-122"/>
              <a:ea typeface="微软雅黑" panose="020B0503020204020204" charset="-122"/>
            </a:endParaRPr>
          </a:p>
        </p:txBody>
      </p:sp>
      <p:sp>
        <p:nvSpPr>
          <p:cNvPr id="613" name="文本框 612" descr="{&quot;isTemplate&quot;:true,&quot;type&quot;:&quot;text&quot;}"/>
          <p:cNvSpPr txBox="1"/>
          <p:nvPr/>
        </p:nvSpPr>
        <p:spPr>
          <a:xfrm>
            <a:off x="8877300" y="3190875"/>
            <a:ext cx="2190750"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按评审意见修改，</a:t>
            </a:r>
            <a:r>
              <a:rPr lang="en-US" sz="975">
                <a:solidFill>
                  <a:srgbClr val="94A3B8"/>
                </a:solidFill>
                <a:latin typeface="微软雅黑" panose="020B0503020204020204" charset="-122"/>
                <a:ea typeface="微软雅黑" panose="020B0503020204020204" charset="-122"/>
              </a:rPr>
              <a:t>1–5 </a:t>
            </a:r>
            <a:r>
              <a:rPr lang="zh-CN" sz="975">
                <a:solidFill>
                  <a:srgbClr val="94A3B8"/>
                </a:solidFill>
                <a:latin typeface="微软雅黑" panose="020B0503020204020204" charset="-122"/>
                <a:ea typeface="微软雅黑" panose="020B0503020204020204" charset="-122"/>
              </a:rPr>
              <a:t>天</a:t>
            </a:r>
            <a:endParaRPr lang="zh-CN" sz="975">
              <a:solidFill>
                <a:srgbClr val="94A3B8"/>
              </a:solidFill>
              <a:latin typeface="微软雅黑" panose="020B0503020204020204" charset="-122"/>
              <a:ea typeface="微软雅黑" panose="020B0503020204020204" charset="-122"/>
            </a:endParaRPr>
          </a:p>
        </p:txBody>
      </p:sp>
      <p:sp>
        <p:nvSpPr>
          <p:cNvPr id="614" name="圆角矩形 613"/>
          <p:cNvSpPr/>
          <p:nvPr/>
        </p:nvSpPr>
        <p:spPr>
          <a:xfrm>
            <a:off x="647700" y="4543425"/>
            <a:ext cx="2533650" cy="1143000"/>
          </a:xfrm>
          <a:prstGeom prst="roundRect">
            <a:avLst>
              <a:gd name="adj" fmla="val 8333"/>
            </a:avLst>
          </a:prstGeom>
          <a:solidFill>
            <a:srgbClr val="111B2E"/>
          </a:solidFill>
        </p:spPr>
        <p:txBody>
          <a:bodyPr/>
          <a:p/>
        </p:txBody>
      </p:sp>
      <p:sp>
        <p:nvSpPr>
          <p:cNvPr id="615" name="任意多边形 614"/>
          <p:cNvSpPr/>
          <p:nvPr/>
        </p:nvSpPr>
        <p:spPr>
          <a:xfrm>
            <a:off x="647700" y="4543425"/>
            <a:ext cx="2533650" cy="1143000"/>
          </a:xfrm>
          <a:custGeom>
            <a:avLst/>
            <a:gdLst/>
            <a:ahLst/>
            <a:cxnLst/>
            <a:pathLst>
              <a:path w="266"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8B5CF6"/>
          </a:solidFill>
        </p:spPr>
        <p:txBody>
          <a:bodyPr/>
          <a:p/>
        </p:txBody>
      </p:sp>
      <p:sp>
        <p:nvSpPr>
          <p:cNvPr id="616" name="文本框 615" descr="{&quot;isTemplate&quot;:true,&quot;type&quot;:&quot;text&quot;}"/>
          <p:cNvSpPr txBox="1"/>
          <p:nvPr/>
        </p:nvSpPr>
        <p:spPr>
          <a:xfrm>
            <a:off x="819150" y="4676775"/>
            <a:ext cx="2190750" cy="171450"/>
          </a:xfrm>
          <a:prstGeom prst="rect">
            <a:avLst/>
          </a:prstGeom>
        </p:spPr>
        <p:txBody>
          <a:bodyPr wrap="none" lIns="0" tIns="0" rIns="0" bIns="0"/>
          <a:p>
            <a:pPr>
              <a:lnSpc>
                <a:spcPct val="100000"/>
              </a:lnSpc>
            </a:pPr>
            <a:r>
              <a:rPr lang="en-US" sz="1125" b="1">
                <a:solidFill>
                  <a:srgbClr val="C4B5FD"/>
                </a:solidFill>
                <a:latin typeface="微软雅黑" panose="020B0503020204020204" charset="-122"/>
                <a:ea typeface="微软雅黑" panose="020B0503020204020204" charset="-122"/>
              </a:rPr>
              <a:t>⑨ </a:t>
            </a:r>
            <a:r>
              <a:rPr lang="zh-CN" sz="1125" b="1">
                <a:solidFill>
                  <a:srgbClr val="C4B5FD"/>
                </a:solidFill>
                <a:latin typeface="微软雅黑" panose="020B0503020204020204" charset="-122"/>
                <a:ea typeface="微软雅黑" panose="020B0503020204020204" charset="-122"/>
              </a:rPr>
              <a:t>批准计划</a:t>
            </a:r>
            <a:endParaRPr lang="zh-CN" sz="1125" b="1">
              <a:solidFill>
                <a:srgbClr val="C4B5FD"/>
              </a:solidFill>
              <a:latin typeface="微软雅黑" panose="020B0503020204020204" charset="-122"/>
              <a:ea typeface="微软雅黑" panose="020B0503020204020204" charset="-122"/>
            </a:endParaRPr>
          </a:p>
        </p:txBody>
      </p:sp>
      <p:sp>
        <p:nvSpPr>
          <p:cNvPr id="617" name="文本框 616" descr="{&quot;isTemplate&quot;:true,&quot;type&quot;:&quot;text&quot;}"/>
          <p:cNvSpPr txBox="1"/>
          <p:nvPr/>
        </p:nvSpPr>
        <p:spPr>
          <a:xfrm>
            <a:off x="819150" y="4886325"/>
            <a:ext cx="2190750"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项目经理批准，</a:t>
            </a:r>
            <a:r>
              <a:rPr lang="en-US" sz="975">
                <a:solidFill>
                  <a:srgbClr val="94A3B8"/>
                </a:solidFill>
                <a:latin typeface="微软雅黑" panose="020B0503020204020204" charset="-122"/>
                <a:ea typeface="微软雅黑" panose="020B0503020204020204" charset="-122"/>
              </a:rPr>
              <a:t>1 </a:t>
            </a:r>
            <a:r>
              <a:rPr lang="zh-CN" sz="975">
                <a:solidFill>
                  <a:srgbClr val="94A3B8"/>
                </a:solidFill>
                <a:latin typeface="微软雅黑" panose="020B0503020204020204" charset="-122"/>
                <a:ea typeface="微软雅黑" panose="020B0503020204020204" charset="-122"/>
              </a:rPr>
              <a:t>天</a:t>
            </a:r>
            <a:endParaRPr lang="zh-CN" sz="975">
              <a:solidFill>
                <a:srgbClr val="94A3B8"/>
              </a:solidFill>
              <a:latin typeface="微软雅黑" panose="020B0503020204020204" charset="-122"/>
              <a:ea typeface="微软雅黑" panose="020B0503020204020204" charset="-122"/>
            </a:endParaRPr>
          </a:p>
        </p:txBody>
      </p:sp>
      <p:sp>
        <p:nvSpPr>
          <p:cNvPr id="618" name="圆角矩形 617"/>
          <p:cNvSpPr/>
          <p:nvPr/>
        </p:nvSpPr>
        <p:spPr>
          <a:xfrm>
            <a:off x="3333750" y="4543425"/>
            <a:ext cx="2533650" cy="1143000"/>
          </a:xfrm>
          <a:prstGeom prst="roundRect">
            <a:avLst>
              <a:gd name="adj" fmla="val 8333"/>
            </a:avLst>
          </a:prstGeom>
          <a:solidFill>
            <a:srgbClr val="111B2E"/>
          </a:solidFill>
        </p:spPr>
        <p:txBody>
          <a:bodyPr/>
          <a:p/>
        </p:txBody>
      </p:sp>
      <p:sp>
        <p:nvSpPr>
          <p:cNvPr id="619" name="任意多边形 618"/>
          <p:cNvSpPr/>
          <p:nvPr/>
        </p:nvSpPr>
        <p:spPr>
          <a:xfrm>
            <a:off x="3333750" y="4543425"/>
            <a:ext cx="2533650" cy="1143000"/>
          </a:xfrm>
          <a:custGeom>
            <a:avLst/>
            <a:gdLst/>
            <a:ahLst/>
            <a:cxnLst/>
            <a:pathLst>
              <a:path w="266" h="120">
                <a:moveTo>
                  <a:pt x="9" y="0"/>
                </a:moveTo>
                <a:cubicBezTo>
                  <a:pt x="6" y="0"/>
                  <a:pt x="4" y="3"/>
                  <a:pt x="4" y="6"/>
                </a:cubicBezTo>
                <a:lnTo>
                  <a:pt x="4" y="114"/>
                </a:lnTo>
                <a:cubicBezTo>
                  <a:pt x="4" y="117"/>
                  <a:pt x="6" y="119"/>
                  <a:pt x="9" y="120"/>
                </a:cubicBezTo>
                <a:cubicBezTo>
                  <a:pt x="4" y="119"/>
                  <a:pt x="0" y="115"/>
                  <a:pt x="0" y="110"/>
                </a:cubicBezTo>
                <a:lnTo>
                  <a:pt x="0" y="10"/>
                </a:lnTo>
                <a:cubicBezTo>
                  <a:pt x="0" y="5"/>
                  <a:pt x="4" y="0"/>
                  <a:pt x="10" y="0"/>
                </a:cubicBezTo>
                <a:close/>
              </a:path>
            </a:pathLst>
          </a:custGeom>
          <a:solidFill>
            <a:srgbClr val="8B5CF6"/>
          </a:solidFill>
        </p:spPr>
        <p:txBody>
          <a:bodyPr/>
          <a:p/>
        </p:txBody>
      </p:sp>
      <p:sp>
        <p:nvSpPr>
          <p:cNvPr id="620" name="文本框 619" descr="{&quot;isTemplate&quot;:true,&quot;type&quot;:&quot;text&quot;}"/>
          <p:cNvSpPr txBox="1"/>
          <p:nvPr/>
        </p:nvSpPr>
        <p:spPr>
          <a:xfrm>
            <a:off x="3505200" y="4676775"/>
            <a:ext cx="2190750" cy="171450"/>
          </a:xfrm>
          <a:prstGeom prst="rect">
            <a:avLst/>
          </a:prstGeom>
        </p:spPr>
        <p:txBody>
          <a:bodyPr wrap="none" lIns="0" tIns="0" rIns="0" bIns="0"/>
          <a:p>
            <a:pPr>
              <a:lnSpc>
                <a:spcPct val="100000"/>
              </a:lnSpc>
            </a:pPr>
            <a:r>
              <a:rPr lang="en-US" sz="1125" b="1">
                <a:solidFill>
                  <a:srgbClr val="C4B5FD"/>
                </a:solidFill>
                <a:latin typeface="微软雅黑" panose="020B0503020204020204" charset="-122"/>
                <a:ea typeface="微软雅黑" panose="020B0503020204020204" charset="-122"/>
              </a:rPr>
              <a:t>⑩ </a:t>
            </a:r>
            <a:r>
              <a:rPr lang="zh-CN" sz="1125" b="1">
                <a:solidFill>
                  <a:srgbClr val="C4B5FD"/>
                </a:solidFill>
                <a:latin typeface="微软雅黑" panose="020B0503020204020204" charset="-122"/>
                <a:ea typeface="微软雅黑" panose="020B0503020204020204" charset="-122"/>
              </a:rPr>
              <a:t>分发计划</a:t>
            </a:r>
            <a:endParaRPr lang="zh-CN" sz="1125" b="1">
              <a:solidFill>
                <a:srgbClr val="C4B5FD"/>
              </a:solidFill>
              <a:latin typeface="微软雅黑" panose="020B0503020204020204" charset="-122"/>
              <a:ea typeface="微软雅黑" panose="020B0503020204020204" charset="-122"/>
            </a:endParaRPr>
          </a:p>
        </p:txBody>
      </p:sp>
      <p:sp>
        <p:nvSpPr>
          <p:cNvPr id="621" name="文本框 620" descr="{&quot;isTemplate&quot;:true,&quot;type&quot;:&quot;text&quot;}"/>
          <p:cNvSpPr txBox="1"/>
          <p:nvPr/>
        </p:nvSpPr>
        <p:spPr>
          <a:xfrm>
            <a:off x="3505200" y="4886325"/>
            <a:ext cx="2190750" cy="152400"/>
          </a:xfrm>
          <a:prstGeom prst="rect">
            <a:avLst/>
          </a:prstGeom>
        </p:spPr>
        <p:txBody>
          <a:bodyPr wrap="none" lIns="0" tIns="0" rIns="0" bIns="0"/>
          <a:p>
            <a:pPr>
              <a:lnSpc>
                <a:spcPct val="100000"/>
              </a:lnSpc>
            </a:pPr>
            <a:r>
              <a:rPr lang="zh-CN" sz="975">
                <a:solidFill>
                  <a:srgbClr val="94A3B8"/>
                </a:solidFill>
                <a:latin typeface="微软雅黑" panose="020B0503020204020204" charset="-122"/>
                <a:ea typeface="微软雅黑" panose="020B0503020204020204" charset="-122"/>
              </a:rPr>
              <a:t>分发给全体成员，</a:t>
            </a:r>
            <a:r>
              <a:rPr lang="en-US" sz="975">
                <a:solidFill>
                  <a:srgbClr val="94A3B8"/>
                </a:solidFill>
                <a:latin typeface="微软雅黑" panose="020B0503020204020204" charset="-122"/>
                <a:ea typeface="微软雅黑" panose="020B0503020204020204" charset="-122"/>
              </a:rPr>
              <a:t>1 </a:t>
            </a:r>
            <a:r>
              <a:rPr lang="zh-CN" sz="975">
                <a:solidFill>
                  <a:srgbClr val="94A3B8"/>
                </a:solidFill>
                <a:latin typeface="微软雅黑" panose="020B0503020204020204" charset="-122"/>
                <a:ea typeface="微软雅黑" panose="020B0503020204020204" charset="-122"/>
              </a:rPr>
              <a:t>天</a:t>
            </a:r>
            <a:endParaRPr lang="zh-CN" sz="975">
              <a:solidFill>
                <a:srgbClr val="94A3B8"/>
              </a:solidFill>
              <a:latin typeface="微软雅黑" panose="020B0503020204020204" charset="-122"/>
              <a:ea typeface="微软雅黑" panose="020B0503020204020204" charset="-122"/>
            </a:endParaRPr>
          </a:p>
        </p:txBody>
      </p:sp>
      <p:sp>
        <p:nvSpPr>
          <p:cNvPr id="622" name="文本框 621"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623" name="文本框 622"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37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624"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CMMI 对项目计划的要求&lt;/Text&gt;&#13;&#10;        &lt;Text style={{ fontSize: 15, color: '#94A3B8', marginLeft: 18 }}&gt;PP 项目计划（成熟度 2 级）&lt;/Text&gt;&#13;&#10;    &lt;/Box&gt;&#13;&#10;    &lt;Box style={{ flex: 1, flexDirection: 'row', gap: 28 }}&gt;&#13;&#10;        &lt;Box style={{ width: 440, justifyContent: 'center' }}&gt;&#13;&#10;            &lt;Text style={{ fontSize: 17, color: '#E2E8F0', lineHeight: 1.8 }}&gt;项目计划是 CMMI 2 级的关键过程域：以&lt;span style={{ fontWeight: 'bold', color: '#22D3EE' }}&gt;要完成的工作、约束条件和目标&lt;/span&gt;为基础，估计规模、工作量、成本、资源，建立承诺与约定，制定开发计划。&lt;/Text&gt;&#13;&#10;            &lt;Box style={{ background: 'rgba(139,92,246,0.10)', borderRadius: 12, padding: '16px 22px', marginTop: 18, border: '1px solid rgba(139,92,246,0.45)' }}&gt;&#13;&#10;                &lt;Text style={{ fontSize: 15.5, color: '#E2E8F0', lineHeight: 1.7 }}&gt;&lt;span style={{ fontWeight: 'bold', color: '#C4B5FD' }}&gt;V3.0 视角：&lt;/span&gt;项目计划仍是&quot;交付与支持&quot;能力域的核心——只是更强调&lt;span style={{ fontWeight: 'bold' }}&gt;价值对齐与敏捷适配&lt;/span&gt;，弱化文档厚度。&lt;/Text&gt;&#13;&#10;            &lt;/Box&gt;&#13;&#10;        &lt;/Box&gt;&#13;&#10;        &lt;Box style={{ flex: 1, flexDirection: 'column', gap: 11, justifyContent: 'center' }}&gt;&#13;&#10;            &lt;Box style={{ background: '#111B2E', borderRadius: 10, padding: '12px 20px' }}&gt;&lt;Text style={{ fontSize: 15.5, color: '#E2E8F0' }}&gt;&lt;span style={{ fontWeight: 'bold', color: '#93C5FD' }}&gt;三大目标：&lt;/span&gt;① 制定软件估算文档 ② 制定活动与约定计划并成文 ③ 受影响组同意承诺&lt;/Text&gt;&lt;/Box&gt;&#13;&#10;            &lt;Box style={{ background: '#111B2E', borderRadius: 10, padding: '12px 20px' }}&gt;&lt;Text style={{ fontSize: 15.5, color: '#E2E8F0' }}&gt;&lt;span style={{ fontWeight: 'bold', color: '#67E8F9' }}&gt;规模估计方法：&lt;/span&gt;功能点 · 特征点 · 代码行，尽量用历史数据&lt;/Text&gt;&lt;/Box&gt;&#13;&#10;            &lt;Box style={{ background: '#111B2E', borderRadius: 10, padding: '12px 20px' }}&gt;&lt;Text style={{ fontSize: 15.5, color: '#E2E8F0' }}&gt;&lt;span style={{ fontWeight: 'bold', color: '#C4B5FD' }}&gt;计划内容：&lt;/span&gt;目的范围、生存周期、规程标准、工作产品、规模/成本/进度估计、风险、设施工具&lt;/Text&gt;&lt;/Box&gt;&#13;&#10;            &lt;Box style={{ background: '#111B2E', borderRadius: 10, padding: '12px 20px' }}&gt;&lt;Text style={{ fontSize: 15.5, color: '#E2E8F0' }}&gt;&lt;span style={{ fontWeight: 'bold', color: '#C4B5FD' }}&gt;评审承诺：&lt;/span&gt;项目负责人、软件负责人、受影响组共同评审&lt;/Text&gt;&lt;/Box&gt;&#13;&#10;        &lt;/Box&gt;&#13;&#10;    &lt;/Box&gt;&#13;&#10;    &lt;Box style={{ height: 40, flexDirection: 'row', justifyContent: 'space-between', alignItems: 'center', marginTop: 16 }}&gt;&#13;&#10;        &lt;Text style={{ fontSize: 14, color: '#94A3B8' }}&gt;03 项目计划与工作分解&lt;/Text&gt;&#13;&#10;        &lt;Text style={{ fontSize: 14, color: '#94A3B8' }}&gt;38 / 47&lt;/Text&gt;&#13;&#10;    &lt;/Box&gt;&#13;&#10;&lt;/Slide&gt;&#13;&#10;"/>
        <p:cNvGrpSpPr/>
        <p:nvPr/>
      </p:nvGrpSpPr>
      <p:grpSpPr>
        <a:xfrm>
          <a:off x="0" y="0"/>
          <a:ext cx="0" cy="0"/>
          <a:chOff x="0" y="0"/>
          <a:chExt cx="0" cy="0"/>
        </a:xfrm>
      </p:grpSpPr>
      <p:sp>
        <p:nvSpPr>
          <p:cNvPr id="625" name="矩形 624"/>
          <p:cNvSpPr/>
          <p:nvPr/>
        </p:nvSpPr>
        <p:spPr>
          <a:xfrm>
            <a:off x="0" y="0"/>
            <a:ext cx="12192000" cy="6858000"/>
          </a:xfrm>
          <a:prstGeom prst="rect">
            <a:avLst/>
          </a:prstGeom>
          <a:solidFill>
            <a:srgbClr val="0B1220"/>
          </a:solidFill>
        </p:spPr>
        <p:txBody>
          <a:bodyPr/>
          <a:p/>
        </p:txBody>
      </p:sp>
      <p:sp>
        <p:nvSpPr>
          <p:cNvPr id="626" name="圆角矩形 625"/>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627" name="文本框 626" descr="{&quot;isTemplate&quot;:true,&quot;type&quot;:&quot;text&quot;}"/>
          <p:cNvSpPr txBox="1"/>
          <p:nvPr/>
        </p:nvSpPr>
        <p:spPr>
          <a:xfrm>
            <a:off x="857250" y="476250"/>
            <a:ext cx="3686175" cy="390525"/>
          </a:xfrm>
          <a:prstGeom prst="rect">
            <a:avLst/>
          </a:prstGeom>
        </p:spPr>
        <p:txBody>
          <a:bodyPr wrap="none" lIns="0" tIns="0" rIns="0" bIns="0"/>
          <a:p>
            <a:pPr>
              <a:lnSpc>
                <a:spcPct val="100000"/>
              </a:lnSpc>
            </a:pPr>
            <a:r>
              <a:rPr lang="en-US" sz="2550" b="1">
                <a:solidFill>
                  <a:srgbClr val="E2E8F0"/>
                </a:solidFill>
                <a:latin typeface="微软雅黑" panose="020B0503020204020204" charset="-122"/>
                <a:ea typeface="微软雅黑" panose="020B0503020204020204" charset="-122"/>
              </a:rPr>
              <a:t>CMMI </a:t>
            </a:r>
            <a:r>
              <a:rPr lang="zh-CN" sz="2550" b="1">
                <a:solidFill>
                  <a:srgbClr val="E2E8F0"/>
                </a:solidFill>
                <a:latin typeface="微软雅黑" panose="020B0503020204020204" charset="-122"/>
                <a:ea typeface="微软雅黑" panose="020B0503020204020204" charset="-122"/>
              </a:rPr>
              <a:t>对项目计划的要求</a:t>
            </a:r>
            <a:endParaRPr lang="zh-CN" sz="2550" b="1">
              <a:solidFill>
                <a:srgbClr val="E2E8F0"/>
              </a:solidFill>
              <a:latin typeface="微软雅黑" panose="020B0503020204020204" charset="-122"/>
              <a:ea typeface="微软雅黑" panose="020B0503020204020204" charset="-122"/>
            </a:endParaRPr>
          </a:p>
        </p:txBody>
      </p:sp>
      <p:sp>
        <p:nvSpPr>
          <p:cNvPr id="628" name="文本框 627" descr="{&quot;isTemplate&quot;:true,&quot;type&quot;:&quot;text&quot;}"/>
          <p:cNvSpPr txBox="1"/>
          <p:nvPr/>
        </p:nvSpPr>
        <p:spPr>
          <a:xfrm>
            <a:off x="4714875" y="581025"/>
            <a:ext cx="1819275" cy="171450"/>
          </a:xfrm>
          <a:prstGeom prst="rect">
            <a:avLst/>
          </a:prstGeom>
        </p:spPr>
        <p:txBody>
          <a:bodyPr wrap="none" lIns="0" tIns="0" rIns="0" bIns="0"/>
          <a:p>
            <a:pPr>
              <a:lnSpc>
                <a:spcPct val="100000"/>
              </a:lnSpc>
            </a:pPr>
            <a:r>
              <a:rPr lang="en-US" sz="1125">
                <a:solidFill>
                  <a:srgbClr val="94A3B8"/>
                </a:solidFill>
                <a:latin typeface="微软雅黑" panose="020B0503020204020204" charset="-122"/>
                <a:ea typeface="微软雅黑" panose="020B0503020204020204" charset="-122"/>
              </a:rPr>
              <a:t>PP </a:t>
            </a:r>
            <a:r>
              <a:rPr lang="zh-CN" sz="1125">
                <a:solidFill>
                  <a:srgbClr val="94A3B8"/>
                </a:solidFill>
                <a:latin typeface="微软雅黑" panose="020B0503020204020204" charset="-122"/>
                <a:ea typeface="微软雅黑" panose="020B0503020204020204" charset="-122"/>
              </a:rPr>
              <a:t>项目计划（成熟度</a:t>
            </a:r>
            <a:r>
              <a:rPr lang="en-US" sz="1125">
                <a:solidFill>
                  <a:srgbClr val="94A3B8"/>
                </a:solidFill>
                <a:latin typeface="微软雅黑" panose="020B0503020204020204" charset="-122"/>
                <a:ea typeface="微软雅黑" panose="020B0503020204020204" charset="-122"/>
              </a:rPr>
              <a:t> 2 </a:t>
            </a:r>
            <a:r>
              <a:rPr lang="zh-CN" sz="1125">
                <a:solidFill>
                  <a:srgbClr val="94A3B8"/>
                </a:solidFill>
                <a:latin typeface="微软雅黑" panose="020B0503020204020204" charset="-122"/>
                <a:ea typeface="微软雅黑" panose="020B0503020204020204" charset="-122"/>
              </a:rPr>
              <a:t>级）</a:t>
            </a:r>
            <a:endParaRPr lang="zh-CN" sz="1125">
              <a:solidFill>
                <a:srgbClr val="94A3B8"/>
              </a:solidFill>
              <a:latin typeface="微软雅黑" panose="020B0503020204020204" charset="-122"/>
              <a:ea typeface="微软雅黑" panose="020B0503020204020204" charset="-122"/>
            </a:endParaRPr>
          </a:p>
        </p:txBody>
      </p:sp>
      <p:sp>
        <p:nvSpPr>
          <p:cNvPr id="629" name="文本框 628" descr="{&quot;isTemplate&quot;:true,&quot;type&quot;:&quot;text&quot;}"/>
          <p:cNvSpPr txBox="1"/>
          <p:nvPr/>
        </p:nvSpPr>
        <p:spPr>
          <a:xfrm>
            <a:off x="609600" y="2571750"/>
            <a:ext cx="4191000" cy="1057275"/>
          </a:xfrm>
          <a:prstGeom prst="rect">
            <a:avLst/>
          </a:prstGeom>
        </p:spPr>
        <p:txBody>
          <a:bodyPr wrap="square" lIns="0" tIns="0" rIns="0" bIns="0">
            <a:normAutofit/>
          </a:bodyPr>
          <a:p>
            <a:pPr>
              <a:lnSpc>
                <a:spcPct val="180000"/>
              </a:lnSpc>
            </a:pPr>
            <a:r>
              <a:rPr lang="zh-CN" sz="1275">
                <a:solidFill>
                  <a:srgbClr val="E2E8F0"/>
                </a:solidFill>
                <a:latin typeface="微软雅黑" panose="020B0503020204020204" charset="-122"/>
                <a:ea typeface="微软雅黑" panose="020B0503020204020204" charset="-122"/>
              </a:rPr>
              <a:t>项目计划是</a:t>
            </a:r>
            <a:r>
              <a:rPr lang="en-US" sz="1275">
                <a:solidFill>
                  <a:srgbClr val="E2E8F0"/>
                </a:solidFill>
                <a:latin typeface="微软雅黑" panose="020B0503020204020204" charset="-122"/>
                <a:ea typeface="微软雅黑" panose="020B0503020204020204" charset="-122"/>
              </a:rPr>
              <a:t> CMMI 2 </a:t>
            </a:r>
            <a:r>
              <a:rPr lang="zh-CN" sz="1275">
                <a:solidFill>
                  <a:srgbClr val="E2E8F0"/>
                </a:solidFill>
                <a:latin typeface="微软雅黑" panose="020B0503020204020204" charset="-122"/>
                <a:ea typeface="微软雅黑" panose="020B0503020204020204" charset="-122"/>
              </a:rPr>
              <a:t>级的关键过程域：以</a:t>
            </a:r>
            <a:r>
              <a:rPr lang="zh-CN" sz="1275" b="1">
                <a:solidFill>
                  <a:srgbClr val="22D3EE"/>
                </a:solidFill>
                <a:latin typeface="微软雅黑" panose="020B0503020204020204" charset="-122"/>
                <a:ea typeface="微软雅黑" panose="020B0503020204020204" charset="-122"/>
              </a:rPr>
              <a:t>要完成的工作、约束条件和目标</a:t>
            </a:r>
            <a:r>
              <a:rPr lang="zh-CN" sz="1275">
                <a:solidFill>
                  <a:srgbClr val="E2E8F0"/>
                </a:solidFill>
                <a:latin typeface="微软雅黑" panose="020B0503020204020204" charset="-122"/>
                <a:ea typeface="微软雅黑" panose="020B0503020204020204" charset="-122"/>
              </a:rPr>
              <a:t>为基础，估计规模、工作量、成本、资源，建立承诺与约定，制定开发计划。</a:t>
            </a:r>
            <a:endParaRPr lang="zh-CN" sz="1275">
              <a:solidFill>
                <a:srgbClr val="E2E8F0"/>
              </a:solidFill>
              <a:latin typeface="微软雅黑" panose="020B0503020204020204" charset="-122"/>
              <a:ea typeface="微软雅黑" panose="020B0503020204020204" charset="-122"/>
            </a:endParaRPr>
          </a:p>
        </p:txBody>
      </p:sp>
      <p:sp>
        <p:nvSpPr>
          <p:cNvPr id="630" name="圆角矩形 629"/>
          <p:cNvSpPr/>
          <p:nvPr/>
        </p:nvSpPr>
        <p:spPr>
          <a:xfrm>
            <a:off x="609600" y="3800475"/>
            <a:ext cx="4191000" cy="914400"/>
          </a:xfrm>
          <a:prstGeom prst="roundRect">
            <a:avLst>
              <a:gd name="adj" fmla="val 12500"/>
            </a:avLst>
          </a:prstGeom>
          <a:solidFill>
            <a:srgbClr val="8B5CF6">
              <a:alpha val="10000"/>
            </a:srgbClr>
          </a:solidFill>
          <a:ln w="12700">
            <a:solidFill>
              <a:srgbClr val="8B5CF6">
                <a:alpha val="45000"/>
              </a:srgbClr>
            </a:solidFill>
            <a:prstDash val="solid"/>
          </a:ln>
        </p:spPr>
        <p:txBody>
          <a:bodyPr/>
          <a:p/>
        </p:txBody>
      </p:sp>
      <p:sp>
        <p:nvSpPr>
          <p:cNvPr id="631" name="文本框 630" descr="{&quot;isTemplate&quot;:true,&quot;type&quot;:&quot;text&quot;}"/>
          <p:cNvSpPr txBox="1"/>
          <p:nvPr/>
        </p:nvSpPr>
        <p:spPr>
          <a:xfrm>
            <a:off x="819150" y="3952875"/>
            <a:ext cx="3771900" cy="609600"/>
          </a:xfrm>
          <a:prstGeom prst="rect">
            <a:avLst/>
          </a:prstGeom>
        </p:spPr>
        <p:txBody>
          <a:bodyPr wrap="square" lIns="0" tIns="0" rIns="0" bIns="0">
            <a:normAutofit/>
          </a:bodyPr>
          <a:p>
            <a:pPr>
              <a:lnSpc>
                <a:spcPct val="170000"/>
              </a:lnSpc>
            </a:pPr>
            <a:r>
              <a:rPr lang="en-US" sz="1165" b="1">
                <a:solidFill>
                  <a:srgbClr val="C4B5FD"/>
                </a:solidFill>
                <a:latin typeface="微软雅黑" panose="020B0503020204020204" charset="-122"/>
                <a:ea typeface="微软雅黑" panose="020B0503020204020204" charset="-122"/>
              </a:rPr>
              <a:t>V3.0 </a:t>
            </a:r>
            <a:r>
              <a:rPr lang="zh-CN" sz="1165" b="1">
                <a:solidFill>
                  <a:srgbClr val="C4B5FD"/>
                </a:solidFill>
                <a:latin typeface="微软雅黑" panose="020B0503020204020204" charset="-122"/>
                <a:ea typeface="微软雅黑" panose="020B0503020204020204" charset="-122"/>
              </a:rPr>
              <a:t>视角：</a:t>
            </a:r>
            <a:r>
              <a:rPr lang="zh-CN" sz="1165">
                <a:solidFill>
                  <a:srgbClr val="E2E8F0"/>
                </a:solidFill>
                <a:latin typeface="微软雅黑" panose="020B0503020204020204" charset="-122"/>
                <a:ea typeface="微软雅黑" panose="020B0503020204020204" charset="-122"/>
              </a:rPr>
              <a:t>项目计划仍是</a:t>
            </a:r>
            <a:r>
              <a:rPr lang="en-US" sz="1165">
                <a:solidFill>
                  <a:srgbClr val="E2E8F0"/>
                </a:solidFill>
                <a:latin typeface="微软雅黑" panose="020B0503020204020204" charset="-122"/>
                <a:ea typeface="微软雅黑" panose="020B0503020204020204" charset="-122"/>
              </a:rPr>
              <a:t>"</a:t>
            </a:r>
            <a:r>
              <a:rPr lang="zh-CN" sz="1165">
                <a:solidFill>
                  <a:srgbClr val="E2E8F0"/>
                </a:solidFill>
                <a:latin typeface="微软雅黑" panose="020B0503020204020204" charset="-122"/>
                <a:ea typeface="微软雅黑" panose="020B0503020204020204" charset="-122"/>
              </a:rPr>
              <a:t>交付与支持</a:t>
            </a:r>
            <a:r>
              <a:rPr lang="en-US" sz="1165">
                <a:solidFill>
                  <a:srgbClr val="E2E8F0"/>
                </a:solidFill>
                <a:latin typeface="微软雅黑" panose="020B0503020204020204" charset="-122"/>
                <a:ea typeface="微软雅黑" panose="020B0503020204020204" charset="-122"/>
              </a:rPr>
              <a:t>"</a:t>
            </a:r>
            <a:r>
              <a:rPr lang="zh-CN" sz="1165">
                <a:solidFill>
                  <a:srgbClr val="E2E8F0"/>
                </a:solidFill>
                <a:latin typeface="微软雅黑" panose="020B0503020204020204" charset="-122"/>
                <a:ea typeface="微软雅黑" panose="020B0503020204020204" charset="-122"/>
              </a:rPr>
              <a:t>能力域的核心——只是更强调</a:t>
            </a:r>
            <a:r>
              <a:rPr lang="zh-CN" sz="1165" b="1">
                <a:solidFill>
                  <a:srgbClr val="E2E8F0"/>
                </a:solidFill>
                <a:latin typeface="微软雅黑" panose="020B0503020204020204" charset="-122"/>
                <a:ea typeface="微软雅黑" panose="020B0503020204020204" charset="-122"/>
              </a:rPr>
              <a:t>价值对齐与敏捷适配</a:t>
            </a:r>
            <a:r>
              <a:rPr lang="zh-CN" sz="1165">
                <a:solidFill>
                  <a:srgbClr val="E2E8F0"/>
                </a:solidFill>
                <a:latin typeface="微软雅黑" panose="020B0503020204020204" charset="-122"/>
                <a:ea typeface="微软雅黑" panose="020B0503020204020204" charset="-122"/>
              </a:rPr>
              <a:t>，弱化文档厚度。</a:t>
            </a:r>
            <a:endParaRPr lang="zh-CN" sz="1165">
              <a:solidFill>
                <a:srgbClr val="E2E8F0"/>
              </a:solidFill>
              <a:latin typeface="微软雅黑" panose="020B0503020204020204" charset="-122"/>
              <a:ea typeface="微软雅黑" panose="020B0503020204020204" charset="-122"/>
            </a:endParaRPr>
          </a:p>
        </p:txBody>
      </p:sp>
      <p:sp>
        <p:nvSpPr>
          <p:cNvPr id="632" name="圆角矩形 631"/>
          <p:cNvSpPr/>
          <p:nvPr/>
        </p:nvSpPr>
        <p:spPr>
          <a:xfrm>
            <a:off x="5067300" y="2571750"/>
            <a:ext cx="6515100" cy="409575"/>
          </a:xfrm>
          <a:prstGeom prst="roundRect">
            <a:avLst>
              <a:gd name="adj" fmla="val 23256"/>
            </a:avLst>
          </a:prstGeom>
          <a:solidFill>
            <a:srgbClr val="111B2E"/>
          </a:solidFill>
        </p:spPr>
        <p:txBody>
          <a:bodyPr/>
          <a:p/>
        </p:txBody>
      </p:sp>
      <p:sp>
        <p:nvSpPr>
          <p:cNvPr id="633" name="文本框 632" descr="{&quot;isTemplate&quot;:true,&quot;type&quot;:&quot;text&quot;}"/>
          <p:cNvSpPr txBox="1"/>
          <p:nvPr/>
        </p:nvSpPr>
        <p:spPr>
          <a:xfrm>
            <a:off x="5257800" y="2686050"/>
            <a:ext cx="6134100" cy="180975"/>
          </a:xfrm>
          <a:prstGeom prst="rect">
            <a:avLst/>
          </a:prstGeom>
        </p:spPr>
        <p:txBody>
          <a:bodyPr wrap="none" lIns="0" tIns="0" rIns="0" bIns="0"/>
          <a:p>
            <a:pPr>
              <a:lnSpc>
                <a:spcPct val="100000"/>
              </a:lnSpc>
            </a:pPr>
            <a:r>
              <a:rPr lang="zh-CN" sz="1165" b="1">
                <a:solidFill>
                  <a:srgbClr val="93C5FD"/>
                </a:solidFill>
                <a:latin typeface="微软雅黑" panose="020B0503020204020204" charset="-122"/>
                <a:ea typeface="微软雅黑" panose="020B0503020204020204" charset="-122"/>
              </a:rPr>
              <a:t>三大目标：</a:t>
            </a:r>
            <a:r>
              <a:rPr lang="en-US" sz="1165">
                <a:solidFill>
                  <a:srgbClr val="E2E8F0"/>
                </a:solidFill>
                <a:latin typeface="微软雅黑" panose="020B0503020204020204" charset="-122"/>
                <a:ea typeface="微软雅黑" panose="020B0503020204020204" charset="-122"/>
              </a:rPr>
              <a:t>① </a:t>
            </a:r>
            <a:r>
              <a:rPr lang="zh-CN" sz="1165">
                <a:solidFill>
                  <a:srgbClr val="E2E8F0"/>
                </a:solidFill>
                <a:latin typeface="微软雅黑" panose="020B0503020204020204" charset="-122"/>
                <a:ea typeface="微软雅黑" panose="020B0503020204020204" charset="-122"/>
              </a:rPr>
              <a:t>制定软件估算文档</a:t>
            </a:r>
            <a:r>
              <a:rPr lang="en-US" sz="1165">
                <a:solidFill>
                  <a:srgbClr val="E2E8F0"/>
                </a:solidFill>
                <a:latin typeface="微软雅黑" panose="020B0503020204020204" charset="-122"/>
                <a:ea typeface="微软雅黑" panose="020B0503020204020204" charset="-122"/>
              </a:rPr>
              <a:t> ② </a:t>
            </a:r>
            <a:r>
              <a:rPr lang="zh-CN" sz="1165">
                <a:solidFill>
                  <a:srgbClr val="E2E8F0"/>
                </a:solidFill>
                <a:latin typeface="微软雅黑" panose="020B0503020204020204" charset="-122"/>
                <a:ea typeface="微软雅黑" panose="020B0503020204020204" charset="-122"/>
              </a:rPr>
              <a:t>制定活动与约定计划并成文</a:t>
            </a:r>
            <a:r>
              <a:rPr lang="en-US" sz="1165">
                <a:solidFill>
                  <a:srgbClr val="E2E8F0"/>
                </a:solidFill>
                <a:latin typeface="微软雅黑" panose="020B0503020204020204" charset="-122"/>
                <a:ea typeface="微软雅黑" panose="020B0503020204020204" charset="-122"/>
              </a:rPr>
              <a:t> ③ </a:t>
            </a:r>
            <a:r>
              <a:rPr lang="zh-CN" sz="1165">
                <a:solidFill>
                  <a:srgbClr val="E2E8F0"/>
                </a:solidFill>
                <a:latin typeface="微软雅黑" panose="020B0503020204020204" charset="-122"/>
                <a:ea typeface="微软雅黑" panose="020B0503020204020204" charset="-122"/>
              </a:rPr>
              <a:t>受影响组同意承诺</a:t>
            </a:r>
            <a:endParaRPr lang="zh-CN" sz="1165">
              <a:solidFill>
                <a:srgbClr val="E2E8F0"/>
              </a:solidFill>
              <a:latin typeface="微软雅黑" panose="020B0503020204020204" charset="-122"/>
              <a:ea typeface="微软雅黑" panose="020B0503020204020204" charset="-122"/>
            </a:endParaRPr>
          </a:p>
        </p:txBody>
      </p:sp>
      <p:sp>
        <p:nvSpPr>
          <p:cNvPr id="634" name="圆角矩形 633"/>
          <p:cNvSpPr/>
          <p:nvPr/>
        </p:nvSpPr>
        <p:spPr>
          <a:xfrm>
            <a:off x="5067300" y="3086100"/>
            <a:ext cx="6515100" cy="409575"/>
          </a:xfrm>
          <a:prstGeom prst="roundRect">
            <a:avLst>
              <a:gd name="adj" fmla="val 23256"/>
            </a:avLst>
          </a:prstGeom>
          <a:solidFill>
            <a:srgbClr val="111B2E"/>
          </a:solidFill>
        </p:spPr>
        <p:txBody>
          <a:bodyPr/>
          <a:p/>
        </p:txBody>
      </p:sp>
      <p:sp>
        <p:nvSpPr>
          <p:cNvPr id="635" name="文本框 634" descr="{&quot;isTemplate&quot;:true,&quot;type&quot;:&quot;text&quot;}"/>
          <p:cNvSpPr txBox="1"/>
          <p:nvPr/>
        </p:nvSpPr>
        <p:spPr>
          <a:xfrm>
            <a:off x="5257800" y="3200400"/>
            <a:ext cx="6134100" cy="180975"/>
          </a:xfrm>
          <a:prstGeom prst="rect">
            <a:avLst/>
          </a:prstGeom>
        </p:spPr>
        <p:txBody>
          <a:bodyPr wrap="none" lIns="0" tIns="0" rIns="0" bIns="0"/>
          <a:p>
            <a:pPr>
              <a:lnSpc>
                <a:spcPct val="100000"/>
              </a:lnSpc>
            </a:pPr>
            <a:r>
              <a:rPr lang="zh-CN" sz="1165" b="1">
                <a:solidFill>
                  <a:srgbClr val="67E8F9"/>
                </a:solidFill>
                <a:latin typeface="微软雅黑" panose="020B0503020204020204" charset="-122"/>
                <a:ea typeface="微软雅黑" panose="020B0503020204020204" charset="-122"/>
              </a:rPr>
              <a:t>规模估计方法：</a:t>
            </a:r>
            <a:r>
              <a:rPr lang="zh-CN" sz="1165">
                <a:solidFill>
                  <a:srgbClr val="E2E8F0"/>
                </a:solidFill>
                <a:latin typeface="微软雅黑" panose="020B0503020204020204" charset="-122"/>
                <a:ea typeface="微软雅黑" panose="020B0503020204020204" charset="-122"/>
              </a:rPr>
              <a:t>功能点</a:t>
            </a:r>
            <a:r>
              <a:rPr lang="en-US" sz="1165">
                <a:solidFill>
                  <a:srgbClr val="E2E8F0"/>
                </a:solidFill>
                <a:latin typeface="微软雅黑" panose="020B0503020204020204" charset="-122"/>
                <a:ea typeface="微软雅黑" panose="020B0503020204020204" charset="-122"/>
              </a:rPr>
              <a:t> · </a:t>
            </a:r>
            <a:r>
              <a:rPr lang="zh-CN" sz="1165">
                <a:solidFill>
                  <a:srgbClr val="E2E8F0"/>
                </a:solidFill>
                <a:latin typeface="微软雅黑" panose="020B0503020204020204" charset="-122"/>
                <a:ea typeface="微软雅黑" panose="020B0503020204020204" charset="-122"/>
              </a:rPr>
              <a:t>特征点</a:t>
            </a:r>
            <a:r>
              <a:rPr lang="en-US" sz="1165">
                <a:solidFill>
                  <a:srgbClr val="E2E8F0"/>
                </a:solidFill>
                <a:latin typeface="微软雅黑" panose="020B0503020204020204" charset="-122"/>
                <a:ea typeface="微软雅黑" panose="020B0503020204020204" charset="-122"/>
              </a:rPr>
              <a:t> · </a:t>
            </a:r>
            <a:r>
              <a:rPr lang="zh-CN" sz="1165">
                <a:solidFill>
                  <a:srgbClr val="E2E8F0"/>
                </a:solidFill>
                <a:latin typeface="微软雅黑" panose="020B0503020204020204" charset="-122"/>
                <a:ea typeface="微软雅黑" panose="020B0503020204020204" charset="-122"/>
              </a:rPr>
              <a:t>代码行，尽量用历史数据</a:t>
            </a:r>
            <a:endParaRPr lang="zh-CN" sz="1165">
              <a:solidFill>
                <a:srgbClr val="E2E8F0"/>
              </a:solidFill>
              <a:latin typeface="微软雅黑" panose="020B0503020204020204" charset="-122"/>
              <a:ea typeface="微软雅黑" panose="020B0503020204020204" charset="-122"/>
            </a:endParaRPr>
          </a:p>
        </p:txBody>
      </p:sp>
      <p:sp>
        <p:nvSpPr>
          <p:cNvPr id="636" name="圆角矩形 635"/>
          <p:cNvSpPr/>
          <p:nvPr/>
        </p:nvSpPr>
        <p:spPr>
          <a:xfrm>
            <a:off x="5067300" y="3600450"/>
            <a:ext cx="6515100" cy="590550"/>
          </a:xfrm>
          <a:prstGeom prst="roundRect">
            <a:avLst>
              <a:gd name="adj" fmla="val 16129"/>
            </a:avLst>
          </a:prstGeom>
          <a:solidFill>
            <a:srgbClr val="111B2E"/>
          </a:solidFill>
        </p:spPr>
        <p:txBody>
          <a:bodyPr/>
          <a:p/>
        </p:txBody>
      </p:sp>
      <p:sp>
        <p:nvSpPr>
          <p:cNvPr id="637" name="文本框 636" descr="{&quot;isTemplate&quot;:true,&quot;type&quot;:&quot;text&quot;}"/>
          <p:cNvSpPr txBox="1"/>
          <p:nvPr/>
        </p:nvSpPr>
        <p:spPr>
          <a:xfrm>
            <a:off x="5257800" y="3714750"/>
            <a:ext cx="6134100" cy="361950"/>
          </a:xfrm>
          <a:prstGeom prst="rect">
            <a:avLst/>
          </a:prstGeom>
        </p:spPr>
        <p:txBody>
          <a:bodyPr wrap="square" lIns="0" tIns="0" rIns="0" bIns="0">
            <a:normAutofit/>
          </a:bodyPr>
          <a:p>
            <a:pPr>
              <a:lnSpc>
                <a:spcPct val="100000"/>
              </a:lnSpc>
            </a:pPr>
            <a:r>
              <a:rPr lang="zh-CN" sz="1165" b="1">
                <a:solidFill>
                  <a:srgbClr val="C4B5FD"/>
                </a:solidFill>
                <a:latin typeface="微软雅黑" panose="020B0503020204020204" charset="-122"/>
                <a:ea typeface="微软雅黑" panose="020B0503020204020204" charset="-122"/>
              </a:rPr>
              <a:t>计划内容：</a:t>
            </a:r>
            <a:r>
              <a:rPr lang="zh-CN" sz="1165">
                <a:solidFill>
                  <a:srgbClr val="E2E8F0"/>
                </a:solidFill>
                <a:latin typeface="微软雅黑" panose="020B0503020204020204" charset="-122"/>
                <a:ea typeface="微软雅黑" panose="020B0503020204020204" charset="-122"/>
              </a:rPr>
              <a:t>目的范围、生存周期、规程标准、工作产品、规模</a:t>
            </a:r>
            <a:r>
              <a:rPr lang="en-US" sz="1165">
                <a:solidFill>
                  <a:srgbClr val="E2E8F0"/>
                </a:solidFill>
                <a:latin typeface="微软雅黑" panose="020B0503020204020204" charset="-122"/>
                <a:ea typeface="微软雅黑" panose="020B0503020204020204" charset="-122"/>
              </a:rPr>
              <a:t>/</a:t>
            </a:r>
            <a:r>
              <a:rPr lang="zh-CN" sz="1165">
                <a:solidFill>
                  <a:srgbClr val="E2E8F0"/>
                </a:solidFill>
                <a:latin typeface="微软雅黑" panose="020B0503020204020204" charset="-122"/>
                <a:ea typeface="微软雅黑" panose="020B0503020204020204" charset="-122"/>
              </a:rPr>
              <a:t>成本</a:t>
            </a:r>
            <a:r>
              <a:rPr lang="en-US" sz="1165">
                <a:solidFill>
                  <a:srgbClr val="E2E8F0"/>
                </a:solidFill>
                <a:latin typeface="微软雅黑" panose="020B0503020204020204" charset="-122"/>
                <a:ea typeface="微软雅黑" panose="020B0503020204020204" charset="-122"/>
              </a:rPr>
              <a:t>/</a:t>
            </a:r>
            <a:r>
              <a:rPr lang="zh-CN" sz="1165">
                <a:solidFill>
                  <a:srgbClr val="E2E8F0"/>
                </a:solidFill>
                <a:latin typeface="微软雅黑" panose="020B0503020204020204" charset="-122"/>
                <a:ea typeface="微软雅黑" panose="020B0503020204020204" charset="-122"/>
              </a:rPr>
              <a:t>进度估计、风险、设施工具</a:t>
            </a:r>
            <a:endParaRPr lang="zh-CN" sz="1165">
              <a:solidFill>
                <a:srgbClr val="E2E8F0"/>
              </a:solidFill>
              <a:latin typeface="微软雅黑" panose="020B0503020204020204" charset="-122"/>
              <a:ea typeface="微软雅黑" panose="020B0503020204020204" charset="-122"/>
            </a:endParaRPr>
          </a:p>
        </p:txBody>
      </p:sp>
      <p:sp>
        <p:nvSpPr>
          <p:cNvPr id="638" name="圆角矩形 637"/>
          <p:cNvSpPr/>
          <p:nvPr/>
        </p:nvSpPr>
        <p:spPr>
          <a:xfrm>
            <a:off x="5067300" y="4295775"/>
            <a:ext cx="6515100" cy="409575"/>
          </a:xfrm>
          <a:prstGeom prst="roundRect">
            <a:avLst>
              <a:gd name="adj" fmla="val 23256"/>
            </a:avLst>
          </a:prstGeom>
          <a:solidFill>
            <a:srgbClr val="111B2E"/>
          </a:solidFill>
        </p:spPr>
        <p:txBody>
          <a:bodyPr/>
          <a:p/>
        </p:txBody>
      </p:sp>
      <p:sp>
        <p:nvSpPr>
          <p:cNvPr id="639" name="文本框 638" descr="{&quot;isTemplate&quot;:true,&quot;type&quot;:&quot;text&quot;}"/>
          <p:cNvSpPr txBox="1"/>
          <p:nvPr/>
        </p:nvSpPr>
        <p:spPr>
          <a:xfrm>
            <a:off x="5257800" y="4410075"/>
            <a:ext cx="6134100" cy="180975"/>
          </a:xfrm>
          <a:prstGeom prst="rect">
            <a:avLst/>
          </a:prstGeom>
        </p:spPr>
        <p:txBody>
          <a:bodyPr wrap="none" lIns="0" tIns="0" rIns="0" bIns="0"/>
          <a:p>
            <a:pPr>
              <a:lnSpc>
                <a:spcPct val="100000"/>
              </a:lnSpc>
            </a:pPr>
            <a:r>
              <a:rPr lang="zh-CN" sz="1165" b="1">
                <a:solidFill>
                  <a:srgbClr val="C4B5FD"/>
                </a:solidFill>
                <a:latin typeface="微软雅黑" panose="020B0503020204020204" charset="-122"/>
                <a:ea typeface="微软雅黑" panose="020B0503020204020204" charset="-122"/>
              </a:rPr>
              <a:t>评审承诺：</a:t>
            </a:r>
            <a:r>
              <a:rPr lang="zh-CN" sz="1165">
                <a:solidFill>
                  <a:srgbClr val="E2E8F0"/>
                </a:solidFill>
                <a:latin typeface="微软雅黑" panose="020B0503020204020204" charset="-122"/>
                <a:ea typeface="微软雅黑" panose="020B0503020204020204" charset="-122"/>
              </a:rPr>
              <a:t>项目负责人、软件负责人、受影响组共同评审</a:t>
            </a:r>
            <a:endParaRPr lang="zh-CN" sz="1165">
              <a:solidFill>
                <a:srgbClr val="E2E8F0"/>
              </a:solidFill>
              <a:latin typeface="微软雅黑" panose="020B0503020204020204" charset="-122"/>
              <a:ea typeface="微软雅黑" panose="020B0503020204020204" charset="-122"/>
            </a:endParaRPr>
          </a:p>
        </p:txBody>
      </p:sp>
      <p:sp>
        <p:nvSpPr>
          <p:cNvPr id="640" name="文本框 639"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641" name="文本框 640"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38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642"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成功的 vs 过于乐观的计划&lt;/Text&gt;&#13;&#10;    &lt;/Box&gt;&#13;&#10;    &lt;Box style={{ flex: 1, flexDirection: 'row', gap: 26, alignItems: 'center' }}&gt;&#13;&#10;        &lt;Box style={{ flex: 1, height: 400, background: '#111B2E', borderRadius: 14, padding: 26, justifyContent: 'flex-start', gap: 12 }}&gt;&#13;&#10;            &lt;Text style={{ fontSize: 21, fontWeight: 'bold', color: '#67E8F9' }}&gt;成功的计划&lt;/Text&gt;&#13;&#10;            &lt;Text style={{ fontSize: 15, color: '#E2E8F0', lineHeight: 2.0 }}&gt;· 充分考虑：规模、能力、约束、缓冲&lt;br /&gt;· 参与者承诺：成员认同并签字&lt;br /&gt;· 紧张可完成：有挑战但可达&lt;/Text&gt;&#13;&#10;        &lt;/Box&gt;&#13;&#10;        &lt;Box style={{ flex: 1, height: 400, background: 'rgba(239,68,68,0.08)', borderRadius: 14, padding: 26, border: '1px solid rgba(239,68,68,0.4)', justifyContent: 'flex-start', gap: 12 }}&gt;&#13;&#10;            &lt;Text style={{ fontSize: 21, fontWeight: 'bold', color: '#FCA5A5' }}&gt;过于乐观的计划 → 恶性循环&lt;/Text&gt;&#13;&#10;            &lt;Text style={{ fontSize: 15, color: '#E2E8F0', lineHeight: 2.0 }}&gt;低质量产品 · 员工情绪低落&lt;br /&gt;频繁换人 · 交付延迟&lt;br /&gt;客户关系紧张、信誉受损&lt;/Text&gt;&#13;&#10;        &lt;/Box&gt;&#13;&#10;        &lt;Box style={{ width: 380, height: 400, background: '#111B2E', borderRadius: 14, padding: 26, justifyContent: 'center', gap: 12 }}&gt;&#13;&#10;            &lt;Text style={{ fontSize: 18, fontWeight: 'bold', color: '#C4B5FD' }}&gt;为什么会产生乐观计划？&lt;/Text&gt;&#13;&#10;            &lt;Text style={{ fontSize: 15, color: '#E2E8F0', lineHeight: 1.9 }}&gt;· 赶时间、迎合客户不切实际的进度&lt;br /&gt;· 估算不准确&lt;br /&gt;· 需求变更（增加）&lt;br /&gt;· 开发人员没有充分参与和承诺&lt;/Text&gt;&#13;&#10;        &lt;/Box&gt;&#13;&#10;    &lt;/Box&gt;&#13;&#10;    &lt;Box style={{ height: 40, flexDirection: 'row', justifyContent: 'space-between', alignItems: 'center', marginTop: 16 }}&gt;&#13;&#10;        &lt;Text style={{ fontSize: 14, color: '#94A3B8' }}&gt;03 项目计划与工作分解&lt;/Text&gt;&#13;&#10;        &lt;Text style={{ fontSize: 14, color: '#94A3B8' }}&gt;39 / 47&lt;/Text&gt;&#13;&#10;    &lt;/Box&gt;&#13;&#10;&lt;/Slide&gt;&#13;&#10;"/>
        <p:cNvGrpSpPr/>
        <p:nvPr/>
      </p:nvGrpSpPr>
      <p:grpSpPr>
        <a:xfrm>
          <a:off x="0" y="0"/>
          <a:ext cx="0" cy="0"/>
          <a:chOff x="0" y="0"/>
          <a:chExt cx="0" cy="0"/>
        </a:xfrm>
      </p:grpSpPr>
      <p:sp>
        <p:nvSpPr>
          <p:cNvPr id="643" name="矩形 642"/>
          <p:cNvSpPr/>
          <p:nvPr/>
        </p:nvSpPr>
        <p:spPr>
          <a:xfrm>
            <a:off x="0" y="0"/>
            <a:ext cx="12192000" cy="6858000"/>
          </a:xfrm>
          <a:prstGeom prst="rect">
            <a:avLst/>
          </a:prstGeom>
          <a:solidFill>
            <a:srgbClr val="0B1220"/>
          </a:solidFill>
        </p:spPr>
        <p:txBody>
          <a:bodyPr/>
          <a:p/>
        </p:txBody>
      </p:sp>
      <p:sp>
        <p:nvSpPr>
          <p:cNvPr id="644" name="圆角矩形 643"/>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645" name="文本框 644" descr="{&quot;isTemplate&quot;:true,&quot;type&quot;:&quot;text&quot;}"/>
          <p:cNvSpPr txBox="1"/>
          <p:nvPr/>
        </p:nvSpPr>
        <p:spPr>
          <a:xfrm>
            <a:off x="857250" y="476250"/>
            <a:ext cx="3781425"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成功的</a:t>
            </a:r>
            <a:r>
              <a:rPr lang="en-US" sz="2550" b="1">
                <a:solidFill>
                  <a:srgbClr val="E2E8F0"/>
                </a:solidFill>
                <a:latin typeface="微软雅黑" panose="020B0503020204020204" charset="-122"/>
                <a:ea typeface="微软雅黑" panose="020B0503020204020204" charset="-122"/>
              </a:rPr>
              <a:t> vs </a:t>
            </a:r>
            <a:r>
              <a:rPr lang="zh-CN" sz="2550" b="1">
                <a:solidFill>
                  <a:srgbClr val="E2E8F0"/>
                </a:solidFill>
                <a:latin typeface="微软雅黑" panose="020B0503020204020204" charset="-122"/>
                <a:ea typeface="微软雅黑" panose="020B0503020204020204" charset="-122"/>
              </a:rPr>
              <a:t>过于乐观的计划</a:t>
            </a:r>
            <a:endParaRPr lang="zh-CN" sz="2550" b="1">
              <a:solidFill>
                <a:srgbClr val="E2E8F0"/>
              </a:solidFill>
              <a:latin typeface="微软雅黑" panose="020B0503020204020204" charset="-122"/>
              <a:ea typeface="微软雅黑" panose="020B0503020204020204" charset="-122"/>
            </a:endParaRPr>
          </a:p>
        </p:txBody>
      </p:sp>
      <p:sp>
        <p:nvSpPr>
          <p:cNvPr id="646" name="圆角矩形 645"/>
          <p:cNvSpPr/>
          <p:nvPr/>
        </p:nvSpPr>
        <p:spPr>
          <a:xfrm>
            <a:off x="609600" y="1733550"/>
            <a:ext cx="3429000" cy="3810000"/>
          </a:xfrm>
          <a:prstGeom prst="roundRect">
            <a:avLst>
              <a:gd name="adj" fmla="val 3889"/>
            </a:avLst>
          </a:prstGeom>
          <a:solidFill>
            <a:srgbClr val="111B2E"/>
          </a:solidFill>
        </p:spPr>
        <p:txBody>
          <a:bodyPr/>
          <a:p/>
        </p:txBody>
      </p:sp>
      <p:sp>
        <p:nvSpPr>
          <p:cNvPr id="647" name="文本框 646" descr="{&quot;isTemplate&quot;:true,&quot;type&quot;:&quot;text&quot;}"/>
          <p:cNvSpPr txBox="1"/>
          <p:nvPr/>
        </p:nvSpPr>
        <p:spPr>
          <a:xfrm>
            <a:off x="857250" y="1981200"/>
            <a:ext cx="2933700" cy="247650"/>
          </a:xfrm>
          <a:prstGeom prst="rect">
            <a:avLst/>
          </a:prstGeom>
        </p:spPr>
        <p:txBody>
          <a:bodyPr wrap="none" lIns="0" tIns="0" rIns="0" bIns="0"/>
          <a:p>
            <a:pPr>
              <a:lnSpc>
                <a:spcPct val="100000"/>
              </a:lnSpc>
            </a:pPr>
            <a:r>
              <a:rPr lang="zh-CN" sz="1575" b="1">
                <a:solidFill>
                  <a:srgbClr val="67E8F9"/>
                </a:solidFill>
                <a:latin typeface="微软雅黑" panose="020B0503020204020204" charset="-122"/>
                <a:ea typeface="微软雅黑" panose="020B0503020204020204" charset="-122"/>
              </a:rPr>
              <a:t>成功的计划</a:t>
            </a:r>
            <a:endParaRPr lang="zh-CN" sz="1575" b="1">
              <a:solidFill>
                <a:srgbClr val="67E8F9"/>
              </a:solidFill>
              <a:latin typeface="微软雅黑" panose="020B0503020204020204" charset="-122"/>
              <a:ea typeface="微软雅黑" panose="020B0503020204020204" charset="-122"/>
            </a:endParaRPr>
          </a:p>
        </p:txBody>
      </p:sp>
      <p:sp>
        <p:nvSpPr>
          <p:cNvPr id="648" name="文本框 647" descr="{&quot;isTemplate&quot;:true,&quot;type&quot;:&quot;text&quot;}"/>
          <p:cNvSpPr txBox="1"/>
          <p:nvPr/>
        </p:nvSpPr>
        <p:spPr>
          <a:xfrm>
            <a:off x="857250" y="2343150"/>
            <a:ext cx="2933700" cy="1028700"/>
          </a:xfrm>
          <a:prstGeom prst="rect">
            <a:avLst/>
          </a:prstGeom>
        </p:spPr>
        <p:txBody>
          <a:bodyPr wrap="none" lIns="0" tIns="0" rIns="0" bIns="0"/>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充分考虑：规模、能力、约束、缓冲</a:t>
            </a:r>
            <a:endParaRPr lang="zh-CN" sz="1125">
              <a:solidFill>
                <a:srgbClr val="E2E8F0"/>
              </a:solidFill>
              <a:latin typeface="微软雅黑" panose="020B0503020204020204" charset="-122"/>
              <a:ea typeface="微软雅黑" panose="020B0503020204020204" charset="-122"/>
            </a:endParaRPr>
          </a:p>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参与者承诺：成员认同并签字</a:t>
            </a:r>
            <a:endParaRPr lang="zh-CN" sz="1125">
              <a:solidFill>
                <a:srgbClr val="E2E8F0"/>
              </a:solidFill>
              <a:latin typeface="微软雅黑" panose="020B0503020204020204" charset="-122"/>
              <a:ea typeface="微软雅黑" panose="020B0503020204020204" charset="-122"/>
            </a:endParaRPr>
          </a:p>
          <a:p>
            <a:pPr>
              <a:lnSpc>
                <a:spcPct val="20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紧张可完成：有挑战但可达</a:t>
            </a:r>
            <a:endParaRPr lang="zh-CN" sz="1125">
              <a:solidFill>
                <a:srgbClr val="E2E8F0"/>
              </a:solidFill>
              <a:latin typeface="微软雅黑" panose="020B0503020204020204" charset="-122"/>
              <a:ea typeface="微软雅黑" panose="020B0503020204020204" charset="-122"/>
            </a:endParaRPr>
          </a:p>
        </p:txBody>
      </p:sp>
      <p:sp>
        <p:nvSpPr>
          <p:cNvPr id="649" name="圆角矩形 648"/>
          <p:cNvSpPr/>
          <p:nvPr/>
        </p:nvSpPr>
        <p:spPr>
          <a:xfrm>
            <a:off x="4286250" y="1733550"/>
            <a:ext cx="3429000" cy="3810000"/>
          </a:xfrm>
          <a:prstGeom prst="roundRect">
            <a:avLst>
              <a:gd name="adj" fmla="val 3889"/>
            </a:avLst>
          </a:prstGeom>
          <a:solidFill>
            <a:srgbClr val="EF4444">
              <a:alpha val="8000"/>
            </a:srgbClr>
          </a:solidFill>
          <a:ln w="12700">
            <a:solidFill>
              <a:srgbClr val="EF4444">
                <a:alpha val="40000"/>
              </a:srgbClr>
            </a:solidFill>
            <a:prstDash val="solid"/>
          </a:ln>
        </p:spPr>
        <p:txBody>
          <a:bodyPr/>
          <a:p/>
        </p:txBody>
      </p:sp>
      <p:sp>
        <p:nvSpPr>
          <p:cNvPr id="650" name="文本框 649" descr="{&quot;isTemplate&quot;:true,&quot;type&quot;:&quot;text&quot;}"/>
          <p:cNvSpPr txBox="1"/>
          <p:nvPr/>
        </p:nvSpPr>
        <p:spPr>
          <a:xfrm>
            <a:off x="4533900" y="1981200"/>
            <a:ext cx="2933700" cy="247650"/>
          </a:xfrm>
          <a:prstGeom prst="rect">
            <a:avLst/>
          </a:prstGeom>
        </p:spPr>
        <p:txBody>
          <a:bodyPr wrap="none" lIns="0" tIns="0" rIns="0" bIns="0"/>
          <a:p>
            <a:pPr>
              <a:lnSpc>
                <a:spcPct val="100000"/>
              </a:lnSpc>
            </a:pPr>
            <a:r>
              <a:rPr lang="zh-CN" sz="1575" b="1">
                <a:solidFill>
                  <a:srgbClr val="FCA5A5"/>
                </a:solidFill>
                <a:latin typeface="微软雅黑" panose="020B0503020204020204" charset="-122"/>
                <a:ea typeface="微软雅黑" panose="020B0503020204020204" charset="-122"/>
              </a:rPr>
              <a:t>过于乐观的计划</a:t>
            </a:r>
            <a:r>
              <a:rPr lang="en-US" sz="1575" b="1">
                <a:solidFill>
                  <a:srgbClr val="FCA5A5"/>
                </a:solidFill>
                <a:latin typeface="微软雅黑" panose="020B0503020204020204" charset="-122"/>
                <a:ea typeface="微软雅黑" panose="020B0503020204020204" charset="-122"/>
              </a:rPr>
              <a:t> → </a:t>
            </a:r>
            <a:r>
              <a:rPr lang="zh-CN" sz="1575" b="1">
                <a:solidFill>
                  <a:srgbClr val="FCA5A5"/>
                </a:solidFill>
                <a:latin typeface="微软雅黑" panose="020B0503020204020204" charset="-122"/>
                <a:ea typeface="微软雅黑" panose="020B0503020204020204" charset="-122"/>
              </a:rPr>
              <a:t>恶性循环</a:t>
            </a:r>
            <a:endParaRPr lang="zh-CN" sz="1575" b="1">
              <a:solidFill>
                <a:srgbClr val="FCA5A5"/>
              </a:solidFill>
              <a:latin typeface="微软雅黑" panose="020B0503020204020204" charset="-122"/>
              <a:ea typeface="微软雅黑" panose="020B0503020204020204" charset="-122"/>
            </a:endParaRPr>
          </a:p>
        </p:txBody>
      </p:sp>
      <p:sp>
        <p:nvSpPr>
          <p:cNvPr id="651" name="文本框 650" descr="{&quot;isTemplate&quot;:true,&quot;type&quot;:&quot;text&quot;}"/>
          <p:cNvSpPr txBox="1"/>
          <p:nvPr/>
        </p:nvSpPr>
        <p:spPr>
          <a:xfrm>
            <a:off x="4533900" y="2343150"/>
            <a:ext cx="2933700" cy="1028700"/>
          </a:xfrm>
          <a:prstGeom prst="rect">
            <a:avLst/>
          </a:prstGeom>
        </p:spPr>
        <p:txBody>
          <a:bodyPr wrap="none" lIns="0" tIns="0" rIns="0" bIns="0"/>
          <a:p>
            <a:pPr>
              <a:lnSpc>
                <a:spcPct val="200000"/>
              </a:lnSpc>
            </a:pPr>
            <a:r>
              <a:rPr lang="zh-CN" sz="1125">
                <a:solidFill>
                  <a:srgbClr val="E2E8F0"/>
                </a:solidFill>
                <a:latin typeface="微软雅黑" panose="020B0503020204020204" charset="-122"/>
                <a:ea typeface="微软雅黑" panose="020B0503020204020204" charset="-122"/>
              </a:rPr>
              <a:t>低质量产品</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员工情绪低落</a:t>
            </a:r>
            <a:endParaRPr lang="zh-CN" sz="1125">
              <a:solidFill>
                <a:srgbClr val="E2E8F0"/>
              </a:solidFill>
              <a:latin typeface="微软雅黑" panose="020B0503020204020204" charset="-122"/>
              <a:ea typeface="微软雅黑" panose="020B0503020204020204" charset="-122"/>
            </a:endParaRPr>
          </a:p>
          <a:p>
            <a:pPr>
              <a:lnSpc>
                <a:spcPct val="200000"/>
              </a:lnSpc>
            </a:pPr>
            <a:r>
              <a:rPr lang="zh-CN" sz="1125">
                <a:solidFill>
                  <a:srgbClr val="E2E8F0"/>
                </a:solidFill>
                <a:latin typeface="微软雅黑" panose="020B0503020204020204" charset="-122"/>
                <a:ea typeface="微软雅黑" panose="020B0503020204020204" charset="-122"/>
              </a:rPr>
              <a:t>频繁换人</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交付延迟</a:t>
            </a:r>
            <a:endParaRPr lang="zh-CN" sz="1125">
              <a:solidFill>
                <a:srgbClr val="E2E8F0"/>
              </a:solidFill>
              <a:latin typeface="微软雅黑" panose="020B0503020204020204" charset="-122"/>
              <a:ea typeface="微软雅黑" panose="020B0503020204020204" charset="-122"/>
            </a:endParaRPr>
          </a:p>
          <a:p>
            <a:pPr>
              <a:lnSpc>
                <a:spcPct val="200000"/>
              </a:lnSpc>
            </a:pPr>
            <a:r>
              <a:rPr lang="zh-CN" sz="1125">
                <a:solidFill>
                  <a:srgbClr val="E2E8F0"/>
                </a:solidFill>
                <a:latin typeface="微软雅黑" panose="020B0503020204020204" charset="-122"/>
                <a:ea typeface="微软雅黑" panose="020B0503020204020204" charset="-122"/>
              </a:rPr>
              <a:t>客户关系紧张、信誉受损</a:t>
            </a:r>
            <a:endParaRPr lang="zh-CN" sz="1125">
              <a:solidFill>
                <a:srgbClr val="E2E8F0"/>
              </a:solidFill>
              <a:latin typeface="微软雅黑" panose="020B0503020204020204" charset="-122"/>
              <a:ea typeface="微软雅黑" panose="020B0503020204020204" charset="-122"/>
            </a:endParaRPr>
          </a:p>
        </p:txBody>
      </p:sp>
      <p:sp>
        <p:nvSpPr>
          <p:cNvPr id="652" name="圆角矩形 651"/>
          <p:cNvSpPr/>
          <p:nvPr/>
        </p:nvSpPr>
        <p:spPr>
          <a:xfrm>
            <a:off x="7962900" y="1733550"/>
            <a:ext cx="3619500" cy="3810000"/>
          </a:xfrm>
          <a:prstGeom prst="roundRect">
            <a:avLst>
              <a:gd name="adj" fmla="val 3684"/>
            </a:avLst>
          </a:prstGeom>
          <a:solidFill>
            <a:srgbClr val="111B2E"/>
          </a:solidFill>
        </p:spPr>
        <p:txBody>
          <a:bodyPr/>
          <a:p/>
        </p:txBody>
      </p:sp>
      <p:sp>
        <p:nvSpPr>
          <p:cNvPr id="653" name="文本框 652" descr="{&quot;isTemplate&quot;:true,&quot;type&quot;:&quot;text&quot;}"/>
          <p:cNvSpPr txBox="1"/>
          <p:nvPr/>
        </p:nvSpPr>
        <p:spPr>
          <a:xfrm>
            <a:off x="8210550" y="2828925"/>
            <a:ext cx="3124200" cy="209550"/>
          </a:xfrm>
          <a:prstGeom prst="rect">
            <a:avLst/>
          </a:prstGeom>
        </p:spPr>
        <p:txBody>
          <a:bodyPr wrap="none" lIns="0" tIns="0" rIns="0" bIns="0"/>
          <a:p>
            <a:pPr>
              <a:lnSpc>
                <a:spcPct val="100000"/>
              </a:lnSpc>
            </a:pPr>
            <a:r>
              <a:rPr lang="zh-CN" sz="1350" b="1">
                <a:solidFill>
                  <a:srgbClr val="C4B5FD"/>
                </a:solidFill>
                <a:latin typeface="微软雅黑" panose="020B0503020204020204" charset="-122"/>
                <a:ea typeface="微软雅黑" panose="020B0503020204020204" charset="-122"/>
              </a:rPr>
              <a:t>为什么会产生乐观计划？</a:t>
            </a:r>
            <a:endParaRPr lang="zh-CN" sz="1350" b="1">
              <a:solidFill>
                <a:srgbClr val="C4B5FD"/>
              </a:solidFill>
              <a:latin typeface="微软雅黑" panose="020B0503020204020204" charset="-122"/>
              <a:ea typeface="微软雅黑" panose="020B0503020204020204" charset="-122"/>
            </a:endParaRPr>
          </a:p>
        </p:txBody>
      </p:sp>
      <p:sp>
        <p:nvSpPr>
          <p:cNvPr id="654" name="文本框 653" descr="{&quot;isTemplate&quot;:true,&quot;type&quot;:&quot;text&quot;}"/>
          <p:cNvSpPr txBox="1"/>
          <p:nvPr/>
        </p:nvSpPr>
        <p:spPr>
          <a:xfrm>
            <a:off x="8210550" y="3152775"/>
            <a:ext cx="3124200" cy="1304925"/>
          </a:xfrm>
          <a:prstGeom prst="rect">
            <a:avLst/>
          </a:prstGeom>
        </p:spPr>
        <p:txBody>
          <a:bodyPr wrap="none" lIns="0" tIns="0" rIns="0" bIns="0"/>
          <a:p>
            <a:pPr>
              <a:lnSpc>
                <a:spcPct val="19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赶时间、迎合客户不切实际的进度</a:t>
            </a:r>
            <a:endParaRPr lang="zh-CN" sz="1125">
              <a:solidFill>
                <a:srgbClr val="E2E8F0"/>
              </a:solidFill>
              <a:latin typeface="微软雅黑" panose="020B0503020204020204" charset="-122"/>
              <a:ea typeface="微软雅黑" panose="020B0503020204020204" charset="-122"/>
            </a:endParaRPr>
          </a:p>
          <a:p>
            <a:pPr>
              <a:lnSpc>
                <a:spcPct val="19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估算不准确</a:t>
            </a:r>
            <a:endParaRPr lang="zh-CN" sz="1125">
              <a:solidFill>
                <a:srgbClr val="E2E8F0"/>
              </a:solidFill>
              <a:latin typeface="微软雅黑" panose="020B0503020204020204" charset="-122"/>
              <a:ea typeface="微软雅黑" panose="020B0503020204020204" charset="-122"/>
            </a:endParaRPr>
          </a:p>
          <a:p>
            <a:pPr>
              <a:lnSpc>
                <a:spcPct val="19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需求变更（增加）</a:t>
            </a:r>
            <a:endParaRPr lang="zh-CN" sz="1125">
              <a:solidFill>
                <a:srgbClr val="E2E8F0"/>
              </a:solidFill>
              <a:latin typeface="微软雅黑" panose="020B0503020204020204" charset="-122"/>
              <a:ea typeface="微软雅黑" panose="020B0503020204020204" charset="-122"/>
            </a:endParaRPr>
          </a:p>
          <a:p>
            <a:pPr>
              <a:lnSpc>
                <a:spcPct val="190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开发人员没有充分参与和承诺</a:t>
            </a:r>
            <a:endParaRPr lang="zh-CN" sz="1125">
              <a:solidFill>
                <a:srgbClr val="E2E8F0"/>
              </a:solidFill>
              <a:latin typeface="微软雅黑" panose="020B0503020204020204" charset="-122"/>
              <a:ea typeface="微软雅黑" panose="020B0503020204020204" charset="-122"/>
            </a:endParaRPr>
          </a:p>
        </p:txBody>
      </p:sp>
      <p:sp>
        <p:nvSpPr>
          <p:cNvPr id="655" name="文本框 654"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656" name="文本框 655"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39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703"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案例分析：图书馆管理系统&lt;/Text&gt;&#13;&#10;    &lt;/Box&gt;&#13;&#10;    &lt;Box style={{ flex: 1, flexDirection: 'row', gap: 28 }}&gt;&#13;&#10;        &lt;Box style={{ width: 430, justifyContent: 'center' }}&gt;&#13;&#10;            &lt;Box style={{ background: '#111B2E', borderRadius: 14, padding: '22px 26px', borderLeft: '5px solid #3B82F6' }}&gt;&#13;&#10;                &lt;Text style={{ fontSize: 16.5, color: '#E2E8F0', lineHeight: 1.85 }}&gt;&lt;span style={{ fontWeight: 'bold', color: '#93C5FD' }}&gt;任务：&lt;/span&gt;组织某大学图书馆管理系统的开发&lt;br /&gt;&lt;span style={{ fontWeight: 'bold', color: '#93C5FD' }}&gt;约束：&lt;/span&gt;6 个月 · 4 名技术人员 · 成本 ≤ 40 万元&lt;br /&gt;&lt;span style={{ fontWeight: 'bold', color: '#93C5FD' }}&gt;团队：&lt;/span&gt;小王（负责人）+ 小李、老赵、小田、小谢&lt;/Text&gt;&#13;&#10;            &lt;/Box&gt;&#13;&#10;        &lt;/Box&gt;&#13;&#10;        &lt;Box style={{ flex: 1, flexDirection: 'column', gap: 11, justifyContent: 'center' }}&gt;&#13;&#10;            &lt;Box style={{ background: '#111B2E', borderRadius: 10, padding: '12px 20px' }}&gt;&lt;Text style={{ fontSize: 15, color: '#E2E8F0' }}&gt;&lt;span style={{ fontWeight: 'bold', color: '#93C5FD' }}&gt;Step 1–2：&lt;/span&gt;指定小王为协调者，选用 Microsoft Project&lt;/Text&gt;&lt;/Box&gt;&#13;&#10;            &lt;Box style={{ background: '#111B2E', borderRadius: 10, padding: '12px 20px' }}&gt;&lt;Text style={{ fontSize: 15, color: '#E2E8F0' }}&gt;&lt;span style={{ fontWeight: 'bold', color: '#67E8F9' }}&gt;Step 3–4：&lt;/span&gt;准备并召开计划会议——确定需求分析负责人老赵，成员小李、老赵、小谢&lt;/Text&gt;&lt;/Box&gt;&#13;&#10;            &lt;Box style={{ background: '#111B2E', borderRadius: 10, padding: '12px 20px' }}&gt;&lt;Text style={{ fontSize: 15, color: '#E2E8F0' }}&gt;&lt;span style={{ fontWeight: 'bold', color: '#C4B5FD' }}&gt;Step 5–6：&lt;/span&gt;提交数据、创建计划——约 8 人月，投入 3 人，47 个工作日，多次迭代&lt;/Text&gt;&lt;/Box&gt;&#13;&#10;            &lt;Box style={{ background: '#111B2E', borderRadius: 10, padding: '12px 20px' }}&gt;&lt;Text style={{ fontSize: 15, color: '#E2E8F0' }}&gt;&lt;span style={{ fontWeight: 'bold', color: '#C4B5FD' }}&gt;Step 7–10：&lt;/span&gt;评审 → 更改 → 批准 → 分发，并配必要的培训&lt;/Text&gt;&lt;/Box&gt;&#13;&#10;        &lt;/Box&gt;&#13;&#10;    &lt;/Box&gt;&#13;&#10;    &lt;Box style={{ height: 40, flexDirection: 'row', justifyContent: 'space-between', alignItems: 'center', marginTop: 16 }}&gt;&#13;&#10;        &lt;Text style={{ fontSize: 14, color: '#94A3B8' }}&gt;03 项目计划与工作分解&lt;/Text&gt;&#13;&#10;        &lt;Text style={{ fontSize: 14, color: '#94A3B8' }}&gt;40 / 47&lt;/Text&gt;&#13;&#10;    &lt;/Box&gt;&#13;&#10;&lt;/Slide&gt;&#13;&#10;"/>
        <p:cNvGrpSpPr/>
        <p:nvPr/>
      </p:nvGrpSpPr>
      <p:grpSpPr>
        <a:xfrm>
          <a:off x="0" y="0"/>
          <a:ext cx="0" cy="0"/>
          <a:chOff x="0" y="0"/>
          <a:chExt cx="0" cy="0"/>
        </a:xfrm>
      </p:grpSpPr>
      <p:sp>
        <p:nvSpPr>
          <p:cNvPr id="704" name="矩形 703"/>
          <p:cNvSpPr/>
          <p:nvPr/>
        </p:nvSpPr>
        <p:spPr>
          <a:xfrm>
            <a:off x="0" y="0"/>
            <a:ext cx="12192000" cy="6858000"/>
          </a:xfrm>
          <a:prstGeom prst="rect">
            <a:avLst/>
          </a:prstGeom>
          <a:solidFill>
            <a:srgbClr val="0B1220"/>
          </a:solidFill>
        </p:spPr>
        <p:txBody>
          <a:bodyPr/>
          <a:p/>
        </p:txBody>
      </p:sp>
      <p:sp>
        <p:nvSpPr>
          <p:cNvPr id="705" name="圆角矩形 704"/>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706" name="文本框 705" descr="{&quot;isTemplate&quot;:true,&quot;type&quot;:&quot;text&quot;}"/>
          <p:cNvSpPr txBox="1"/>
          <p:nvPr/>
        </p:nvSpPr>
        <p:spPr>
          <a:xfrm>
            <a:off x="857250" y="476250"/>
            <a:ext cx="38862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案例分析：图书馆管理系统</a:t>
            </a:r>
            <a:endParaRPr lang="zh-CN" sz="2550" b="1">
              <a:solidFill>
                <a:srgbClr val="E2E8F0"/>
              </a:solidFill>
              <a:latin typeface="微软雅黑" panose="020B0503020204020204" charset="-122"/>
              <a:ea typeface="微软雅黑" panose="020B0503020204020204" charset="-122"/>
            </a:endParaRPr>
          </a:p>
        </p:txBody>
      </p:sp>
      <p:sp>
        <p:nvSpPr>
          <p:cNvPr id="707" name="圆角矩形 706"/>
          <p:cNvSpPr/>
          <p:nvPr/>
        </p:nvSpPr>
        <p:spPr>
          <a:xfrm>
            <a:off x="657225" y="2905125"/>
            <a:ext cx="4095750" cy="1466850"/>
          </a:xfrm>
          <a:prstGeom prst="roundRect">
            <a:avLst>
              <a:gd name="adj" fmla="val 9091"/>
            </a:avLst>
          </a:prstGeom>
          <a:solidFill>
            <a:srgbClr val="111B2E"/>
          </a:solidFill>
        </p:spPr>
        <p:txBody>
          <a:bodyPr/>
          <a:p/>
        </p:txBody>
      </p:sp>
      <p:sp>
        <p:nvSpPr>
          <p:cNvPr id="708" name="任意多边形 707"/>
          <p:cNvSpPr/>
          <p:nvPr/>
        </p:nvSpPr>
        <p:spPr>
          <a:xfrm>
            <a:off x="657225" y="2905125"/>
            <a:ext cx="4095750" cy="1466850"/>
          </a:xfrm>
          <a:custGeom>
            <a:avLst/>
            <a:gdLst/>
            <a:ahLst/>
            <a:cxnLst/>
            <a:pathLst>
              <a:path w="430" h="154">
                <a:moveTo>
                  <a:pt x="13" y="0"/>
                </a:moveTo>
                <a:cubicBezTo>
                  <a:pt x="9" y="0"/>
                  <a:pt x="5" y="4"/>
                  <a:pt x="5" y="9"/>
                </a:cubicBezTo>
                <a:lnTo>
                  <a:pt x="5" y="145"/>
                </a:lnTo>
                <a:cubicBezTo>
                  <a:pt x="5" y="149"/>
                  <a:pt x="8" y="153"/>
                  <a:pt x="12" y="154"/>
                </a:cubicBezTo>
                <a:cubicBezTo>
                  <a:pt x="5" y="153"/>
                  <a:pt x="0" y="147"/>
                  <a:pt x="0" y="140"/>
                </a:cubicBezTo>
                <a:lnTo>
                  <a:pt x="0" y="14"/>
                </a:lnTo>
                <a:cubicBezTo>
                  <a:pt x="0" y="6"/>
                  <a:pt x="6" y="0"/>
                  <a:pt x="14" y="0"/>
                </a:cubicBezTo>
                <a:close/>
              </a:path>
            </a:pathLst>
          </a:custGeom>
          <a:solidFill>
            <a:srgbClr val="3B82F6"/>
          </a:solidFill>
        </p:spPr>
        <p:txBody>
          <a:bodyPr/>
          <a:p/>
        </p:txBody>
      </p:sp>
      <p:sp>
        <p:nvSpPr>
          <p:cNvPr id="709" name="文本框 708" descr="{&quot;isTemplate&quot;:true,&quot;type&quot;:&quot;text&quot;}"/>
          <p:cNvSpPr txBox="1"/>
          <p:nvPr/>
        </p:nvSpPr>
        <p:spPr>
          <a:xfrm>
            <a:off x="904875" y="3114675"/>
            <a:ext cx="3552825" cy="1047750"/>
          </a:xfrm>
          <a:prstGeom prst="rect">
            <a:avLst/>
          </a:prstGeom>
        </p:spPr>
        <p:txBody>
          <a:bodyPr wrap="none" lIns="0" tIns="0" rIns="0" bIns="0"/>
          <a:p>
            <a:pPr>
              <a:lnSpc>
                <a:spcPct val="185000"/>
              </a:lnSpc>
            </a:pPr>
            <a:r>
              <a:rPr lang="zh-CN" sz="1240" b="1">
                <a:solidFill>
                  <a:srgbClr val="93C5FD"/>
                </a:solidFill>
                <a:latin typeface="微软雅黑" panose="020B0503020204020204" charset="-122"/>
                <a:ea typeface="微软雅黑" panose="020B0503020204020204" charset="-122"/>
              </a:rPr>
              <a:t>任务：</a:t>
            </a:r>
            <a:r>
              <a:rPr lang="zh-CN" sz="1240">
                <a:solidFill>
                  <a:srgbClr val="E2E8F0"/>
                </a:solidFill>
                <a:latin typeface="微软雅黑" panose="020B0503020204020204" charset="-122"/>
                <a:ea typeface="微软雅黑" panose="020B0503020204020204" charset="-122"/>
              </a:rPr>
              <a:t>组织某大学图书馆管理系统的开发</a:t>
            </a:r>
            <a:endParaRPr lang="zh-CN" sz="1240">
              <a:solidFill>
                <a:srgbClr val="E2E8F0"/>
              </a:solidFill>
              <a:latin typeface="微软雅黑" panose="020B0503020204020204" charset="-122"/>
              <a:ea typeface="微软雅黑" panose="020B0503020204020204" charset="-122"/>
            </a:endParaRPr>
          </a:p>
          <a:p>
            <a:pPr>
              <a:lnSpc>
                <a:spcPct val="185000"/>
              </a:lnSpc>
            </a:pPr>
            <a:r>
              <a:rPr lang="zh-CN" sz="1240" b="1">
                <a:solidFill>
                  <a:srgbClr val="93C5FD"/>
                </a:solidFill>
                <a:latin typeface="微软雅黑" panose="020B0503020204020204" charset="-122"/>
                <a:ea typeface="微软雅黑" panose="020B0503020204020204" charset="-122"/>
              </a:rPr>
              <a:t>约束：</a:t>
            </a:r>
            <a:r>
              <a:rPr lang="en-US" sz="1240">
                <a:solidFill>
                  <a:srgbClr val="E2E8F0"/>
                </a:solidFill>
                <a:latin typeface="微软雅黑" panose="020B0503020204020204" charset="-122"/>
                <a:ea typeface="微软雅黑" panose="020B0503020204020204" charset="-122"/>
              </a:rPr>
              <a:t>6 </a:t>
            </a:r>
            <a:r>
              <a:rPr lang="zh-CN" sz="1240">
                <a:solidFill>
                  <a:srgbClr val="E2E8F0"/>
                </a:solidFill>
                <a:latin typeface="微软雅黑" panose="020B0503020204020204" charset="-122"/>
                <a:ea typeface="微软雅黑" panose="020B0503020204020204" charset="-122"/>
              </a:rPr>
              <a:t>个月</a:t>
            </a:r>
            <a:r>
              <a:rPr lang="en-US" sz="1240">
                <a:solidFill>
                  <a:srgbClr val="E2E8F0"/>
                </a:solidFill>
                <a:latin typeface="微软雅黑" panose="020B0503020204020204" charset="-122"/>
                <a:ea typeface="微软雅黑" panose="020B0503020204020204" charset="-122"/>
              </a:rPr>
              <a:t> · 4 </a:t>
            </a:r>
            <a:r>
              <a:rPr lang="zh-CN" sz="1240">
                <a:solidFill>
                  <a:srgbClr val="E2E8F0"/>
                </a:solidFill>
                <a:latin typeface="微软雅黑" panose="020B0503020204020204" charset="-122"/>
                <a:ea typeface="微软雅黑" panose="020B0503020204020204" charset="-122"/>
              </a:rPr>
              <a:t>名技术人员</a:t>
            </a:r>
            <a:r>
              <a:rPr lang="en-US" sz="1240">
                <a:solidFill>
                  <a:srgbClr val="E2E8F0"/>
                </a:solidFill>
                <a:latin typeface="微软雅黑" panose="020B0503020204020204" charset="-122"/>
                <a:ea typeface="微软雅黑" panose="020B0503020204020204" charset="-122"/>
              </a:rPr>
              <a:t> · </a:t>
            </a:r>
            <a:r>
              <a:rPr lang="zh-CN" sz="1240">
                <a:solidFill>
                  <a:srgbClr val="E2E8F0"/>
                </a:solidFill>
                <a:latin typeface="微软雅黑" panose="020B0503020204020204" charset="-122"/>
                <a:ea typeface="微软雅黑" panose="020B0503020204020204" charset="-122"/>
              </a:rPr>
              <a:t>成本</a:t>
            </a:r>
            <a:r>
              <a:rPr lang="en-US" sz="1240">
                <a:solidFill>
                  <a:srgbClr val="E2E8F0"/>
                </a:solidFill>
                <a:latin typeface="微软雅黑" panose="020B0503020204020204" charset="-122"/>
                <a:ea typeface="微软雅黑" panose="020B0503020204020204" charset="-122"/>
              </a:rPr>
              <a:t> ≤ 40 </a:t>
            </a:r>
            <a:r>
              <a:rPr lang="zh-CN" sz="1240">
                <a:solidFill>
                  <a:srgbClr val="E2E8F0"/>
                </a:solidFill>
                <a:latin typeface="微软雅黑" panose="020B0503020204020204" charset="-122"/>
                <a:ea typeface="微软雅黑" panose="020B0503020204020204" charset="-122"/>
              </a:rPr>
              <a:t>万元</a:t>
            </a:r>
            <a:endParaRPr lang="zh-CN" sz="1240">
              <a:solidFill>
                <a:srgbClr val="E2E8F0"/>
              </a:solidFill>
              <a:latin typeface="微软雅黑" panose="020B0503020204020204" charset="-122"/>
              <a:ea typeface="微软雅黑" panose="020B0503020204020204" charset="-122"/>
            </a:endParaRPr>
          </a:p>
          <a:p>
            <a:pPr>
              <a:lnSpc>
                <a:spcPct val="185000"/>
              </a:lnSpc>
            </a:pPr>
            <a:r>
              <a:rPr lang="zh-CN" sz="1240" b="1">
                <a:solidFill>
                  <a:srgbClr val="93C5FD"/>
                </a:solidFill>
                <a:latin typeface="微软雅黑" panose="020B0503020204020204" charset="-122"/>
                <a:ea typeface="微软雅黑" panose="020B0503020204020204" charset="-122"/>
              </a:rPr>
              <a:t>团队：</a:t>
            </a:r>
            <a:r>
              <a:rPr lang="zh-CN" sz="1240">
                <a:solidFill>
                  <a:srgbClr val="E2E8F0"/>
                </a:solidFill>
                <a:latin typeface="微软雅黑" panose="020B0503020204020204" charset="-122"/>
                <a:ea typeface="微软雅黑" panose="020B0503020204020204" charset="-122"/>
              </a:rPr>
              <a:t>小王（负责人）</a:t>
            </a:r>
            <a:r>
              <a:rPr lang="en-US" sz="1240">
                <a:solidFill>
                  <a:srgbClr val="E2E8F0"/>
                </a:solidFill>
                <a:latin typeface="微软雅黑" panose="020B0503020204020204" charset="-122"/>
                <a:ea typeface="微软雅黑" panose="020B0503020204020204" charset="-122"/>
              </a:rPr>
              <a:t>+ </a:t>
            </a:r>
            <a:r>
              <a:rPr lang="zh-CN" sz="1240">
                <a:solidFill>
                  <a:srgbClr val="E2E8F0"/>
                </a:solidFill>
                <a:latin typeface="微软雅黑" panose="020B0503020204020204" charset="-122"/>
                <a:ea typeface="微软雅黑" panose="020B0503020204020204" charset="-122"/>
              </a:rPr>
              <a:t>小李、老赵、小田、小谢</a:t>
            </a:r>
            <a:endParaRPr lang="zh-CN" sz="1240">
              <a:solidFill>
                <a:srgbClr val="E2E8F0"/>
              </a:solidFill>
              <a:latin typeface="微软雅黑" panose="020B0503020204020204" charset="-122"/>
              <a:ea typeface="微软雅黑" panose="020B0503020204020204" charset="-122"/>
            </a:endParaRPr>
          </a:p>
        </p:txBody>
      </p:sp>
      <p:sp>
        <p:nvSpPr>
          <p:cNvPr id="710" name="圆角矩形 709"/>
          <p:cNvSpPr/>
          <p:nvPr/>
        </p:nvSpPr>
        <p:spPr>
          <a:xfrm>
            <a:off x="4972050" y="2686050"/>
            <a:ext cx="6610350" cy="400050"/>
          </a:xfrm>
          <a:prstGeom prst="roundRect">
            <a:avLst>
              <a:gd name="adj" fmla="val 23810"/>
            </a:avLst>
          </a:prstGeom>
          <a:solidFill>
            <a:srgbClr val="111B2E"/>
          </a:solidFill>
        </p:spPr>
        <p:txBody>
          <a:bodyPr/>
          <a:p/>
        </p:txBody>
      </p:sp>
      <p:sp>
        <p:nvSpPr>
          <p:cNvPr id="711" name="文本框 710" descr="{&quot;isTemplate&quot;:true,&quot;type&quot;:&quot;text&quot;}"/>
          <p:cNvSpPr txBox="1"/>
          <p:nvPr/>
        </p:nvSpPr>
        <p:spPr>
          <a:xfrm>
            <a:off x="5162550" y="2800350"/>
            <a:ext cx="6229350" cy="171450"/>
          </a:xfrm>
          <a:prstGeom prst="rect">
            <a:avLst/>
          </a:prstGeom>
        </p:spPr>
        <p:txBody>
          <a:bodyPr wrap="none" lIns="0" tIns="0" rIns="0" bIns="0"/>
          <a:p>
            <a:pPr>
              <a:lnSpc>
                <a:spcPct val="100000"/>
              </a:lnSpc>
            </a:pPr>
            <a:r>
              <a:rPr lang="en-US" sz="1125" b="1">
                <a:solidFill>
                  <a:srgbClr val="93C5FD"/>
                </a:solidFill>
                <a:latin typeface="微软雅黑" panose="020B0503020204020204" charset="-122"/>
                <a:ea typeface="微软雅黑" panose="020B0503020204020204" charset="-122"/>
              </a:rPr>
              <a:t>Step 1–2</a:t>
            </a:r>
            <a:r>
              <a:rPr lang="zh-CN" sz="1125" b="1">
                <a:solidFill>
                  <a:srgbClr val="93C5FD"/>
                </a:solidFill>
                <a:latin typeface="微软雅黑" panose="020B0503020204020204" charset="-122"/>
                <a:ea typeface="微软雅黑" panose="020B0503020204020204" charset="-122"/>
              </a:rPr>
              <a:t>：</a:t>
            </a:r>
            <a:r>
              <a:rPr lang="zh-CN" sz="1125">
                <a:solidFill>
                  <a:srgbClr val="E2E8F0"/>
                </a:solidFill>
                <a:latin typeface="微软雅黑" panose="020B0503020204020204" charset="-122"/>
                <a:ea typeface="微软雅黑" panose="020B0503020204020204" charset="-122"/>
              </a:rPr>
              <a:t>指定小王为协调者，选用</a:t>
            </a:r>
            <a:r>
              <a:rPr lang="en-US" sz="1125">
                <a:solidFill>
                  <a:srgbClr val="E2E8F0"/>
                </a:solidFill>
                <a:latin typeface="微软雅黑" panose="020B0503020204020204" charset="-122"/>
                <a:ea typeface="微软雅黑" panose="020B0503020204020204" charset="-122"/>
              </a:rPr>
              <a:t> Microsoft Project</a:t>
            </a:r>
            <a:endParaRPr lang="en-US" sz="1125">
              <a:solidFill>
                <a:srgbClr val="E2E8F0"/>
              </a:solidFill>
              <a:latin typeface="微软雅黑" panose="020B0503020204020204" charset="-122"/>
              <a:ea typeface="微软雅黑" panose="020B0503020204020204" charset="-122"/>
            </a:endParaRPr>
          </a:p>
        </p:txBody>
      </p:sp>
      <p:sp>
        <p:nvSpPr>
          <p:cNvPr id="712" name="圆角矩形 711"/>
          <p:cNvSpPr/>
          <p:nvPr/>
        </p:nvSpPr>
        <p:spPr>
          <a:xfrm>
            <a:off x="4972050" y="3190875"/>
            <a:ext cx="6610350" cy="400050"/>
          </a:xfrm>
          <a:prstGeom prst="roundRect">
            <a:avLst>
              <a:gd name="adj" fmla="val 23810"/>
            </a:avLst>
          </a:prstGeom>
          <a:solidFill>
            <a:srgbClr val="111B2E"/>
          </a:solidFill>
        </p:spPr>
        <p:txBody>
          <a:bodyPr/>
          <a:p/>
        </p:txBody>
      </p:sp>
      <p:sp>
        <p:nvSpPr>
          <p:cNvPr id="713" name="文本框 712" descr="{&quot;isTemplate&quot;:true,&quot;type&quot;:&quot;text&quot;}"/>
          <p:cNvSpPr txBox="1"/>
          <p:nvPr/>
        </p:nvSpPr>
        <p:spPr>
          <a:xfrm>
            <a:off x="5162550" y="3305175"/>
            <a:ext cx="6229350" cy="171450"/>
          </a:xfrm>
          <a:prstGeom prst="rect">
            <a:avLst/>
          </a:prstGeom>
        </p:spPr>
        <p:txBody>
          <a:bodyPr wrap="none" lIns="0" tIns="0" rIns="0" bIns="0"/>
          <a:p>
            <a:pPr>
              <a:lnSpc>
                <a:spcPct val="100000"/>
              </a:lnSpc>
            </a:pPr>
            <a:r>
              <a:rPr lang="en-US" sz="1125" b="1">
                <a:solidFill>
                  <a:srgbClr val="67E8F9"/>
                </a:solidFill>
                <a:latin typeface="微软雅黑" panose="020B0503020204020204" charset="-122"/>
                <a:ea typeface="微软雅黑" panose="020B0503020204020204" charset="-122"/>
              </a:rPr>
              <a:t>Step 3–4</a:t>
            </a:r>
            <a:r>
              <a:rPr lang="zh-CN" sz="1125" b="1">
                <a:solidFill>
                  <a:srgbClr val="67E8F9"/>
                </a:solidFill>
                <a:latin typeface="微软雅黑" panose="020B0503020204020204" charset="-122"/>
                <a:ea typeface="微软雅黑" panose="020B0503020204020204" charset="-122"/>
              </a:rPr>
              <a:t>：</a:t>
            </a:r>
            <a:r>
              <a:rPr lang="zh-CN" sz="1125">
                <a:solidFill>
                  <a:srgbClr val="E2E8F0"/>
                </a:solidFill>
                <a:latin typeface="微软雅黑" panose="020B0503020204020204" charset="-122"/>
                <a:ea typeface="微软雅黑" panose="020B0503020204020204" charset="-122"/>
              </a:rPr>
              <a:t>准备并召开计划会议——确定需求分析负责人老赵，成员小李、老赵、小谢</a:t>
            </a:r>
            <a:endParaRPr lang="zh-CN" sz="1125">
              <a:solidFill>
                <a:srgbClr val="E2E8F0"/>
              </a:solidFill>
              <a:latin typeface="微软雅黑" panose="020B0503020204020204" charset="-122"/>
              <a:ea typeface="微软雅黑" panose="020B0503020204020204" charset="-122"/>
            </a:endParaRPr>
          </a:p>
        </p:txBody>
      </p:sp>
      <p:sp>
        <p:nvSpPr>
          <p:cNvPr id="714" name="圆角矩形 713"/>
          <p:cNvSpPr/>
          <p:nvPr/>
        </p:nvSpPr>
        <p:spPr>
          <a:xfrm>
            <a:off x="4972050" y="3695700"/>
            <a:ext cx="6610350" cy="400050"/>
          </a:xfrm>
          <a:prstGeom prst="roundRect">
            <a:avLst>
              <a:gd name="adj" fmla="val 23810"/>
            </a:avLst>
          </a:prstGeom>
          <a:solidFill>
            <a:srgbClr val="111B2E"/>
          </a:solidFill>
        </p:spPr>
        <p:txBody>
          <a:bodyPr/>
          <a:p/>
        </p:txBody>
      </p:sp>
      <p:sp>
        <p:nvSpPr>
          <p:cNvPr id="715" name="文本框 714" descr="{&quot;isTemplate&quot;:true,&quot;type&quot;:&quot;text&quot;}"/>
          <p:cNvSpPr txBox="1"/>
          <p:nvPr/>
        </p:nvSpPr>
        <p:spPr>
          <a:xfrm>
            <a:off x="5162550" y="3810000"/>
            <a:ext cx="6229350" cy="171450"/>
          </a:xfrm>
          <a:prstGeom prst="rect">
            <a:avLst/>
          </a:prstGeom>
        </p:spPr>
        <p:txBody>
          <a:bodyPr wrap="none" lIns="0" tIns="0" rIns="0" bIns="0"/>
          <a:p>
            <a:pPr>
              <a:lnSpc>
                <a:spcPct val="100000"/>
              </a:lnSpc>
            </a:pPr>
            <a:r>
              <a:rPr lang="en-US" sz="1125" b="1">
                <a:solidFill>
                  <a:srgbClr val="C4B5FD"/>
                </a:solidFill>
                <a:latin typeface="微软雅黑" panose="020B0503020204020204" charset="-122"/>
                <a:ea typeface="微软雅黑" panose="020B0503020204020204" charset="-122"/>
              </a:rPr>
              <a:t>Step 5–6</a:t>
            </a:r>
            <a:r>
              <a:rPr lang="zh-CN" sz="1125" b="1">
                <a:solidFill>
                  <a:srgbClr val="C4B5FD"/>
                </a:solidFill>
                <a:latin typeface="微软雅黑" panose="020B0503020204020204" charset="-122"/>
                <a:ea typeface="微软雅黑" panose="020B0503020204020204" charset="-122"/>
              </a:rPr>
              <a:t>：</a:t>
            </a:r>
            <a:r>
              <a:rPr lang="zh-CN" sz="1125">
                <a:solidFill>
                  <a:srgbClr val="E2E8F0"/>
                </a:solidFill>
                <a:latin typeface="微软雅黑" panose="020B0503020204020204" charset="-122"/>
                <a:ea typeface="微软雅黑" panose="020B0503020204020204" charset="-122"/>
              </a:rPr>
              <a:t>提交数据、创建计划——约</a:t>
            </a:r>
            <a:r>
              <a:rPr lang="en-US" sz="1125">
                <a:solidFill>
                  <a:srgbClr val="E2E8F0"/>
                </a:solidFill>
                <a:latin typeface="微软雅黑" panose="020B0503020204020204" charset="-122"/>
                <a:ea typeface="微软雅黑" panose="020B0503020204020204" charset="-122"/>
              </a:rPr>
              <a:t> 8 </a:t>
            </a:r>
            <a:r>
              <a:rPr lang="zh-CN" sz="1125">
                <a:solidFill>
                  <a:srgbClr val="E2E8F0"/>
                </a:solidFill>
                <a:latin typeface="微软雅黑" panose="020B0503020204020204" charset="-122"/>
                <a:ea typeface="微软雅黑" panose="020B0503020204020204" charset="-122"/>
              </a:rPr>
              <a:t>人月，投入</a:t>
            </a:r>
            <a:r>
              <a:rPr lang="en-US" sz="1125">
                <a:solidFill>
                  <a:srgbClr val="E2E8F0"/>
                </a:solidFill>
                <a:latin typeface="微软雅黑" panose="020B0503020204020204" charset="-122"/>
                <a:ea typeface="微软雅黑" panose="020B0503020204020204" charset="-122"/>
              </a:rPr>
              <a:t> 3 </a:t>
            </a:r>
            <a:r>
              <a:rPr lang="zh-CN" sz="1125">
                <a:solidFill>
                  <a:srgbClr val="E2E8F0"/>
                </a:solidFill>
                <a:latin typeface="微软雅黑" panose="020B0503020204020204" charset="-122"/>
                <a:ea typeface="微软雅黑" panose="020B0503020204020204" charset="-122"/>
              </a:rPr>
              <a:t>人，</a:t>
            </a:r>
            <a:r>
              <a:rPr lang="en-US" sz="1125">
                <a:solidFill>
                  <a:srgbClr val="E2E8F0"/>
                </a:solidFill>
                <a:latin typeface="微软雅黑" panose="020B0503020204020204" charset="-122"/>
                <a:ea typeface="微软雅黑" panose="020B0503020204020204" charset="-122"/>
              </a:rPr>
              <a:t>47 </a:t>
            </a:r>
            <a:r>
              <a:rPr lang="zh-CN" sz="1125">
                <a:solidFill>
                  <a:srgbClr val="E2E8F0"/>
                </a:solidFill>
                <a:latin typeface="微软雅黑" panose="020B0503020204020204" charset="-122"/>
                <a:ea typeface="微软雅黑" panose="020B0503020204020204" charset="-122"/>
              </a:rPr>
              <a:t>个工作日，多次迭代</a:t>
            </a:r>
            <a:endParaRPr lang="zh-CN" sz="1125">
              <a:solidFill>
                <a:srgbClr val="E2E8F0"/>
              </a:solidFill>
              <a:latin typeface="微软雅黑" panose="020B0503020204020204" charset="-122"/>
              <a:ea typeface="微软雅黑" panose="020B0503020204020204" charset="-122"/>
            </a:endParaRPr>
          </a:p>
        </p:txBody>
      </p:sp>
      <p:sp>
        <p:nvSpPr>
          <p:cNvPr id="716" name="圆角矩形 715"/>
          <p:cNvSpPr/>
          <p:nvPr/>
        </p:nvSpPr>
        <p:spPr>
          <a:xfrm>
            <a:off x="4972050" y="4200525"/>
            <a:ext cx="6610350" cy="400050"/>
          </a:xfrm>
          <a:prstGeom prst="roundRect">
            <a:avLst>
              <a:gd name="adj" fmla="val 23810"/>
            </a:avLst>
          </a:prstGeom>
          <a:solidFill>
            <a:srgbClr val="111B2E"/>
          </a:solidFill>
        </p:spPr>
        <p:txBody>
          <a:bodyPr/>
          <a:p/>
        </p:txBody>
      </p:sp>
      <p:sp>
        <p:nvSpPr>
          <p:cNvPr id="717" name="文本框 716" descr="{&quot;isTemplate&quot;:true,&quot;type&quot;:&quot;text&quot;}"/>
          <p:cNvSpPr txBox="1"/>
          <p:nvPr/>
        </p:nvSpPr>
        <p:spPr>
          <a:xfrm>
            <a:off x="5162550" y="4314825"/>
            <a:ext cx="6229350" cy="171450"/>
          </a:xfrm>
          <a:prstGeom prst="rect">
            <a:avLst/>
          </a:prstGeom>
        </p:spPr>
        <p:txBody>
          <a:bodyPr wrap="none" lIns="0" tIns="0" rIns="0" bIns="0"/>
          <a:p>
            <a:pPr>
              <a:lnSpc>
                <a:spcPct val="100000"/>
              </a:lnSpc>
            </a:pPr>
            <a:r>
              <a:rPr lang="en-US" sz="1125" b="1">
                <a:solidFill>
                  <a:srgbClr val="C4B5FD"/>
                </a:solidFill>
                <a:latin typeface="微软雅黑" panose="020B0503020204020204" charset="-122"/>
                <a:ea typeface="微软雅黑" panose="020B0503020204020204" charset="-122"/>
              </a:rPr>
              <a:t>Step 7–10</a:t>
            </a:r>
            <a:r>
              <a:rPr lang="zh-CN" sz="1125" b="1">
                <a:solidFill>
                  <a:srgbClr val="C4B5FD"/>
                </a:solidFill>
                <a:latin typeface="微软雅黑" panose="020B0503020204020204" charset="-122"/>
                <a:ea typeface="微软雅黑" panose="020B0503020204020204" charset="-122"/>
              </a:rPr>
              <a:t>：</a:t>
            </a:r>
            <a:r>
              <a:rPr lang="zh-CN" sz="1125">
                <a:solidFill>
                  <a:srgbClr val="E2E8F0"/>
                </a:solidFill>
                <a:latin typeface="微软雅黑" panose="020B0503020204020204" charset="-122"/>
                <a:ea typeface="微软雅黑" panose="020B0503020204020204" charset="-122"/>
              </a:rPr>
              <a:t>评审</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更改</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批准</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分发，并配必要的培训</a:t>
            </a:r>
            <a:endParaRPr lang="zh-CN" sz="1125">
              <a:solidFill>
                <a:srgbClr val="E2E8F0"/>
              </a:solidFill>
              <a:latin typeface="微软雅黑" panose="020B0503020204020204" charset="-122"/>
              <a:ea typeface="微软雅黑" panose="020B0503020204020204" charset="-122"/>
            </a:endParaRPr>
          </a:p>
        </p:txBody>
      </p:sp>
      <p:sp>
        <p:nvSpPr>
          <p:cNvPr id="718" name="文本框 717"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719" name="文本框 718"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40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720" name="" descr="&lt;Slide style={{ width: 1280, height: 720, background: '#0B1220', padding: '20px 64px', display: 'flex', flexDirection: 'column' }}&gt;&#13;&#10;    &lt;Box style={{ flexDirection: 'row', height: 100, alignItems: 'center' }}&gt;&#13;&#10;        &lt;Box style={{ width: 6, height: 44, background: 'linear-gradient(180deg, #8B5CF6 0%, #22D3EE 100%)', borderRadius: 3, marginRight: 20 }} /&gt;&#13;&#10;        &lt;Text style={{ fontSize: 34, fontWeight: 'bold', color: '#E2E8F0' }}&gt;AI 辅助计划与估算&lt;/Text&gt;&#13;&#10;    &lt;/Box&gt;&#13;&#10;    &lt;Box style={{ flex: 1, flexDirection: 'row', gap: 26, alignItems: 'center' }}&gt;&#13;&#10;        &lt;Box style={{ flex: 1, height: 380, background: '#111B2E', borderRadius: 14, padding: 24, justifyContent: 'flex-start', gap: 12 }}&gt;&#13;&#10;            &lt;Text style={{ fontSize: 20, fontWeight: 'bold', color: '#93C5FD' }}&gt;AI 能做什么&lt;/Text&gt;&#13;&#10;            &lt;Text style={{ fontSize: 15, color: '#E2E8F0', lineHeight: 1.85 }}&gt;· 基于历史数据预测工作量与周期&lt;br /&gt;· 自动生成 WBS、甘特图初稿&lt;br /&gt;· 从需求文档提取任务与依赖关系&lt;br /&gt;· 推荐迭代范围与容量分配&lt;br /&gt;· 用自然语言调整计划（&quot;把编码延后两周&quot;）&lt;/Text&gt;&#13;&#10;        &lt;/Box&gt;&#13;&#10;        &lt;Box style={{ flex: 1, height: 380, background: '#111B2E', borderRadius: 14, padding: 24, justifyContent: 'flex-start', gap: 12 }}&gt;&#13;&#10;            &lt;Text style={{ fontSize: 20, fontWeight: 'bold', color: '#C4B5FD' }}&gt;人保留什么&lt;/Text&gt;&#13;&#10;            &lt;Text style={{ fontSize: 15, color: '#E2E8F0', lineHeight: 1.85 }}&gt;· AI 建议 ≠ 决策：人对承诺与取舍负责&lt;br /&gt;· 估算质量取决于&lt;span style={{ fontWeight: 'bold' }}&gt;历史数据的诚实度&lt;/span&gt;——垃圾进垃圾出&lt;br /&gt;· 用反馈校准：把 AI 预测与实际对比，持续改进&lt;br /&gt;· 计划的责任与签字始终在人&lt;/Text&gt;&#13;&#10;        &lt;/Box&gt;&#13;&#10;        &lt;Box style={{ width: 360, height: 380, background: 'rgba(139,92,246,0.10)', borderRadius: 14, padding: 24, border: '1px solid rgba(139,92,246,0.5)', justifyContent: 'center', gap: 12 }}&gt;&#13;&#10;            &lt;Text style={{ fontSize: 17, color: '#E2E8F0', lineHeight: 1.8 }}&gt;&lt;span style={{ fontWeight: 'bold', color: '#C4B5FD' }}&gt;课程实践：&lt;/span&gt;小组可用 AI 工具辅助生成 WBS 与计划初稿，但需&lt;span style={{ fontWeight: 'bold' }}&gt;人工评审并留痕&lt;/span&gt;——这本身就是对&quot;计划制定&quot;过程的体验。&lt;/Text&gt;&#13;&#10;        &lt;/Box&gt;&#13;&#10;    &lt;/Box&gt;&#13;&#10;    &lt;Box style={{ height: 40, flexDirection: 'row', justifyContent: 'space-between', alignItems: 'center', marginTop: 16 }}&gt;&#13;&#10;        &lt;Text style={{ fontSize: 14, color: '#94A3B8' }}&gt;03 项目计划与工作分解&lt;/Text&gt;&#13;&#10;        &lt;Text style={{ fontSize: 14, color: '#94A3B8' }}&gt;41 / 47&lt;/Text&gt;&#13;&#10;    &lt;/Box&gt;&#13;&#10;&lt;/Slide&gt;&#13;&#10;"/>
        <p:cNvGrpSpPr/>
        <p:nvPr/>
      </p:nvGrpSpPr>
      <p:grpSpPr>
        <a:xfrm>
          <a:off x="0" y="0"/>
          <a:ext cx="0" cy="0"/>
          <a:chOff x="0" y="0"/>
          <a:chExt cx="0" cy="0"/>
        </a:xfrm>
      </p:grpSpPr>
      <p:sp>
        <p:nvSpPr>
          <p:cNvPr id="721" name="矩形 720"/>
          <p:cNvSpPr/>
          <p:nvPr/>
        </p:nvSpPr>
        <p:spPr>
          <a:xfrm>
            <a:off x="0" y="0"/>
            <a:ext cx="12192000" cy="6858000"/>
          </a:xfrm>
          <a:prstGeom prst="rect">
            <a:avLst/>
          </a:prstGeom>
          <a:solidFill>
            <a:srgbClr val="0B1220"/>
          </a:solidFill>
        </p:spPr>
        <p:txBody>
          <a:bodyPr/>
          <a:p/>
        </p:txBody>
      </p:sp>
      <p:sp>
        <p:nvSpPr>
          <p:cNvPr id="722" name="圆角矩形 721"/>
          <p:cNvSpPr/>
          <p:nvPr/>
        </p:nvSpPr>
        <p:spPr>
          <a:xfrm>
            <a:off x="609600" y="457200"/>
            <a:ext cx="57150" cy="419100"/>
          </a:xfrm>
          <a:prstGeom prst="roundRect">
            <a:avLst>
              <a:gd name="adj" fmla="val 50000"/>
            </a:avLst>
          </a:prstGeom>
          <a:gradFill>
            <a:gsLst>
              <a:gs pos="0">
                <a:srgbClr val="8B5CF6"/>
              </a:gs>
              <a:gs pos="100000">
                <a:srgbClr val="22D3EE"/>
              </a:gs>
            </a:gsLst>
            <a:lin ang="5400000" scaled="1"/>
          </a:gradFill>
        </p:spPr>
        <p:txBody>
          <a:bodyPr/>
          <a:p/>
        </p:txBody>
      </p:sp>
      <p:sp>
        <p:nvSpPr>
          <p:cNvPr id="723" name="文本框 722" descr="{&quot;isTemplate&quot;:true,&quot;type&quot;:&quot;text&quot;}"/>
          <p:cNvSpPr txBox="1"/>
          <p:nvPr/>
        </p:nvSpPr>
        <p:spPr>
          <a:xfrm>
            <a:off x="857250" y="476250"/>
            <a:ext cx="2724150" cy="390525"/>
          </a:xfrm>
          <a:prstGeom prst="rect">
            <a:avLst/>
          </a:prstGeom>
        </p:spPr>
        <p:txBody>
          <a:bodyPr wrap="none" lIns="0" tIns="0" rIns="0" bIns="0"/>
          <a:p>
            <a:pPr>
              <a:lnSpc>
                <a:spcPct val="100000"/>
              </a:lnSpc>
            </a:pPr>
            <a:r>
              <a:rPr lang="en-US" sz="2550" b="1">
                <a:solidFill>
                  <a:srgbClr val="E2E8F0"/>
                </a:solidFill>
                <a:latin typeface="微软雅黑" panose="020B0503020204020204" charset="-122"/>
                <a:ea typeface="微软雅黑" panose="020B0503020204020204" charset="-122"/>
              </a:rPr>
              <a:t>AI </a:t>
            </a:r>
            <a:r>
              <a:rPr lang="zh-CN" sz="2550" b="1">
                <a:solidFill>
                  <a:srgbClr val="E2E8F0"/>
                </a:solidFill>
                <a:latin typeface="微软雅黑" panose="020B0503020204020204" charset="-122"/>
                <a:ea typeface="微软雅黑" panose="020B0503020204020204" charset="-122"/>
              </a:rPr>
              <a:t>辅助计划与估算</a:t>
            </a:r>
            <a:endParaRPr lang="zh-CN" sz="2550" b="1">
              <a:solidFill>
                <a:srgbClr val="E2E8F0"/>
              </a:solidFill>
              <a:latin typeface="微软雅黑" panose="020B0503020204020204" charset="-122"/>
              <a:ea typeface="微软雅黑" panose="020B0503020204020204" charset="-122"/>
            </a:endParaRPr>
          </a:p>
        </p:txBody>
      </p:sp>
      <p:sp>
        <p:nvSpPr>
          <p:cNvPr id="724" name="圆角矩形 723"/>
          <p:cNvSpPr/>
          <p:nvPr/>
        </p:nvSpPr>
        <p:spPr>
          <a:xfrm>
            <a:off x="609600" y="1828800"/>
            <a:ext cx="3524250" cy="3619500"/>
          </a:xfrm>
          <a:prstGeom prst="roundRect">
            <a:avLst>
              <a:gd name="adj" fmla="val 3784"/>
            </a:avLst>
          </a:prstGeom>
          <a:solidFill>
            <a:srgbClr val="111B2E"/>
          </a:solidFill>
        </p:spPr>
        <p:txBody>
          <a:bodyPr/>
          <a:p/>
        </p:txBody>
      </p:sp>
      <p:sp>
        <p:nvSpPr>
          <p:cNvPr id="725" name="文本框 724" descr="{&quot;isTemplate&quot;:true,&quot;type&quot;:&quot;text&quot;}"/>
          <p:cNvSpPr txBox="1"/>
          <p:nvPr/>
        </p:nvSpPr>
        <p:spPr>
          <a:xfrm>
            <a:off x="838200" y="2057400"/>
            <a:ext cx="3067050" cy="228600"/>
          </a:xfrm>
          <a:prstGeom prst="rect">
            <a:avLst/>
          </a:prstGeom>
        </p:spPr>
        <p:txBody>
          <a:bodyPr wrap="none" lIns="0" tIns="0" rIns="0" bIns="0"/>
          <a:p>
            <a:pPr>
              <a:lnSpc>
                <a:spcPct val="100000"/>
              </a:lnSpc>
            </a:pPr>
            <a:r>
              <a:rPr lang="en-US" sz="1500" b="1">
                <a:solidFill>
                  <a:srgbClr val="93C5FD"/>
                </a:solidFill>
                <a:latin typeface="微软雅黑" panose="020B0503020204020204" charset="-122"/>
                <a:ea typeface="微软雅黑" panose="020B0503020204020204" charset="-122"/>
              </a:rPr>
              <a:t>AI </a:t>
            </a:r>
            <a:r>
              <a:rPr lang="zh-CN" sz="1500" b="1">
                <a:solidFill>
                  <a:srgbClr val="93C5FD"/>
                </a:solidFill>
                <a:latin typeface="微软雅黑" panose="020B0503020204020204" charset="-122"/>
                <a:ea typeface="微软雅黑" panose="020B0503020204020204" charset="-122"/>
              </a:rPr>
              <a:t>能做什么</a:t>
            </a:r>
            <a:endParaRPr lang="zh-CN" sz="1500" b="1">
              <a:solidFill>
                <a:srgbClr val="93C5FD"/>
              </a:solidFill>
              <a:latin typeface="微软雅黑" panose="020B0503020204020204" charset="-122"/>
              <a:ea typeface="微软雅黑" panose="020B0503020204020204" charset="-122"/>
            </a:endParaRPr>
          </a:p>
        </p:txBody>
      </p:sp>
      <p:sp>
        <p:nvSpPr>
          <p:cNvPr id="726" name="文本框 725" descr="{&quot;isTemplate&quot;:true,&quot;type&quot;:&quot;text&quot;}"/>
          <p:cNvSpPr txBox="1"/>
          <p:nvPr/>
        </p:nvSpPr>
        <p:spPr>
          <a:xfrm>
            <a:off x="838200" y="2400300"/>
            <a:ext cx="3067050" cy="1590675"/>
          </a:xfrm>
          <a:prstGeom prst="rect">
            <a:avLst/>
          </a:prstGeom>
        </p:spPr>
        <p:txBody>
          <a:bodyPr wrap="none" lIns="0" tIns="0" rIns="0" bIns="0"/>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基于历史数据预测工作量与周期</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自动生成</a:t>
            </a:r>
            <a:r>
              <a:rPr lang="en-US" sz="1125">
                <a:solidFill>
                  <a:srgbClr val="E2E8F0"/>
                </a:solidFill>
                <a:latin typeface="微软雅黑" panose="020B0503020204020204" charset="-122"/>
                <a:ea typeface="微软雅黑" panose="020B0503020204020204" charset="-122"/>
              </a:rPr>
              <a:t> WBS</a:t>
            </a:r>
            <a:r>
              <a:rPr lang="zh-CN" sz="1125">
                <a:solidFill>
                  <a:srgbClr val="E2E8F0"/>
                </a:solidFill>
                <a:latin typeface="微软雅黑" panose="020B0503020204020204" charset="-122"/>
                <a:ea typeface="微软雅黑" panose="020B0503020204020204" charset="-122"/>
              </a:rPr>
              <a:t>、甘特图初稿</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从需求文档提取任务与依赖关系</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推荐迭代范围与容量分配</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用自然语言调整计划（</a:t>
            </a:r>
            <a:r>
              <a:rPr lang="en-US" sz="1125">
                <a:solidFill>
                  <a:srgbClr val="E2E8F0"/>
                </a:solidFill>
                <a:latin typeface="微软雅黑" panose="020B0503020204020204" charset="-122"/>
                <a:ea typeface="微软雅黑" panose="020B0503020204020204" charset="-122"/>
              </a:rPr>
              <a:t>"</a:t>
            </a:r>
            <a:r>
              <a:rPr lang="zh-CN" sz="1125">
                <a:solidFill>
                  <a:srgbClr val="E2E8F0"/>
                </a:solidFill>
                <a:latin typeface="微软雅黑" panose="020B0503020204020204" charset="-122"/>
                <a:ea typeface="微软雅黑" panose="020B0503020204020204" charset="-122"/>
              </a:rPr>
              <a:t>把编码延后两周</a:t>
            </a:r>
            <a:r>
              <a:rPr lang="en-US" sz="1125">
                <a:solidFill>
                  <a:srgbClr val="E2E8F0"/>
                </a:solidFill>
                <a:latin typeface="微软雅黑" panose="020B0503020204020204" charset="-122"/>
                <a:ea typeface="微软雅黑" panose="020B0503020204020204" charset="-122"/>
              </a:rPr>
              <a:t>"</a:t>
            </a:r>
            <a:r>
              <a:rPr lang="zh-CN" sz="1125">
                <a:solidFill>
                  <a:srgbClr val="E2E8F0"/>
                </a:solidFill>
                <a:latin typeface="微软雅黑" panose="020B0503020204020204" charset="-122"/>
                <a:ea typeface="微软雅黑" panose="020B0503020204020204" charset="-122"/>
              </a:rPr>
              <a:t>）</a:t>
            </a:r>
            <a:endParaRPr lang="zh-CN" sz="1125">
              <a:solidFill>
                <a:srgbClr val="E2E8F0"/>
              </a:solidFill>
              <a:latin typeface="微软雅黑" panose="020B0503020204020204" charset="-122"/>
              <a:ea typeface="微软雅黑" panose="020B0503020204020204" charset="-122"/>
            </a:endParaRPr>
          </a:p>
        </p:txBody>
      </p:sp>
      <p:sp>
        <p:nvSpPr>
          <p:cNvPr id="727" name="圆角矩形 726"/>
          <p:cNvSpPr/>
          <p:nvPr/>
        </p:nvSpPr>
        <p:spPr>
          <a:xfrm>
            <a:off x="4381500" y="1828800"/>
            <a:ext cx="3524250" cy="3619500"/>
          </a:xfrm>
          <a:prstGeom prst="roundRect">
            <a:avLst>
              <a:gd name="adj" fmla="val 3784"/>
            </a:avLst>
          </a:prstGeom>
          <a:solidFill>
            <a:srgbClr val="111B2E"/>
          </a:solidFill>
        </p:spPr>
        <p:txBody>
          <a:bodyPr/>
          <a:p/>
        </p:txBody>
      </p:sp>
      <p:sp>
        <p:nvSpPr>
          <p:cNvPr id="728" name="文本框 727" descr="{&quot;isTemplate&quot;:true,&quot;type&quot;:&quot;text&quot;}"/>
          <p:cNvSpPr txBox="1"/>
          <p:nvPr/>
        </p:nvSpPr>
        <p:spPr>
          <a:xfrm>
            <a:off x="4610100" y="2057400"/>
            <a:ext cx="3067050" cy="228600"/>
          </a:xfrm>
          <a:prstGeom prst="rect">
            <a:avLst/>
          </a:prstGeom>
        </p:spPr>
        <p:txBody>
          <a:bodyPr wrap="none" lIns="0" tIns="0" rIns="0" bIns="0"/>
          <a:p>
            <a:pPr>
              <a:lnSpc>
                <a:spcPct val="100000"/>
              </a:lnSpc>
            </a:pPr>
            <a:r>
              <a:rPr lang="zh-CN" sz="1500" b="1">
                <a:solidFill>
                  <a:srgbClr val="C4B5FD"/>
                </a:solidFill>
                <a:latin typeface="微软雅黑" panose="020B0503020204020204" charset="-122"/>
                <a:ea typeface="微软雅黑" panose="020B0503020204020204" charset="-122"/>
              </a:rPr>
              <a:t>人保留什么</a:t>
            </a:r>
            <a:endParaRPr lang="zh-CN" sz="1500" b="1">
              <a:solidFill>
                <a:srgbClr val="C4B5FD"/>
              </a:solidFill>
              <a:latin typeface="微软雅黑" panose="020B0503020204020204" charset="-122"/>
              <a:ea typeface="微软雅黑" panose="020B0503020204020204" charset="-122"/>
            </a:endParaRPr>
          </a:p>
        </p:txBody>
      </p:sp>
      <p:sp>
        <p:nvSpPr>
          <p:cNvPr id="729" name="文本框 728" descr="{&quot;isTemplate&quot;:true,&quot;type&quot;:&quot;text&quot;}"/>
          <p:cNvSpPr txBox="1"/>
          <p:nvPr/>
        </p:nvSpPr>
        <p:spPr>
          <a:xfrm>
            <a:off x="4610100" y="2400300"/>
            <a:ext cx="3067050" cy="1590675"/>
          </a:xfrm>
          <a:prstGeom prst="rect">
            <a:avLst/>
          </a:prstGeom>
        </p:spPr>
        <p:txBody>
          <a:bodyPr wrap="square" lIns="0" tIns="0" rIns="0" bIns="0">
            <a:normAutofit/>
          </a:bodyPr>
          <a:p>
            <a:pPr>
              <a:lnSpc>
                <a:spcPct val="185000"/>
              </a:lnSpc>
            </a:pPr>
            <a:r>
              <a:rPr lang="en-US" sz="1125">
                <a:solidFill>
                  <a:srgbClr val="E2E8F0"/>
                </a:solidFill>
                <a:latin typeface="微软雅黑" panose="020B0503020204020204" charset="-122"/>
                <a:ea typeface="微软雅黑" panose="020B0503020204020204" charset="-122"/>
              </a:rPr>
              <a:t>· AI </a:t>
            </a:r>
            <a:r>
              <a:rPr lang="zh-CN" sz="1125">
                <a:solidFill>
                  <a:srgbClr val="E2E8F0"/>
                </a:solidFill>
                <a:latin typeface="微软雅黑" panose="020B0503020204020204" charset="-122"/>
                <a:ea typeface="微软雅黑" panose="020B0503020204020204" charset="-122"/>
              </a:rPr>
              <a:t>建议</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决策：人对承诺与取舍负责</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估算质量取决于</a:t>
            </a:r>
            <a:r>
              <a:rPr lang="zh-CN" sz="1125" b="1">
                <a:solidFill>
                  <a:srgbClr val="E2E8F0"/>
                </a:solidFill>
                <a:latin typeface="微软雅黑" panose="020B0503020204020204" charset="-122"/>
                <a:ea typeface="微软雅黑" panose="020B0503020204020204" charset="-122"/>
              </a:rPr>
              <a:t>历史数据的诚实度</a:t>
            </a:r>
            <a:r>
              <a:rPr lang="zh-CN" sz="1125">
                <a:solidFill>
                  <a:srgbClr val="E2E8F0"/>
                </a:solidFill>
                <a:latin typeface="微软雅黑" panose="020B0503020204020204" charset="-122"/>
                <a:ea typeface="微软雅黑" panose="020B0503020204020204" charset="-122"/>
              </a:rPr>
              <a:t>——垃圾进垃圾出</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用反馈校准：把</a:t>
            </a:r>
            <a:r>
              <a:rPr lang="en-US" sz="1125">
                <a:solidFill>
                  <a:srgbClr val="E2E8F0"/>
                </a:solidFill>
                <a:latin typeface="微软雅黑" panose="020B0503020204020204" charset="-122"/>
                <a:ea typeface="微软雅黑" panose="020B0503020204020204" charset="-122"/>
              </a:rPr>
              <a:t> AI </a:t>
            </a:r>
            <a:r>
              <a:rPr lang="zh-CN" sz="1125">
                <a:solidFill>
                  <a:srgbClr val="E2E8F0"/>
                </a:solidFill>
                <a:latin typeface="微软雅黑" panose="020B0503020204020204" charset="-122"/>
                <a:ea typeface="微软雅黑" panose="020B0503020204020204" charset="-122"/>
              </a:rPr>
              <a:t>预测与实际对比，持续改进</a:t>
            </a:r>
            <a:endParaRPr lang="zh-CN" sz="1125">
              <a:solidFill>
                <a:srgbClr val="E2E8F0"/>
              </a:solidFill>
              <a:latin typeface="微软雅黑" panose="020B0503020204020204" charset="-122"/>
              <a:ea typeface="微软雅黑" panose="020B0503020204020204" charset="-122"/>
            </a:endParaRPr>
          </a:p>
          <a:p>
            <a:pPr>
              <a:lnSpc>
                <a:spcPct val="185000"/>
              </a:lnSpc>
            </a:pPr>
            <a:r>
              <a:rPr lang="en-US" sz="1125">
                <a:solidFill>
                  <a:srgbClr val="E2E8F0"/>
                </a:solidFill>
                <a:latin typeface="微软雅黑" panose="020B0503020204020204" charset="-122"/>
                <a:ea typeface="微软雅黑" panose="020B0503020204020204" charset="-122"/>
              </a:rPr>
              <a:t>· </a:t>
            </a:r>
            <a:r>
              <a:rPr lang="zh-CN" sz="1125">
                <a:solidFill>
                  <a:srgbClr val="E2E8F0"/>
                </a:solidFill>
                <a:latin typeface="微软雅黑" panose="020B0503020204020204" charset="-122"/>
                <a:ea typeface="微软雅黑" panose="020B0503020204020204" charset="-122"/>
              </a:rPr>
              <a:t>计划的责任与签字始终在人</a:t>
            </a:r>
            <a:endParaRPr lang="zh-CN" sz="1125">
              <a:solidFill>
                <a:srgbClr val="E2E8F0"/>
              </a:solidFill>
              <a:latin typeface="微软雅黑" panose="020B0503020204020204" charset="-122"/>
              <a:ea typeface="微软雅黑" panose="020B0503020204020204" charset="-122"/>
            </a:endParaRPr>
          </a:p>
        </p:txBody>
      </p:sp>
      <p:sp>
        <p:nvSpPr>
          <p:cNvPr id="730" name="圆角矩形 729"/>
          <p:cNvSpPr/>
          <p:nvPr/>
        </p:nvSpPr>
        <p:spPr>
          <a:xfrm>
            <a:off x="8153400" y="1828800"/>
            <a:ext cx="3429000" cy="3619500"/>
          </a:xfrm>
          <a:prstGeom prst="roundRect">
            <a:avLst>
              <a:gd name="adj" fmla="val 3889"/>
            </a:avLst>
          </a:prstGeom>
          <a:solidFill>
            <a:srgbClr val="8B5CF6">
              <a:alpha val="10000"/>
            </a:srgbClr>
          </a:solidFill>
          <a:ln w="12700">
            <a:solidFill>
              <a:srgbClr val="8B5CF6">
                <a:alpha val="50000"/>
              </a:srgbClr>
            </a:solidFill>
            <a:prstDash val="solid"/>
          </a:ln>
        </p:spPr>
        <p:txBody>
          <a:bodyPr/>
          <a:p/>
        </p:txBody>
      </p:sp>
      <p:sp>
        <p:nvSpPr>
          <p:cNvPr id="731" name="文本框 730" descr="{&quot;isTemplate&quot;:true,&quot;type&quot;:&quot;text&quot;}"/>
          <p:cNvSpPr txBox="1"/>
          <p:nvPr/>
        </p:nvSpPr>
        <p:spPr>
          <a:xfrm>
            <a:off x="8382000" y="2943225"/>
            <a:ext cx="2971800" cy="1400175"/>
          </a:xfrm>
          <a:prstGeom prst="rect">
            <a:avLst/>
          </a:prstGeom>
        </p:spPr>
        <p:txBody>
          <a:bodyPr wrap="square" lIns="0" tIns="0" rIns="0" bIns="0">
            <a:normAutofit/>
          </a:bodyPr>
          <a:p>
            <a:pPr>
              <a:lnSpc>
                <a:spcPct val="180000"/>
              </a:lnSpc>
            </a:pPr>
            <a:r>
              <a:rPr lang="zh-CN" sz="1275" b="1">
                <a:solidFill>
                  <a:srgbClr val="C4B5FD"/>
                </a:solidFill>
                <a:latin typeface="微软雅黑" panose="020B0503020204020204" charset="-122"/>
                <a:ea typeface="微软雅黑" panose="020B0503020204020204" charset="-122"/>
              </a:rPr>
              <a:t>课程实践：</a:t>
            </a:r>
            <a:r>
              <a:rPr lang="zh-CN" sz="1275">
                <a:solidFill>
                  <a:srgbClr val="E2E8F0"/>
                </a:solidFill>
                <a:latin typeface="微软雅黑" panose="020B0503020204020204" charset="-122"/>
                <a:ea typeface="微软雅黑" panose="020B0503020204020204" charset="-122"/>
              </a:rPr>
              <a:t>小组可用</a:t>
            </a:r>
            <a:r>
              <a:rPr lang="en-US" sz="1275">
                <a:solidFill>
                  <a:srgbClr val="E2E8F0"/>
                </a:solidFill>
                <a:latin typeface="微软雅黑" panose="020B0503020204020204" charset="-122"/>
                <a:ea typeface="微软雅黑" panose="020B0503020204020204" charset="-122"/>
              </a:rPr>
              <a:t> AI </a:t>
            </a:r>
            <a:r>
              <a:rPr lang="zh-CN" sz="1275">
                <a:solidFill>
                  <a:srgbClr val="E2E8F0"/>
                </a:solidFill>
                <a:latin typeface="微软雅黑" panose="020B0503020204020204" charset="-122"/>
                <a:ea typeface="微软雅黑" panose="020B0503020204020204" charset="-122"/>
              </a:rPr>
              <a:t>工具辅助生成</a:t>
            </a:r>
            <a:r>
              <a:rPr lang="en-US" sz="1275">
                <a:solidFill>
                  <a:srgbClr val="E2E8F0"/>
                </a:solidFill>
                <a:latin typeface="微软雅黑" panose="020B0503020204020204" charset="-122"/>
                <a:ea typeface="微软雅黑" panose="020B0503020204020204" charset="-122"/>
              </a:rPr>
              <a:t> WBS </a:t>
            </a:r>
            <a:r>
              <a:rPr lang="zh-CN" sz="1275">
                <a:solidFill>
                  <a:srgbClr val="E2E8F0"/>
                </a:solidFill>
                <a:latin typeface="微软雅黑" panose="020B0503020204020204" charset="-122"/>
                <a:ea typeface="微软雅黑" panose="020B0503020204020204" charset="-122"/>
              </a:rPr>
              <a:t>与计划初稿，但需</a:t>
            </a:r>
            <a:r>
              <a:rPr lang="zh-CN" sz="1275" b="1">
                <a:solidFill>
                  <a:srgbClr val="E2E8F0"/>
                </a:solidFill>
                <a:latin typeface="微软雅黑" panose="020B0503020204020204" charset="-122"/>
                <a:ea typeface="微软雅黑" panose="020B0503020204020204" charset="-122"/>
              </a:rPr>
              <a:t>人工评审并留痕</a:t>
            </a:r>
            <a:r>
              <a:rPr lang="zh-CN" sz="1275">
                <a:solidFill>
                  <a:srgbClr val="E2E8F0"/>
                </a:solidFill>
                <a:latin typeface="微软雅黑" panose="020B0503020204020204" charset="-122"/>
                <a:ea typeface="微软雅黑" panose="020B0503020204020204" charset="-122"/>
              </a:rPr>
              <a:t>——这本身就是对</a:t>
            </a:r>
            <a:r>
              <a:rPr lang="en-US" sz="1275">
                <a:solidFill>
                  <a:srgbClr val="E2E8F0"/>
                </a:solidFill>
                <a:latin typeface="微软雅黑" panose="020B0503020204020204" charset="-122"/>
                <a:ea typeface="微软雅黑" panose="020B0503020204020204" charset="-122"/>
              </a:rPr>
              <a:t>"</a:t>
            </a:r>
            <a:r>
              <a:rPr lang="zh-CN" sz="1275">
                <a:solidFill>
                  <a:srgbClr val="E2E8F0"/>
                </a:solidFill>
                <a:latin typeface="微软雅黑" panose="020B0503020204020204" charset="-122"/>
                <a:ea typeface="微软雅黑" panose="020B0503020204020204" charset="-122"/>
              </a:rPr>
              <a:t>计划制定</a:t>
            </a:r>
            <a:r>
              <a:rPr lang="en-US" sz="1275">
                <a:solidFill>
                  <a:srgbClr val="E2E8F0"/>
                </a:solidFill>
                <a:latin typeface="微软雅黑" panose="020B0503020204020204" charset="-122"/>
                <a:ea typeface="微软雅黑" panose="020B0503020204020204" charset="-122"/>
              </a:rPr>
              <a:t>"</a:t>
            </a:r>
            <a:r>
              <a:rPr lang="zh-CN" sz="1275">
                <a:solidFill>
                  <a:srgbClr val="E2E8F0"/>
                </a:solidFill>
                <a:latin typeface="微软雅黑" panose="020B0503020204020204" charset="-122"/>
                <a:ea typeface="微软雅黑" panose="020B0503020204020204" charset="-122"/>
              </a:rPr>
              <a:t>过程的体验。</a:t>
            </a:r>
            <a:endParaRPr lang="zh-CN" sz="1275">
              <a:solidFill>
                <a:srgbClr val="E2E8F0"/>
              </a:solidFill>
              <a:latin typeface="微软雅黑" panose="020B0503020204020204" charset="-122"/>
              <a:ea typeface="微软雅黑" panose="020B0503020204020204" charset="-122"/>
            </a:endParaRPr>
          </a:p>
        </p:txBody>
      </p:sp>
      <p:sp>
        <p:nvSpPr>
          <p:cNvPr id="732" name="文本框 731" descr="{&quot;isTemplate&quot;:true,&quot;type&quot;:&quot;text&quot;}"/>
          <p:cNvSpPr txBox="1"/>
          <p:nvPr/>
        </p:nvSpPr>
        <p:spPr>
          <a:xfrm>
            <a:off x="609600" y="6400800"/>
            <a:ext cx="140017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03 </a:t>
            </a:r>
            <a:r>
              <a:rPr lang="zh-CN" sz="1050">
                <a:solidFill>
                  <a:srgbClr val="94A3B8"/>
                </a:solidFill>
                <a:latin typeface="微软雅黑" panose="020B0503020204020204" charset="-122"/>
                <a:ea typeface="微软雅黑" panose="020B0503020204020204" charset="-122"/>
              </a:rPr>
              <a:t>项目计划与工作分解</a:t>
            </a:r>
            <a:endParaRPr lang="zh-CN" sz="1050">
              <a:solidFill>
                <a:srgbClr val="94A3B8"/>
              </a:solidFill>
              <a:latin typeface="微软雅黑" panose="020B0503020204020204" charset="-122"/>
              <a:ea typeface="微软雅黑" panose="020B0503020204020204" charset="-122"/>
            </a:endParaRPr>
          </a:p>
        </p:txBody>
      </p:sp>
      <p:sp>
        <p:nvSpPr>
          <p:cNvPr id="733" name="文本框 732"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41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734"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本讲要点回顾&lt;/Text&gt;&#13;&#10;    &lt;/Box&gt;&#13;&#10;    &lt;Box style={{ flex: 1, flexDirection: 'column', gap: 14, justifyContent: 'center' }}&gt;&#13;&#10;        &lt;Box style={{ flexDirection: 'row', alignItems: 'center', gap: 16, background: '#111B2E', borderRadius: 12, padding: '15px 24px' }}&gt;&#13;&#10;            &lt;Box style={{ width: 40, height: 40, borderRadius: 20, background: 'rgba(59,130,246,0.2)', alignItems: 'center', justifyContent: 'center' }}&gt;&lt;Text style={{ fontSize: 17, fontWeight: 'bold', color: '#93C5FD' }}&gt;1&lt;/Text&gt;&lt;/Box&gt;&#13;&#10;            &lt;Text style={{ fontSize: 17, color: '#E2E8F0', lineHeight: 1.6 }}&gt;&lt;span style={{ fontWeight: 'bold' }}&gt;计划是什么：&lt;/span&gt;任务 + 进度 + 资源的预先规划，分初步与详细两步。&lt;/Text&gt;&#13;&#10;        &lt;/Box&gt;&#13;&#10;        &lt;Box style={{ flexDirection: 'row', alignItems: 'center', gap: 16, background: '#111B2E', borderRadius: 12, padding: '15px 24px' }}&gt;&#13;&#10;            &lt;Box style={{ width: 40, height: 40, borderRadius: 20, background: 'rgba(34,211,238,0.18)', alignItems: 'center', justifyContent: 'center' }}&gt;&lt;Text style={{ fontSize: 17, fontWeight: 'bold', color: '#67E8F9' }}&gt;2&lt;/Text&gt;&lt;/Box&gt;&#13;&#10;            &lt;Text style={{ fontSize: 17, color: '#E2E8F0', lineHeight: 1.6 }}&gt;&lt;span style={{ fontWeight: 'bold' }}&gt;怎么制定：&lt;/span&gt;活动关系 → 估算周期 → 里程碑 → 甘特图/网络图 → 关键路径。&lt;/Text&gt;&#13;&#10;        &lt;/Box&gt;&#13;&#10;        &lt;Box style={{ flexDirection: 'row', alignItems: 'center', gap: 16, background: 'rgba(139,92,246,0.10)', borderRadius: 12, padding: '15px 24px', border: '1px solid rgba(139,92,246,0.45)' }}&gt;&#13;&#10;            &lt;Box style={{ width: 40, height: 40, borderRadius: 20, background: 'rgba(139,92,246,0.25)', alignItems: 'center', justifyContent: 'center' }}&gt;&lt;Text style={{ fontSize: 17, fontWeight: 'bold', color: '#C4B5FD' }}&gt;3&lt;/Text&gt;&lt;/Box&gt;&#13;&#10;            &lt;Text style={{ fontSize: 17, color: '#E2E8F0', lineHeight: 1.6 }}&gt;&lt;span style={{ fontWeight: 'bold' }}&gt;规范与工具：&lt;/span&gt;十个步骤 + CMMI PP 要求 + AI 辅助——计划要科学、有承诺、可执行。&lt;/Text&gt;&#13;&#10;        &lt;/Box&gt;&#13;&#10;    &lt;/Box&gt;&#13;&#10;    &lt;Box style={{ height: 40, flexDirection: 'row', justifyContent: 'space-between', alignItems: 'center', marginTop: 16 }}&gt;&#13;&#10;        &lt;Text style={{ fontSize: 14, color: '#94A3B8' }}&gt;课程总览&lt;/Text&gt;&#13;&#10;        &lt;Text style={{ fontSize: 14, color: '#94A3B8' }}&gt;42 / 47&lt;/Text&gt;&#13;&#10;    &lt;/Box&gt;&#13;&#10;&lt;/Slide&gt;&#13;&#10;"/>
        <p:cNvGrpSpPr/>
        <p:nvPr/>
      </p:nvGrpSpPr>
      <p:grpSpPr>
        <a:xfrm>
          <a:off x="0" y="0"/>
          <a:ext cx="0" cy="0"/>
          <a:chOff x="0" y="0"/>
          <a:chExt cx="0" cy="0"/>
        </a:xfrm>
      </p:grpSpPr>
      <p:sp>
        <p:nvSpPr>
          <p:cNvPr id="735" name="矩形 734"/>
          <p:cNvSpPr/>
          <p:nvPr/>
        </p:nvSpPr>
        <p:spPr>
          <a:xfrm>
            <a:off x="0" y="0"/>
            <a:ext cx="12192000" cy="6858000"/>
          </a:xfrm>
          <a:prstGeom prst="rect">
            <a:avLst/>
          </a:prstGeom>
          <a:solidFill>
            <a:srgbClr val="0B1220"/>
          </a:solidFill>
        </p:spPr>
        <p:txBody>
          <a:bodyPr/>
          <a:p/>
        </p:txBody>
      </p:sp>
      <p:sp>
        <p:nvSpPr>
          <p:cNvPr id="736" name="圆角矩形 735"/>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737" name="文本框 736" descr="{&quot;isTemplate&quot;:true,&quot;type&quot;:&quot;text&quot;}"/>
          <p:cNvSpPr txBox="1"/>
          <p:nvPr/>
        </p:nvSpPr>
        <p:spPr>
          <a:xfrm>
            <a:off x="857250" y="476250"/>
            <a:ext cx="19431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本讲要点回顾</a:t>
            </a:r>
            <a:endParaRPr lang="zh-CN" sz="2550" b="1">
              <a:solidFill>
                <a:srgbClr val="E2E8F0"/>
              </a:solidFill>
              <a:latin typeface="微软雅黑" panose="020B0503020204020204" charset="-122"/>
              <a:ea typeface="微软雅黑" panose="020B0503020204020204" charset="-122"/>
            </a:endParaRPr>
          </a:p>
        </p:txBody>
      </p:sp>
      <p:sp>
        <p:nvSpPr>
          <p:cNvPr id="738" name="圆角矩形 737"/>
          <p:cNvSpPr/>
          <p:nvPr/>
        </p:nvSpPr>
        <p:spPr>
          <a:xfrm>
            <a:off x="609600" y="2505075"/>
            <a:ext cx="10972800" cy="666750"/>
          </a:xfrm>
          <a:prstGeom prst="roundRect">
            <a:avLst>
              <a:gd name="adj" fmla="val 17143"/>
            </a:avLst>
          </a:prstGeom>
          <a:solidFill>
            <a:srgbClr val="111B2E"/>
          </a:solidFill>
        </p:spPr>
        <p:txBody>
          <a:bodyPr/>
          <a:p/>
        </p:txBody>
      </p:sp>
      <p:sp>
        <p:nvSpPr>
          <p:cNvPr id="739" name="圆角矩形 738"/>
          <p:cNvSpPr/>
          <p:nvPr/>
        </p:nvSpPr>
        <p:spPr>
          <a:xfrm>
            <a:off x="838200" y="2647950"/>
            <a:ext cx="381000" cy="381000"/>
          </a:xfrm>
          <a:prstGeom prst="roundRect">
            <a:avLst>
              <a:gd name="adj" fmla="val 50000"/>
            </a:avLst>
          </a:prstGeom>
          <a:solidFill>
            <a:srgbClr val="3B82F6">
              <a:alpha val="20000"/>
            </a:srgbClr>
          </a:solidFill>
        </p:spPr>
        <p:txBody>
          <a:bodyPr/>
          <a:p/>
        </p:txBody>
      </p:sp>
      <p:sp>
        <p:nvSpPr>
          <p:cNvPr id="740" name="文本框 739" descr="{&quot;isTemplate&quot;:true,&quot;type&quot;:&quot;text&quot;}"/>
          <p:cNvSpPr txBox="1"/>
          <p:nvPr/>
        </p:nvSpPr>
        <p:spPr>
          <a:xfrm>
            <a:off x="981075" y="2743200"/>
            <a:ext cx="104775" cy="200025"/>
          </a:xfrm>
          <a:prstGeom prst="rect">
            <a:avLst/>
          </a:prstGeom>
        </p:spPr>
        <p:txBody>
          <a:bodyPr wrap="none" lIns="0" tIns="0" rIns="0" bIns="0"/>
          <a:p>
            <a:pPr>
              <a:lnSpc>
                <a:spcPct val="100000"/>
              </a:lnSpc>
            </a:pPr>
            <a:r>
              <a:rPr lang="en-US" sz="1275" b="1">
                <a:solidFill>
                  <a:srgbClr val="93C5FD"/>
                </a:solidFill>
                <a:latin typeface="微软雅黑" panose="020B0503020204020204" charset="-122"/>
                <a:ea typeface="微软雅黑" panose="020B0503020204020204" charset="-122"/>
              </a:rPr>
              <a:t>1</a:t>
            </a:r>
            <a:endParaRPr lang="en-US" sz="1275" b="1">
              <a:solidFill>
                <a:srgbClr val="93C5FD"/>
              </a:solidFill>
              <a:latin typeface="微软雅黑" panose="020B0503020204020204" charset="-122"/>
              <a:ea typeface="微软雅黑" panose="020B0503020204020204" charset="-122"/>
            </a:endParaRPr>
          </a:p>
        </p:txBody>
      </p:sp>
      <p:sp>
        <p:nvSpPr>
          <p:cNvPr id="741" name="文本框 740" descr="{&quot;isTemplate&quot;:true,&quot;type&quot;:&quot;text&quot;}"/>
          <p:cNvSpPr txBox="1"/>
          <p:nvPr/>
        </p:nvSpPr>
        <p:spPr>
          <a:xfrm>
            <a:off x="1371600" y="2686050"/>
            <a:ext cx="4810125" cy="314325"/>
          </a:xfrm>
          <a:prstGeom prst="rect">
            <a:avLst/>
          </a:prstGeom>
        </p:spPr>
        <p:txBody>
          <a:bodyPr wrap="none" lIns="0" tIns="0" rIns="0" bIns="0"/>
          <a:p>
            <a:pPr>
              <a:lnSpc>
                <a:spcPct val="160000"/>
              </a:lnSpc>
            </a:pPr>
            <a:r>
              <a:rPr lang="zh-CN" sz="1275" b="1">
                <a:solidFill>
                  <a:srgbClr val="E2E8F0"/>
                </a:solidFill>
                <a:latin typeface="微软雅黑" panose="020B0503020204020204" charset="-122"/>
                <a:ea typeface="微软雅黑" panose="020B0503020204020204" charset="-122"/>
              </a:rPr>
              <a:t>计划是什么：</a:t>
            </a:r>
            <a:r>
              <a:rPr lang="zh-CN" sz="1275">
                <a:solidFill>
                  <a:srgbClr val="E2E8F0"/>
                </a:solidFill>
                <a:latin typeface="微软雅黑" panose="020B0503020204020204" charset="-122"/>
                <a:ea typeface="微软雅黑" panose="020B0503020204020204" charset="-122"/>
              </a:rPr>
              <a:t>任务</a:t>
            </a:r>
            <a:r>
              <a:rPr lang="en-US" sz="1275">
                <a:solidFill>
                  <a:srgbClr val="E2E8F0"/>
                </a:solidFill>
                <a:latin typeface="微软雅黑" panose="020B0503020204020204" charset="-122"/>
                <a:ea typeface="微软雅黑" panose="020B0503020204020204" charset="-122"/>
              </a:rPr>
              <a:t> + </a:t>
            </a:r>
            <a:r>
              <a:rPr lang="zh-CN" sz="1275">
                <a:solidFill>
                  <a:srgbClr val="E2E8F0"/>
                </a:solidFill>
                <a:latin typeface="微软雅黑" panose="020B0503020204020204" charset="-122"/>
                <a:ea typeface="微软雅黑" panose="020B0503020204020204" charset="-122"/>
              </a:rPr>
              <a:t>进度</a:t>
            </a:r>
            <a:r>
              <a:rPr lang="en-US" sz="1275">
                <a:solidFill>
                  <a:srgbClr val="E2E8F0"/>
                </a:solidFill>
                <a:latin typeface="微软雅黑" panose="020B0503020204020204" charset="-122"/>
                <a:ea typeface="微软雅黑" panose="020B0503020204020204" charset="-122"/>
              </a:rPr>
              <a:t> + </a:t>
            </a:r>
            <a:r>
              <a:rPr lang="zh-CN" sz="1275">
                <a:solidFill>
                  <a:srgbClr val="E2E8F0"/>
                </a:solidFill>
                <a:latin typeface="微软雅黑" panose="020B0503020204020204" charset="-122"/>
                <a:ea typeface="微软雅黑" panose="020B0503020204020204" charset="-122"/>
              </a:rPr>
              <a:t>资源的预先规划，分初步与详细两步。</a:t>
            </a:r>
            <a:endParaRPr lang="zh-CN" sz="1275">
              <a:solidFill>
                <a:srgbClr val="E2E8F0"/>
              </a:solidFill>
              <a:latin typeface="微软雅黑" panose="020B0503020204020204" charset="-122"/>
              <a:ea typeface="微软雅黑" panose="020B0503020204020204" charset="-122"/>
            </a:endParaRPr>
          </a:p>
        </p:txBody>
      </p:sp>
      <p:sp>
        <p:nvSpPr>
          <p:cNvPr id="742" name="圆角矩形 741"/>
          <p:cNvSpPr/>
          <p:nvPr/>
        </p:nvSpPr>
        <p:spPr>
          <a:xfrm>
            <a:off x="609600" y="3305175"/>
            <a:ext cx="10972800" cy="666750"/>
          </a:xfrm>
          <a:prstGeom prst="roundRect">
            <a:avLst>
              <a:gd name="adj" fmla="val 17143"/>
            </a:avLst>
          </a:prstGeom>
          <a:solidFill>
            <a:srgbClr val="111B2E"/>
          </a:solidFill>
        </p:spPr>
        <p:txBody>
          <a:bodyPr/>
          <a:p/>
        </p:txBody>
      </p:sp>
      <p:sp>
        <p:nvSpPr>
          <p:cNvPr id="743" name="圆角矩形 742"/>
          <p:cNvSpPr/>
          <p:nvPr/>
        </p:nvSpPr>
        <p:spPr>
          <a:xfrm>
            <a:off x="838200" y="3448050"/>
            <a:ext cx="381000" cy="381000"/>
          </a:xfrm>
          <a:prstGeom prst="roundRect">
            <a:avLst>
              <a:gd name="adj" fmla="val 50000"/>
            </a:avLst>
          </a:prstGeom>
          <a:solidFill>
            <a:srgbClr val="22D3EE">
              <a:alpha val="18000"/>
            </a:srgbClr>
          </a:solidFill>
        </p:spPr>
        <p:txBody>
          <a:bodyPr/>
          <a:p/>
        </p:txBody>
      </p:sp>
      <p:sp>
        <p:nvSpPr>
          <p:cNvPr id="744" name="文本框 743" descr="{&quot;isTemplate&quot;:true,&quot;type&quot;:&quot;text&quot;}"/>
          <p:cNvSpPr txBox="1"/>
          <p:nvPr/>
        </p:nvSpPr>
        <p:spPr>
          <a:xfrm>
            <a:off x="981075" y="3543300"/>
            <a:ext cx="104775" cy="200025"/>
          </a:xfrm>
          <a:prstGeom prst="rect">
            <a:avLst/>
          </a:prstGeom>
        </p:spPr>
        <p:txBody>
          <a:bodyPr wrap="none" lIns="0" tIns="0" rIns="0" bIns="0"/>
          <a:p>
            <a:pPr>
              <a:lnSpc>
                <a:spcPct val="100000"/>
              </a:lnSpc>
            </a:pPr>
            <a:r>
              <a:rPr lang="en-US" sz="1275" b="1">
                <a:solidFill>
                  <a:srgbClr val="67E8F9"/>
                </a:solidFill>
                <a:latin typeface="微软雅黑" panose="020B0503020204020204" charset="-122"/>
                <a:ea typeface="微软雅黑" panose="020B0503020204020204" charset="-122"/>
              </a:rPr>
              <a:t>2</a:t>
            </a:r>
            <a:endParaRPr lang="en-US" sz="1275" b="1">
              <a:solidFill>
                <a:srgbClr val="67E8F9"/>
              </a:solidFill>
              <a:latin typeface="微软雅黑" panose="020B0503020204020204" charset="-122"/>
              <a:ea typeface="微软雅黑" panose="020B0503020204020204" charset="-122"/>
            </a:endParaRPr>
          </a:p>
        </p:txBody>
      </p:sp>
      <p:sp>
        <p:nvSpPr>
          <p:cNvPr id="745" name="文本框 744" descr="{&quot;isTemplate&quot;:true,&quot;type&quot;:&quot;text&quot;}"/>
          <p:cNvSpPr txBox="1"/>
          <p:nvPr/>
        </p:nvSpPr>
        <p:spPr>
          <a:xfrm>
            <a:off x="1371600" y="3486150"/>
            <a:ext cx="5476875" cy="314325"/>
          </a:xfrm>
          <a:prstGeom prst="rect">
            <a:avLst/>
          </a:prstGeom>
        </p:spPr>
        <p:txBody>
          <a:bodyPr wrap="none" lIns="0" tIns="0" rIns="0" bIns="0"/>
          <a:p>
            <a:pPr>
              <a:lnSpc>
                <a:spcPct val="160000"/>
              </a:lnSpc>
            </a:pPr>
            <a:r>
              <a:rPr lang="zh-CN" sz="1275" b="1">
                <a:solidFill>
                  <a:srgbClr val="E2E8F0"/>
                </a:solidFill>
                <a:latin typeface="微软雅黑" panose="020B0503020204020204" charset="-122"/>
                <a:ea typeface="微软雅黑" panose="020B0503020204020204" charset="-122"/>
              </a:rPr>
              <a:t>怎么制定：</a:t>
            </a:r>
            <a:r>
              <a:rPr lang="zh-CN" sz="1275">
                <a:solidFill>
                  <a:srgbClr val="E2E8F0"/>
                </a:solidFill>
                <a:latin typeface="微软雅黑" panose="020B0503020204020204" charset="-122"/>
                <a:ea typeface="微软雅黑" panose="020B0503020204020204" charset="-122"/>
              </a:rPr>
              <a:t>活动关系</a:t>
            </a:r>
            <a:r>
              <a:rPr lang="en-US" sz="1275">
                <a:solidFill>
                  <a:srgbClr val="E2E8F0"/>
                </a:solidFill>
                <a:latin typeface="微软雅黑" panose="020B0503020204020204" charset="-122"/>
                <a:ea typeface="微软雅黑" panose="020B0503020204020204" charset="-122"/>
              </a:rPr>
              <a:t> → </a:t>
            </a:r>
            <a:r>
              <a:rPr lang="zh-CN" sz="1275">
                <a:solidFill>
                  <a:srgbClr val="E2E8F0"/>
                </a:solidFill>
                <a:latin typeface="微软雅黑" panose="020B0503020204020204" charset="-122"/>
                <a:ea typeface="微软雅黑" panose="020B0503020204020204" charset="-122"/>
              </a:rPr>
              <a:t>估算周期</a:t>
            </a:r>
            <a:r>
              <a:rPr lang="en-US" sz="1275">
                <a:solidFill>
                  <a:srgbClr val="E2E8F0"/>
                </a:solidFill>
                <a:latin typeface="微软雅黑" panose="020B0503020204020204" charset="-122"/>
                <a:ea typeface="微软雅黑" panose="020B0503020204020204" charset="-122"/>
              </a:rPr>
              <a:t> → </a:t>
            </a:r>
            <a:r>
              <a:rPr lang="zh-CN" sz="1275">
                <a:solidFill>
                  <a:srgbClr val="E2E8F0"/>
                </a:solidFill>
                <a:latin typeface="微软雅黑" panose="020B0503020204020204" charset="-122"/>
                <a:ea typeface="微软雅黑" panose="020B0503020204020204" charset="-122"/>
              </a:rPr>
              <a:t>里程碑</a:t>
            </a:r>
            <a:r>
              <a:rPr lang="en-US" sz="1275">
                <a:solidFill>
                  <a:srgbClr val="E2E8F0"/>
                </a:solidFill>
                <a:latin typeface="微软雅黑" panose="020B0503020204020204" charset="-122"/>
                <a:ea typeface="微软雅黑" panose="020B0503020204020204" charset="-122"/>
              </a:rPr>
              <a:t> → </a:t>
            </a:r>
            <a:r>
              <a:rPr lang="zh-CN" sz="1275">
                <a:solidFill>
                  <a:srgbClr val="E2E8F0"/>
                </a:solidFill>
                <a:latin typeface="微软雅黑" panose="020B0503020204020204" charset="-122"/>
                <a:ea typeface="微软雅黑" panose="020B0503020204020204" charset="-122"/>
              </a:rPr>
              <a:t>甘特图</a:t>
            </a:r>
            <a:r>
              <a:rPr lang="en-US" sz="1275">
                <a:solidFill>
                  <a:srgbClr val="E2E8F0"/>
                </a:solidFill>
                <a:latin typeface="微软雅黑" panose="020B0503020204020204" charset="-122"/>
                <a:ea typeface="微软雅黑" panose="020B0503020204020204" charset="-122"/>
              </a:rPr>
              <a:t>/</a:t>
            </a:r>
            <a:r>
              <a:rPr lang="zh-CN" sz="1275">
                <a:solidFill>
                  <a:srgbClr val="E2E8F0"/>
                </a:solidFill>
                <a:latin typeface="微软雅黑" panose="020B0503020204020204" charset="-122"/>
                <a:ea typeface="微软雅黑" panose="020B0503020204020204" charset="-122"/>
              </a:rPr>
              <a:t>网络图</a:t>
            </a:r>
            <a:r>
              <a:rPr lang="en-US" sz="1275">
                <a:solidFill>
                  <a:srgbClr val="E2E8F0"/>
                </a:solidFill>
                <a:latin typeface="微软雅黑" panose="020B0503020204020204" charset="-122"/>
                <a:ea typeface="微软雅黑" panose="020B0503020204020204" charset="-122"/>
              </a:rPr>
              <a:t> → </a:t>
            </a:r>
            <a:r>
              <a:rPr lang="zh-CN" sz="1275">
                <a:solidFill>
                  <a:srgbClr val="E2E8F0"/>
                </a:solidFill>
                <a:latin typeface="微软雅黑" panose="020B0503020204020204" charset="-122"/>
                <a:ea typeface="微软雅黑" panose="020B0503020204020204" charset="-122"/>
              </a:rPr>
              <a:t>关键路径。</a:t>
            </a:r>
            <a:endParaRPr lang="zh-CN" sz="1275">
              <a:solidFill>
                <a:srgbClr val="E2E8F0"/>
              </a:solidFill>
              <a:latin typeface="微软雅黑" panose="020B0503020204020204" charset="-122"/>
              <a:ea typeface="微软雅黑" panose="020B0503020204020204" charset="-122"/>
            </a:endParaRPr>
          </a:p>
        </p:txBody>
      </p:sp>
      <p:sp>
        <p:nvSpPr>
          <p:cNvPr id="746" name="圆角矩形 745"/>
          <p:cNvSpPr/>
          <p:nvPr/>
        </p:nvSpPr>
        <p:spPr>
          <a:xfrm>
            <a:off x="609600" y="4105275"/>
            <a:ext cx="10972800" cy="666750"/>
          </a:xfrm>
          <a:prstGeom prst="roundRect">
            <a:avLst>
              <a:gd name="adj" fmla="val 17143"/>
            </a:avLst>
          </a:prstGeom>
          <a:solidFill>
            <a:srgbClr val="8B5CF6">
              <a:alpha val="10000"/>
            </a:srgbClr>
          </a:solidFill>
          <a:ln w="12700">
            <a:solidFill>
              <a:srgbClr val="8B5CF6">
                <a:alpha val="45000"/>
              </a:srgbClr>
            </a:solidFill>
            <a:prstDash val="solid"/>
          </a:ln>
        </p:spPr>
        <p:txBody>
          <a:bodyPr/>
          <a:p/>
        </p:txBody>
      </p:sp>
      <p:sp>
        <p:nvSpPr>
          <p:cNvPr id="747" name="圆角矩形 746"/>
          <p:cNvSpPr/>
          <p:nvPr/>
        </p:nvSpPr>
        <p:spPr>
          <a:xfrm>
            <a:off x="838200" y="4248150"/>
            <a:ext cx="381000" cy="381000"/>
          </a:xfrm>
          <a:prstGeom prst="roundRect">
            <a:avLst>
              <a:gd name="adj" fmla="val 50000"/>
            </a:avLst>
          </a:prstGeom>
          <a:solidFill>
            <a:srgbClr val="8B5CF6">
              <a:alpha val="25000"/>
            </a:srgbClr>
          </a:solidFill>
        </p:spPr>
        <p:txBody>
          <a:bodyPr/>
          <a:p/>
        </p:txBody>
      </p:sp>
      <p:sp>
        <p:nvSpPr>
          <p:cNvPr id="748" name="文本框 747" descr="{&quot;isTemplate&quot;:true,&quot;type&quot;:&quot;text&quot;}"/>
          <p:cNvSpPr txBox="1"/>
          <p:nvPr/>
        </p:nvSpPr>
        <p:spPr>
          <a:xfrm>
            <a:off x="981075" y="4343400"/>
            <a:ext cx="104775" cy="200025"/>
          </a:xfrm>
          <a:prstGeom prst="rect">
            <a:avLst/>
          </a:prstGeom>
        </p:spPr>
        <p:txBody>
          <a:bodyPr wrap="none" lIns="0" tIns="0" rIns="0" bIns="0"/>
          <a:p>
            <a:pPr>
              <a:lnSpc>
                <a:spcPct val="100000"/>
              </a:lnSpc>
            </a:pPr>
            <a:r>
              <a:rPr lang="en-US" sz="1275" b="1">
                <a:solidFill>
                  <a:srgbClr val="C4B5FD"/>
                </a:solidFill>
                <a:latin typeface="微软雅黑" panose="020B0503020204020204" charset="-122"/>
                <a:ea typeface="微软雅黑" panose="020B0503020204020204" charset="-122"/>
              </a:rPr>
              <a:t>3</a:t>
            </a:r>
            <a:endParaRPr lang="en-US" sz="1275" b="1">
              <a:solidFill>
                <a:srgbClr val="C4B5FD"/>
              </a:solidFill>
              <a:latin typeface="微软雅黑" panose="020B0503020204020204" charset="-122"/>
              <a:ea typeface="微软雅黑" panose="020B0503020204020204" charset="-122"/>
            </a:endParaRPr>
          </a:p>
        </p:txBody>
      </p:sp>
      <p:sp>
        <p:nvSpPr>
          <p:cNvPr id="749" name="文本框 748" descr="{&quot;isTemplate&quot;:true,&quot;type&quot;:&quot;text&quot;}"/>
          <p:cNvSpPr txBox="1"/>
          <p:nvPr/>
        </p:nvSpPr>
        <p:spPr>
          <a:xfrm>
            <a:off x="1371600" y="4286250"/>
            <a:ext cx="6296025" cy="314325"/>
          </a:xfrm>
          <a:prstGeom prst="rect">
            <a:avLst/>
          </a:prstGeom>
        </p:spPr>
        <p:txBody>
          <a:bodyPr wrap="none" lIns="0" tIns="0" rIns="0" bIns="0"/>
          <a:p>
            <a:pPr>
              <a:lnSpc>
                <a:spcPct val="160000"/>
              </a:lnSpc>
            </a:pPr>
            <a:r>
              <a:rPr lang="zh-CN" sz="1275" b="1">
                <a:solidFill>
                  <a:srgbClr val="E2E8F0"/>
                </a:solidFill>
                <a:latin typeface="微软雅黑" panose="020B0503020204020204" charset="-122"/>
                <a:ea typeface="微软雅黑" panose="020B0503020204020204" charset="-122"/>
              </a:rPr>
              <a:t>规范与工具：</a:t>
            </a:r>
            <a:r>
              <a:rPr lang="zh-CN" sz="1275">
                <a:solidFill>
                  <a:srgbClr val="E2E8F0"/>
                </a:solidFill>
                <a:latin typeface="微软雅黑" panose="020B0503020204020204" charset="-122"/>
                <a:ea typeface="微软雅黑" panose="020B0503020204020204" charset="-122"/>
              </a:rPr>
              <a:t>十个步骤</a:t>
            </a:r>
            <a:r>
              <a:rPr lang="en-US" sz="1275">
                <a:solidFill>
                  <a:srgbClr val="E2E8F0"/>
                </a:solidFill>
                <a:latin typeface="微软雅黑" panose="020B0503020204020204" charset="-122"/>
                <a:ea typeface="微软雅黑" panose="020B0503020204020204" charset="-122"/>
              </a:rPr>
              <a:t> + CMMI PP </a:t>
            </a:r>
            <a:r>
              <a:rPr lang="zh-CN" sz="1275">
                <a:solidFill>
                  <a:srgbClr val="E2E8F0"/>
                </a:solidFill>
                <a:latin typeface="微软雅黑" panose="020B0503020204020204" charset="-122"/>
                <a:ea typeface="微软雅黑" panose="020B0503020204020204" charset="-122"/>
              </a:rPr>
              <a:t>要求</a:t>
            </a:r>
            <a:r>
              <a:rPr lang="en-US" sz="1275">
                <a:solidFill>
                  <a:srgbClr val="E2E8F0"/>
                </a:solidFill>
                <a:latin typeface="微软雅黑" panose="020B0503020204020204" charset="-122"/>
                <a:ea typeface="微软雅黑" panose="020B0503020204020204" charset="-122"/>
              </a:rPr>
              <a:t> + AI </a:t>
            </a:r>
            <a:r>
              <a:rPr lang="zh-CN" sz="1275">
                <a:solidFill>
                  <a:srgbClr val="E2E8F0"/>
                </a:solidFill>
                <a:latin typeface="微软雅黑" panose="020B0503020204020204" charset="-122"/>
                <a:ea typeface="微软雅黑" panose="020B0503020204020204" charset="-122"/>
              </a:rPr>
              <a:t>辅助——计划要科学、有承诺、可执行。</a:t>
            </a:r>
            <a:endParaRPr lang="zh-CN" sz="1275">
              <a:solidFill>
                <a:srgbClr val="E2E8F0"/>
              </a:solidFill>
              <a:latin typeface="微软雅黑" panose="020B0503020204020204" charset="-122"/>
              <a:ea typeface="微软雅黑" panose="020B0503020204020204" charset="-122"/>
            </a:endParaRPr>
          </a:p>
        </p:txBody>
      </p:sp>
      <p:sp>
        <p:nvSpPr>
          <p:cNvPr id="750" name="文本框 749" descr="{&quot;isTemplate&quot;:true,&quot;type&quot;:&quot;text&quot;}"/>
          <p:cNvSpPr txBox="1"/>
          <p:nvPr/>
        </p:nvSpPr>
        <p:spPr>
          <a:xfrm>
            <a:off x="609600" y="6400800"/>
            <a:ext cx="533400" cy="161925"/>
          </a:xfrm>
          <a:prstGeom prst="rect">
            <a:avLst/>
          </a:prstGeom>
        </p:spPr>
        <p:txBody>
          <a:bodyPr wrap="none" lIns="0" tIns="0" rIns="0" bIns="0"/>
          <a:p>
            <a:pPr>
              <a:lnSpc>
                <a:spcPct val="100000"/>
              </a:lnSpc>
            </a:pPr>
            <a:r>
              <a:rPr lang="zh-CN" sz="1050">
                <a:solidFill>
                  <a:srgbClr val="94A3B8"/>
                </a:solidFill>
                <a:latin typeface="微软雅黑" panose="020B0503020204020204" charset="-122"/>
                <a:ea typeface="微软雅黑" panose="020B0503020204020204" charset="-122"/>
              </a:rPr>
              <a:t>课程总览</a:t>
            </a:r>
            <a:endParaRPr lang="zh-CN" sz="1050">
              <a:solidFill>
                <a:srgbClr val="94A3B8"/>
              </a:solidFill>
              <a:latin typeface="微软雅黑" panose="020B0503020204020204" charset="-122"/>
              <a:ea typeface="微软雅黑" panose="020B0503020204020204" charset="-122"/>
            </a:endParaRPr>
          </a:p>
        </p:txBody>
      </p:sp>
      <p:sp>
        <p:nvSpPr>
          <p:cNvPr id="751" name="文本框 750"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42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752"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小组实践任务&lt;/Text&gt;&#13;&#10;        &lt;Text style={{ fontSize: 15, color: '#8B5CF6', marginLeft: 18 }}&gt;从课题选题到项目计划&lt;/Text&gt;&#13;&#10;    &lt;/Box&gt;&#13;&#10;    &lt;Box style={{ flex: 1, flexDirection: 'row', gap: 26 }}&gt;&#13;&#10;        &lt;Box style={{ flex: 1, flexDirection: 'column', gap: 11, justifyContent: 'center' }}&gt;&#13;&#10;            &lt;Box style={{ background: '#111B2E', borderRadius: 12, padding: '14px 22px', borderLeft: '4px solid #8B5CF6' }}&gt;&#13;&#10;                &lt;Text style={{ fontSize: 15.5, color: '#E2E8F0', lineHeight: 1.6 }}&gt;&lt;span style={{ fontWeight: 'bold', color: '#C4B5FD' }}&gt;任务一 · 选题：&lt;/span&gt;从十大课题中选 1 个，一句话说清「为谁解决什么问题」。&lt;/Text&gt;&#13;&#10;            &lt;/Box&gt;&#13;&#10;            &lt;Box style={{ background: '#111B2E', borderRadius: 12, padding: '14px 22px', borderLeft: '4px solid #22D3EE' }}&gt;&#13;&#10;                &lt;Text style={{ fontSize: 15.5, color: '#E2E8F0', lineHeight: 1.6 }}&gt;&lt;span style={{ fontWeight: 'bold', color: '#67E8F9' }}&gt;任务二 · 组队：&lt;/span&gt;5 人一组确定组长，分工与职责写入项目章程。&lt;/Text&gt;&#13;&#10;            &lt;/Box&gt;&#13;&#10;            &lt;Box style={{ background: '#111B2E', borderRadius: 12, padding: '14px 22px', borderLeft: '4px solid #3B82F6' }}&gt;&#13;&#10;                &lt;Text style={{ fontSize: 15.5, color: '#E2E8F0', lineHeight: 1.6 }}&gt;&lt;span style={{ fontWeight: 'bold', color: '#93C5FD' }}&gt;任务三 · 立章程：&lt;/span&gt;编写《项目章程》，覆盖七要素——背景、目标、范围、干系人、约束、里程碑、审批。&lt;/Text&gt;&#13;&#10;            &lt;/Box&gt;&#13;&#10;            &lt;Box style={{ background: '#111B2E', borderRadius: 12, padding: '14px 22px', borderLeft: '4px solid #F59E0B' }}&gt;&#13;&#10;                &lt;Text style={{ fontSize: 15.5, color: '#E2E8F0', lineHeight: 1.6 }}&gt;&lt;span style={{ fontWeight: 'bold', color: '#FBBF24' }}&gt;任务四 · 做计划：&lt;/span&gt;分解 WBS（≥3 层）→ 甘特图 / 网络图 → 关键路径，写《项目计划书》初稿。&lt;/Text&gt;&#13;&#10;            &lt;/Box&gt;&#13;&#10;        &lt;/Box&gt;&#13;&#10;        &lt;Box style={{ width: 400, justifyContent: 'center', gap: 14 }}&gt;&#13;&#10;            &lt;Box style={{ background: 'rgba(139,92,246,0.10)', borderRadius: 14, padding: '18px 24px', border: '1px solid rgba(139,92,246,0.5)' }}&gt;&#13;&#10;                &lt;Text style={{ fontSize: 15.5, color: '#E2E8F0', lineHeight: 1.75 }}&gt;&lt;span style={{ fontWeight: 'bold', color: '#C4B5FD' }}&gt;AI 工具鼓励：&lt;/span&gt;可用 AI 辅助生成章程、WBS 与计划初稿，但须人工评审并说明「人做了什么判断」。&lt;/Text&gt;&#13;&#10;            &lt;/Box&gt;&#13;&#10;            &lt;Box style={{ background: '#111B2E', borderRadius: 12, padding: '14px 20px' }}&gt;&#13;&#10;                &lt;Text style={{ fontSize: 14.5, color: '#94A3B8', lineHeight: 1.65 }}&gt;&lt;span style={{ fontWeight: 'bold', color: '#22D3EE' }}&gt;衔接：&lt;/span&gt;第 5 讲交《项目计划书》，并深化估算与进度管理方法。&lt;/Text&gt;&#13;&#10;            &lt;/Box&gt;&#13;&#10;        &lt;/Box&gt;&#13;&#10;    &lt;/Box&gt;&#13;&#10;    &lt;Box style={{ height: 40, flexDirection: 'row', justifyContent: 'space-between', alignItems: 'center', marginTop: 16 }}&gt;&#13;&#10;        &lt;Text style={{ fontSize: 14, color: '#94A3B8' }}&gt;04 选题组队实践&lt;/Text&gt;&#13;&#10;        &lt;Text style={{ fontSize: 14, color: '#94A3B8' }}&gt;43 / 47&lt;/Text&gt;&#13;&#10;    &lt;/Box&gt;&#13;&#10;&lt;/Slide&gt;&#13;&#10;"/>
        <p:cNvGrpSpPr/>
        <p:nvPr/>
      </p:nvGrpSpPr>
      <p:grpSpPr>
        <a:xfrm>
          <a:off x="0" y="0"/>
          <a:ext cx="0" cy="0"/>
          <a:chOff x="0" y="0"/>
          <a:chExt cx="0" cy="0"/>
        </a:xfrm>
      </p:grpSpPr>
      <p:sp>
        <p:nvSpPr>
          <p:cNvPr id="753" name="矩形 752"/>
          <p:cNvSpPr/>
          <p:nvPr/>
        </p:nvSpPr>
        <p:spPr>
          <a:xfrm>
            <a:off x="0" y="0"/>
            <a:ext cx="12192000" cy="6858000"/>
          </a:xfrm>
          <a:prstGeom prst="rect">
            <a:avLst/>
          </a:prstGeom>
          <a:solidFill>
            <a:srgbClr val="0B1220"/>
          </a:solidFill>
        </p:spPr>
        <p:txBody>
          <a:bodyPr/>
          <a:p/>
        </p:txBody>
      </p:sp>
      <p:sp>
        <p:nvSpPr>
          <p:cNvPr id="754" name="圆角矩形 753"/>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755" name="文本框 754" descr="{&quot;isTemplate&quot;:true,&quot;type&quot;:&quot;text&quot;}"/>
          <p:cNvSpPr txBox="1"/>
          <p:nvPr/>
        </p:nvSpPr>
        <p:spPr>
          <a:xfrm>
            <a:off x="857250" y="476250"/>
            <a:ext cx="19431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小组实践任务</a:t>
            </a:r>
            <a:endParaRPr lang="zh-CN" sz="2550" b="1">
              <a:solidFill>
                <a:srgbClr val="E2E8F0"/>
              </a:solidFill>
              <a:latin typeface="微软雅黑" panose="020B0503020204020204" charset="-122"/>
              <a:ea typeface="微软雅黑" panose="020B0503020204020204" charset="-122"/>
            </a:endParaRPr>
          </a:p>
        </p:txBody>
      </p:sp>
      <p:sp>
        <p:nvSpPr>
          <p:cNvPr id="756" name="文本框 755" descr="{&quot;isTemplate&quot;:true,&quot;type&quot;:&quot;text&quot;}"/>
          <p:cNvSpPr txBox="1"/>
          <p:nvPr/>
        </p:nvSpPr>
        <p:spPr>
          <a:xfrm>
            <a:off x="2971800" y="581025"/>
            <a:ext cx="1428750" cy="171450"/>
          </a:xfrm>
          <a:prstGeom prst="rect">
            <a:avLst/>
          </a:prstGeom>
        </p:spPr>
        <p:txBody>
          <a:bodyPr wrap="none" lIns="0" tIns="0" rIns="0" bIns="0"/>
          <a:p>
            <a:pPr>
              <a:lnSpc>
                <a:spcPct val="100000"/>
              </a:lnSpc>
            </a:pPr>
            <a:r>
              <a:rPr lang="zh-CN" sz="1125">
                <a:solidFill>
                  <a:srgbClr val="8B5CF6"/>
                </a:solidFill>
                <a:latin typeface="微软雅黑" panose="020B0503020204020204" charset="-122"/>
                <a:ea typeface="微软雅黑" panose="020B0503020204020204" charset="-122"/>
              </a:rPr>
              <a:t>从课题选题到项目计划</a:t>
            </a:r>
            <a:endParaRPr lang="zh-CN" sz="1125">
              <a:solidFill>
                <a:srgbClr val="8B5CF6"/>
              </a:solidFill>
              <a:latin typeface="微软雅黑" panose="020B0503020204020204" charset="-122"/>
              <a:ea typeface="微软雅黑" panose="020B0503020204020204" charset="-122"/>
            </a:endParaRPr>
          </a:p>
        </p:txBody>
      </p:sp>
      <p:sp>
        <p:nvSpPr>
          <p:cNvPr id="757" name="圆角矩形 756"/>
          <p:cNvSpPr/>
          <p:nvPr/>
        </p:nvSpPr>
        <p:spPr>
          <a:xfrm>
            <a:off x="647700" y="2238375"/>
            <a:ext cx="6915150" cy="552450"/>
          </a:xfrm>
          <a:prstGeom prst="roundRect">
            <a:avLst>
              <a:gd name="adj" fmla="val 20690"/>
            </a:avLst>
          </a:prstGeom>
          <a:solidFill>
            <a:srgbClr val="111B2E"/>
          </a:solidFill>
        </p:spPr>
        <p:txBody>
          <a:bodyPr/>
          <a:p/>
        </p:txBody>
      </p:sp>
      <p:sp>
        <p:nvSpPr>
          <p:cNvPr id="758" name="任意多边形 757"/>
          <p:cNvSpPr/>
          <p:nvPr/>
        </p:nvSpPr>
        <p:spPr>
          <a:xfrm>
            <a:off x="647700" y="2238375"/>
            <a:ext cx="6915150" cy="552450"/>
          </a:xfrm>
          <a:custGeom>
            <a:avLst/>
            <a:gdLst/>
            <a:ahLst/>
            <a:cxnLst/>
            <a:pathLst>
              <a:path w="726" h="58">
                <a:moveTo>
                  <a:pt x="11" y="0"/>
                </a:moveTo>
                <a:cubicBezTo>
                  <a:pt x="7" y="0"/>
                  <a:pt x="4" y="4"/>
                  <a:pt x="4" y="8"/>
                </a:cubicBezTo>
                <a:lnTo>
                  <a:pt x="4" y="50"/>
                </a:lnTo>
                <a:cubicBezTo>
                  <a:pt x="4" y="54"/>
                  <a:pt x="7" y="57"/>
                  <a:pt x="10" y="58"/>
                </a:cubicBezTo>
                <a:cubicBezTo>
                  <a:pt x="4" y="57"/>
                  <a:pt x="0" y="52"/>
                  <a:pt x="0" y="46"/>
                </a:cubicBezTo>
                <a:lnTo>
                  <a:pt x="0" y="12"/>
                </a:lnTo>
                <a:cubicBezTo>
                  <a:pt x="0" y="6"/>
                  <a:pt x="5" y="0"/>
                  <a:pt x="12" y="0"/>
                </a:cubicBezTo>
                <a:close/>
              </a:path>
            </a:pathLst>
          </a:custGeom>
          <a:solidFill>
            <a:srgbClr val="8B5CF6"/>
          </a:solidFill>
        </p:spPr>
        <p:txBody>
          <a:bodyPr/>
          <a:p/>
        </p:txBody>
      </p:sp>
      <p:sp>
        <p:nvSpPr>
          <p:cNvPr id="759" name="文本框 758" descr="{&quot;isTemplate&quot;:true,&quot;type&quot;:&quot;text&quot;}"/>
          <p:cNvSpPr txBox="1"/>
          <p:nvPr/>
        </p:nvSpPr>
        <p:spPr>
          <a:xfrm>
            <a:off x="857250" y="2371725"/>
            <a:ext cx="6457950" cy="285750"/>
          </a:xfrm>
          <a:prstGeom prst="rect">
            <a:avLst/>
          </a:prstGeom>
        </p:spPr>
        <p:txBody>
          <a:bodyPr wrap="none" lIns="0" tIns="0" rIns="0" bIns="0"/>
          <a:p>
            <a:pPr>
              <a:lnSpc>
                <a:spcPct val="160000"/>
              </a:lnSpc>
            </a:pPr>
            <a:r>
              <a:rPr lang="zh-CN" sz="1165" b="1">
                <a:solidFill>
                  <a:srgbClr val="C4B5FD"/>
                </a:solidFill>
                <a:latin typeface="微软雅黑" panose="020B0503020204020204" charset="-122"/>
                <a:ea typeface="微软雅黑" panose="020B0503020204020204" charset="-122"/>
              </a:rPr>
              <a:t>任务一</a:t>
            </a:r>
            <a:r>
              <a:rPr lang="en-US" sz="1165" b="1">
                <a:solidFill>
                  <a:srgbClr val="C4B5FD"/>
                </a:solidFill>
                <a:latin typeface="微软雅黑" panose="020B0503020204020204" charset="-122"/>
                <a:ea typeface="微软雅黑" panose="020B0503020204020204" charset="-122"/>
              </a:rPr>
              <a:t> · </a:t>
            </a:r>
            <a:r>
              <a:rPr lang="zh-CN" sz="1165" b="1">
                <a:solidFill>
                  <a:srgbClr val="C4B5FD"/>
                </a:solidFill>
                <a:latin typeface="微软雅黑" panose="020B0503020204020204" charset="-122"/>
                <a:ea typeface="微软雅黑" panose="020B0503020204020204" charset="-122"/>
              </a:rPr>
              <a:t>选题：</a:t>
            </a:r>
            <a:r>
              <a:rPr lang="zh-CN" sz="1165">
                <a:solidFill>
                  <a:srgbClr val="E2E8F0"/>
                </a:solidFill>
                <a:latin typeface="微软雅黑" panose="020B0503020204020204" charset="-122"/>
                <a:ea typeface="微软雅黑" panose="020B0503020204020204" charset="-122"/>
              </a:rPr>
              <a:t>从十大课题中选</a:t>
            </a:r>
            <a:r>
              <a:rPr lang="en-US" sz="1165">
                <a:solidFill>
                  <a:srgbClr val="E2E8F0"/>
                </a:solidFill>
                <a:latin typeface="微软雅黑" panose="020B0503020204020204" charset="-122"/>
                <a:ea typeface="微软雅黑" panose="020B0503020204020204" charset="-122"/>
              </a:rPr>
              <a:t> 1 </a:t>
            </a:r>
            <a:r>
              <a:rPr lang="zh-CN" sz="1165">
                <a:solidFill>
                  <a:srgbClr val="E2E8F0"/>
                </a:solidFill>
                <a:latin typeface="微软雅黑" panose="020B0503020204020204" charset="-122"/>
                <a:ea typeface="微软雅黑" panose="020B0503020204020204" charset="-122"/>
              </a:rPr>
              <a:t>个，一句话说清「为谁解决什么问题」。</a:t>
            </a:r>
            <a:endParaRPr lang="zh-CN" sz="1165">
              <a:solidFill>
                <a:srgbClr val="E2E8F0"/>
              </a:solidFill>
              <a:latin typeface="微软雅黑" panose="020B0503020204020204" charset="-122"/>
              <a:ea typeface="微软雅黑" panose="020B0503020204020204" charset="-122"/>
            </a:endParaRPr>
          </a:p>
        </p:txBody>
      </p:sp>
      <p:sp>
        <p:nvSpPr>
          <p:cNvPr id="760" name="圆角矩形 759"/>
          <p:cNvSpPr/>
          <p:nvPr/>
        </p:nvSpPr>
        <p:spPr>
          <a:xfrm>
            <a:off x="647700" y="2895600"/>
            <a:ext cx="6915150" cy="552450"/>
          </a:xfrm>
          <a:prstGeom prst="roundRect">
            <a:avLst>
              <a:gd name="adj" fmla="val 20690"/>
            </a:avLst>
          </a:prstGeom>
          <a:solidFill>
            <a:srgbClr val="111B2E"/>
          </a:solidFill>
        </p:spPr>
        <p:txBody>
          <a:bodyPr/>
          <a:p/>
        </p:txBody>
      </p:sp>
      <p:sp>
        <p:nvSpPr>
          <p:cNvPr id="761" name="任意多边形 760"/>
          <p:cNvSpPr/>
          <p:nvPr/>
        </p:nvSpPr>
        <p:spPr>
          <a:xfrm>
            <a:off x="647700" y="2895600"/>
            <a:ext cx="6915150" cy="552450"/>
          </a:xfrm>
          <a:custGeom>
            <a:avLst/>
            <a:gdLst/>
            <a:ahLst/>
            <a:cxnLst/>
            <a:pathLst>
              <a:path w="726" h="58">
                <a:moveTo>
                  <a:pt x="11" y="0"/>
                </a:moveTo>
                <a:cubicBezTo>
                  <a:pt x="7" y="0"/>
                  <a:pt x="4" y="4"/>
                  <a:pt x="4" y="8"/>
                </a:cubicBezTo>
                <a:lnTo>
                  <a:pt x="4" y="50"/>
                </a:lnTo>
                <a:cubicBezTo>
                  <a:pt x="4" y="54"/>
                  <a:pt x="7" y="57"/>
                  <a:pt x="10" y="58"/>
                </a:cubicBezTo>
                <a:cubicBezTo>
                  <a:pt x="4" y="57"/>
                  <a:pt x="0" y="52"/>
                  <a:pt x="0" y="46"/>
                </a:cubicBezTo>
                <a:lnTo>
                  <a:pt x="0" y="12"/>
                </a:lnTo>
                <a:cubicBezTo>
                  <a:pt x="0" y="6"/>
                  <a:pt x="5" y="0"/>
                  <a:pt x="12" y="0"/>
                </a:cubicBezTo>
                <a:close/>
              </a:path>
            </a:pathLst>
          </a:custGeom>
          <a:solidFill>
            <a:srgbClr val="22D3EE"/>
          </a:solidFill>
        </p:spPr>
        <p:txBody>
          <a:bodyPr/>
          <a:p/>
        </p:txBody>
      </p:sp>
      <p:sp>
        <p:nvSpPr>
          <p:cNvPr id="762" name="文本框 761" descr="{&quot;isTemplate&quot;:true,&quot;type&quot;:&quot;text&quot;}"/>
          <p:cNvSpPr txBox="1"/>
          <p:nvPr/>
        </p:nvSpPr>
        <p:spPr>
          <a:xfrm>
            <a:off x="857250" y="3028950"/>
            <a:ext cx="6457950" cy="285750"/>
          </a:xfrm>
          <a:prstGeom prst="rect">
            <a:avLst/>
          </a:prstGeom>
        </p:spPr>
        <p:txBody>
          <a:bodyPr wrap="none" lIns="0" tIns="0" rIns="0" bIns="0"/>
          <a:p>
            <a:pPr>
              <a:lnSpc>
                <a:spcPct val="160000"/>
              </a:lnSpc>
            </a:pPr>
            <a:r>
              <a:rPr lang="zh-CN" sz="1165" b="1">
                <a:solidFill>
                  <a:srgbClr val="67E8F9"/>
                </a:solidFill>
                <a:latin typeface="微软雅黑" panose="020B0503020204020204" charset="-122"/>
                <a:ea typeface="微软雅黑" panose="020B0503020204020204" charset="-122"/>
              </a:rPr>
              <a:t>任务二</a:t>
            </a:r>
            <a:r>
              <a:rPr lang="en-US" sz="1165" b="1">
                <a:solidFill>
                  <a:srgbClr val="67E8F9"/>
                </a:solidFill>
                <a:latin typeface="微软雅黑" panose="020B0503020204020204" charset="-122"/>
                <a:ea typeface="微软雅黑" panose="020B0503020204020204" charset="-122"/>
              </a:rPr>
              <a:t> · </a:t>
            </a:r>
            <a:r>
              <a:rPr lang="zh-CN" sz="1165" b="1">
                <a:solidFill>
                  <a:srgbClr val="67E8F9"/>
                </a:solidFill>
                <a:latin typeface="微软雅黑" panose="020B0503020204020204" charset="-122"/>
                <a:ea typeface="微软雅黑" panose="020B0503020204020204" charset="-122"/>
              </a:rPr>
              <a:t>组队：</a:t>
            </a:r>
            <a:r>
              <a:rPr lang="en-US" sz="1165">
                <a:solidFill>
                  <a:srgbClr val="E2E8F0"/>
                </a:solidFill>
                <a:latin typeface="微软雅黑" panose="020B0503020204020204" charset="-122"/>
                <a:ea typeface="微软雅黑" panose="020B0503020204020204" charset="-122"/>
              </a:rPr>
              <a:t>5 </a:t>
            </a:r>
            <a:r>
              <a:rPr lang="zh-CN" sz="1165">
                <a:solidFill>
                  <a:srgbClr val="E2E8F0"/>
                </a:solidFill>
                <a:latin typeface="微软雅黑" panose="020B0503020204020204" charset="-122"/>
                <a:ea typeface="微软雅黑" panose="020B0503020204020204" charset="-122"/>
              </a:rPr>
              <a:t>人一组确定组长，分工与职责写入项目章程。</a:t>
            </a:r>
            <a:endParaRPr lang="zh-CN" sz="1165">
              <a:solidFill>
                <a:srgbClr val="E2E8F0"/>
              </a:solidFill>
              <a:latin typeface="微软雅黑" panose="020B0503020204020204" charset="-122"/>
              <a:ea typeface="微软雅黑" panose="020B0503020204020204" charset="-122"/>
            </a:endParaRPr>
          </a:p>
        </p:txBody>
      </p:sp>
      <p:sp>
        <p:nvSpPr>
          <p:cNvPr id="763" name="圆角矩形 762"/>
          <p:cNvSpPr/>
          <p:nvPr/>
        </p:nvSpPr>
        <p:spPr>
          <a:xfrm>
            <a:off x="647700" y="3552825"/>
            <a:ext cx="6915150" cy="838200"/>
          </a:xfrm>
          <a:prstGeom prst="roundRect">
            <a:avLst>
              <a:gd name="adj" fmla="val 13636"/>
            </a:avLst>
          </a:prstGeom>
          <a:solidFill>
            <a:srgbClr val="111B2E"/>
          </a:solidFill>
        </p:spPr>
        <p:txBody>
          <a:bodyPr/>
          <a:p/>
        </p:txBody>
      </p:sp>
      <p:sp>
        <p:nvSpPr>
          <p:cNvPr id="764" name="任意多边形 763"/>
          <p:cNvSpPr/>
          <p:nvPr/>
        </p:nvSpPr>
        <p:spPr>
          <a:xfrm>
            <a:off x="647700" y="3552825"/>
            <a:ext cx="6915150" cy="838200"/>
          </a:xfrm>
          <a:custGeom>
            <a:avLst/>
            <a:gdLst/>
            <a:ahLst/>
            <a:cxnLst/>
            <a:pathLst>
              <a:path w="726" h="88">
                <a:moveTo>
                  <a:pt x="11" y="0"/>
                </a:moveTo>
                <a:cubicBezTo>
                  <a:pt x="7" y="0"/>
                  <a:pt x="4" y="4"/>
                  <a:pt x="4" y="8"/>
                </a:cubicBezTo>
                <a:lnTo>
                  <a:pt x="4" y="80"/>
                </a:lnTo>
                <a:cubicBezTo>
                  <a:pt x="4" y="84"/>
                  <a:pt x="7" y="87"/>
                  <a:pt x="10" y="88"/>
                </a:cubicBezTo>
                <a:cubicBezTo>
                  <a:pt x="4" y="87"/>
                  <a:pt x="0" y="82"/>
                  <a:pt x="0" y="76"/>
                </a:cubicBezTo>
                <a:lnTo>
                  <a:pt x="0" y="12"/>
                </a:lnTo>
                <a:cubicBezTo>
                  <a:pt x="0" y="6"/>
                  <a:pt x="5" y="0"/>
                  <a:pt x="12" y="0"/>
                </a:cubicBezTo>
                <a:close/>
              </a:path>
            </a:pathLst>
          </a:custGeom>
          <a:solidFill>
            <a:srgbClr val="3B82F6"/>
          </a:solidFill>
        </p:spPr>
        <p:txBody>
          <a:bodyPr/>
          <a:p/>
        </p:txBody>
      </p:sp>
      <p:sp>
        <p:nvSpPr>
          <p:cNvPr id="765" name="文本框 764" descr="{&quot;isTemplate&quot;:true,&quot;type&quot;:&quot;text&quot;}"/>
          <p:cNvSpPr txBox="1"/>
          <p:nvPr/>
        </p:nvSpPr>
        <p:spPr>
          <a:xfrm>
            <a:off x="857250" y="3686175"/>
            <a:ext cx="6457950" cy="571500"/>
          </a:xfrm>
          <a:prstGeom prst="rect">
            <a:avLst/>
          </a:prstGeom>
        </p:spPr>
        <p:txBody>
          <a:bodyPr wrap="square" lIns="0" tIns="0" rIns="0" bIns="0">
            <a:normAutofit/>
          </a:bodyPr>
          <a:p>
            <a:pPr>
              <a:lnSpc>
                <a:spcPct val="160000"/>
              </a:lnSpc>
            </a:pPr>
            <a:r>
              <a:rPr lang="zh-CN" sz="1165" b="1">
                <a:solidFill>
                  <a:srgbClr val="93C5FD"/>
                </a:solidFill>
                <a:latin typeface="微软雅黑" panose="020B0503020204020204" charset="-122"/>
                <a:ea typeface="微软雅黑" panose="020B0503020204020204" charset="-122"/>
              </a:rPr>
              <a:t>任务三</a:t>
            </a:r>
            <a:r>
              <a:rPr lang="en-US" sz="1165" b="1">
                <a:solidFill>
                  <a:srgbClr val="93C5FD"/>
                </a:solidFill>
                <a:latin typeface="微软雅黑" panose="020B0503020204020204" charset="-122"/>
                <a:ea typeface="微软雅黑" panose="020B0503020204020204" charset="-122"/>
              </a:rPr>
              <a:t> · </a:t>
            </a:r>
            <a:r>
              <a:rPr lang="zh-CN" sz="1165" b="1">
                <a:solidFill>
                  <a:srgbClr val="93C5FD"/>
                </a:solidFill>
                <a:latin typeface="微软雅黑" panose="020B0503020204020204" charset="-122"/>
                <a:ea typeface="微软雅黑" panose="020B0503020204020204" charset="-122"/>
              </a:rPr>
              <a:t>立章程：</a:t>
            </a:r>
            <a:r>
              <a:rPr lang="zh-CN" sz="1165">
                <a:solidFill>
                  <a:srgbClr val="E2E8F0"/>
                </a:solidFill>
                <a:latin typeface="微软雅黑" panose="020B0503020204020204" charset="-122"/>
                <a:ea typeface="微软雅黑" panose="020B0503020204020204" charset="-122"/>
              </a:rPr>
              <a:t>编写《项目章程》，覆盖七要素——背景、目标、范围、干系人、约束、里程碑、审批。</a:t>
            </a:r>
            <a:endParaRPr lang="zh-CN" sz="1165">
              <a:solidFill>
                <a:srgbClr val="E2E8F0"/>
              </a:solidFill>
              <a:latin typeface="微软雅黑" panose="020B0503020204020204" charset="-122"/>
              <a:ea typeface="微软雅黑" panose="020B0503020204020204" charset="-122"/>
            </a:endParaRPr>
          </a:p>
        </p:txBody>
      </p:sp>
      <p:sp>
        <p:nvSpPr>
          <p:cNvPr id="766" name="圆角矩形 765"/>
          <p:cNvSpPr/>
          <p:nvPr/>
        </p:nvSpPr>
        <p:spPr>
          <a:xfrm>
            <a:off x="647700" y="4495800"/>
            <a:ext cx="6915150" cy="552450"/>
          </a:xfrm>
          <a:prstGeom prst="roundRect">
            <a:avLst>
              <a:gd name="adj" fmla="val 20690"/>
            </a:avLst>
          </a:prstGeom>
          <a:solidFill>
            <a:srgbClr val="111B2E"/>
          </a:solidFill>
        </p:spPr>
        <p:txBody>
          <a:bodyPr/>
          <a:p/>
        </p:txBody>
      </p:sp>
      <p:sp>
        <p:nvSpPr>
          <p:cNvPr id="767" name="任意多边形 766"/>
          <p:cNvSpPr/>
          <p:nvPr/>
        </p:nvSpPr>
        <p:spPr>
          <a:xfrm>
            <a:off x="647700" y="4495800"/>
            <a:ext cx="6915150" cy="552450"/>
          </a:xfrm>
          <a:custGeom>
            <a:avLst/>
            <a:gdLst/>
            <a:ahLst/>
            <a:cxnLst/>
            <a:pathLst>
              <a:path w="726" h="58">
                <a:moveTo>
                  <a:pt x="11" y="0"/>
                </a:moveTo>
                <a:cubicBezTo>
                  <a:pt x="7" y="0"/>
                  <a:pt x="4" y="4"/>
                  <a:pt x="4" y="8"/>
                </a:cubicBezTo>
                <a:lnTo>
                  <a:pt x="4" y="50"/>
                </a:lnTo>
                <a:cubicBezTo>
                  <a:pt x="4" y="54"/>
                  <a:pt x="7" y="57"/>
                  <a:pt x="10" y="58"/>
                </a:cubicBezTo>
                <a:cubicBezTo>
                  <a:pt x="4" y="57"/>
                  <a:pt x="0" y="52"/>
                  <a:pt x="0" y="46"/>
                </a:cubicBezTo>
                <a:lnTo>
                  <a:pt x="0" y="12"/>
                </a:lnTo>
                <a:cubicBezTo>
                  <a:pt x="0" y="6"/>
                  <a:pt x="5" y="0"/>
                  <a:pt x="12" y="0"/>
                </a:cubicBezTo>
                <a:close/>
              </a:path>
            </a:pathLst>
          </a:custGeom>
          <a:solidFill>
            <a:srgbClr val="F59E0B"/>
          </a:solidFill>
        </p:spPr>
        <p:txBody>
          <a:bodyPr/>
          <a:p/>
        </p:txBody>
      </p:sp>
      <p:sp>
        <p:nvSpPr>
          <p:cNvPr id="768" name="文本框 767" descr="{&quot;isTemplate&quot;:true,&quot;type&quot;:&quot;text&quot;}"/>
          <p:cNvSpPr txBox="1"/>
          <p:nvPr/>
        </p:nvSpPr>
        <p:spPr>
          <a:xfrm>
            <a:off x="857250" y="4629150"/>
            <a:ext cx="6457950" cy="285750"/>
          </a:xfrm>
          <a:prstGeom prst="rect">
            <a:avLst/>
          </a:prstGeom>
        </p:spPr>
        <p:txBody>
          <a:bodyPr wrap="none" lIns="0" tIns="0" rIns="0" bIns="0"/>
          <a:p>
            <a:pPr>
              <a:lnSpc>
                <a:spcPct val="160000"/>
              </a:lnSpc>
            </a:pPr>
            <a:r>
              <a:rPr lang="zh-CN" sz="1165" b="1">
                <a:solidFill>
                  <a:srgbClr val="FBBF24"/>
                </a:solidFill>
                <a:latin typeface="微软雅黑" panose="020B0503020204020204" charset="-122"/>
                <a:ea typeface="微软雅黑" panose="020B0503020204020204" charset="-122"/>
              </a:rPr>
              <a:t>任务四</a:t>
            </a:r>
            <a:r>
              <a:rPr lang="en-US" sz="1165" b="1">
                <a:solidFill>
                  <a:srgbClr val="FBBF24"/>
                </a:solidFill>
                <a:latin typeface="微软雅黑" panose="020B0503020204020204" charset="-122"/>
                <a:ea typeface="微软雅黑" panose="020B0503020204020204" charset="-122"/>
              </a:rPr>
              <a:t> · </a:t>
            </a:r>
            <a:r>
              <a:rPr lang="zh-CN" sz="1165" b="1">
                <a:solidFill>
                  <a:srgbClr val="FBBF24"/>
                </a:solidFill>
                <a:latin typeface="微软雅黑" panose="020B0503020204020204" charset="-122"/>
                <a:ea typeface="微软雅黑" panose="020B0503020204020204" charset="-122"/>
              </a:rPr>
              <a:t>做计划：</a:t>
            </a:r>
            <a:r>
              <a:rPr lang="zh-CN" sz="1165">
                <a:solidFill>
                  <a:srgbClr val="E2E8F0"/>
                </a:solidFill>
                <a:latin typeface="微软雅黑" panose="020B0503020204020204" charset="-122"/>
                <a:ea typeface="微软雅黑" panose="020B0503020204020204" charset="-122"/>
              </a:rPr>
              <a:t>分解</a:t>
            </a:r>
            <a:r>
              <a:rPr lang="en-US" sz="1165">
                <a:solidFill>
                  <a:srgbClr val="E2E8F0"/>
                </a:solidFill>
                <a:latin typeface="微软雅黑" panose="020B0503020204020204" charset="-122"/>
                <a:ea typeface="微软雅黑" panose="020B0503020204020204" charset="-122"/>
              </a:rPr>
              <a:t> WBS</a:t>
            </a:r>
            <a:r>
              <a:rPr lang="zh-CN" sz="1165">
                <a:solidFill>
                  <a:srgbClr val="E2E8F0"/>
                </a:solidFill>
                <a:latin typeface="微软雅黑" panose="020B0503020204020204" charset="-122"/>
                <a:ea typeface="微软雅黑" panose="020B0503020204020204" charset="-122"/>
              </a:rPr>
              <a:t>（≥</a:t>
            </a:r>
            <a:r>
              <a:rPr lang="en-US" sz="1165">
                <a:solidFill>
                  <a:srgbClr val="E2E8F0"/>
                </a:solidFill>
                <a:latin typeface="微软雅黑" panose="020B0503020204020204" charset="-122"/>
                <a:ea typeface="微软雅黑" panose="020B0503020204020204" charset="-122"/>
              </a:rPr>
              <a:t>3 </a:t>
            </a:r>
            <a:r>
              <a:rPr lang="zh-CN" sz="1165">
                <a:solidFill>
                  <a:srgbClr val="E2E8F0"/>
                </a:solidFill>
                <a:latin typeface="微软雅黑" panose="020B0503020204020204" charset="-122"/>
                <a:ea typeface="微软雅黑" panose="020B0503020204020204" charset="-122"/>
              </a:rPr>
              <a:t>层）→</a:t>
            </a:r>
            <a:r>
              <a:rPr lang="en-US" sz="1165">
                <a:solidFill>
                  <a:srgbClr val="E2E8F0"/>
                </a:solidFill>
                <a:latin typeface="微软雅黑" panose="020B0503020204020204" charset="-122"/>
                <a:ea typeface="微软雅黑" panose="020B0503020204020204" charset="-122"/>
              </a:rPr>
              <a:t> </a:t>
            </a:r>
            <a:r>
              <a:rPr lang="zh-CN" sz="1165">
                <a:solidFill>
                  <a:srgbClr val="E2E8F0"/>
                </a:solidFill>
                <a:latin typeface="微软雅黑" panose="020B0503020204020204" charset="-122"/>
                <a:ea typeface="微软雅黑" panose="020B0503020204020204" charset="-122"/>
              </a:rPr>
              <a:t>甘特图</a:t>
            </a:r>
            <a:r>
              <a:rPr lang="en-US" sz="1165">
                <a:solidFill>
                  <a:srgbClr val="E2E8F0"/>
                </a:solidFill>
                <a:latin typeface="微软雅黑" panose="020B0503020204020204" charset="-122"/>
                <a:ea typeface="微软雅黑" panose="020B0503020204020204" charset="-122"/>
              </a:rPr>
              <a:t> / </a:t>
            </a:r>
            <a:r>
              <a:rPr lang="zh-CN" sz="1165">
                <a:solidFill>
                  <a:srgbClr val="E2E8F0"/>
                </a:solidFill>
                <a:latin typeface="微软雅黑" panose="020B0503020204020204" charset="-122"/>
                <a:ea typeface="微软雅黑" panose="020B0503020204020204" charset="-122"/>
              </a:rPr>
              <a:t>网络图</a:t>
            </a:r>
            <a:r>
              <a:rPr lang="en-US" sz="1165">
                <a:solidFill>
                  <a:srgbClr val="E2E8F0"/>
                </a:solidFill>
                <a:latin typeface="微软雅黑" panose="020B0503020204020204" charset="-122"/>
                <a:ea typeface="微软雅黑" panose="020B0503020204020204" charset="-122"/>
              </a:rPr>
              <a:t> → </a:t>
            </a:r>
            <a:r>
              <a:rPr lang="zh-CN" sz="1165">
                <a:solidFill>
                  <a:srgbClr val="E2E8F0"/>
                </a:solidFill>
                <a:latin typeface="微软雅黑" panose="020B0503020204020204" charset="-122"/>
                <a:ea typeface="微软雅黑" panose="020B0503020204020204" charset="-122"/>
              </a:rPr>
              <a:t>关键路径，写《项目计划书》初稿。</a:t>
            </a:r>
            <a:endParaRPr lang="zh-CN" sz="1165">
              <a:solidFill>
                <a:srgbClr val="E2E8F0"/>
              </a:solidFill>
              <a:latin typeface="微软雅黑" panose="020B0503020204020204" charset="-122"/>
              <a:ea typeface="微软雅黑" panose="020B0503020204020204" charset="-122"/>
            </a:endParaRPr>
          </a:p>
        </p:txBody>
      </p:sp>
      <p:sp>
        <p:nvSpPr>
          <p:cNvPr id="769" name="圆角矩形 768"/>
          <p:cNvSpPr/>
          <p:nvPr/>
        </p:nvSpPr>
        <p:spPr>
          <a:xfrm>
            <a:off x="7772400" y="2676525"/>
            <a:ext cx="3810000" cy="971550"/>
          </a:xfrm>
          <a:prstGeom prst="roundRect">
            <a:avLst>
              <a:gd name="adj" fmla="val 13725"/>
            </a:avLst>
          </a:prstGeom>
          <a:solidFill>
            <a:srgbClr val="8B5CF6">
              <a:alpha val="10000"/>
            </a:srgbClr>
          </a:solidFill>
          <a:ln w="12700">
            <a:solidFill>
              <a:srgbClr val="8B5CF6">
                <a:alpha val="50000"/>
              </a:srgbClr>
            </a:solidFill>
            <a:prstDash val="solid"/>
          </a:ln>
        </p:spPr>
        <p:txBody>
          <a:bodyPr/>
          <a:p/>
        </p:txBody>
      </p:sp>
      <p:sp>
        <p:nvSpPr>
          <p:cNvPr id="770" name="文本框 769" descr="{&quot;isTemplate&quot;:true,&quot;type&quot;:&quot;text&quot;}"/>
          <p:cNvSpPr txBox="1"/>
          <p:nvPr/>
        </p:nvSpPr>
        <p:spPr>
          <a:xfrm>
            <a:off x="8001000" y="2847975"/>
            <a:ext cx="3352800" cy="628650"/>
          </a:xfrm>
          <a:prstGeom prst="rect">
            <a:avLst/>
          </a:prstGeom>
        </p:spPr>
        <p:txBody>
          <a:bodyPr wrap="square" lIns="0" tIns="0" rIns="0" bIns="0">
            <a:normAutofit/>
          </a:bodyPr>
          <a:p>
            <a:pPr>
              <a:lnSpc>
                <a:spcPct val="175000"/>
              </a:lnSpc>
            </a:pPr>
            <a:r>
              <a:rPr lang="en-US" sz="1165" b="1">
                <a:solidFill>
                  <a:srgbClr val="C4B5FD"/>
                </a:solidFill>
                <a:latin typeface="微软雅黑" panose="020B0503020204020204" charset="-122"/>
                <a:ea typeface="微软雅黑" panose="020B0503020204020204" charset="-122"/>
              </a:rPr>
              <a:t>AI </a:t>
            </a:r>
            <a:r>
              <a:rPr lang="zh-CN" sz="1165" b="1">
                <a:solidFill>
                  <a:srgbClr val="C4B5FD"/>
                </a:solidFill>
                <a:latin typeface="微软雅黑" panose="020B0503020204020204" charset="-122"/>
                <a:ea typeface="微软雅黑" panose="020B0503020204020204" charset="-122"/>
              </a:rPr>
              <a:t>工具鼓励：</a:t>
            </a:r>
            <a:r>
              <a:rPr lang="zh-CN" sz="1165">
                <a:solidFill>
                  <a:srgbClr val="E2E8F0"/>
                </a:solidFill>
                <a:latin typeface="微软雅黑" panose="020B0503020204020204" charset="-122"/>
                <a:ea typeface="微软雅黑" panose="020B0503020204020204" charset="-122"/>
              </a:rPr>
              <a:t>可用</a:t>
            </a:r>
            <a:r>
              <a:rPr lang="en-US" sz="1165">
                <a:solidFill>
                  <a:srgbClr val="E2E8F0"/>
                </a:solidFill>
                <a:latin typeface="微软雅黑" panose="020B0503020204020204" charset="-122"/>
                <a:ea typeface="微软雅黑" panose="020B0503020204020204" charset="-122"/>
              </a:rPr>
              <a:t> AI </a:t>
            </a:r>
            <a:r>
              <a:rPr lang="zh-CN" sz="1165">
                <a:solidFill>
                  <a:srgbClr val="E2E8F0"/>
                </a:solidFill>
                <a:latin typeface="微软雅黑" panose="020B0503020204020204" charset="-122"/>
                <a:ea typeface="微软雅黑" panose="020B0503020204020204" charset="-122"/>
              </a:rPr>
              <a:t>辅助生成章程、</a:t>
            </a:r>
            <a:r>
              <a:rPr lang="en-US" sz="1165">
                <a:solidFill>
                  <a:srgbClr val="E2E8F0"/>
                </a:solidFill>
                <a:latin typeface="微软雅黑" panose="020B0503020204020204" charset="-122"/>
                <a:ea typeface="微软雅黑" panose="020B0503020204020204" charset="-122"/>
              </a:rPr>
              <a:t>WBS </a:t>
            </a:r>
            <a:r>
              <a:rPr lang="zh-CN" sz="1165">
                <a:solidFill>
                  <a:srgbClr val="E2E8F0"/>
                </a:solidFill>
                <a:latin typeface="微软雅黑" panose="020B0503020204020204" charset="-122"/>
                <a:ea typeface="微软雅黑" panose="020B0503020204020204" charset="-122"/>
              </a:rPr>
              <a:t>与计划初稿，但须人工评审并说明「人做了什么判断」。</a:t>
            </a:r>
            <a:endParaRPr lang="zh-CN" sz="1165">
              <a:solidFill>
                <a:srgbClr val="E2E8F0"/>
              </a:solidFill>
              <a:latin typeface="微软雅黑" panose="020B0503020204020204" charset="-122"/>
              <a:ea typeface="微软雅黑" panose="020B0503020204020204" charset="-122"/>
            </a:endParaRPr>
          </a:p>
        </p:txBody>
      </p:sp>
      <p:sp>
        <p:nvSpPr>
          <p:cNvPr id="771" name="圆角矩形 770"/>
          <p:cNvSpPr/>
          <p:nvPr/>
        </p:nvSpPr>
        <p:spPr>
          <a:xfrm>
            <a:off x="7772400" y="3781425"/>
            <a:ext cx="3810000" cy="819150"/>
          </a:xfrm>
          <a:prstGeom prst="roundRect">
            <a:avLst>
              <a:gd name="adj" fmla="val 13953"/>
            </a:avLst>
          </a:prstGeom>
          <a:solidFill>
            <a:srgbClr val="111B2E"/>
          </a:solidFill>
        </p:spPr>
        <p:txBody>
          <a:bodyPr/>
          <a:p/>
        </p:txBody>
      </p:sp>
      <p:sp>
        <p:nvSpPr>
          <p:cNvPr id="772" name="文本框 771" descr="{&quot;isTemplate&quot;:true,&quot;type&quot;:&quot;text&quot;}"/>
          <p:cNvSpPr txBox="1"/>
          <p:nvPr/>
        </p:nvSpPr>
        <p:spPr>
          <a:xfrm>
            <a:off x="7962900" y="3914775"/>
            <a:ext cx="3429000" cy="552450"/>
          </a:xfrm>
          <a:prstGeom prst="rect">
            <a:avLst/>
          </a:prstGeom>
        </p:spPr>
        <p:txBody>
          <a:bodyPr wrap="square" lIns="0" tIns="0" rIns="0" bIns="0">
            <a:normAutofit/>
          </a:bodyPr>
          <a:p>
            <a:pPr>
              <a:lnSpc>
                <a:spcPct val="165000"/>
              </a:lnSpc>
            </a:pPr>
            <a:r>
              <a:rPr lang="zh-CN" sz="1090" b="1">
                <a:solidFill>
                  <a:srgbClr val="22D3EE"/>
                </a:solidFill>
                <a:latin typeface="微软雅黑" panose="020B0503020204020204" charset="-122"/>
                <a:ea typeface="微软雅黑" panose="020B0503020204020204" charset="-122"/>
              </a:rPr>
              <a:t>衔接：</a:t>
            </a:r>
            <a:r>
              <a:rPr lang="zh-CN" sz="1090">
                <a:solidFill>
                  <a:srgbClr val="94A3B8"/>
                </a:solidFill>
                <a:latin typeface="微软雅黑" panose="020B0503020204020204" charset="-122"/>
                <a:ea typeface="微软雅黑" panose="020B0503020204020204" charset="-122"/>
              </a:rPr>
              <a:t>第</a:t>
            </a:r>
            <a:r>
              <a:rPr lang="en-US" sz="1090">
                <a:solidFill>
                  <a:srgbClr val="94A3B8"/>
                </a:solidFill>
                <a:latin typeface="微软雅黑" panose="020B0503020204020204" charset="-122"/>
                <a:ea typeface="微软雅黑" panose="020B0503020204020204" charset="-122"/>
              </a:rPr>
              <a:t> 5 </a:t>
            </a:r>
            <a:r>
              <a:rPr lang="zh-CN" sz="1090">
                <a:solidFill>
                  <a:srgbClr val="94A3B8"/>
                </a:solidFill>
                <a:latin typeface="微软雅黑" panose="020B0503020204020204" charset="-122"/>
                <a:ea typeface="微软雅黑" panose="020B0503020204020204" charset="-122"/>
              </a:rPr>
              <a:t>讲交《项目计划书》，并深化估算与进度管理方法。</a:t>
            </a:r>
            <a:endParaRPr lang="zh-CN" sz="1090">
              <a:solidFill>
                <a:srgbClr val="94A3B8"/>
              </a:solidFill>
              <a:latin typeface="微软雅黑" panose="020B0503020204020204" charset="-122"/>
              <a:ea typeface="微软雅黑" panose="020B0503020204020204" charset="-122"/>
            </a:endParaRPr>
          </a:p>
        </p:txBody>
      </p:sp>
      <p:sp>
        <p:nvSpPr>
          <p:cNvPr id="773" name="文本框 772" descr="{&quot;isTemplate&quot;:true,&quot;type&quot;:&quot;text&quot;}"/>
          <p:cNvSpPr txBox="1"/>
          <p:nvPr/>
        </p:nvSpPr>
        <p:spPr>
          <a:xfrm>
            <a:off x="609600" y="6400800"/>
            <a:ext cx="10001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04 </a:t>
            </a:r>
            <a:r>
              <a:rPr lang="zh-CN" sz="1050">
                <a:solidFill>
                  <a:srgbClr val="94A3B8"/>
                </a:solidFill>
                <a:latin typeface="微软雅黑" panose="020B0503020204020204" charset="-122"/>
                <a:ea typeface="微软雅黑" panose="020B0503020204020204" charset="-122"/>
              </a:rPr>
              <a:t>选题组队实践</a:t>
            </a:r>
            <a:endParaRPr lang="zh-CN" sz="1050">
              <a:solidFill>
                <a:srgbClr val="94A3B8"/>
              </a:solidFill>
              <a:latin typeface="微软雅黑" panose="020B0503020204020204" charset="-122"/>
              <a:ea typeface="微软雅黑" panose="020B0503020204020204" charset="-122"/>
            </a:endParaRPr>
          </a:p>
        </p:txBody>
      </p:sp>
      <p:sp>
        <p:nvSpPr>
          <p:cNvPr id="774" name="文本框 773"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43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775"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思考题&lt;/Text&gt;&#13;&#10;    &lt;/Box&gt;&#13;&#10;    &lt;Box style={{ flex: 1, flexDirection: 'column', gap: 16, justifyContent: 'center' }}&gt;&#13;&#10;        &lt;Box style={{ flexDirection: 'row', alignItems: 'center', gap: 18, background: '#111B2E', borderRadius: 12, padding: '18px 26px' }}&gt;&#13;&#10;            &lt;Text style={{ fontSize: 32, fontWeight: 'bold', color: 'rgba(139,92,246,0.6)' }}&gt;Q1&lt;/Text&gt;&#13;&#10;            &lt;Text style={{ flex: 1, fontSize: 17, color: '#E2E8F0', lineHeight: 1.65 }}&gt;你选了哪个课题？它最核心的「用户」是谁，成功的标准是什么？&lt;/Text&gt;&#13;&#10;        &lt;/Box&gt;&#13;&#10;        &lt;Box style={{ flexDirection: 'row', alignItems: 'center', gap: 18, background: '#111B2E', borderRadius: 12, padding: '18px 26px' }}&gt;&#13;&#10;            &lt;Text style={{ fontSize: 32, fontWeight: 'bold', color: 'rgba(34,211,238,0.6)' }}&gt;Q2&lt;/Text&gt;&#13;&#10;            &lt;Text style={{ flex: 1, fontSize: 17, color: '#E2E8F0', lineHeight: 1.65 }}&gt;你的项目章程里，哪一项约束（时间 / 资源 / 范围）最容易让计划失控？你如何预留缓冲？&lt;/Text&gt;&#13;&#10;        &lt;/Box&gt;&#13;&#10;        &lt;Box style={{ flexDirection: 'row', alignItems: 'center', gap: 18, background: 'rgba(139,92,246,0.10)', borderRadius: 12, padding: '18px 26px', border: '1px solid rgba(139,92,246,0.45)' }}&gt;&#13;&#10;            &lt;Text style={{ fontSize: 32, fontWeight: 'bold', color: 'rgba(139,92,246,0.6)' }}&gt;Q3&lt;/Text&gt;&#13;&#10;            &lt;Text style={{ flex: 1, fontSize: 17, color: '#E2E8F0', lineHeight: 1.65 }}&gt;让 AI 帮你生成章程与 WBS，最大的风险是什么？你如何确保它对项目「真的有用」而非「看起来合理」？&lt;/Text&gt;&#13;&#10;        &lt;/Box&gt;&#13;&#10;    &lt;/Box&gt;&#13;&#10;    &lt;Box style={{ height: 40, flexDirection: 'row', justifyContent: 'space-between', alignItems: 'center', marginTop: 16 }}&gt;&#13;&#10;        &lt;Text style={{ fontSize: 14, color: '#94A3B8' }}&gt;04 选题组队实践&lt;/Text&gt;&#13;&#10;        &lt;Text style={{ fontSize: 14, color: '#94A3B8' }}&gt;44 / 47&lt;/Text&gt;&#13;&#10;    &lt;/Box&gt;&#13;&#10;&lt;/Slide&gt;&#13;&#10;"/>
        <p:cNvGrpSpPr/>
        <p:nvPr/>
      </p:nvGrpSpPr>
      <p:grpSpPr>
        <a:xfrm>
          <a:off x="0" y="0"/>
          <a:ext cx="0" cy="0"/>
          <a:chOff x="0" y="0"/>
          <a:chExt cx="0" cy="0"/>
        </a:xfrm>
      </p:grpSpPr>
      <p:sp>
        <p:nvSpPr>
          <p:cNvPr id="776" name="矩形 775"/>
          <p:cNvSpPr/>
          <p:nvPr/>
        </p:nvSpPr>
        <p:spPr>
          <a:xfrm>
            <a:off x="0" y="0"/>
            <a:ext cx="12192000" cy="6858000"/>
          </a:xfrm>
          <a:prstGeom prst="rect">
            <a:avLst/>
          </a:prstGeom>
          <a:solidFill>
            <a:srgbClr val="0B1220"/>
          </a:solidFill>
        </p:spPr>
        <p:txBody>
          <a:bodyPr/>
          <a:p/>
        </p:txBody>
      </p:sp>
      <p:sp>
        <p:nvSpPr>
          <p:cNvPr id="777" name="圆角矩形 776"/>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778" name="文本框 777" descr="{&quot;isTemplate&quot;:true,&quot;type&quot;:&quot;text&quot;}"/>
          <p:cNvSpPr txBox="1"/>
          <p:nvPr/>
        </p:nvSpPr>
        <p:spPr>
          <a:xfrm>
            <a:off x="857250" y="476250"/>
            <a:ext cx="97155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思考题</a:t>
            </a:r>
            <a:endParaRPr lang="zh-CN" sz="2550" b="1">
              <a:solidFill>
                <a:srgbClr val="E2E8F0"/>
              </a:solidFill>
              <a:latin typeface="微软雅黑" panose="020B0503020204020204" charset="-122"/>
              <a:ea typeface="微软雅黑" panose="020B0503020204020204" charset="-122"/>
            </a:endParaRPr>
          </a:p>
        </p:txBody>
      </p:sp>
      <p:sp>
        <p:nvSpPr>
          <p:cNvPr id="779" name="圆角矩形 778"/>
          <p:cNvSpPr/>
          <p:nvPr/>
        </p:nvSpPr>
        <p:spPr>
          <a:xfrm>
            <a:off x="609600" y="2419350"/>
            <a:ext cx="10972800" cy="714375"/>
          </a:xfrm>
          <a:prstGeom prst="roundRect">
            <a:avLst>
              <a:gd name="adj" fmla="val 16000"/>
            </a:avLst>
          </a:prstGeom>
          <a:solidFill>
            <a:srgbClr val="111B2E"/>
          </a:solidFill>
        </p:spPr>
        <p:txBody>
          <a:bodyPr/>
          <a:p/>
        </p:txBody>
      </p:sp>
      <p:sp>
        <p:nvSpPr>
          <p:cNvPr id="780" name="文本框 779" descr="{&quot;isTemplate&quot;:true,&quot;type&quot;:&quot;text&quot;}"/>
          <p:cNvSpPr txBox="1"/>
          <p:nvPr/>
        </p:nvSpPr>
        <p:spPr>
          <a:xfrm>
            <a:off x="857250" y="2590800"/>
            <a:ext cx="438150" cy="371475"/>
          </a:xfrm>
          <a:prstGeom prst="rect">
            <a:avLst/>
          </a:prstGeom>
        </p:spPr>
        <p:txBody>
          <a:bodyPr wrap="none" lIns="0" tIns="0" rIns="0" bIns="0"/>
          <a:p>
            <a:pPr>
              <a:lnSpc>
                <a:spcPct val="100000"/>
              </a:lnSpc>
            </a:pPr>
            <a:r>
              <a:rPr lang="en-US" sz="2400" b="1">
                <a:solidFill>
                  <a:srgbClr val="8B5CF6">
                    <a:alpha val="60000"/>
                  </a:srgbClr>
                </a:solidFill>
                <a:latin typeface="微软雅黑" panose="020B0503020204020204" charset="-122"/>
                <a:ea typeface="微软雅黑" panose="020B0503020204020204" charset="-122"/>
              </a:rPr>
              <a:t>Q1</a:t>
            </a:r>
            <a:endParaRPr lang="en-US" sz="2400" b="1">
              <a:solidFill>
                <a:srgbClr val="8B5CF6">
                  <a:alpha val="60000"/>
                </a:srgbClr>
              </a:solidFill>
              <a:latin typeface="微软雅黑" panose="020B0503020204020204" charset="-122"/>
              <a:ea typeface="微软雅黑" panose="020B0503020204020204" charset="-122"/>
            </a:endParaRPr>
          </a:p>
        </p:txBody>
      </p:sp>
      <p:sp>
        <p:nvSpPr>
          <p:cNvPr id="781" name="文本框 780" descr="{&quot;isTemplate&quot;:true,&quot;type&quot;:&quot;text&quot;}"/>
          <p:cNvSpPr txBox="1"/>
          <p:nvPr/>
        </p:nvSpPr>
        <p:spPr>
          <a:xfrm>
            <a:off x="1466850" y="2619375"/>
            <a:ext cx="9867900" cy="323850"/>
          </a:xfrm>
          <a:prstGeom prst="rect">
            <a:avLst/>
          </a:prstGeom>
        </p:spPr>
        <p:txBody>
          <a:bodyPr wrap="none" lIns="0" tIns="0" rIns="0" bIns="0"/>
          <a:p>
            <a:pPr>
              <a:lnSpc>
                <a:spcPct val="165000"/>
              </a:lnSpc>
            </a:pPr>
            <a:r>
              <a:rPr lang="zh-CN" sz="1275">
                <a:solidFill>
                  <a:srgbClr val="E2E8F0"/>
                </a:solidFill>
                <a:latin typeface="微软雅黑" panose="020B0503020204020204" charset="-122"/>
                <a:ea typeface="微软雅黑" panose="020B0503020204020204" charset="-122"/>
              </a:rPr>
              <a:t>你选了哪个课题？它最核心的「用户」是谁，成功的标准是什么？</a:t>
            </a:r>
            <a:endParaRPr lang="zh-CN" sz="1275">
              <a:solidFill>
                <a:srgbClr val="E2E8F0"/>
              </a:solidFill>
              <a:latin typeface="微软雅黑" panose="020B0503020204020204" charset="-122"/>
              <a:ea typeface="微软雅黑" panose="020B0503020204020204" charset="-122"/>
            </a:endParaRPr>
          </a:p>
        </p:txBody>
      </p:sp>
      <p:sp>
        <p:nvSpPr>
          <p:cNvPr id="782" name="圆角矩形 781"/>
          <p:cNvSpPr/>
          <p:nvPr/>
        </p:nvSpPr>
        <p:spPr>
          <a:xfrm>
            <a:off x="609600" y="3286125"/>
            <a:ext cx="10972800" cy="714375"/>
          </a:xfrm>
          <a:prstGeom prst="roundRect">
            <a:avLst>
              <a:gd name="adj" fmla="val 16000"/>
            </a:avLst>
          </a:prstGeom>
          <a:solidFill>
            <a:srgbClr val="111B2E"/>
          </a:solidFill>
        </p:spPr>
        <p:txBody>
          <a:bodyPr/>
          <a:p/>
        </p:txBody>
      </p:sp>
      <p:sp>
        <p:nvSpPr>
          <p:cNvPr id="783" name="文本框 782" descr="{&quot;isTemplate&quot;:true,&quot;type&quot;:&quot;text&quot;}"/>
          <p:cNvSpPr txBox="1"/>
          <p:nvPr/>
        </p:nvSpPr>
        <p:spPr>
          <a:xfrm>
            <a:off x="857250" y="3457575"/>
            <a:ext cx="438150" cy="371475"/>
          </a:xfrm>
          <a:prstGeom prst="rect">
            <a:avLst/>
          </a:prstGeom>
        </p:spPr>
        <p:txBody>
          <a:bodyPr wrap="none" lIns="0" tIns="0" rIns="0" bIns="0"/>
          <a:p>
            <a:pPr>
              <a:lnSpc>
                <a:spcPct val="100000"/>
              </a:lnSpc>
            </a:pPr>
            <a:r>
              <a:rPr lang="en-US" sz="2400" b="1">
                <a:solidFill>
                  <a:srgbClr val="22D3EE">
                    <a:alpha val="60000"/>
                  </a:srgbClr>
                </a:solidFill>
                <a:latin typeface="微软雅黑" panose="020B0503020204020204" charset="-122"/>
                <a:ea typeface="微软雅黑" panose="020B0503020204020204" charset="-122"/>
              </a:rPr>
              <a:t>Q2</a:t>
            </a:r>
            <a:endParaRPr lang="en-US" sz="2400" b="1">
              <a:solidFill>
                <a:srgbClr val="22D3EE">
                  <a:alpha val="60000"/>
                </a:srgbClr>
              </a:solidFill>
              <a:latin typeface="微软雅黑" panose="020B0503020204020204" charset="-122"/>
              <a:ea typeface="微软雅黑" panose="020B0503020204020204" charset="-122"/>
            </a:endParaRPr>
          </a:p>
        </p:txBody>
      </p:sp>
      <p:sp>
        <p:nvSpPr>
          <p:cNvPr id="784" name="文本框 783" descr="{&quot;isTemplate&quot;:true,&quot;type&quot;:&quot;text&quot;}"/>
          <p:cNvSpPr txBox="1"/>
          <p:nvPr/>
        </p:nvSpPr>
        <p:spPr>
          <a:xfrm>
            <a:off x="1466850" y="3486150"/>
            <a:ext cx="9867900" cy="323850"/>
          </a:xfrm>
          <a:prstGeom prst="rect">
            <a:avLst/>
          </a:prstGeom>
        </p:spPr>
        <p:txBody>
          <a:bodyPr wrap="none" lIns="0" tIns="0" rIns="0" bIns="0"/>
          <a:p>
            <a:pPr>
              <a:lnSpc>
                <a:spcPct val="165000"/>
              </a:lnSpc>
            </a:pPr>
            <a:r>
              <a:rPr lang="zh-CN" sz="1275">
                <a:solidFill>
                  <a:srgbClr val="E2E8F0"/>
                </a:solidFill>
                <a:latin typeface="微软雅黑" panose="020B0503020204020204" charset="-122"/>
                <a:ea typeface="微软雅黑" panose="020B0503020204020204" charset="-122"/>
              </a:rPr>
              <a:t>你的项目章程里，哪一项约束（时间</a:t>
            </a:r>
            <a:r>
              <a:rPr lang="en-US" sz="1275">
                <a:solidFill>
                  <a:srgbClr val="E2E8F0"/>
                </a:solidFill>
                <a:latin typeface="微软雅黑" panose="020B0503020204020204" charset="-122"/>
                <a:ea typeface="微软雅黑" panose="020B0503020204020204" charset="-122"/>
              </a:rPr>
              <a:t> / </a:t>
            </a:r>
            <a:r>
              <a:rPr lang="zh-CN" sz="1275">
                <a:solidFill>
                  <a:srgbClr val="E2E8F0"/>
                </a:solidFill>
                <a:latin typeface="微软雅黑" panose="020B0503020204020204" charset="-122"/>
                <a:ea typeface="微软雅黑" panose="020B0503020204020204" charset="-122"/>
              </a:rPr>
              <a:t>资源</a:t>
            </a:r>
            <a:r>
              <a:rPr lang="en-US" sz="1275">
                <a:solidFill>
                  <a:srgbClr val="E2E8F0"/>
                </a:solidFill>
                <a:latin typeface="微软雅黑" panose="020B0503020204020204" charset="-122"/>
                <a:ea typeface="微软雅黑" panose="020B0503020204020204" charset="-122"/>
              </a:rPr>
              <a:t> / </a:t>
            </a:r>
            <a:r>
              <a:rPr lang="zh-CN" sz="1275">
                <a:solidFill>
                  <a:srgbClr val="E2E8F0"/>
                </a:solidFill>
                <a:latin typeface="微软雅黑" panose="020B0503020204020204" charset="-122"/>
                <a:ea typeface="微软雅黑" panose="020B0503020204020204" charset="-122"/>
              </a:rPr>
              <a:t>范围）最容易让计划失控？你如何预留缓冲？</a:t>
            </a:r>
            <a:endParaRPr lang="zh-CN" sz="1275">
              <a:solidFill>
                <a:srgbClr val="E2E8F0"/>
              </a:solidFill>
              <a:latin typeface="微软雅黑" panose="020B0503020204020204" charset="-122"/>
              <a:ea typeface="微软雅黑" panose="020B0503020204020204" charset="-122"/>
            </a:endParaRPr>
          </a:p>
        </p:txBody>
      </p:sp>
      <p:sp>
        <p:nvSpPr>
          <p:cNvPr id="785" name="圆角矩形 784"/>
          <p:cNvSpPr/>
          <p:nvPr/>
        </p:nvSpPr>
        <p:spPr>
          <a:xfrm>
            <a:off x="609600" y="4152900"/>
            <a:ext cx="10972800" cy="714375"/>
          </a:xfrm>
          <a:prstGeom prst="roundRect">
            <a:avLst>
              <a:gd name="adj" fmla="val 16000"/>
            </a:avLst>
          </a:prstGeom>
          <a:solidFill>
            <a:srgbClr val="8B5CF6">
              <a:alpha val="10000"/>
            </a:srgbClr>
          </a:solidFill>
          <a:ln w="12700">
            <a:solidFill>
              <a:srgbClr val="8B5CF6">
                <a:alpha val="45000"/>
              </a:srgbClr>
            </a:solidFill>
            <a:prstDash val="solid"/>
          </a:ln>
        </p:spPr>
        <p:txBody>
          <a:bodyPr/>
          <a:p/>
        </p:txBody>
      </p:sp>
      <p:sp>
        <p:nvSpPr>
          <p:cNvPr id="786" name="文本框 785" descr="{&quot;isTemplate&quot;:true,&quot;type&quot;:&quot;text&quot;}"/>
          <p:cNvSpPr txBox="1"/>
          <p:nvPr/>
        </p:nvSpPr>
        <p:spPr>
          <a:xfrm>
            <a:off x="857250" y="4324350"/>
            <a:ext cx="438150" cy="371475"/>
          </a:xfrm>
          <a:prstGeom prst="rect">
            <a:avLst/>
          </a:prstGeom>
        </p:spPr>
        <p:txBody>
          <a:bodyPr wrap="none" lIns="0" tIns="0" rIns="0" bIns="0"/>
          <a:p>
            <a:pPr>
              <a:lnSpc>
                <a:spcPct val="100000"/>
              </a:lnSpc>
            </a:pPr>
            <a:r>
              <a:rPr lang="en-US" sz="2400" b="1">
                <a:solidFill>
                  <a:srgbClr val="8B5CF6">
                    <a:alpha val="60000"/>
                  </a:srgbClr>
                </a:solidFill>
                <a:latin typeface="微软雅黑" panose="020B0503020204020204" charset="-122"/>
                <a:ea typeface="微软雅黑" panose="020B0503020204020204" charset="-122"/>
              </a:rPr>
              <a:t>Q3</a:t>
            </a:r>
            <a:endParaRPr lang="en-US" sz="2400" b="1">
              <a:solidFill>
                <a:srgbClr val="8B5CF6">
                  <a:alpha val="60000"/>
                </a:srgbClr>
              </a:solidFill>
              <a:latin typeface="微软雅黑" panose="020B0503020204020204" charset="-122"/>
              <a:ea typeface="微软雅黑" panose="020B0503020204020204" charset="-122"/>
            </a:endParaRPr>
          </a:p>
        </p:txBody>
      </p:sp>
      <p:sp>
        <p:nvSpPr>
          <p:cNvPr id="787" name="文本框 786" descr="{&quot;isTemplate&quot;:true,&quot;type&quot;:&quot;text&quot;}"/>
          <p:cNvSpPr txBox="1"/>
          <p:nvPr/>
        </p:nvSpPr>
        <p:spPr>
          <a:xfrm>
            <a:off x="1466850" y="4352925"/>
            <a:ext cx="9867900" cy="323850"/>
          </a:xfrm>
          <a:prstGeom prst="rect">
            <a:avLst/>
          </a:prstGeom>
        </p:spPr>
        <p:txBody>
          <a:bodyPr wrap="none" lIns="0" tIns="0" rIns="0" bIns="0"/>
          <a:p>
            <a:pPr>
              <a:lnSpc>
                <a:spcPct val="165000"/>
              </a:lnSpc>
            </a:pPr>
            <a:r>
              <a:rPr lang="zh-CN" sz="1275">
                <a:solidFill>
                  <a:srgbClr val="E2E8F0"/>
                </a:solidFill>
                <a:latin typeface="微软雅黑" panose="020B0503020204020204" charset="-122"/>
                <a:ea typeface="微软雅黑" panose="020B0503020204020204" charset="-122"/>
              </a:rPr>
              <a:t>让</a:t>
            </a:r>
            <a:r>
              <a:rPr lang="en-US" sz="1275">
                <a:solidFill>
                  <a:srgbClr val="E2E8F0"/>
                </a:solidFill>
                <a:latin typeface="微软雅黑" panose="020B0503020204020204" charset="-122"/>
                <a:ea typeface="微软雅黑" panose="020B0503020204020204" charset="-122"/>
              </a:rPr>
              <a:t> AI </a:t>
            </a:r>
            <a:r>
              <a:rPr lang="zh-CN" sz="1275">
                <a:solidFill>
                  <a:srgbClr val="E2E8F0"/>
                </a:solidFill>
                <a:latin typeface="微软雅黑" panose="020B0503020204020204" charset="-122"/>
                <a:ea typeface="微软雅黑" panose="020B0503020204020204" charset="-122"/>
              </a:rPr>
              <a:t>帮你生成章程与</a:t>
            </a:r>
            <a:r>
              <a:rPr lang="en-US" sz="1275">
                <a:solidFill>
                  <a:srgbClr val="E2E8F0"/>
                </a:solidFill>
                <a:latin typeface="微软雅黑" panose="020B0503020204020204" charset="-122"/>
                <a:ea typeface="微软雅黑" panose="020B0503020204020204" charset="-122"/>
              </a:rPr>
              <a:t> WBS</a:t>
            </a:r>
            <a:r>
              <a:rPr lang="zh-CN" sz="1275">
                <a:solidFill>
                  <a:srgbClr val="E2E8F0"/>
                </a:solidFill>
                <a:latin typeface="微软雅黑" panose="020B0503020204020204" charset="-122"/>
                <a:ea typeface="微软雅黑" panose="020B0503020204020204" charset="-122"/>
              </a:rPr>
              <a:t>，最大的风险是什么？你如何确保它对项目「真的有用」而非「看起来合理」？</a:t>
            </a:r>
            <a:endParaRPr lang="zh-CN" sz="1275">
              <a:solidFill>
                <a:srgbClr val="E2E8F0"/>
              </a:solidFill>
              <a:latin typeface="微软雅黑" panose="020B0503020204020204" charset="-122"/>
              <a:ea typeface="微软雅黑" panose="020B0503020204020204" charset="-122"/>
            </a:endParaRPr>
          </a:p>
        </p:txBody>
      </p:sp>
      <p:sp>
        <p:nvSpPr>
          <p:cNvPr id="788" name="文本框 787" descr="{&quot;isTemplate&quot;:true,&quot;type&quot;:&quot;text&quot;}"/>
          <p:cNvSpPr txBox="1"/>
          <p:nvPr/>
        </p:nvSpPr>
        <p:spPr>
          <a:xfrm>
            <a:off x="609600" y="6400800"/>
            <a:ext cx="1000125"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04 </a:t>
            </a:r>
            <a:r>
              <a:rPr lang="zh-CN" sz="1050">
                <a:solidFill>
                  <a:srgbClr val="94A3B8"/>
                </a:solidFill>
                <a:latin typeface="微软雅黑" panose="020B0503020204020204" charset="-122"/>
                <a:ea typeface="微软雅黑" panose="020B0503020204020204" charset="-122"/>
              </a:rPr>
              <a:t>选题组队实践</a:t>
            </a:r>
            <a:endParaRPr lang="zh-CN" sz="1050">
              <a:solidFill>
                <a:srgbClr val="94A3B8"/>
              </a:solidFill>
              <a:latin typeface="微软雅黑" panose="020B0503020204020204" charset="-122"/>
              <a:ea typeface="微软雅黑" panose="020B0503020204020204" charset="-122"/>
            </a:endParaRPr>
          </a:p>
        </p:txBody>
      </p:sp>
      <p:sp>
        <p:nvSpPr>
          <p:cNvPr id="789" name="文本框 788"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44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790"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下讲预告&lt;/Text&gt;&#13;&#10;    &lt;/Box&gt;&#13;&#10;    &lt;Box style={{ flex: 1, justifyContent: 'center', alignItems: 'center' }}&gt;&#13;&#10;        &lt;Text style={{ fontSize: 20, color: '#22D3EE', letterSpacing: 4, marginBottom: 26 }}&gt;NEXT LECTURE&lt;/Text&gt;&#13;&#10;        &lt;Text style={{ fontSize: 52, fontWeight: 'bold', color: '#E2E8F0' }}&gt;第 5 讲 · 项目估算与进度管理&lt;/Text&gt;&#13;&#10;        &lt;Box style={{ width: 70, height: 4, background: 'linear-gradient(90deg, #3B82F6 0%, #22D3EE 100%)', borderRadius: 2, margin: '30px 0' }} /&gt;&#13;&#10;        &lt;Text style={{ fontSize: 20, color: '#94A3B8', textAlign: 'center', lineHeight: 1.8 }}&gt;项目预估方法 · 进度编排与优化 · 里程碑设置&lt;br /&gt;—— 提交《项目计划书》&lt;/Text&gt;&#13;&#10;    &lt;/Box&gt;&#13;&#10;    &lt;Box style={{ height: 40, flexDirection: 'row', justifyContent: 'space-between', alignItems: 'center', marginTop: 16 }}&gt;&#13;&#10;        &lt;Text style={{ fontSize: 14, color: '#94A3B8' }}&gt;课程总览&lt;/Text&gt;&#13;&#10;        &lt;Text style={{ fontSize: 14, color: '#94A3B8' }}&gt;45 / 47&lt;/Text&gt;&#13;&#10;    &lt;/Box&gt;&#13;&#10;&lt;/Slide&gt;&#13;&#10;"/>
        <p:cNvGrpSpPr/>
        <p:nvPr/>
      </p:nvGrpSpPr>
      <p:grpSpPr>
        <a:xfrm>
          <a:off x="0" y="0"/>
          <a:ext cx="0" cy="0"/>
          <a:chOff x="0" y="0"/>
          <a:chExt cx="0" cy="0"/>
        </a:xfrm>
      </p:grpSpPr>
      <p:sp>
        <p:nvSpPr>
          <p:cNvPr id="791" name="矩形 790"/>
          <p:cNvSpPr/>
          <p:nvPr/>
        </p:nvSpPr>
        <p:spPr>
          <a:xfrm>
            <a:off x="0" y="0"/>
            <a:ext cx="12192000" cy="6858000"/>
          </a:xfrm>
          <a:prstGeom prst="rect">
            <a:avLst/>
          </a:prstGeom>
          <a:solidFill>
            <a:srgbClr val="0B1220"/>
          </a:solidFill>
        </p:spPr>
        <p:txBody>
          <a:bodyPr/>
          <a:p/>
        </p:txBody>
      </p:sp>
      <p:sp>
        <p:nvSpPr>
          <p:cNvPr id="792" name="圆角矩形 791"/>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793" name="文本框 792" descr="{&quot;isTemplate&quot;:true,&quot;type&quot;:&quot;text&quot;}"/>
          <p:cNvSpPr txBox="1"/>
          <p:nvPr/>
        </p:nvSpPr>
        <p:spPr>
          <a:xfrm>
            <a:off x="857250" y="476250"/>
            <a:ext cx="12954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下讲预告</a:t>
            </a:r>
            <a:endParaRPr lang="zh-CN" sz="2550" b="1">
              <a:solidFill>
                <a:srgbClr val="E2E8F0"/>
              </a:solidFill>
              <a:latin typeface="微软雅黑" panose="020B0503020204020204" charset="-122"/>
              <a:ea typeface="微软雅黑" panose="020B0503020204020204" charset="-122"/>
            </a:endParaRPr>
          </a:p>
        </p:txBody>
      </p:sp>
      <p:sp>
        <p:nvSpPr>
          <p:cNvPr id="794" name="文本框 793" descr="{&quot;isTemplate&quot;:true,&quot;type&quot;:&quot;text&quot;}"/>
          <p:cNvSpPr txBox="1"/>
          <p:nvPr/>
        </p:nvSpPr>
        <p:spPr>
          <a:xfrm>
            <a:off x="5191125" y="2381250"/>
            <a:ext cx="1819275" cy="228600"/>
          </a:xfrm>
          <a:prstGeom prst="rect">
            <a:avLst/>
          </a:prstGeom>
        </p:spPr>
        <p:txBody>
          <a:bodyPr wrap="none" lIns="0" tIns="0" rIns="0" bIns="0"/>
          <a:p>
            <a:pPr>
              <a:lnSpc>
                <a:spcPct val="100000"/>
              </a:lnSpc>
            </a:pPr>
            <a:r>
              <a:rPr lang="en-US" sz="1500" spc="300">
                <a:solidFill>
                  <a:srgbClr val="22D3EE"/>
                </a:solidFill>
                <a:latin typeface="微软雅黑" panose="020B0503020204020204" charset="-122"/>
                <a:ea typeface="微软雅黑" panose="020B0503020204020204" charset="-122"/>
              </a:rPr>
              <a:t>NEXT LECTURE</a:t>
            </a:r>
            <a:endParaRPr lang="en-US" sz="1500" spc="300">
              <a:solidFill>
                <a:srgbClr val="22D3EE"/>
              </a:solidFill>
              <a:latin typeface="微软雅黑" panose="020B0503020204020204" charset="-122"/>
              <a:ea typeface="微软雅黑" panose="020B0503020204020204" charset="-122"/>
            </a:endParaRPr>
          </a:p>
        </p:txBody>
      </p:sp>
      <p:sp>
        <p:nvSpPr>
          <p:cNvPr id="795" name="文本框 794" descr="{&quot;isTemplate&quot;:true,&quot;type&quot;:&quot;text&quot;}"/>
          <p:cNvSpPr txBox="1"/>
          <p:nvPr/>
        </p:nvSpPr>
        <p:spPr>
          <a:xfrm>
            <a:off x="2819400" y="2857500"/>
            <a:ext cx="6562725" cy="600075"/>
          </a:xfrm>
          <a:prstGeom prst="rect">
            <a:avLst/>
          </a:prstGeom>
        </p:spPr>
        <p:txBody>
          <a:bodyPr wrap="none" lIns="0" tIns="0" rIns="0" bIns="0"/>
          <a:p>
            <a:pPr>
              <a:lnSpc>
                <a:spcPct val="100000"/>
              </a:lnSpc>
            </a:pPr>
            <a:r>
              <a:rPr lang="zh-CN" sz="3900" b="1">
                <a:solidFill>
                  <a:srgbClr val="E2E8F0"/>
                </a:solidFill>
                <a:latin typeface="微软雅黑" panose="020B0503020204020204" charset="-122"/>
                <a:ea typeface="微软雅黑" panose="020B0503020204020204" charset="-122"/>
              </a:rPr>
              <a:t>第</a:t>
            </a:r>
            <a:r>
              <a:rPr lang="en-US" sz="3900" b="1">
                <a:solidFill>
                  <a:srgbClr val="E2E8F0"/>
                </a:solidFill>
                <a:latin typeface="微软雅黑" panose="020B0503020204020204" charset="-122"/>
                <a:ea typeface="微软雅黑" panose="020B0503020204020204" charset="-122"/>
              </a:rPr>
              <a:t> 5 </a:t>
            </a:r>
            <a:r>
              <a:rPr lang="zh-CN" sz="3900" b="1">
                <a:solidFill>
                  <a:srgbClr val="E2E8F0"/>
                </a:solidFill>
                <a:latin typeface="微软雅黑" panose="020B0503020204020204" charset="-122"/>
                <a:ea typeface="微软雅黑" panose="020B0503020204020204" charset="-122"/>
              </a:rPr>
              <a:t>讲</a:t>
            </a:r>
            <a:r>
              <a:rPr lang="en-US" sz="3900" b="1">
                <a:solidFill>
                  <a:srgbClr val="E2E8F0"/>
                </a:solidFill>
                <a:latin typeface="微软雅黑" panose="020B0503020204020204" charset="-122"/>
                <a:ea typeface="微软雅黑" panose="020B0503020204020204" charset="-122"/>
              </a:rPr>
              <a:t> · </a:t>
            </a:r>
            <a:r>
              <a:rPr lang="zh-CN" sz="3900" b="1">
                <a:solidFill>
                  <a:srgbClr val="E2E8F0"/>
                </a:solidFill>
                <a:latin typeface="微软雅黑" panose="020B0503020204020204" charset="-122"/>
                <a:ea typeface="微软雅黑" panose="020B0503020204020204" charset="-122"/>
              </a:rPr>
              <a:t>项目估算与进度管理</a:t>
            </a:r>
            <a:endParaRPr lang="zh-CN" sz="3900" b="1">
              <a:solidFill>
                <a:srgbClr val="E2E8F0"/>
              </a:solidFill>
              <a:latin typeface="微软雅黑" panose="020B0503020204020204" charset="-122"/>
              <a:ea typeface="微软雅黑" panose="020B0503020204020204" charset="-122"/>
            </a:endParaRPr>
          </a:p>
        </p:txBody>
      </p:sp>
      <p:sp>
        <p:nvSpPr>
          <p:cNvPr id="796" name="圆角矩形 795"/>
          <p:cNvSpPr/>
          <p:nvPr/>
        </p:nvSpPr>
        <p:spPr>
          <a:xfrm>
            <a:off x="5762625" y="3743325"/>
            <a:ext cx="666750" cy="38100"/>
          </a:xfrm>
          <a:prstGeom prst="roundRect">
            <a:avLst>
              <a:gd name="adj" fmla="val 50000"/>
            </a:avLst>
          </a:prstGeom>
          <a:gradFill>
            <a:gsLst>
              <a:gs pos="0">
                <a:srgbClr val="3B82F6"/>
              </a:gs>
              <a:gs pos="100000">
                <a:srgbClr val="22D3EE"/>
              </a:gs>
            </a:gsLst>
            <a:lin ang="0" scaled="1"/>
          </a:gradFill>
        </p:spPr>
        <p:txBody>
          <a:bodyPr/>
          <a:p/>
        </p:txBody>
      </p:sp>
      <p:sp>
        <p:nvSpPr>
          <p:cNvPr id="797" name="文本框 796" descr="{&quot;isTemplate&quot;:true,&quot;type&quot;:&quot;text&quot;}"/>
          <p:cNvSpPr txBox="1"/>
          <p:nvPr/>
        </p:nvSpPr>
        <p:spPr>
          <a:xfrm>
            <a:off x="4219575" y="4067175"/>
            <a:ext cx="3752850" cy="828675"/>
          </a:xfrm>
          <a:prstGeom prst="rect">
            <a:avLst/>
          </a:prstGeom>
        </p:spPr>
        <p:txBody>
          <a:bodyPr wrap="none" lIns="0" tIns="0" rIns="0" bIns="0"/>
          <a:p>
            <a:pPr algn="ctr">
              <a:lnSpc>
                <a:spcPct val="180000"/>
              </a:lnSpc>
            </a:pPr>
            <a:r>
              <a:rPr lang="zh-CN" sz="1500">
                <a:solidFill>
                  <a:srgbClr val="94A3B8"/>
                </a:solidFill>
                <a:latin typeface="微软雅黑" panose="020B0503020204020204" charset="-122"/>
                <a:ea typeface="微软雅黑" panose="020B0503020204020204" charset="-122"/>
              </a:rPr>
              <a:t>项目预估方法</a:t>
            </a:r>
            <a:r>
              <a:rPr lang="en-US" sz="1500">
                <a:solidFill>
                  <a:srgbClr val="94A3B8"/>
                </a:solidFill>
                <a:latin typeface="微软雅黑" panose="020B0503020204020204" charset="-122"/>
                <a:ea typeface="微软雅黑" panose="020B0503020204020204" charset="-122"/>
              </a:rPr>
              <a:t> · </a:t>
            </a:r>
            <a:r>
              <a:rPr lang="zh-CN" sz="1500">
                <a:solidFill>
                  <a:srgbClr val="94A3B8"/>
                </a:solidFill>
                <a:latin typeface="微软雅黑" panose="020B0503020204020204" charset="-122"/>
                <a:ea typeface="微软雅黑" panose="020B0503020204020204" charset="-122"/>
              </a:rPr>
              <a:t>进度编排与优化</a:t>
            </a:r>
            <a:r>
              <a:rPr lang="en-US" sz="1500">
                <a:solidFill>
                  <a:srgbClr val="94A3B8"/>
                </a:solidFill>
                <a:latin typeface="微软雅黑" panose="020B0503020204020204" charset="-122"/>
                <a:ea typeface="微软雅黑" panose="020B0503020204020204" charset="-122"/>
              </a:rPr>
              <a:t> · </a:t>
            </a:r>
            <a:r>
              <a:rPr lang="zh-CN" sz="1500">
                <a:solidFill>
                  <a:srgbClr val="94A3B8"/>
                </a:solidFill>
                <a:latin typeface="微软雅黑" panose="020B0503020204020204" charset="-122"/>
                <a:ea typeface="微软雅黑" panose="020B0503020204020204" charset="-122"/>
              </a:rPr>
              <a:t>里程碑设置</a:t>
            </a:r>
            <a:endParaRPr lang="zh-CN" sz="1500">
              <a:solidFill>
                <a:srgbClr val="94A3B8"/>
              </a:solidFill>
              <a:latin typeface="微软雅黑" panose="020B0503020204020204" charset="-122"/>
              <a:ea typeface="微软雅黑" panose="020B0503020204020204" charset="-122"/>
            </a:endParaRPr>
          </a:p>
          <a:p>
            <a:pPr algn="ctr">
              <a:lnSpc>
                <a:spcPct val="180000"/>
              </a:lnSpc>
            </a:pPr>
            <a:r>
              <a:rPr lang="en-US" sz="1500">
                <a:solidFill>
                  <a:srgbClr val="94A3B8"/>
                </a:solidFill>
                <a:latin typeface="微软雅黑" panose="020B0503020204020204" charset="-122"/>
                <a:ea typeface="微软雅黑" panose="020B0503020204020204" charset="-122"/>
              </a:rPr>
              <a:t>—— </a:t>
            </a:r>
            <a:r>
              <a:rPr lang="zh-CN" sz="1500">
                <a:solidFill>
                  <a:srgbClr val="94A3B8"/>
                </a:solidFill>
                <a:latin typeface="微软雅黑" panose="020B0503020204020204" charset="-122"/>
                <a:ea typeface="微软雅黑" panose="020B0503020204020204" charset="-122"/>
              </a:rPr>
              <a:t>提交《项目计划书》</a:t>
            </a:r>
            <a:endParaRPr lang="zh-CN" sz="1500">
              <a:solidFill>
                <a:srgbClr val="94A3B8"/>
              </a:solidFill>
              <a:latin typeface="微软雅黑" panose="020B0503020204020204" charset="-122"/>
              <a:ea typeface="微软雅黑" panose="020B0503020204020204" charset="-122"/>
            </a:endParaRPr>
          </a:p>
        </p:txBody>
      </p:sp>
      <p:sp>
        <p:nvSpPr>
          <p:cNvPr id="798" name="文本框 797" descr="{&quot;isTemplate&quot;:true,&quot;type&quot;:&quot;text&quot;}"/>
          <p:cNvSpPr txBox="1"/>
          <p:nvPr/>
        </p:nvSpPr>
        <p:spPr>
          <a:xfrm>
            <a:off x="609600" y="6400800"/>
            <a:ext cx="533400" cy="161925"/>
          </a:xfrm>
          <a:prstGeom prst="rect">
            <a:avLst/>
          </a:prstGeom>
        </p:spPr>
        <p:txBody>
          <a:bodyPr wrap="none" lIns="0" tIns="0" rIns="0" bIns="0"/>
          <a:p>
            <a:pPr>
              <a:lnSpc>
                <a:spcPct val="100000"/>
              </a:lnSpc>
            </a:pPr>
            <a:r>
              <a:rPr lang="zh-CN" sz="1050">
                <a:solidFill>
                  <a:srgbClr val="94A3B8"/>
                </a:solidFill>
                <a:latin typeface="微软雅黑" panose="020B0503020204020204" charset="-122"/>
                <a:ea typeface="微软雅黑" panose="020B0503020204020204" charset="-122"/>
              </a:rPr>
              <a:t>课程总览</a:t>
            </a:r>
            <a:endParaRPr lang="zh-CN" sz="1050">
              <a:solidFill>
                <a:srgbClr val="94A3B8"/>
              </a:solidFill>
              <a:latin typeface="微软雅黑" panose="020B0503020204020204" charset="-122"/>
              <a:ea typeface="微软雅黑" panose="020B0503020204020204" charset="-122"/>
            </a:endParaRPr>
          </a:p>
        </p:txBody>
      </p:sp>
      <p:sp>
        <p:nvSpPr>
          <p:cNvPr id="799" name="文本框 798"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45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800" name="" descr="&lt;Slide style={{ width: 1280, height: 720, background: '#0B1220', position: 'relative', overflow: 'hidden' }}&gt;&#13;&#10;    &lt;Image src=&quot;assets/end_bg.png&quot; style={{ position: 'absolute', top: 0, left: 0, width: 1280, height: 720, objectFit: 'cover', clipPath: 'inset(0 0 11% 0)' }} /&gt;&#13;&#10;    &lt;Box style={{ position: 'absolute', top: 0, left: 0, width: 1280, height: 720, background: 'linear-gradient(180deg, rgba(11,18,32,0.5) 0%, rgba(11,18,32,0.78) 100%)' }} /&gt;&#13;&#10;    &lt;Box style={{ position: 'absolute', left: 0, top: 250, width: 1280, alignItems: 'center' }}&gt;&#13;&#10;        &lt;Text style={{ fontSize: 72, fontWeight: 'bold', color: '#E2E8F0' }}&gt;谢谢！&lt;/Text&gt;&#13;&#10;        &lt;Text style={{ fontSize: 24, color: '#94A3B8', marginTop: 26, letterSpacing: 2 }}&gt;好的计划，是成功的一半&lt;/Text&gt;&#13;&#10;        &lt;Box style={{ width: 70, height: 4, background: 'linear-gradient(90deg, #3B82F6 0%, #22D3EE 100%)', borderRadius: 2, marginTop: 34 }} /&gt;&#13;&#10;        &lt;Text style={{ fontSize: 18, color: '#94A3B8', marginTop: 30 }}&gt;邵健 · 浙江大学计算机科学与技术学院 · jshao@zju.edu.cn&lt;/Text&gt;&#13;&#10;    &lt;/Box&gt;&#13;&#10;&lt;/Slide&gt;&#13;&#10;"/>
        <p:cNvGrpSpPr/>
        <p:nvPr/>
      </p:nvGrpSpPr>
      <p:grpSpPr>
        <a:xfrm>
          <a:off x="0" y="0"/>
          <a:ext cx="0" cy="0"/>
          <a:chOff x="0" y="0"/>
          <a:chExt cx="0" cy="0"/>
        </a:xfrm>
      </p:grpSpPr>
      <p:sp>
        <p:nvSpPr>
          <p:cNvPr id="801" name="矩形 800"/>
          <p:cNvSpPr/>
          <p:nvPr/>
        </p:nvSpPr>
        <p:spPr>
          <a:xfrm>
            <a:off x="0" y="0"/>
            <a:ext cx="12192000" cy="6858000"/>
          </a:xfrm>
          <a:prstGeom prst="rect">
            <a:avLst/>
          </a:prstGeom>
          <a:solidFill>
            <a:srgbClr val="0B1220"/>
          </a:solidFill>
        </p:spPr>
        <p:txBody>
          <a:bodyPr/>
          <a:p/>
        </p:txBody>
      </p:sp>
      <p:pic>
        <p:nvPicPr>
          <p:cNvPr id="802" name="图片 801"/>
          <p:cNvPicPr>
            <a:picLocks noChangeAspect="1"/>
          </p:cNvPicPr>
          <p:nvPr/>
        </p:nvPicPr>
        <p:blipFill>
          <a:blip r:embed="rId1"/>
          <a:srcRect t="7812" b="7812"/>
          <a:stretch>
            <a:fillRect/>
          </a:stretch>
        </p:blipFill>
        <p:spPr>
          <a:xfrm>
            <a:off x="0" y="0"/>
            <a:ext cx="12192000" cy="6858000"/>
          </a:xfrm>
          <a:custGeom>
            <a:avLst/>
            <a:gdLst/>
            <a:ahLst/>
            <a:cxnLst/>
            <a:pathLst>
              <a:path w="1280" h="720">
                <a:moveTo>
                  <a:pt x="0" y="0"/>
                </a:moveTo>
                <a:lnTo>
                  <a:pt x="1280" y="0"/>
                </a:lnTo>
                <a:lnTo>
                  <a:pt x="1280" y="641"/>
                </a:lnTo>
                <a:lnTo>
                  <a:pt x="0" y="641"/>
                </a:lnTo>
                <a:close/>
              </a:path>
            </a:pathLst>
          </a:custGeom>
        </p:spPr>
      </p:pic>
      <p:sp>
        <p:nvSpPr>
          <p:cNvPr id="803" name="矩形 802"/>
          <p:cNvSpPr/>
          <p:nvPr/>
        </p:nvSpPr>
        <p:spPr>
          <a:xfrm>
            <a:off x="0" y="0"/>
            <a:ext cx="12192000" cy="6858000"/>
          </a:xfrm>
          <a:prstGeom prst="rect">
            <a:avLst/>
          </a:prstGeom>
          <a:gradFill>
            <a:gsLst>
              <a:gs pos="0">
                <a:srgbClr val="0B1220">
                  <a:alpha val="50000"/>
                </a:srgbClr>
              </a:gs>
              <a:gs pos="100000">
                <a:srgbClr val="0B1220">
                  <a:alpha val="78000"/>
                </a:srgbClr>
              </a:gs>
            </a:gsLst>
            <a:lin ang="5400000" scaled="1"/>
          </a:gradFill>
        </p:spPr>
        <p:txBody>
          <a:bodyPr/>
          <a:p/>
        </p:txBody>
      </p:sp>
      <p:sp>
        <p:nvSpPr>
          <p:cNvPr id="804" name="文本框 803" descr="{&quot;isTemplate&quot;:true,&quot;type&quot;:&quot;text&quot;}"/>
          <p:cNvSpPr txBox="1"/>
          <p:nvPr/>
        </p:nvSpPr>
        <p:spPr>
          <a:xfrm>
            <a:off x="5067300" y="2381250"/>
            <a:ext cx="2057400" cy="828675"/>
          </a:xfrm>
          <a:prstGeom prst="rect">
            <a:avLst/>
          </a:prstGeom>
        </p:spPr>
        <p:txBody>
          <a:bodyPr wrap="none" lIns="0" tIns="0" rIns="0" bIns="0"/>
          <a:p>
            <a:pPr>
              <a:lnSpc>
                <a:spcPct val="100000"/>
              </a:lnSpc>
            </a:pPr>
            <a:r>
              <a:rPr lang="zh-CN" sz="5400" b="1">
                <a:solidFill>
                  <a:srgbClr val="E2E8F0"/>
                </a:solidFill>
                <a:latin typeface="微软雅黑" panose="020B0503020204020204" charset="-122"/>
                <a:ea typeface="微软雅黑" panose="020B0503020204020204" charset="-122"/>
              </a:rPr>
              <a:t>谢谢！</a:t>
            </a:r>
            <a:endParaRPr lang="zh-CN" sz="5400" b="1">
              <a:solidFill>
                <a:srgbClr val="E2E8F0"/>
              </a:solidFill>
              <a:latin typeface="微软雅黑" panose="020B0503020204020204" charset="-122"/>
              <a:ea typeface="微软雅黑" panose="020B0503020204020204" charset="-122"/>
            </a:endParaRPr>
          </a:p>
        </p:txBody>
      </p:sp>
      <p:sp>
        <p:nvSpPr>
          <p:cNvPr id="805" name="文本框 804" descr="{&quot;isTemplate&quot;:true,&quot;type&quot;:&quot;text&quot;}"/>
          <p:cNvSpPr txBox="1"/>
          <p:nvPr/>
        </p:nvSpPr>
        <p:spPr>
          <a:xfrm>
            <a:off x="4733925" y="3457575"/>
            <a:ext cx="2724150" cy="276225"/>
          </a:xfrm>
          <a:prstGeom prst="rect">
            <a:avLst/>
          </a:prstGeom>
        </p:spPr>
        <p:txBody>
          <a:bodyPr wrap="none" lIns="0" tIns="0" rIns="0" bIns="0"/>
          <a:p>
            <a:pPr>
              <a:lnSpc>
                <a:spcPct val="100000"/>
              </a:lnSpc>
            </a:pPr>
            <a:r>
              <a:rPr lang="zh-CN" sz="1800" spc="150">
                <a:solidFill>
                  <a:srgbClr val="94A3B8"/>
                </a:solidFill>
                <a:latin typeface="微软雅黑" panose="020B0503020204020204" charset="-122"/>
                <a:ea typeface="微软雅黑" panose="020B0503020204020204" charset="-122"/>
              </a:rPr>
              <a:t>好的计划，是成功的一半</a:t>
            </a:r>
            <a:endParaRPr lang="zh-CN" sz="1800" spc="150">
              <a:solidFill>
                <a:srgbClr val="94A3B8"/>
              </a:solidFill>
              <a:latin typeface="微软雅黑" panose="020B0503020204020204" charset="-122"/>
              <a:ea typeface="微软雅黑" panose="020B0503020204020204" charset="-122"/>
            </a:endParaRPr>
          </a:p>
        </p:txBody>
      </p:sp>
      <p:sp>
        <p:nvSpPr>
          <p:cNvPr id="806" name="圆角矩形 805"/>
          <p:cNvSpPr/>
          <p:nvPr/>
        </p:nvSpPr>
        <p:spPr>
          <a:xfrm>
            <a:off x="5762625" y="4057650"/>
            <a:ext cx="666750" cy="38100"/>
          </a:xfrm>
          <a:prstGeom prst="roundRect">
            <a:avLst>
              <a:gd name="adj" fmla="val 50000"/>
            </a:avLst>
          </a:prstGeom>
          <a:gradFill>
            <a:gsLst>
              <a:gs pos="0">
                <a:srgbClr val="3B82F6"/>
              </a:gs>
              <a:gs pos="100000">
                <a:srgbClr val="22D3EE"/>
              </a:gs>
            </a:gsLst>
            <a:lin ang="0" scaled="1"/>
          </a:gradFill>
        </p:spPr>
        <p:txBody>
          <a:bodyPr/>
          <a:p/>
        </p:txBody>
      </p:sp>
      <p:sp>
        <p:nvSpPr>
          <p:cNvPr id="807" name="文本框 806" descr="{&quot;isTemplate&quot;:true,&quot;type&quot;:&quot;text&quot;}"/>
          <p:cNvSpPr txBox="1"/>
          <p:nvPr/>
        </p:nvSpPr>
        <p:spPr>
          <a:xfrm>
            <a:off x="3867150" y="4381500"/>
            <a:ext cx="4467225" cy="209550"/>
          </a:xfrm>
          <a:prstGeom prst="rect">
            <a:avLst/>
          </a:prstGeom>
        </p:spPr>
        <p:txBody>
          <a:bodyPr wrap="none" lIns="0" tIns="0" rIns="0" bIns="0"/>
          <a:p>
            <a:pPr>
              <a:lnSpc>
                <a:spcPct val="100000"/>
              </a:lnSpc>
            </a:pPr>
            <a:r>
              <a:rPr lang="zh-CN" sz="1350">
                <a:solidFill>
                  <a:srgbClr val="94A3B8"/>
                </a:solidFill>
                <a:latin typeface="微软雅黑" panose="020B0503020204020204" charset="-122"/>
                <a:ea typeface="微软雅黑" panose="020B0503020204020204" charset="-122"/>
              </a:rPr>
              <a:t>邵健</a:t>
            </a:r>
            <a:r>
              <a:rPr lang="en-US" sz="1350">
                <a:solidFill>
                  <a:srgbClr val="94A3B8"/>
                </a:solidFill>
                <a:latin typeface="微软雅黑" panose="020B0503020204020204" charset="-122"/>
                <a:ea typeface="微软雅黑" panose="020B0503020204020204" charset="-122"/>
              </a:rPr>
              <a:t> · </a:t>
            </a:r>
            <a:r>
              <a:rPr lang="zh-CN" sz="1350">
                <a:solidFill>
                  <a:srgbClr val="94A3B8"/>
                </a:solidFill>
                <a:latin typeface="微软雅黑" panose="020B0503020204020204" charset="-122"/>
                <a:ea typeface="微软雅黑" panose="020B0503020204020204" charset="-122"/>
              </a:rPr>
              <a:t>浙江大学计算机科学与技术学院</a:t>
            </a:r>
            <a:r>
              <a:rPr lang="en-US" sz="1350">
                <a:solidFill>
                  <a:srgbClr val="94A3B8"/>
                </a:solidFill>
                <a:latin typeface="微软雅黑" panose="020B0503020204020204" charset="-122"/>
                <a:ea typeface="微软雅黑" panose="020B0503020204020204" charset="-122"/>
              </a:rPr>
              <a:t> · jshao@zju.edu.cn</a:t>
            </a:r>
            <a:endParaRPr lang="en-US" sz="1350">
              <a:solidFill>
                <a:srgbClr val="94A3B8"/>
              </a:solidFill>
              <a:latin typeface="微软雅黑" panose="020B0503020204020204" charset="-122"/>
              <a:ea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808" name="" descr="&lt;Slide style={{ width: 1280, height: 720, background: '#0B1220', padding: '20px 64px', display: 'flex', flexDirection: 'column' }}&gt;&#13;&#10;    &lt;Box style={{ flexDirection: 'row', height: 100, alignItems: 'center' }}&gt;&#13;&#10;        &lt;Box style={{ width: 6, height: 44, background: 'linear-gradient(180deg, #3B82F6 0%, #22D3EE 100%)', borderRadius: 3, marginRight: 20 }} /&gt;&#13;&#10;        &lt;Text style={{ fontSize: 34, fontWeight: 'bold', color: '#E2E8F0' }}&gt;附录：术语速查与资料&lt;/Text&gt;&#13;&#10;    &lt;/Box&gt;&#13;&#10;    &lt;Box style={{ flex: 1, flexDirection: 'row', gap: 26 }}&gt;&#13;&#10;        &lt;Box style={{ flex: 1, flexDirection: 'column', gap: 11, justifyContent: 'center' }}&gt;&#13;&#10;            &lt;Box style={{ background: '#111B2E', borderRadius: 10, padding: '12px 18px', borderLeft: '4px solid #3B82F6' }}&gt;&#13;&#10;                &lt;Text style={{ fontSize: 15, color: '#E2E8F0' }}&gt;&lt;span style={{ fontWeight: 'bold', color: '#93C5FD' }}&gt;WBS&lt;/span&gt;　工作分解结构：把项目逐层分解为可管理的工作包&lt;/Text&gt;&#13;&#10;            &lt;/Box&gt;&#13;&#10;            &lt;Box style={{ background: '#111B2E', borderRadius: 10, padding: '12px 18px', borderLeft: '4px solid #22D3EE' }}&gt;&#13;&#10;                &lt;Text style={{ fontSize: 15, color: '#E2E8F0' }}&gt;&lt;span style={{ fontWeight: 'bold', color: '#67E8F9' }}&gt;关键路径&lt;/span&gt;　总工期最长的活动链，零浮动时间&lt;/Text&gt;&#13;&#10;            &lt;/Box&gt;&#13;&#10;            &lt;Box style={{ background: '#111B2E', borderRadius: 10, padding: '12px 18px', borderLeft: '4px solid #8B5CF6' }}&gt;&#13;&#10;                &lt;Text style={{ fontSize: 15, color: '#E2E8F0' }}&gt;&lt;span style={{ fontWeight: 'bold', color: '#C4B5FD' }}&gt;RACI&lt;/span&gt;　责任分配：执行 / 负责 / 咨询 / 知会&lt;/Text&gt;&#13;&#10;            &lt;/Box&gt;&#13;&#10;        &lt;/Box&gt;&#13;&#10;        &lt;Box style={{ flex: 1, flexDirection: 'column', gap: 11, justifyContent: 'center' }}&gt;&#13;&#10;            &lt;Box style={{ background: '#111B2E', borderRadius: 10, padding: '12px 18px', borderLeft: '4px solid #3B82F6' }}&gt;&#13;&#10;                &lt;Text style={{ fontSize: 15, color: '#E2E8F0' }}&gt;&lt;span style={{ fontWeight: 'bold', color: '#93C5FD' }}&gt;里程碑&lt;/span&gt;　重大事件 / 可检查的控制点&lt;/Text&gt;&#13;&#10;            &lt;/Box&gt;&#13;&#10;            &lt;Box style={{ background: '#111B2E', borderRadius: 10, padding: '12px 18px', borderLeft: '4px solid #22D3EE' }}&gt;&#13;&#10;                &lt;Text style={{ fontSize: 15, color: '#E2E8F0' }}&gt;&lt;span style={{ fontWeight: 'bold', color: '#67E8F9' }}&gt;PP（项目计划）&lt;/span&gt;　CMMI 2 级关键过程域，制定并维护项目计划&lt;/Text&gt;&#13;&#10;            &lt;/Box&gt;&#13;&#10;            &lt;Box style={{ background: 'rgba(139,92,246,0.10)', borderRadius: 10, padding: '12px 18px', border: '1px solid rgba(139,92,246,0.45)' }}&gt;&#13;&#10;                &lt;Text style={{ fontSize: 15, color: '#E2E8F0' }}&gt;&lt;span style={{ fontWeight: 'bold', color: '#C4B5FD' }}&gt;资料&lt;/span&gt;　课程原文献《软件项目计划：案例讲解》· CMMI PP 过程域 · MS Project 实践&lt;/Text&gt;&#13;&#10;            &lt;/Box&gt;&#13;&#10;        &lt;/Box&gt;&#13;&#10;    &lt;/Box&gt;&#13;&#10;    &lt;Box style={{ height: 40, flexDirection: 'row', justifyContent: 'space-between', alignItems: 'center', marginTop: 16 }}&gt;&#13;&#10;        &lt;Text style={{ fontSize: 14, color: '#94A3B8' }}&gt;附录&lt;/Text&gt;&#13;&#10;        &lt;Text style={{ fontSize: 14, color: '#94A3B8' }}&gt;47 / 47&lt;/Text&gt;&#13;&#10;    &lt;/Box&gt;&#13;&#10;&lt;/Slide&gt;&#13;&#10;"/>
        <p:cNvGrpSpPr/>
        <p:nvPr/>
      </p:nvGrpSpPr>
      <p:grpSpPr>
        <a:xfrm>
          <a:off x="0" y="0"/>
          <a:ext cx="0" cy="0"/>
          <a:chOff x="0" y="0"/>
          <a:chExt cx="0" cy="0"/>
        </a:xfrm>
      </p:grpSpPr>
      <p:sp>
        <p:nvSpPr>
          <p:cNvPr id="809" name="矩形 808"/>
          <p:cNvSpPr/>
          <p:nvPr/>
        </p:nvSpPr>
        <p:spPr>
          <a:xfrm>
            <a:off x="0" y="0"/>
            <a:ext cx="12192000" cy="6858000"/>
          </a:xfrm>
          <a:prstGeom prst="rect">
            <a:avLst/>
          </a:prstGeom>
          <a:solidFill>
            <a:srgbClr val="0B1220"/>
          </a:solidFill>
        </p:spPr>
        <p:txBody>
          <a:bodyPr/>
          <a:p/>
        </p:txBody>
      </p:sp>
      <p:sp>
        <p:nvSpPr>
          <p:cNvPr id="810" name="圆角矩形 809"/>
          <p:cNvSpPr/>
          <p:nvPr/>
        </p:nvSpPr>
        <p:spPr>
          <a:xfrm>
            <a:off x="609600" y="457200"/>
            <a:ext cx="57150" cy="419100"/>
          </a:xfrm>
          <a:prstGeom prst="roundRect">
            <a:avLst>
              <a:gd name="adj" fmla="val 50000"/>
            </a:avLst>
          </a:prstGeom>
          <a:gradFill>
            <a:gsLst>
              <a:gs pos="0">
                <a:srgbClr val="3B82F6"/>
              </a:gs>
              <a:gs pos="100000">
                <a:srgbClr val="22D3EE"/>
              </a:gs>
            </a:gsLst>
            <a:lin ang="5400000" scaled="1"/>
          </a:gradFill>
        </p:spPr>
        <p:txBody>
          <a:bodyPr/>
          <a:p/>
        </p:txBody>
      </p:sp>
      <p:sp>
        <p:nvSpPr>
          <p:cNvPr id="811" name="文本框 810" descr="{&quot;isTemplate&quot;:true,&quot;type&quot;:&quot;text&quot;}"/>
          <p:cNvSpPr txBox="1"/>
          <p:nvPr/>
        </p:nvSpPr>
        <p:spPr>
          <a:xfrm>
            <a:off x="857250" y="476250"/>
            <a:ext cx="3238500" cy="390525"/>
          </a:xfrm>
          <a:prstGeom prst="rect">
            <a:avLst/>
          </a:prstGeom>
        </p:spPr>
        <p:txBody>
          <a:bodyPr wrap="none" lIns="0" tIns="0" rIns="0" bIns="0"/>
          <a:p>
            <a:pPr>
              <a:lnSpc>
                <a:spcPct val="100000"/>
              </a:lnSpc>
            </a:pPr>
            <a:r>
              <a:rPr lang="zh-CN" sz="2550" b="1">
                <a:solidFill>
                  <a:srgbClr val="E2E8F0"/>
                </a:solidFill>
                <a:latin typeface="微软雅黑" panose="020B0503020204020204" charset="-122"/>
                <a:ea typeface="微软雅黑" panose="020B0503020204020204" charset="-122"/>
              </a:rPr>
              <a:t>附录：术语速查与资料</a:t>
            </a:r>
            <a:endParaRPr lang="zh-CN" sz="2550" b="1">
              <a:solidFill>
                <a:srgbClr val="E2E8F0"/>
              </a:solidFill>
              <a:latin typeface="微软雅黑" panose="020B0503020204020204" charset="-122"/>
              <a:ea typeface="微软雅黑" panose="020B0503020204020204" charset="-122"/>
            </a:endParaRPr>
          </a:p>
        </p:txBody>
      </p:sp>
      <p:sp>
        <p:nvSpPr>
          <p:cNvPr id="812" name="圆角矩形 811"/>
          <p:cNvSpPr/>
          <p:nvPr/>
        </p:nvSpPr>
        <p:spPr>
          <a:xfrm>
            <a:off x="647700" y="2933700"/>
            <a:ext cx="5362575" cy="400050"/>
          </a:xfrm>
          <a:prstGeom prst="roundRect">
            <a:avLst>
              <a:gd name="adj" fmla="val 23810"/>
            </a:avLst>
          </a:prstGeom>
          <a:solidFill>
            <a:srgbClr val="111B2E"/>
          </a:solidFill>
        </p:spPr>
        <p:txBody>
          <a:bodyPr/>
          <a:p/>
        </p:txBody>
      </p:sp>
      <p:sp>
        <p:nvSpPr>
          <p:cNvPr id="813" name="任意多边形 812"/>
          <p:cNvSpPr/>
          <p:nvPr/>
        </p:nvSpPr>
        <p:spPr>
          <a:xfrm>
            <a:off x="647700" y="2933700"/>
            <a:ext cx="5362575" cy="400050"/>
          </a:xfrm>
          <a:custGeom>
            <a:avLst/>
            <a:gdLst/>
            <a:ahLst/>
            <a:cxnLst/>
            <a:pathLst>
              <a:path w="563" h="42">
                <a:moveTo>
                  <a:pt x="9" y="0"/>
                </a:moveTo>
                <a:cubicBezTo>
                  <a:pt x="6" y="0"/>
                  <a:pt x="4" y="3"/>
                  <a:pt x="4" y="6"/>
                </a:cubicBezTo>
                <a:lnTo>
                  <a:pt x="4" y="36"/>
                </a:lnTo>
                <a:cubicBezTo>
                  <a:pt x="4" y="39"/>
                  <a:pt x="6" y="41"/>
                  <a:pt x="9" y="42"/>
                </a:cubicBezTo>
                <a:cubicBezTo>
                  <a:pt x="4" y="41"/>
                  <a:pt x="0" y="37"/>
                  <a:pt x="0" y="32"/>
                </a:cubicBezTo>
                <a:lnTo>
                  <a:pt x="0" y="10"/>
                </a:lnTo>
                <a:cubicBezTo>
                  <a:pt x="0" y="5"/>
                  <a:pt x="4" y="0"/>
                  <a:pt x="10" y="0"/>
                </a:cubicBezTo>
                <a:close/>
              </a:path>
            </a:pathLst>
          </a:custGeom>
          <a:solidFill>
            <a:srgbClr val="3B82F6"/>
          </a:solidFill>
        </p:spPr>
        <p:txBody>
          <a:bodyPr/>
          <a:p/>
        </p:txBody>
      </p:sp>
      <p:sp>
        <p:nvSpPr>
          <p:cNvPr id="814" name="文本框 813" descr="{&quot;isTemplate&quot;:true,&quot;type&quot;:&quot;text&quot;}"/>
          <p:cNvSpPr txBox="1"/>
          <p:nvPr/>
        </p:nvSpPr>
        <p:spPr>
          <a:xfrm>
            <a:off x="819150" y="3048000"/>
            <a:ext cx="4981575" cy="171450"/>
          </a:xfrm>
          <a:prstGeom prst="rect">
            <a:avLst/>
          </a:prstGeom>
        </p:spPr>
        <p:txBody>
          <a:bodyPr wrap="none" lIns="0" tIns="0" rIns="0" bIns="0"/>
          <a:p>
            <a:pPr>
              <a:lnSpc>
                <a:spcPct val="100000"/>
              </a:lnSpc>
            </a:pPr>
            <a:r>
              <a:rPr lang="en-US" sz="1125" b="1">
                <a:solidFill>
                  <a:srgbClr val="93C5FD"/>
                </a:solidFill>
                <a:latin typeface="微软雅黑" panose="020B0503020204020204" charset="-122"/>
                <a:ea typeface="微软雅黑" panose="020B0503020204020204" charset="-122"/>
              </a:rPr>
              <a:t>WBS</a:t>
            </a:r>
            <a:r>
              <a:rPr lang="zh-CN" sz="1125">
                <a:solidFill>
                  <a:srgbClr val="E2E8F0"/>
                </a:solidFill>
                <a:latin typeface="微软雅黑" panose="020B0503020204020204" charset="-122"/>
                <a:ea typeface="微软雅黑" panose="020B0503020204020204" charset="-122"/>
              </a:rPr>
              <a:t>　工作分解结构：把项目逐层分解为可管理的工作包</a:t>
            </a:r>
            <a:endParaRPr lang="zh-CN" sz="1125">
              <a:solidFill>
                <a:srgbClr val="E2E8F0"/>
              </a:solidFill>
              <a:latin typeface="微软雅黑" panose="020B0503020204020204" charset="-122"/>
              <a:ea typeface="微软雅黑" panose="020B0503020204020204" charset="-122"/>
            </a:endParaRPr>
          </a:p>
        </p:txBody>
      </p:sp>
      <p:sp>
        <p:nvSpPr>
          <p:cNvPr id="815" name="圆角矩形 814"/>
          <p:cNvSpPr/>
          <p:nvPr/>
        </p:nvSpPr>
        <p:spPr>
          <a:xfrm>
            <a:off x="647700" y="3438525"/>
            <a:ext cx="5362575" cy="400050"/>
          </a:xfrm>
          <a:prstGeom prst="roundRect">
            <a:avLst>
              <a:gd name="adj" fmla="val 23810"/>
            </a:avLst>
          </a:prstGeom>
          <a:solidFill>
            <a:srgbClr val="111B2E"/>
          </a:solidFill>
        </p:spPr>
        <p:txBody>
          <a:bodyPr/>
          <a:p/>
        </p:txBody>
      </p:sp>
      <p:sp>
        <p:nvSpPr>
          <p:cNvPr id="816" name="任意多边形 815"/>
          <p:cNvSpPr/>
          <p:nvPr/>
        </p:nvSpPr>
        <p:spPr>
          <a:xfrm>
            <a:off x="647700" y="3438525"/>
            <a:ext cx="5362575" cy="400050"/>
          </a:xfrm>
          <a:custGeom>
            <a:avLst/>
            <a:gdLst/>
            <a:ahLst/>
            <a:cxnLst/>
            <a:pathLst>
              <a:path w="563" h="42">
                <a:moveTo>
                  <a:pt x="9" y="0"/>
                </a:moveTo>
                <a:cubicBezTo>
                  <a:pt x="6" y="0"/>
                  <a:pt x="4" y="3"/>
                  <a:pt x="4" y="6"/>
                </a:cubicBezTo>
                <a:lnTo>
                  <a:pt x="4" y="36"/>
                </a:lnTo>
                <a:cubicBezTo>
                  <a:pt x="4" y="39"/>
                  <a:pt x="6" y="41"/>
                  <a:pt x="9" y="42"/>
                </a:cubicBezTo>
                <a:cubicBezTo>
                  <a:pt x="4" y="41"/>
                  <a:pt x="0" y="37"/>
                  <a:pt x="0" y="32"/>
                </a:cubicBezTo>
                <a:lnTo>
                  <a:pt x="0" y="10"/>
                </a:lnTo>
                <a:cubicBezTo>
                  <a:pt x="0" y="5"/>
                  <a:pt x="4" y="0"/>
                  <a:pt x="10" y="0"/>
                </a:cubicBezTo>
                <a:close/>
              </a:path>
            </a:pathLst>
          </a:custGeom>
          <a:solidFill>
            <a:srgbClr val="22D3EE"/>
          </a:solidFill>
        </p:spPr>
        <p:txBody>
          <a:bodyPr/>
          <a:p/>
        </p:txBody>
      </p:sp>
      <p:sp>
        <p:nvSpPr>
          <p:cNvPr id="817" name="文本框 816" descr="{&quot;isTemplate&quot;:true,&quot;type&quot;:&quot;text&quot;}"/>
          <p:cNvSpPr txBox="1"/>
          <p:nvPr/>
        </p:nvSpPr>
        <p:spPr>
          <a:xfrm>
            <a:off x="819150" y="3552825"/>
            <a:ext cx="4981575" cy="171450"/>
          </a:xfrm>
          <a:prstGeom prst="rect">
            <a:avLst/>
          </a:prstGeom>
        </p:spPr>
        <p:txBody>
          <a:bodyPr wrap="none" lIns="0" tIns="0" rIns="0" bIns="0"/>
          <a:p>
            <a:pPr>
              <a:lnSpc>
                <a:spcPct val="100000"/>
              </a:lnSpc>
            </a:pPr>
            <a:r>
              <a:rPr lang="zh-CN" sz="1125" b="1">
                <a:solidFill>
                  <a:srgbClr val="67E8F9"/>
                </a:solidFill>
                <a:latin typeface="微软雅黑" panose="020B0503020204020204" charset="-122"/>
                <a:ea typeface="微软雅黑" panose="020B0503020204020204" charset="-122"/>
              </a:rPr>
              <a:t>关键路径</a:t>
            </a:r>
            <a:r>
              <a:rPr lang="zh-CN" sz="1125">
                <a:solidFill>
                  <a:srgbClr val="E2E8F0"/>
                </a:solidFill>
                <a:latin typeface="微软雅黑" panose="020B0503020204020204" charset="-122"/>
                <a:ea typeface="微软雅黑" panose="020B0503020204020204" charset="-122"/>
              </a:rPr>
              <a:t>　总工期最长的活动链，零浮动时间</a:t>
            </a:r>
            <a:endParaRPr lang="zh-CN" sz="1125">
              <a:solidFill>
                <a:srgbClr val="E2E8F0"/>
              </a:solidFill>
              <a:latin typeface="微软雅黑" panose="020B0503020204020204" charset="-122"/>
              <a:ea typeface="微软雅黑" panose="020B0503020204020204" charset="-122"/>
            </a:endParaRPr>
          </a:p>
        </p:txBody>
      </p:sp>
      <p:sp>
        <p:nvSpPr>
          <p:cNvPr id="818" name="圆角矩形 817"/>
          <p:cNvSpPr/>
          <p:nvPr/>
        </p:nvSpPr>
        <p:spPr>
          <a:xfrm>
            <a:off x="647700" y="3943350"/>
            <a:ext cx="5362575" cy="400050"/>
          </a:xfrm>
          <a:prstGeom prst="roundRect">
            <a:avLst>
              <a:gd name="adj" fmla="val 23810"/>
            </a:avLst>
          </a:prstGeom>
          <a:solidFill>
            <a:srgbClr val="111B2E"/>
          </a:solidFill>
        </p:spPr>
        <p:txBody>
          <a:bodyPr/>
          <a:p/>
        </p:txBody>
      </p:sp>
      <p:sp>
        <p:nvSpPr>
          <p:cNvPr id="819" name="任意多边形 818"/>
          <p:cNvSpPr/>
          <p:nvPr/>
        </p:nvSpPr>
        <p:spPr>
          <a:xfrm>
            <a:off x="647700" y="3943350"/>
            <a:ext cx="5362575" cy="400050"/>
          </a:xfrm>
          <a:custGeom>
            <a:avLst/>
            <a:gdLst/>
            <a:ahLst/>
            <a:cxnLst/>
            <a:pathLst>
              <a:path w="563" h="42">
                <a:moveTo>
                  <a:pt x="9" y="0"/>
                </a:moveTo>
                <a:cubicBezTo>
                  <a:pt x="6" y="0"/>
                  <a:pt x="4" y="3"/>
                  <a:pt x="4" y="6"/>
                </a:cubicBezTo>
                <a:lnTo>
                  <a:pt x="4" y="36"/>
                </a:lnTo>
                <a:cubicBezTo>
                  <a:pt x="4" y="39"/>
                  <a:pt x="6" y="41"/>
                  <a:pt x="9" y="42"/>
                </a:cubicBezTo>
                <a:cubicBezTo>
                  <a:pt x="4" y="41"/>
                  <a:pt x="0" y="37"/>
                  <a:pt x="0" y="32"/>
                </a:cubicBezTo>
                <a:lnTo>
                  <a:pt x="0" y="10"/>
                </a:lnTo>
                <a:cubicBezTo>
                  <a:pt x="0" y="5"/>
                  <a:pt x="4" y="0"/>
                  <a:pt x="10" y="0"/>
                </a:cubicBezTo>
                <a:close/>
              </a:path>
            </a:pathLst>
          </a:custGeom>
          <a:solidFill>
            <a:srgbClr val="8B5CF6"/>
          </a:solidFill>
        </p:spPr>
        <p:txBody>
          <a:bodyPr/>
          <a:p/>
        </p:txBody>
      </p:sp>
      <p:sp>
        <p:nvSpPr>
          <p:cNvPr id="820" name="文本框 819" descr="{&quot;isTemplate&quot;:true,&quot;type&quot;:&quot;text&quot;}"/>
          <p:cNvSpPr txBox="1"/>
          <p:nvPr/>
        </p:nvSpPr>
        <p:spPr>
          <a:xfrm>
            <a:off x="819150" y="4057650"/>
            <a:ext cx="4981575" cy="171450"/>
          </a:xfrm>
          <a:prstGeom prst="rect">
            <a:avLst/>
          </a:prstGeom>
        </p:spPr>
        <p:txBody>
          <a:bodyPr wrap="none" lIns="0" tIns="0" rIns="0" bIns="0"/>
          <a:p>
            <a:pPr>
              <a:lnSpc>
                <a:spcPct val="100000"/>
              </a:lnSpc>
            </a:pPr>
            <a:r>
              <a:rPr lang="en-US" sz="1125" b="1">
                <a:solidFill>
                  <a:srgbClr val="C4B5FD"/>
                </a:solidFill>
                <a:latin typeface="微软雅黑" panose="020B0503020204020204" charset="-122"/>
                <a:ea typeface="微软雅黑" panose="020B0503020204020204" charset="-122"/>
              </a:rPr>
              <a:t>RACI</a:t>
            </a:r>
            <a:r>
              <a:rPr lang="zh-CN" sz="1125">
                <a:solidFill>
                  <a:srgbClr val="E2E8F0"/>
                </a:solidFill>
                <a:latin typeface="微软雅黑" panose="020B0503020204020204" charset="-122"/>
                <a:ea typeface="微软雅黑" panose="020B0503020204020204" charset="-122"/>
              </a:rPr>
              <a:t>　责任分配：执行</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负责</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咨询</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知会</a:t>
            </a:r>
            <a:endParaRPr lang="zh-CN" sz="1125">
              <a:solidFill>
                <a:srgbClr val="E2E8F0"/>
              </a:solidFill>
              <a:latin typeface="微软雅黑" panose="020B0503020204020204" charset="-122"/>
              <a:ea typeface="微软雅黑" panose="020B0503020204020204" charset="-122"/>
            </a:endParaRPr>
          </a:p>
        </p:txBody>
      </p:sp>
      <p:sp>
        <p:nvSpPr>
          <p:cNvPr id="821" name="圆角矩形 820"/>
          <p:cNvSpPr/>
          <p:nvPr/>
        </p:nvSpPr>
        <p:spPr>
          <a:xfrm>
            <a:off x="6257925" y="2847975"/>
            <a:ext cx="5362575" cy="400050"/>
          </a:xfrm>
          <a:prstGeom prst="roundRect">
            <a:avLst>
              <a:gd name="adj" fmla="val 23810"/>
            </a:avLst>
          </a:prstGeom>
          <a:solidFill>
            <a:srgbClr val="111B2E"/>
          </a:solidFill>
        </p:spPr>
        <p:txBody>
          <a:bodyPr/>
          <a:p/>
        </p:txBody>
      </p:sp>
      <p:sp>
        <p:nvSpPr>
          <p:cNvPr id="822" name="任意多边形 821"/>
          <p:cNvSpPr/>
          <p:nvPr/>
        </p:nvSpPr>
        <p:spPr>
          <a:xfrm>
            <a:off x="6257925" y="2847975"/>
            <a:ext cx="5362575" cy="400050"/>
          </a:xfrm>
          <a:custGeom>
            <a:avLst/>
            <a:gdLst/>
            <a:ahLst/>
            <a:cxnLst/>
            <a:pathLst>
              <a:path w="563" h="42">
                <a:moveTo>
                  <a:pt x="9" y="0"/>
                </a:moveTo>
                <a:cubicBezTo>
                  <a:pt x="6" y="0"/>
                  <a:pt x="4" y="3"/>
                  <a:pt x="4" y="6"/>
                </a:cubicBezTo>
                <a:lnTo>
                  <a:pt x="4" y="36"/>
                </a:lnTo>
                <a:cubicBezTo>
                  <a:pt x="4" y="39"/>
                  <a:pt x="6" y="41"/>
                  <a:pt x="9" y="42"/>
                </a:cubicBezTo>
                <a:cubicBezTo>
                  <a:pt x="4" y="41"/>
                  <a:pt x="0" y="37"/>
                  <a:pt x="0" y="32"/>
                </a:cubicBezTo>
                <a:lnTo>
                  <a:pt x="0" y="10"/>
                </a:lnTo>
                <a:cubicBezTo>
                  <a:pt x="0" y="5"/>
                  <a:pt x="4" y="0"/>
                  <a:pt x="10" y="0"/>
                </a:cubicBezTo>
                <a:close/>
              </a:path>
            </a:pathLst>
          </a:custGeom>
          <a:solidFill>
            <a:srgbClr val="3B82F6"/>
          </a:solidFill>
        </p:spPr>
        <p:txBody>
          <a:bodyPr/>
          <a:p/>
        </p:txBody>
      </p:sp>
      <p:sp>
        <p:nvSpPr>
          <p:cNvPr id="823" name="文本框 822" descr="{&quot;isTemplate&quot;:true,&quot;type&quot;:&quot;text&quot;}"/>
          <p:cNvSpPr txBox="1"/>
          <p:nvPr/>
        </p:nvSpPr>
        <p:spPr>
          <a:xfrm>
            <a:off x="6429375" y="2962275"/>
            <a:ext cx="4981575" cy="171450"/>
          </a:xfrm>
          <a:prstGeom prst="rect">
            <a:avLst/>
          </a:prstGeom>
        </p:spPr>
        <p:txBody>
          <a:bodyPr wrap="none" lIns="0" tIns="0" rIns="0" bIns="0"/>
          <a:p>
            <a:pPr>
              <a:lnSpc>
                <a:spcPct val="100000"/>
              </a:lnSpc>
            </a:pPr>
            <a:r>
              <a:rPr lang="zh-CN" sz="1125" b="1">
                <a:solidFill>
                  <a:srgbClr val="93C5FD"/>
                </a:solidFill>
                <a:latin typeface="微软雅黑" panose="020B0503020204020204" charset="-122"/>
                <a:ea typeface="微软雅黑" panose="020B0503020204020204" charset="-122"/>
              </a:rPr>
              <a:t>里程碑</a:t>
            </a:r>
            <a:r>
              <a:rPr lang="zh-CN" sz="1125">
                <a:solidFill>
                  <a:srgbClr val="E2E8F0"/>
                </a:solidFill>
                <a:latin typeface="微软雅黑" panose="020B0503020204020204" charset="-122"/>
                <a:ea typeface="微软雅黑" panose="020B0503020204020204" charset="-122"/>
              </a:rPr>
              <a:t>　重大事件</a:t>
            </a:r>
            <a:r>
              <a:rPr lang="en-US" sz="1125">
                <a:solidFill>
                  <a:srgbClr val="E2E8F0"/>
                </a:solidFill>
                <a:latin typeface="微软雅黑" panose="020B0503020204020204" charset="-122"/>
                <a:ea typeface="微软雅黑" panose="020B0503020204020204" charset="-122"/>
              </a:rPr>
              <a:t> / </a:t>
            </a:r>
            <a:r>
              <a:rPr lang="zh-CN" sz="1125">
                <a:solidFill>
                  <a:srgbClr val="E2E8F0"/>
                </a:solidFill>
                <a:latin typeface="微软雅黑" panose="020B0503020204020204" charset="-122"/>
                <a:ea typeface="微软雅黑" panose="020B0503020204020204" charset="-122"/>
              </a:rPr>
              <a:t>可检查的控制点</a:t>
            </a:r>
            <a:endParaRPr lang="zh-CN" sz="1125">
              <a:solidFill>
                <a:srgbClr val="E2E8F0"/>
              </a:solidFill>
              <a:latin typeface="微软雅黑" panose="020B0503020204020204" charset="-122"/>
              <a:ea typeface="微软雅黑" panose="020B0503020204020204" charset="-122"/>
            </a:endParaRPr>
          </a:p>
        </p:txBody>
      </p:sp>
      <p:sp>
        <p:nvSpPr>
          <p:cNvPr id="824" name="圆角矩形 823"/>
          <p:cNvSpPr/>
          <p:nvPr/>
        </p:nvSpPr>
        <p:spPr>
          <a:xfrm>
            <a:off x="6257925" y="3352800"/>
            <a:ext cx="5362575" cy="400050"/>
          </a:xfrm>
          <a:prstGeom prst="roundRect">
            <a:avLst>
              <a:gd name="adj" fmla="val 23810"/>
            </a:avLst>
          </a:prstGeom>
          <a:solidFill>
            <a:srgbClr val="111B2E"/>
          </a:solidFill>
        </p:spPr>
        <p:txBody>
          <a:bodyPr/>
          <a:p/>
        </p:txBody>
      </p:sp>
      <p:sp>
        <p:nvSpPr>
          <p:cNvPr id="825" name="任意多边形 824"/>
          <p:cNvSpPr/>
          <p:nvPr/>
        </p:nvSpPr>
        <p:spPr>
          <a:xfrm>
            <a:off x="6257925" y="3352800"/>
            <a:ext cx="5362575" cy="400050"/>
          </a:xfrm>
          <a:custGeom>
            <a:avLst/>
            <a:gdLst/>
            <a:ahLst/>
            <a:cxnLst/>
            <a:pathLst>
              <a:path w="563" h="42">
                <a:moveTo>
                  <a:pt x="9" y="0"/>
                </a:moveTo>
                <a:cubicBezTo>
                  <a:pt x="6" y="0"/>
                  <a:pt x="4" y="3"/>
                  <a:pt x="4" y="6"/>
                </a:cubicBezTo>
                <a:lnTo>
                  <a:pt x="4" y="36"/>
                </a:lnTo>
                <a:cubicBezTo>
                  <a:pt x="4" y="39"/>
                  <a:pt x="6" y="41"/>
                  <a:pt x="9" y="42"/>
                </a:cubicBezTo>
                <a:cubicBezTo>
                  <a:pt x="4" y="41"/>
                  <a:pt x="0" y="37"/>
                  <a:pt x="0" y="32"/>
                </a:cubicBezTo>
                <a:lnTo>
                  <a:pt x="0" y="10"/>
                </a:lnTo>
                <a:cubicBezTo>
                  <a:pt x="0" y="5"/>
                  <a:pt x="4" y="0"/>
                  <a:pt x="10" y="0"/>
                </a:cubicBezTo>
                <a:close/>
              </a:path>
            </a:pathLst>
          </a:custGeom>
          <a:solidFill>
            <a:srgbClr val="22D3EE"/>
          </a:solidFill>
        </p:spPr>
        <p:txBody>
          <a:bodyPr/>
          <a:p/>
        </p:txBody>
      </p:sp>
      <p:sp>
        <p:nvSpPr>
          <p:cNvPr id="826" name="文本框 825" descr="{&quot;isTemplate&quot;:true,&quot;type&quot;:&quot;text&quot;}"/>
          <p:cNvSpPr txBox="1"/>
          <p:nvPr/>
        </p:nvSpPr>
        <p:spPr>
          <a:xfrm>
            <a:off x="6429375" y="3467100"/>
            <a:ext cx="4981575" cy="171450"/>
          </a:xfrm>
          <a:prstGeom prst="rect">
            <a:avLst/>
          </a:prstGeom>
        </p:spPr>
        <p:txBody>
          <a:bodyPr wrap="none" lIns="0" tIns="0" rIns="0" bIns="0"/>
          <a:p>
            <a:pPr>
              <a:lnSpc>
                <a:spcPct val="100000"/>
              </a:lnSpc>
            </a:pPr>
            <a:r>
              <a:rPr lang="en-US" sz="1125" b="1">
                <a:solidFill>
                  <a:srgbClr val="67E8F9"/>
                </a:solidFill>
                <a:latin typeface="微软雅黑" panose="020B0503020204020204" charset="-122"/>
                <a:ea typeface="微软雅黑" panose="020B0503020204020204" charset="-122"/>
              </a:rPr>
              <a:t>PP</a:t>
            </a:r>
            <a:r>
              <a:rPr lang="zh-CN" sz="1125" b="1">
                <a:solidFill>
                  <a:srgbClr val="67E8F9"/>
                </a:solidFill>
                <a:latin typeface="微软雅黑" panose="020B0503020204020204" charset="-122"/>
                <a:ea typeface="微软雅黑" panose="020B0503020204020204" charset="-122"/>
              </a:rPr>
              <a:t>（项目计划）</a:t>
            </a:r>
            <a:r>
              <a:rPr lang="zh-CN" sz="1125">
                <a:solidFill>
                  <a:srgbClr val="E2E8F0"/>
                </a:solidFill>
                <a:latin typeface="微软雅黑" panose="020B0503020204020204" charset="-122"/>
                <a:ea typeface="微软雅黑" panose="020B0503020204020204" charset="-122"/>
              </a:rPr>
              <a:t>　</a:t>
            </a:r>
            <a:r>
              <a:rPr lang="en-US" sz="1125">
                <a:solidFill>
                  <a:srgbClr val="E2E8F0"/>
                </a:solidFill>
                <a:latin typeface="微软雅黑" panose="020B0503020204020204" charset="-122"/>
                <a:ea typeface="微软雅黑" panose="020B0503020204020204" charset="-122"/>
              </a:rPr>
              <a:t>CMMI 2 </a:t>
            </a:r>
            <a:r>
              <a:rPr lang="zh-CN" sz="1125">
                <a:solidFill>
                  <a:srgbClr val="E2E8F0"/>
                </a:solidFill>
                <a:latin typeface="微软雅黑" panose="020B0503020204020204" charset="-122"/>
                <a:ea typeface="微软雅黑" panose="020B0503020204020204" charset="-122"/>
              </a:rPr>
              <a:t>级关键过程域，制定并维护项目计划</a:t>
            </a:r>
            <a:endParaRPr lang="zh-CN" sz="1125">
              <a:solidFill>
                <a:srgbClr val="E2E8F0"/>
              </a:solidFill>
              <a:latin typeface="微软雅黑" panose="020B0503020204020204" charset="-122"/>
              <a:ea typeface="微软雅黑" panose="020B0503020204020204" charset="-122"/>
            </a:endParaRPr>
          </a:p>
        </p:txBody>
      </p:sp>
      <p:sp>
        <p:nvSpPr>
          <p:cNvPr id="827" name="圆角矩形 826"/>
          <p:cNvSpPr/>
          <p:nvPr/>
        </p:nvSpPr>
        <p:spPr>
          <a:xfrm>
            <a:off x="6219825" y="3857625"/>
            <a:ext cx="5362575" cy="571500"/>
          </a:xfrm>
          <a:prstGeom prst="roundRect">
            <a:avLst>
              <a:gd name="adj" fmla="val 16667"/>
            </a:avLst>
          </a:prstGeom>
          <a:solidFill>
            <a:srgbClr val="8B5CF6">
              <a:alpha val="10000"/>
            </a:srgbClr>
          </a:solidFill>
          <a:ln w="12700">
            <a:solidFill>
              <a:srgbClr val="8B5CF6">
                <a:alpha val="45000"/>
              </a:srgbClr>
            </a:solidFill>
            <a:prstDash val="solid"/>
          </a:ln>
        </p:spPr>
        <p:txBody>
          <a:bodyPr/>
          <a:p/>
        </p:txBody>
      </p:sp>
      <p:sp>
        <p:nvSpPr>
          <p:cNvPr id="828" name="文本框 827" descr="{&quot;isTemplate&quot;:true,&quot;type&quot;:&quot;text&quot;}"/>
          <p:cNvSpPr txBox="1"/>
          <p:nvPr/>
        </p:nvSpPr>
        <p:spPr>
          <a:xfrm>
            <a:off x="6391275" y="3971925"/>
            <a:ext cx="5019675" cy="342900"/>
          </a:xfrm>
          <a:prstGeom prst="rect">
            <a:avLst/>
          </a:prstGeom>
        </p:spPr>
        <p:txBody>
          <a:bodyPr wrap="square" lIns="0" tIns="0" rIns="0" bIns="0">
            <a:normAutofit/>
          </a:bodyPr>
          <a:p>
            <a:pPr>
              <a:lnSpc>
                <a:spcPct val="100000"/>
              </a:lnSpc>
            </a:pPr>
            <a:r>
              <a:rPr lang="zh-CN" sz="1125" b="1">
                <a:solidFill>
                  <a:srgbClr val="C4B5FD"/>
                </a:solidFill>
                <a:latin typeface="微软雅黑" panose="020B0503020204020204" charset="-122"/>
                <a:ea typeface="微软雅黑" panose="020B0503020204020204" charset="-122"/>
              </a:rPr>
              <a:t>资料</a:t>
            </a:r>
            <a:r>
              <a:rPr lang="zh-CN" sz="1125">
                <a:solidFill>
                  <a:srgbClr val="E2E8F0"/>
                </a:solidFill>
                <a:latin typeface="微软雅黑" panose="020B0503020204020204" charset="-122"/>
                <a:ea typeface="微软雅黑" panose="020B0503020204020204" charset="-122"/>
              </a:rPr>
              <a:t>　课程原文献《软件项目计划：案例讲解》·</a:t>
            </a:r>
            <a:r>
              <a:rPr lang="en-US" sz="1125">
                <a:solidFill>
                  <a:srgbClr val="E2E8F0"/>
                </a:solidFill>
                <a:latin typeface="微软雅黑" panose="020B0503020204020204" charset="-122"/>
                <a:ea typeface="微软雅黑" panose="020B0503020204020204" charset="-122"/>
              </a:rPr>
              <a:t> CMMI PP </a:t>
            </a:r>
            <a:r>
              <a:rPr lang="zh-CN" sz="1125">
                <a:solidFill>
                  <a:srgbClr val="E2E8F0"/>
                </a:solidFill>
                <a:latin typeface="微软雅黑" panose="020B0503020204020204" charset="-122"/>
                <a:ea typeface="微软雅黑" panose="020B0503020204020204" charset="-122"/>
              </a:rPr>
              <a:t>过程域</a:t>
            </a:r>
            <a:r>
              <a:rPr lang="en-US" sz="1125">
                <a:solidFill>
                  <a:srgbClr val="E2E8F0"/>
                </a:solidFill>
                <a:latin typeface="微软雅黑" panose="020B0503020204020204" charset="-122"/>
                <a:ea typeface="微软雅黑" panose="020B0503020204020204" charset="-122"/>
              </a:rPr>
              <a:t> · MS Project </a:t>
            </a:r>
            <a:r>
              <a:rPr lang="zh-CN" sz="1125">
                <a:solidFill>
                  <a:srgbClr val="E2E8F0"/>
                </a:solidFill>
                <a:latin typeface="微软雅黑" panose="020B0503020204020204" charset="-122"/>
                <a:ea typeface="微软雅黑" panose="020B0503020204020204" charset="-122"/>
              </a:rPr>
              <a:t>实践</a:t>
            </a:r>
            <a:endParaRPr lang="zh-CN" sz="1125">
              <a:solidFill>
                <a:srgbClr val="E2E8F0"/>
              </a:solidFill>
              <a:latin typeface="微软雅黑" panose="020B0503020204020204" charset="-122"/>
              <a:ea typeface="微软雅黑" panose="020B0503020204020204" charset="-122"/>
            </a:endParaRPr>
          </a:p>
        </p:txBody>
      </p:sp>
      <p:sp>
        <p:nvSpPr>
          <p:cNvPr id="829" name="文本框 828" descr="{&quot;isTemplate&quot;:true,&quot;type&quot;:&quot;text&quot;}"/>
          <p:cNvSpPr txBox="1"/>
          <p:nvPr/>
        </p:nvSpPr>
        <p:spPr>
          <a:xfrm>
            <a:off x="609600" y="6400800"/>
            <a:ext cx="266700" cy="161925"/>
          </a:xfrm>
          <a:prstGeom prst="rect">
            <a:avLst/>
          </a:prstGeom>
        </p:spPr>
        <p:txBody>
          <a:bodyPr wrap="none" lIns="0" tIns="0" rIns="0" bIns="0"/>
          <a:p>
            <a:pPr>
              <a:lnSpc>
                <a:spcPct val="100000"/>
              </a:lnSpc>
            </a:pPr>
            <a:r>
              <a:rPr lang="zh-CN" sz="1050">
                <a:solidFill>
                  <a:srgbClr val="94A3B8"/>
                </a:solidFill>
                <a:latin typeface="微软雅黑" panose="020B0503020204020204" charset="-122"/>
                <a:ea typeface="微软雅黑" panose="020B0503020204020204" charset="-122"/>
              </a:rPr>
              <a:t>附录</a:t>
            </a:r>
            <a:endParaRPr lang="zh-CN" sz="1050">
              <a:solidFill>
                <a:srgbClr val="94A3B8"/>
              </a:solidFill>
              <a:latin typeface="微软雅黑" panose="020B0503020204020204" charset="-122"/>
              <a:ea typeface="微软雅黑" panose="020B0503020204020204" charset="-122"/>
            </a:endParaRPr>
          </a:p>
        </p:txBody>
      </p:sp>
      <p:sp>
        <p:nvSpPr>
          <p:cNvPr id="830" name="文本框 829" descr="{&quot;isTemplate&quot;:true,&quot;type&quot;:&quot;text&quot;}"/>
          <p:cNvSpPr txBox="1"/>
          <p:nvPr/>
        </p:nvSpPr>
        <p:spPr>
          <a:xfrm>
            <a:off x="11125200" y="6400800"/>
            <a:ext cx="457200" cy="161925"/>
          </a:xfrm>
          <a:prstGeom prst="rect">
            <a:avLst/>
          </a:prstGeom>
        </p:spPr>
        <p:txBody>
          <a:bodyPr wrap="none" lIns="0" tIns="0" rIns="0" bIns="0"/>
          <a:p>
            <a:pPr>
              <a:lnSpc>
                <a:spcPct val="100000"/>
              </a:lnSpc>
            </a:pPr>
            <a:r>
              <a:rPr lang="en-US" sz="1050">
                <a:solidFill>
                  <a:srgbClr val="94A3B8"/>
                </a:solidFill>
                <a:latin typeface="微软雅黑" panose="020B0503020204020204" charset="-122"/>
                <a:ea typeface="微软雅黑" panose="020B0503020204020204" charset="-122"/>
              </a:rPr>
              <a:t>47 / 47</a:t>
            </a:r>
            <a:endParaRPr lang="en-US" sz="1050">
              <a:solidFill>
                <a:srgbClr val="94A3B8"/>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393,&quot;left&quot;:48,&quot;top&quot;:90,&quot;width&quot;:832.5}"/>
</p:tagLst>
</file>

<file path=ppt/tags/tag2.xml><?xml version="1.0" encoding="utf-8"?>
<p:tagLst xmlns:p="http://schemas.openxmlformats.org/presentationml/2006/main">
  <p:tag name="KSO_WM_DIAGRAM_VIRTUALLY_FRAME" val="{&quot;height&quot;:393,&quot;left&quot;:48,&quot;top&quot;:90,&quot;width&quot;:832.5}"/>
</p:tagLst>
</file>

<file path=ppt/tags/tag3.xml><?xml version="1.0" encoding="utf-8"?>
<p:tagLst xmlns:p="http://schemas.openxmlformats.org/presentationml/2006/main">
  <p:tag name="KSO_WM_DIAGRAM_VIRTUALLY_FRAME" val="{&quot;height&quot;:393,&quot;left&quot;:48,&quot;top&quot;:90,&quot;width&quot;:832.5}"/>
</p:tagLst>
</file>

<file path=ppt/tags/tag4.xml><?xml version="1.0" encoding="utf-8"?>
<p:tagLst xmlns:p="http://schemas.openxmlformats.org/presentationml/2006/main">
  <p:tag name="KSO_WM_DIAGRAM_VIRTUALLY_FRAME" val="{&quot;height&quot;:393,&quot;left&quot;:48,&quot;top&quot;:90,&quot;width&quot;:832.5}"/>
</p:tagLst>
</file>

<file path=ppt/tags/tag5.xml><?xml version="1.0" encoding="utf-8"?>
<p:tagLst xmlns:p="http://schemas.openxmlformats.org/presentationml/2006/main">
  <p:tag name="KSO_WM_DIAGRAM_VIRTUALLY_FRAME" val="{&quot;height&quot;:393,&quot;left&quot;:48,&quot;top&quot;:90,&quot;width&quot;:832.5}"/>
</p:tagLst>
</file>

<file path=ppt/tags/tag6.xml><?xml version="1.0" encoding="utf-8"?>
<p:tagLst xmlns:p="http://schemas.openxmlformats.org/presentationml/2006/main">
  <p:tag name="KSO_WM_DIAGRAM_VIRTUALLY_FRAME" val="{&quot;height&quot;:393,&quot;left&quot;:48,&quot;top&quot;:90,&quot;width&quot;:832.5}"/>
</p:tagLst>
</file>

<file path=ppt/tags/tag7.xml><?xml version="1.0" encoding="utf-8"?>
<p:tagLst xmlns:p="http://schemas.openxmlformats.org/presentationml/2006/main">
  <p:tag name="KSO_WM_DIAGRAM_VIRTUALLY_FRAME" val="{&quot;height&quot;:393,&quot;left&quot;:48,&quot;top&quot;:90,&quot;width&quot;:832.5}"/>
</p:tagLst>
</file>

<file path=ppt/tags/tag8.xml><?xml version="1.0" encoding="utf-8"?>
<p:tagLst xmlns:p="http://schemas.openxmlformats.org/presentationml/2006/main">
  <p:tag name="KSO_WM_DIAGRAM_VIRTUALLY_FRAME" val="{&quot;height&quot;:393,&quot;left&quot;:48,&quot;top&quot;:90,&quot;width&quot;:832.5}"/>
</p:tagLst>
</file>

<file path=ppt/tags/tag9.xml><?xml version="1.0" encoding="utf-8"?>
<p:tagLst xmlns:p="http://schemas.openxmlformats.org/presentationml/2006/main">
  <p:tag name="KSO_WM_DIAGRAM_VIRTUALLY_FRAME" val="{&quot;height&quot;:393,&quot;left&quot;:48,&quot;top&quot;:90,&quot;width&quot;:832.5}"/>
</p:tagLst>
</file>

<file path=ppt/tags/tag10.xml><?xml version="1.0" encoding="utf-8"?>
<p:tagLst xmlns:p="http://schemas.openxmlformats.org/presentationml/2006/main">
  <p:tag name="KSO_WM_DIAGRAM_VIRTUALLY_FRAME" val="{&quot;height&quot;:393,&quot;left&quot;:48,&quot;top&quot;:90,&quot;width&quot;:832.5}"/>
</p:tagLst>
</file>

<file path=ppt/tags/tag11.xml><?xml version="1.0" encoding="utf-8"?>
<p:tagLst xmlns:p="http://schemas.openxmlformats.org/presentationml/2006/main">
  <p:tag name="KSO_WM_DIAGRAM_VIRTUALLY_FRAME" val="{&quot;height&quot;:393,&quot;left&quot;:48,&quot;top&quot;:90,&quot;width&quot;:832.5}"/>
</p:tagLst>
</file>

<file path=ppt/tags/tag12.xml><?xml version="1.0" encoding="utf-8"?>
<p:tagLst xmlns:p="http://schemas.openxmlformats.org/presentationml/2006/main">
  <p:tag name="KSO_WM_DIAGRAM_VIRTUALLY_FRAME" val="{&quot;height&quot;:393,&quot;left&quot;:48,&quot;top&quot;:90,&quot;width&quot;:832.5}"/>
</p:tagLst>
</file>

<file path=ppt/tags/tag13.xml><?xml version="1.0" encoding="utf-8"?>
<p:tagLst xmlns:p="http://schemas.openxmlformats.org/presentationml/2006/main">
  <p:tag name="KSO_WM_DIAGRAM_VIRTUALLY_FRAME" val="{&quot;height&quot;:393,&quot;left&quot;:48,&quot;top&quot;:90,&quot;width&quot;:832.5}"/>
</p:tagLst>
</file>

<file path=ppt/tags/tag14.xml><?xml version="1.0" encoding="utf-8"?>
<p:tagLst xmlns:p="http://schemas.openxmlformats.org/presentationml/2006/main">
  <p:tag name="KSO_WM_DIAGRAM_VIRTUALLY_FRAME" val="{&quot;height&quot;:393,&quot;left&quot;:48,&quot;top&quot;:90,&quot;width&quot;:832.5}"/>
</p:tagLst>
</file>

<file path=ppt/tags/tag15.xml><?xml version="1.0" encoding="utf-8"?>
<p:tagLst xmlns:p="http://schemas.openxmlformats.org/presentationml/2006/main">
  <p:tag name="KSO_WM_DIAGRAM_VIRTUALLY_FRAME" val="{&quot;height&quot;:393,&quot;left&quot;:48,&quot;top&quot;:90,&quot;width&quot;:832.5}"/>
</p:tagLst>
</file>

<file path=ppt/tags/tag16.xml><?xml version="1.0" encoding="utf-8"?>
<p:tagLst xmlns:p="http://schemas.openxmlformats.org/presentationml/2006/main">
  <p:tag name="KSO_WM_DIAGRAM_VIRTUALLY_FRAME" val="{&quot;height&quot;:393,&quot;left&quot;:48,&quot;top&quot;:90,&quot;width&quot;:832.5}"/>
</p:tagLst>
</file>

<file path=ppt/tags/tag17.xml><?xml version="1.0" encoding="utf-8"?>
<p:tagLst xmlns:p="http://schemas.openxmlformats.org/presentationml/2006/main">
  <p:tag name="KSO_WM_DIAGRAM_VIRTUALLY_FRAME" val="{&quot;height&quot;:393,&quot;left&quot;:48,&quot;top&quot;:90,&quot;width&quot;:832.5}"/>
</p:tagLst>
</file>

<file path=ppt/tags/tag18.xml><?xml version="1.0" encoding="utf-8"?>
<p:tagLst xmlns:p="http://schemas.openxmlformats.org/presentationml/2006/main">
  <p:tag name="KSO_WM_DIAGRAM_VIRTUALLY_FRAME" val="{&quot;height&quot;:393,&quot;left&quot;:48,&quot;top&quot;:90,&quot;width&quot;:832.5}"/>
</p:tagLst>
</file>

<file path=ppt/tags/tag19.xml><?xml version="1.0" encoding="utf-8"?>
<p:tagLst xmlns:p="http://schemas.openxmlformats.org/presentationml/2006/main">
  <p:tag name="KSO_WM_DIAGRAM_VIRTUALLY_FRAME" val="{&quot;height&quot;:393,&quot;left&quot;:48,&quot;top&quot;:90,&quot;width&quot;:832.5}"/>
</p:tagLst>
</file>

<file path=ppt/tags/tag20.xml><?xml version="1.0" encoding="utf-8"?>
<p:tagLst xmlns:p="http://schemas.openxmlformats.org/presentationml/2006/main">
  <p:tag name="KSO_WM_DIAGRAM_VIRTUALLY_FRAME" val="{&quot;height&quot;:393,&quot;left&quot;:48,&quot;top&quot;:90,&quot;width&quot;:832.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9406</Words>
  <Application>WPS 演示</Application>
  <PresentationFormat/>
  <Paragraphs>1055</Paragraphs>
  <Slides>47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47</vt:i4>
      </vt:variant>
    </vt:vector>
  </HeadingPairs>
  <TitlesOfParts>
    <vt:vector size="54" baseType="lpstr">
      <vt:lpstr>Arial</vt:lpstr>
      <vt:lpstr>宋体</vt:lpstr>
      <vt:lpstr>Wingdings</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邵健</cp:lastModifiedBy>
  <cp:revision>1</cp:revision>
  <dcterms:created xsi:type="dcterms:W3CDTF">2026-10-12T05:46:13Z</dcterms:created>
  <dcterms:modified xsi:type="dcterms:W3CDTF">2026-10-12T05:46:14Z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{"AIGC":{"Label":"1","ContentProducer":"00119111010856365494821B355","ProduceID":"01a12b8542f07f58986a313346c26f95","ReservedCode1":"","ContentPropagator":"00119111010856365494821B355","PropagateID":"01a12b8542f07f58986a313346c26f95","ReservedCode2":""}}</vt:lpwstr>
  </property>
  <property fmtid="{D5CDD505-2E9C-101B-9397-08002B2CF9AE}" pid="3" name="ICV">
    <vt:lpwstr>F121FF26AD4844A093DD8C08A7D41A02_12</vt:lpwstr>
  </property>
  <property fmtid="{D5CDD505-2E9C-101B-9397-08002B2CF9AE}" pid="4" name="KSOProductBuildVer">
    <vt:lpwstr>2052-12.1.0.28505</vt:lpwstr>
  </property>
</Properties>
</file>